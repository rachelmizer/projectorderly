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58" r:id="rId5"/>
    <p:sldId id="272" r:id="rId6"/>
    <p:sldId id="273" r:id="rId7"/>
    <p:sldId id="261" r:id="rId8"/>
    <p:sldId id="262" r:id="rId9"/>
    <p:sldId id="269" r:id="rId10"/>
    <p:sldId id="270" r:id="rId11"/>
    <p:sldId id="271" r:id="rId12"/>
    <p:sldId id="260" r:id="rId13"/>
    <p:sldId id="264" r:id="rId14"/>
    <p:sldId id="263" r:id="rId15"/>
    <p:sldId id="265" r:id="rId16"/>
    <p:sldId id="266" r:id="rId17"/>
    <p:sldId id="267" r:id="rId18"/>
    <p:sldId id="268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5"/>
    <p:restoredTop sz="96224"/>
  </p:normalViewPr>
  <p:slideViewPr>
    <p:cSldViewPr snapToGrid="0" snapToObjects="1">
      <p:cViewPr>
        <p:scale>
          <a:sx n="158" d="100"/>
          <a:sy n="158" d="100"/>
        </p:scale>
        <p:origin x="3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7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"15 features delivered”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counting by user-facing feature area rather than individual Trello cards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(which split each feature into UX/Frontend/Backend).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Product Browsing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browse the menu catalog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Shopping Cart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persistent cart with customization display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Item Customization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modifier selection with live price updates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Checkout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submit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Order Confirmation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receipt after placing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Order 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view of past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7. Customer Order Cancellation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cancel a placed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 Admin Dashboard Navigation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unified admin hub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9. Product &amp; Variant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full CRUD for products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 Inventory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stock tracking and adjustments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11. Sales Summary Dashboard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revenue trends and analytics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 Low Stock Indicators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real-time stock alerts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 Admin Orders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view and manage all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14. Settings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business profile and preference config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 Profile Page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profile management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SERINA!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DRF stands for Django REST Framework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It's the library that sits on top of Django and makes it easy to build REST APIs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it handles things like serializers (converting database models to JSON),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viewsets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authentication, and permission classes.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FC71-D3EF-62C9-F514-B1DECA46A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EC32F-F70E-F27D-912B-F0BF68601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C33A61-3977-F9A5-EB8D-E09495503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08A93-D3B1-553D-59F7-C75B65EB1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954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697F1-FF6F-4CDB-30EF-033C349B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11898E-722F-11D0-8A99-9047D15CD2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28768-93E5-C1DD-D817-9A47E54D9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E45D6-9F3E-D6F6-C871-6BF3A3BF1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10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2E6DE-8B90-9BDF-389D-709C4BB3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29010D-58EE-84EA-365D-C435E8697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CB2B0-48EB-ED34-5047-6D8771230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E0945-90EF-9518-F33A-4F132A214B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997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BCE08-5870-D4A2-0392-DE472579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BB60-46CF-369D-877E-0174F5153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0D29F-F877-2DB6-3517-EDFF9567A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9AD2B-CEEE-2FBB-15BC-B1BFC90C3E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395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F97C8-49CB-4741-C080-08FE9BDF8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65F94-B72F-3FFB-B242-FE36CD4251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D5F05F-3AC1-3A38-DADF-E47159D2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18B05-99CA-48B4-9FA3-6606A49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04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72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ordering for any business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|  Programming Capstone Project | CSC 289.0001 | April 30</a:t>
            </a:r>
            <a:r>
              <a:rPr lang="en-US" sz="11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 </a:t>
            </a:r>
            <a:endParaRPr lang="en-US" sz="1100" dirty="0"/>
          </a:p>
          <a:p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Mayo · Kenny Bacdayan · Rachel Mizer · Tristin Gatt · Caleb Fowlkes · Serina Rodriguez (PM/SCRUM Master)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Orderly?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2035263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346160"/>
            <a:ext cx="34747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mid-sized businesses lack affordable, efficient, and unified tools for managing orders, inventory, and customer-facing menus. </a:t>
            </a:r>
          </a:p>
          <a:p>
            <a:pPr marL="0" indent="0">
              <a:buNone/>
            </a:pPr>
            <a:endParaRPr lang="en-US" sz="1200" dirty="0">
              <a:solidFill>
                <a:srgbClr val="374151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The result: manual processes, spreadsheet chaos, and no real-time visibility.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347472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886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 flexible full-stack self-service ordering and business management platform – built for real businesses, by a team of student developers.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Agile Sprints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4023360" cy="1005840"/>
          </a:xfrm>
          <a:prstGeom prst="rect">
            <a:avLst/>
          </a:prstGeom>
          <a:solidFill>
            <a:srgbClr val="1B2B5E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852160" y="2761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36576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62195" y="3703320"/>
            <a:ext cx="9985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15</a:t>
            </a:r>
            <a:r>
              <a:rPr lang="en-US" sz="36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52160" y="3950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User Features Done 🎉</a:t>
            </a:r>
            <a:endParaRPr lang="en-US" sz="16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E6A7EF37-E701-B089-536B-846DD2F90B82}"/>
              </a:ext>
            </a:extLst>
          </p:cNvPr>
          <p:cNvSpPr/>
          <p:nvPr/>
        </p:nvSpPr>
        <p:spPr>
          <a:xfrm>
            <a:off x="548640" y="1389889"/>
            <a:ext cx="347472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web application designed to streamline operations for small to mid-sized businesses.</a:t>
            </a:r>
            <a:endParaRPr lang="en-US" sz="120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9F7911BB-5986-21B9-D273-1041466AAE32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Serina Rodriguez</a:t>
            </a:r>
            <a:endParaRPr lang="en-US" sz="80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A998996D-EB5B-A159-A1A7-1982757F401D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PM | SCRUM Master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PROCESS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Workflow &amp; Sprint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Architecture, Planning, Standards, Development Environment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39112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Data Layer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39112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Database Management, UI shell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9312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58184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Backbone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58184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APIs, Authentication, Process Improvements &amp; CI Pipeline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58384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77256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Customer Experience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77256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Storefront Page, Customer Order Flow, RBAC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7456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96328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Business Admin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404872"/>
            <a:ext cx="1730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Admin Settings, 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 Operations,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 &amp; Sales Analytics 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85508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Wave-Based Execution: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6040" y="40416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3, 4 and 5 ran a three-wave structure with explicit greenlight conditions, dependency chains, and hard deadlines – ensuring blockers surfaced early, not at the end of the sprint.</a:t>
            </a:r>
            <a:endParaRPr lang="en-US" sz="1000" dirty="0"/>
          </a:p>
        </p:txBody>
      </p:sp>
      <p:sp>
        <p:nvSpPr>
          <p:cNvPr id="48" name="TL_Track">
            <a:extLst>
              <a:ext uri="{FF2B5EF4-FFF2-40B4-BE49-F238E27FC236}">
                <a16:creationId xmlns:a16="http://schemas.microsoft.com/office/drawing/2014/main" id="{1CCCF149-763F-A5B5-78E2-07C7C04ED3CE}"/>
              </a:ext>
            </a:extLst>
          </p:cNvPr>
          <p:cNvSpPr/>
          <p:nvPr/>
        </p:nvSpPr>
        <p:spPr>
          <a:xfrm>
            <a:off x="355208" y="3360421"/>
            <a:ext cx="8412480" cy="60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TL_S1_dot">
            <a:extLst>
              <a:ext uri="{FF2B5EF4-FFF2-40B4-BE49-F238E27FC236}">
                <a16:creationId xmlns:a16="http://schemas.microsoft.com/office/drawing/2014/main" id="{477F04EF-DE87-4B33-6658-21185A3D22E9}"/>
              </a:ext>
            </a:extLst>
          </p:cNvPr>
          <p:cNvSpPr/>
          <p:nvPr/>
        </p:nvSpPr>
        <p:spPr>
          <a:xfrm>
            <a:off x="396240" y="3321625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TL_S1_lbl">
            <a:extLst>
              <a:ext uri="{FF2B5EF4-FFF2-40B4-BE49-F238E27FC236}">
                <a16:creationId xmlns:a16="http://schemas.microsoft.com/office/drawing/2014/main" id="{D7DE4412-E18E-4B5A-6A3C-E5BEAF41DE50}"/>
              </a:ext>
            </a:extLst>
          </p:cNvPr>
          <p:cNvSpPr/>
          <p:nvPr/>
        </p:nvSpPr>
        <p:spPr>
          <a:xfrm>
            <a:off x="241134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S1</a:t>
            </a:r>
          </a:p>
        </p:txBody>
      </p:sp>
      <p:sp>
        <p:nvSpPr>
          <p:cNvPr id="51" name="TL_S1_date">
            <a:extLst>
              <a:ext uri="{FF2B5EF4-FFF2-40B4-BE49-F238E27FC236}">
                <a16:creationId xmlns:a16="http://schemas.microsoft.com/office/drawing/2014/main" id="{5E33277C-34EB-EF05-33F9-4D355904870E}"/>
              </a:ext>
            </a:extLst>
          </p:cNvPr>
          <p:cNvSpPr/>
          <p:nvPr/>
        </p:nvSpPr>
        <p:spPr>
          <a:xfrm>
            <a:off x="146273" y="348834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Jan 31</a:t>
            </a:r>
          </a:p>
        </p:txBody>
      </p:sp>
      <p:sp>
        <p:nvSpPr>
          <p:cNvPr id="52" name="TL_S2_dot">
            <a:extLst>
              <a:ext uri="{FF2B5EF4-FFF2-40B4-BE49-F238E27FC236}">
                <a16:creationId xmlns:a16="http://schemas.microsoft.com/office/drawing/2014/main" id="{4B2D0CE8-F4C3-9462-2F85-D88E5E517431}"/>
              </a:ext>
            </a:extLst>
          </p:cNvPr>
          <p:cNvSpPr/>
          <p:nvPr/>
        </p:nvSpPr>
        <p:spPr>
          <a:xfrm>
            <a:off x="175512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TL_S2_lbl">
            <a:extLst>
              <a:ext uri="{FF2B5EF4-FFF2-40B4-BE49-F238E27FC236}">
                <a16:creationId xmlns:a16="http://schemas.microsoft.com/office/drawing/2014/main" id="{08BDC6FB-077B-87FC-60A1-3555F78C31D8}"/>
              </a:ext>
            </a:extLst>
          </p:cNvPr>
          <p:cNvSpPr/>
          <p:nvPr/>
        </p:nvSpPr>
        <p:spPr>
          <a:xfrm>
            <a:off x="1587488" y="318581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S2</a:t>
            </a:r>
          </a:p>
        </p:txBody>
      </p:sp>
      <p:sp>
        <p:nvSpPr>
          <p:cNvPr id="54" name="TL_S2_date">
            <a:extLst>
              <a:ext uri="{FF2B5EF4-FFF2-40B4-BE49-F238E27FC236}">
                <a16:creationId xmlns:a16="http://schemas.microsoft.com/office/drawing/2014/main" id="{D74263D3-2CD9-4A83-C80B-67F88276B918}"/>
              </a:ext>
            </a:extLst>
          </p:cNvPr>
          <p:cNvSpPr/>
          <p:nvPr/>
        </p:nvSpPr>
        <p:spPr>
          <a:xfrm>
            <a:off x="1464961" y="350743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14</a:t>
            </a:r>
          </a:p>
        </p:txBody>
      </p:sp>
      <p:sp>
        <p:nvSpPr>
          <p:cNvPr id="55" name="TL_S3_dot">
            <a:extLst>
              <a:ext uri="{FF2B5EF4-FFF2-40B4-BE49-F238E27FC236}">
                <a16:creationId xmlns:a16="http://schemas.microsoft.com/office/drawing/2014/main" id="{DB51A5CB-2961-6753-31BC-A87CFAF37128}"/>
              </a:ext>
            </a:extLst>
          </p:cNvPr>
          <p:cNvSpPr/>
          <p:nvPr/>
        </p:nvSpPr>
        <p:spPr>
          <a:xfrm>
            <a:off x="315504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L_S3_lbl">
            <a:extLst>
              <a:ext uri="{FF2B5EF4-FFF2-40B4-BE49-F238E27FC236}">
                <a16:creationId xmlns:a16="http://schemas.microsoft.com/office/drawing/2014/main" id="{C4BFA7C0-CA77-165D-2795-5FA26D456F3E}"/>
              </a:ext>
            </a:extLst>
          </p:cNvPr>
          <p:cNvSpPr/>
          <p:nvPr/>
        </p:nvSpPr>
        <p:spPr>
          <a:xfrm>
            <a:off x="2993080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S3</a:t>
            </a:r>
          </a:p>
        </p:txBody>
      </p:sp>
      <p:sp>
        <p:nvSpPr>
          <p:cNvPr id="57" name="TL_S3_date">
            <a:extLst>
              <a:ext uri="{FF2B5EF4-FFF2-40B4-BE49-F238E27FC236}">
                <a16:creationId xmlns:a16="http://schemas.microsoft.com/office/drawing/2014/main" id="{EE407D33-F8A8-6D38-5BDC-B4A967AAECDC}"/>
              </a:ext>
            </a:extLst>
          </p:cNvPr>
          <p:cNvSpPr/>
          <p:nvPr/>
        </p:nvSpPr>
        <p:spPr>
          <a:xfrm>
            <a:off x="2905968" y="350675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28</a:t>
            </a:r>
          </a:p>
        </p:txBody>
      </p:sp>
      <p:sp>
        <p:nvSpPr>
          <p:cNvPr id="58" name="TL_Break_bar">
            <a:extLst>
              <a:ext uri="{FF2B5EF4-FFF2-40B4-BE49-F238E27FC236}">
                <a16:creationId xmlns:a16="http://schemas.microsoft.com/office/drawing/2014/main" id="{EE14E628-AEDD-493F-857D-AD1B302B7EC6}"/>
              </a:ext>
            </a:extLst>
          </p:cNvPr>
          <p:cNvSpPr/>
          <p:nvPr/>
        </p:nvSpPr>
        <p:spPr>
          <a:xfrm>
            <a:off x="3789448" y="3340421"/>
            <a:ext cx="3048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TL_Break_lbl">
            <a:extLst>
              <a:ext uri="{FF2B5EF4-FFF2-40B4-BE49-F238E27FC236}">
                <a16:creationId xmlns:a16="http://schemas.microsoft.com/office/drawing/2014/main" id="{3A655CB8-C811-9635-03C4-3B3FC877B822}"/>
              </a:ext>
            </a:extLst>
          </p:cNvPr>
          <p:cNvSpPr/>
          <p:nvPr/>
        </p:nvSpPr>
        <p:spPr>
          <a:xfrm>
            <a:off x="3689448" y="3470421"/>
            <a:ext cx="5300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550" b="1" dirty="0">
                <a:solidFill>
                  <a:srgbClr val="F59E0B"/>
                </a:solidFill>
                <a:latin typeface="Calibri"/>
              </a:rPr>
              <a:t>Break</a:t>
            </a:r>
          </a:p>
        </p:txBody>
      </p:sp>
      <p:sp>
        <p:nvSpPr>
          <p:cNvPr id="60" name="TL_S4_dot">
            <a:extLst>
              <a:ext uri="{FF2B5EF4-FFF2-40B4-BE49-F238E27FC236}">
                <a16:creationId xmlns:a16="http://schemas.microsoft.com/office/drawing/2014/main" id="{548FEB90-9705-9621-11E8-5C5F044C83E9}"/>
              </a:ext>
            </a:extLst>
          </p:cNvPr>
          <p:cNvSpPr/>
          <p:nvPr/>
        </p:nvSpPr>
        <p:spPr>
          <a:xfrm>
            <a:off x="447000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TL_S4_lbl">
            <a:extLst>
              <a:ext uri="{FF2B5EF4-FFF2-40B4-BE49-F238E27FC236}">
                <a16:creationId xmlns:a16="http://schemas.microsoft.com/office/drawing/2014/main" id="{54987736-CD40-8D15-FE3C-791F5D12BE7F}"/>
              </a:ext>
            </a:extLst>
          </p:cNvPr>
          <p:cNvSpPr/>
          <p:nvPr/>
        </p:nvSpPr>
        <p:spPr>
          <a:xfrm>
            <a:off x="430236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S4</a:t>
            </a:r>
          </a:p>
        </p:txBody>
      </p:sp>
      <p:sp>
        <p:nvSpPr>
          <p:cNvPr id="62" name="TL_S4_date">
            <a:extLst>
              <a:ext uri="{FF2B5EF4-FFF2-40B4-BE49-F238E27FC236}">
                <a16:creationId xmlns:a16="http://schemas.microsoft.com/office/drawing/2014/main" id="{460EDA01-7315-26DB-89D1-004B7E9EF140}"/>
              </a:ext>
            </a:extLst>
          </p:cNvPr>
          <p:cNvSpPr/>
          <p:nvPr/>
        </p:nvSpPr>
        <p:spPr>
          <a:xfrm>
            <a:off x="4224656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Mar 21</a:t>
            </a:r>
          </a:p>
        </p:txBody>
      </p:sp>
      <p:sp>
        <p:nvSpPr>
          <p:cNvPr id="63" name="TL_S5_dot">
            <a:extLst>
              <a:ext uri="{FF2B5EF4-FFF2-40B4-BE49-F238E27FC236}">
                <a16:creationId xmlns:a16="http://schemas.microsoft.com/office/drawing/2014/main" id="{43B6A58A-1D88-8581-31F5-7F46238AC892}"/>
              </a:ext>
            </a:extLst>
          </p:cNvPr>
          <p:cNvSpPr/>
          <p:nvPr/>
        </p:nvSpPr>
        <p:spPr>
          <a:xfrm>
            <a:off x="596976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L_S5_lbl">
            <a:extLst>
              <a:ext uri="{FF2B5EF4-FFF2-40B4-BE49-F238E27FC236}">
                <a16:creationId xmlns:a16="http://schemas.microsoft.com/office/drawing/2014/main" id="{1F5A13EB-A0AF-DEA3-7EBA-DB9FDDDED293}"/>
              </a:ext>
            </a:extLst>
          </p:cNvPr>
          <p:cNvSpPr/>
          <p:nvPr/>
        </p:nvSpPr>
        <p:spPr>
          <a:xfrm>
            <a:off x="580212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S5</a:t>
            </a:r>
          </a:p>
        </p:txBody>
      </p:sp>
      <p:sp>
        <p:nvSpPr>
          <p:cNvPr id="65" name="TL_S5_date">
            <a:extLst>
              <a:ext uri="{FF2B5EF4-FFF2-40B4-BE49-F238E27FC236}">
                <a16:creationId xmlns:a16="http://schemas.microsoft.com/office/drawing/2014/main" id="{42E47CFC-CF73-9158-6354-8FEDAE7CFDB2}"/>
              </a:ext>
            </a:extLst>
          </p:cNvPr>
          <p:cNvSpPr/>
          <p:nvPr/>
        </p:nvSpPr>
        <p:spPr>
          <a:xfrm>
            <a:off x="5710688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Apr 4</a:t>
            </a:r>
          </a:p>
        </p:txBody>
      </p:sp>
      <p:sp>
        <p:nvSpPr>
          <p:cNvPr id="66" name="TL_P4_dot">
            <a:extLst>
              <a:ext uri="{FF2B5EF4-FFF2-40B4-BE49-F238E27FC236}">
                <a16:creationId xmlns:a16="http://schemas.microsoft.com/office/drawing/2014/main" id="{1403EE6B-425C-68FF-FBBC-DA9065D1E352}"/>
              </a:ext>
            </a:extLst>
          </p:cNvPr>
          <p:cNvSpPr/>
          <p:nvPr/>
        </p:nvSpPr>
        <p:spPr>
          <a:xfrm>
            <a:off x="8339448" y="3329461"/>
            <a:ext cx="121920" cy="121920"/>
          </a:xfrm>
          <a:prstGeom prst="ellipse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TL_P4_date">
            <a:extLst>
              <a:ext uri="{FF2B5EF4-FFF2-40B4-BE49-F238E27FC236}">
                <a16:creationId xmlns:a16="http://schemas.microsoft.com/office/drawing/2014/main" id="{8647019D-2240-6132-55CE-34C07FD5A3AD}"/>
              </a:ext>
            </a:extLst>
          </p:cNvPr>
          <p:cNvSpPr/>
          <p:nvPr/>
        </p:nvSpPr>
        <p:spPr>
          <a:xfrm>
            <a:off x="8080368" y="359867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3BB77E"/>
                </a:solidFill>
                <a:latin typeface="Calibri"/>
              </a:rPr>
              <a:t>April 30</a:t>
            </a:r>
            <a:br>
              <a:rPr lang="en-US" sz="600" dirty="0">
                <a:solidFill>
                  <a:srgbClr val="3BB77E"/>
                </a:solidFill>
                <a:latin typeface="Calibri"/>
              </a:rPr>
            </a:br>
            <a:r>
              <a:rPr lang="en-US" sz="600" b="1" dirty="0">
                <a:solidFill>
                  <a:srgbClr val="3BB77E"/>
                </a:solidFill>
                <a:latin typeface="Calibri"/>
              </a:rPr>
              <a:t>Present</a:t>
            </a:r>
            <a:endParaRPr lang="en-US" sz="600" dirty="0">
              <a:solidFill>
                <a:srgbClr val="3BB77E"/>
              </a:solidFill>
              <a:latin typeface="Calibri"/>
            </a:endParaRPr>
          </a:p>
        </p:txBody>
      </p:sp>
      <p:sp>
        <p:nvSpPr>
          <p:cNvPr id="68" name="TL_CF_diamond">
            <a:extLst>
              <a:ext uri="{FF2B5EF4-FFF2-40B4-BE49-F238E27FC236}">
                <a16:creationId xmlns:a16="http://schemas.microsoft.com/office/drawing/2014/main" id="{1070B717-8419-287F-EF0B-0E237466906C}"/>
              </a:ext>
            </a:extLst>
          </p:cNvPr>
          <p:cNvSpPr/>
          <p:nvPr/>
        </p:nvSpPr>
        <p:spPr>
          <a:xfrm rot="2700000">
            <a:off x="7411100" y="3288872"/>
            <a:ext cx="182880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L_CF_date">
            <a:extLst>
              <a:ext uri="{FF2B5EF4-FFF2-40B4-BE49-F238E27FC236}">
                <a16:creationId xmlns:a16="http://schemas.microsoft.com/office/drawing/2014/main" id="{7FE53BD2-3391-EE04-3FC1-61C00B533499}"/>
              </a:ext>
            </a:extLst>
          </p:cNvPr>
          <p:cNvSpPr/>
          <p:nvPr/>
        </p:nvSpPr>
        <p:spPr>
          <a:xfrm>
            <a:off x="7232904" y="3558008"/>
            <a:ext cx="530000" cy="213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EF4444"/>
                </a:solidFill>
                <a:latin typeface="Calibri"/>
              </a:rPr>
              <a:t>Apr 24</a:t>
            </a:r>
            <a:br>
              <a:rPr lang="en-US" sz="600" dirty="0">
                <a:solidFill>
                  <a:srgbClr val="EF4444"/>
                </a:solidFill>
                <a:latin typeface="Calibri"/>
              </a:rPr>
            </a:br>
            <a:r>
              <a:rPr lang="en-US" sz="600" dirty="0">
                <a:solidFill>
                  <a:srgbClr val="EF4444"/>
                </a:solidFill>
                <a:latin typeface="Calibri"/>
              </a:rPr>
              <a:t>Code Freeze</a:t>
            </a:r>
          </a:p>
        </p:txBody>
      </p:sp>
      <p:sp>
        <p:nvSpPr>
          <p:cNvPr id="70" name="TL_Deploy_diamond">
            <a:extLst>
              <a:ext uri="{FF2B5EF4-FFF2-40B4-BE49-F238E27FC236}">
                <a16:creationId xmlns:a16="http://schemas.microsoft.com/office/drawing/2014/main" id="{2E84DF80-0523-D79F-6C2F-94D93579CEAA}"/>
              </a:ext>
            </a:extLst>
          </p:cNvPr>
          <p:cNvSpPr/>
          <p:nvPr/>
        </p:nvSpPr>
        <p:spPr>
          <a:xfrm rot="2700000">
            <a:off x="7852611" y="3298501"/>
            <a:ext cx="182880" cy="182880"/>
          </a:xfrm>
          <a:prstGeom prst="rect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L_Deploy_lbl">
            <a:extLst>
              <a:ext uri="{FF2B5EF4-FFF2-40B4-BE49-F238E27FC236}">
                <a16:creationId xmlns:a16="http://schemas.microsoft.com/office/drawing/2014/main" id="{C95C77BA-0EB4-7A9A-451C-4AA6F11F6124}"/>
              </a:ext>
            </a:extLst>
          </p:cNvPr>
          <p:cNvSpPr/>
          <p:nvPr/>
        </p:nvSpPr>
        <p:spPr>
          <a:xfrm>
            <a:off x="7715451" y="3565888"/>
            <a:ext cx="4572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b="1" dirty="0">
                <a:solidFill>
                  <a:srgbClr val="3BB77E"/>
                </a:solidFill>
                <a:latin typeface="Calibri"/>
              </a:rPr>
              <a:t>Deployed</a:t>
            </a:r>
          </a:p>
        </p:txBody>
      </p:sp>
      <p:sp>
        <p:nvSpPr>
          <p:cNvPr id="72" name="TL_S5_dot">
            <a:extLst>
              <a:ext uri="{FF2B5EF4-FFF2-40B4-BE49-F238E27FC236}">
                <a16:creationId xmlns:a16="http://schemas.microsoft.com/office/drawing/2014/main" id="{0A944DAF-64E4-041E-08A4-655642322C1D}"/>
              </a:ext>
            </a:extLst>
          </p:cNvPr>
          <p:cNvSpPr/>
          <p:nvPr/>
        </p:nvSpPr>
        <p:spPr>
          <a:xfrm>
            <a:off x="6916024" y="3343930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L_S5_lbl">
            <a:extLst>
              <a:ext uri="{FF2B5EF4-FFF2-40B4-BE49-F238E27FC236}">
                <a16:creationId xmlns:a16="http://schemas.microsoft.com/office/drawing/2014/main" id="{69A61A27-5772-B1EF-6624-6788079957B8}"/>
              </a:ext>
            </a:extLst>
          </p:cNvPr>
          <p:cNvSpPr/>
          <p:nvPr/>
        </p:nvSpPr>
        <p:spPr>
          <a:xfrm>
            <a:off x="6740946" y="319942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Phase 4</a:t>
            </a:r>
          </a:p>
        </p:txBody>
      </p:sp>
      <p:pic>
        <p:nvPicPr>
          <p:cNvPr id="76" name="Graphic 75" descr="Wave outline">
            <a:extLst>
              <a:ext uri="{FF2B5EF4-FFF2-40B4-BE49-F238E27FC236}">
                <a16:creationId xmlns:a16="http://schemas.microsoft.com/office/drawing/2014/main" id="{ED11D256-F13D-7D58-B7D0-DA72EBCA3F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" y="4005561"/>
            <a:ext cx="401357" cy="401357"/>
          </a:xfrm>
          <a:prstGeom prst="rect">
            <a:avLst/>
          </a:prstGeom>
        </p:spPr>
      </p:pic>
      <p:sp>
        <p:nvSpPr>
          <p:cNvPr id="77" name="Text 2">
            <a:extLst>
              <a:ext uri="{FF2B5EF4-FFF2-40B4-BE49-F238E27FC236}">
                <a16:creationId xmlns:a16="http://schemas.microsoft.com/office/drawing/2014/main" id="{57775A8E-BD17-2284-2E97-DC72A9F63C4D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Serina Rodriguez</a:t>
            </a:r>
            <a:endParaRPr lang="en-US" sz="800" dirty="0"/>
          </a:p>
        </p:txBody>
      </p:sp>
      <p:sp>
        <p:nvSpPr>
          <p:cNvPr id="78" name="Text 3">
            <a:extLst>
              <a:ext uri="{FF2B5EF4-FFF2-40B4-BE49-F238E27FC236}">
                <a16:creationId xmlns:a16="http://schemas.microsoft.com/office/drawing/2014/main" id="{6EAFBBB2-5296-A534-2442-3E220C5226F3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PM | SCRUM Master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Goals &amp; Feature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menu, place &amp; cancel orders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85876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 of business operations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6916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69340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edit, and organize products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3832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412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&amp; low-stock alerts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20040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38328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385876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trends, analytics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03504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3832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Admin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69340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configuration &amp; user management</a:t>
            </a:r>
            <a:endParaRPr lang="en-US" sz="10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A8FD14F2-21E2-CD85-C2A6-513D029CE3E1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65D6BDC8-F87A-9F25-FAFB-BDD0E79D32C9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9BEB2-9215-8B8D-E090-AD03FB545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4840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892FEC-689E-C197-FC36-20F23A9D2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961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Orderly Delivers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71907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Orders placed in seconds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93776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menu browsing  ·  Customize, Place &amp; cancel orders  ·  Real-time Order Status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18688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18688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190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46704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One hub for everything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346704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overview  ·  Quick access navigation  ·  Role-based Views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71616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Full control, no guesswork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199632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management ·  Stock alerts  ·  Category Organization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5760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365760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44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Summary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93776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Revenue clarity &amp; Best Sellers at a glance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93776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Trends ·  Order volume analytics  ·  Date range filtering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18688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218688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502152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67328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Order Management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3346704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Nothing falls through the cracks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3346704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order history ·  Status management  ·  Customer detail view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071616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6071616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502152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620256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6199632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Your business, your settings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199632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Business Profile Config ·  Preference Management  ·  Secure Updates</a:t>
            </a:r>
            <a:endParaRPr lang="en-US" sz="900" dirty="0"/>
          </a:p>
        </p:txBody>
      </p:sp>
      <p:sp>
        <p:nvSpPr>
          <p:cNvPr id="40" name="Text 2">
            <a:extLst>
              <a:ext uri="{FF2B5EF4-FFF2-40B4-BE49-F238E27FC236}">
                <a16:creationId xmlns:a16="http://schemas.microsoft.com/office/drawing/2014/main" id="{6857843F-CAC9-3855-5449-2D0ACDD7AEED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841CBF04-CF06-AEF9-A4DC-C0BED6C054C8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HIGHLIGHTS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Proud Of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discipline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Tristin owned and maintained a living API contract throughout the project. Every endpoint was documented and kept both frontend and backend in sync across all five sprints.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6550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Contribution Standards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21808" y="1810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From Sprint 1, the team operated with a defined branching strategy, PR checklist, and code review standards. No code merged to main without a completed review and testing, every sprint.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Support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team members needed to step back, support was advanced without hesitation. Ownership shifted seamlessly and the team finished stronger than it started. We all agree -- we were lucky to be our team.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66344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88950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CI Integration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32180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6576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239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it?]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66344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1239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32180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95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11358DD4-01EA-CD08-0C6E-34E23D792650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Kim Mayo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9625966F-8827-31AD-D507-76AFD42443B5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Product Owner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5DE653-E3CE-0946-53CC-AF340F9B7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>
            <a:extLst>
              <a:ext uri="{FF2B5EF4-FFF2-40B4-BE49-F238E27FC236}">
                <a16:creationId xmlns:a16="http://schemas.microsoft.com/office/drawing/2014/main" id="{CEED2F2A-9AB3-23DC-D084-A4E72AA094F9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27A00AFE-BDC2-A1A4-76EF-BD9B11975630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34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5E6FB545-F4B9-A9EE-3CEC-3D35CB9538E1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E2046BDC-FC6E-E7F7-0917-F28D17991A2A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CCA85DF9-C68F-88DB-B5BE-16FF42635262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5">
            <a:extLst>
              <a:ext uri="{FF2B5EF4-FFF2-40B4-BE49-F238E27FC236}">
                <a16:creationId xmlns:a16="http://schemas.microsoft.com/office/drawing/2014/main" id="{C861AA46-5396-0B79-B35B-E53F105FBB80}"/>
              </a:ext>
            </a:extLst>
          </p:cNvPr>
          <p:cNvSpPr/>
          <p:nvPr/>
        </p:nvSpPr>
        <p:spPr>
          <a:xfrm>
            <a:off x="457200" y="1097280"/>
            <a:ext cx="3886200" cy="347472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99AE72F1-05B9-4B07-FC89-EBA27042DC6D}"/>
              </a:ext>
            </a:extLst>
          </p:cNvPr>
          <p:cNvSpPr/>
          <p:nvPr/>
        </p:nvSpPr>
        <p:spPr>
          <a:xfrm>
            <a:off x="566928" y="1097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🛍  Customer Experience</a:t>
            </a:r>
            <a:endParaRPr lang="en-US" sz="1300" dirty="0"/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CA05324D-6A92-08C7-4A9E-09B0A739A7A9}"/>
              </a:ext>
            </a:extLst>
          </p:cNvPr>
          <p:cNvSpPr/>
          <p:nvPr/>
        </p:nvSpPr>
        <p:spPr>
          <a:xfrm>
            <a:off x="4462272" y="1097280"/>
            <a:ext cx="388620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84D9B58D-7DE9-C36B-0F12-EB6B62390C7A}"/>
              </a:ext>
            </a:extLst>
          </p:cNvPr>
          <p:cNvSpPr/>
          <p:nvPr/>
        </p:nvSpPr>
        <p:spPr>
          <a:xfrm>
            <a:off x="4572000" y="1097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⚙  Admin Experience</a:t>
            </a:r>
            <a:endParaRPr lang="en-US" sz="1300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0E9B5951-7467-39DC-9B82-89F0BA43F3D9}"/>
              </a:ext>
            </a:extLst>
          </p:cNvPr>
          <p:cNvSpPr/>
          <p:nvPr/>
        </p:nvSpPr>
        <p:spPr>
          <a:xfrm>
            <a:off x="457200" y="1536192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41B6D6C3-9520-CC18-2222-77D9387ABE51}"/>
              </a:ext>
            </a:extLst>
          </p:cNvPr>
          <p:cNvSpPr/>
          <p:nvPr/>
        </p:nvSpPr>
        <p:spPr>
          <a:xfrm>
            <a:off x="457200" y="1536192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98E9135-FA65-13A1-A1BE-702903AFB346}"/>
              </a:ext>
            </a:extLst>
          </p:cNvPr>
          <p:cNvSpPr/>
          <p:nvPr/>
        </p:nvSpPr>
        <p:spPr>
          <a:xfrm>
            <a:off x="594360" y="161848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Product Browsing</a:t>
            </a:r>
            <a:endParaRPr lang="en-US" sz="1000" dirty="0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B4228FC7-08F3-348E-25B4-013327880010}"/>
              </a:ext>
            </a:extLst>
          </p:cNvPr>
          <p:cNvSpPr/>
          <p:nvPr/>
        </p:nvSpPr>
        <p:spPr>
          <a:xfrm>
            <a:off x="594360" y="181965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Category filtering · variant selection · availability display · image support · add-to-cart from list view</a:t>
            </a:r>
            <a:endParaRPr lang="en-US" sz="800" dirty="0"/>
          </a:p>
        </p:txBody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EFA38E5C-F93A-E1C5-11C8-2501B421D22A}"/>
              </a:ext>
            </a:extLst>
          </p:cNvPr>
          <p:cNvSpPr/>
          <p:nvPr/>
        </p:nvSpPr>
        <p:spPr>
          <a:xfrm>
            <a:off x="457200" y="2331720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F660C42E-74B3-DE1D-464B-9FA40AD04C30}"/>
              </a:ext>
            </a:extLst>
          </p:cNvPr>
          <p:cNvSpPr/>
          <p:nvPr/>
        </p:nvSpPr>
        <p:spPr>
          <a:xfrm>
            <a:off x="457200" y="2331720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EB317247-EA9E-1FC4-9A76-71D0D441632D}"/>
              </a:ext>
            </a:extLst>
          </p:cNvPr>
          <p:cNvSpPr/>
          <p:nvPr/>
        </p:nvSpPr>
        <p:spPr>
          <a:xfrm>
            <a:off x="594360" y="24140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Shopping Cart</a:t>
            </a:r>
            <a:endParaRPr lang="en-US" sz="10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87C2405-1368-185E-DC55-100ABB7B8E60}"/>
              </a:ext>
            </a:extLst>
          </p:cNvPr>
          <p:cNvSpPr/>
          <p:nvPr/>
        </p:nvSpPr>
        <p:spPr>
          <a:xfrm>
            <a:off x="594360" y="261518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Persistent draft order · quantity adjustment · item removal · order total with tax · guest &amp; authenticated checkout</a:t>
            </a:r>
            <a:endParaRPr lang="en-US" sz="80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079135C0-DE9C-CFD4-0A3F-5F7732EBD74D}"/>
              </a:ext>
            </a:extLst>
          </p:cNvPr>
          <p:cNvSpPr/>
          <p:nvPr/>
        </p:nvSpPr>
        <p:spPr>
          <a:xfrm>
            <a:off x="457200" y="3127248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18">
            <a:extLst>
              <a:ext uri="{FF2B5EF4-FFF2-40B4-BE49-F238E27FC236}">
                <a16:creationId xmlns:a16="http://schemas.microsoft.com/office/drawing/2014/main" id="{BC97539B-47BD-2E4E-6592-61CD307A2BCA}"/>
              </a:ext>
            </a:extLst>
          </p:cNvPr>
          <p:cNvSpPr/>
          <p:nvPr/>
        </p:nvSpPr>
        <p:spPr>
          <a:xfrm>
            <a:off x="457200" y="3127248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81C30B13-475B-3D25-9FAD-D6511F6588B7}"/>
              </a:ext>
            </a:extLst>
          </p:cNvPr>
          <p:cNvSpPr/>
          <p:nvPr/>
        </p:nvSpPr>
        <p:spPr>
          <a:xfrm>
            <a:off x="594360" y="320954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Checkout &amp; Ordering</a:t>
            </a:r>
            <a:endParaRPr lang="en-US" sz="1000" dirty="0"/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5DE66EF9-5D7F-7A6A-EDD4-57F0C6C3A0CD}"/>
              </a:ext>
            </a:extLst>
          </p:cNvPr>
          <p:cNvSpPr/>
          <p:nvPr/>
        </p:nvSpPr>
        <p:spPr>
          <a:xfrm>
            <a:off x="594360" y="34107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Guest email flow · authenticated one-tap submit · order confirmation · order status tracking</a:t>
            </a:r>
            <a:endParaRPr lang="en-US" sz="800" dirty="0"/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A96C496D-CCF7-436D-7AAE-BE73659D45D9}"/>
              </a:ext>
            </a:extLst>
          </p:cNvPr>
          <p:cNvSpPr/>
          <p:nvPr/>
        </p:nvSpPr>
        <p:spPr>
          <a:xfrm>
            <a:off x="457200" y="3922776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77ACAC-CED3-506C-F467-7A293CE81B89}"/>
              </a:ext>
            </a:extLst>
          </p:cNvPr>
          <p:cNvSpPr/>
          <p:nvPr/>
        </p:nvSpPr>
        <p:spPr>
          <a:xfrm>
            <a:off x="457200" y="3922776"/>
            <a:ext cx="45720" cy="7315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5E4B91AF-FCD9-6E6D-0662-2E7CB99A256F}"/>
              </a:ext>
            </a:extLst>
          </p:cNvPr>
          <p:cNvSpPr/>
          <p:nvPr/>
        </p:nvSpPr>
        <p:spPr>
          <a:xfrm>
            <a:off x="594360" y="400507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Customer Profile</a:t>
            </a:r>
            <a:endParaRPr lang="en-US" sz="10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3F3E1DFC-BF36-78F2-BCEF-2605276E466D}"/>
              </a:ext>
            </a:extLst>
          </p:cNvPr>
          <p:cNvSpPr/>
          <p:nvPr/>
        </p:nvSpPr>
        <p:spPr>
          <a:xfrm>
            <a:off x="594360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Account registration · login &amp; logout · password reset · profile management · order history view</a:t>
            </a:r>
            <a:endParaRPr lang="en-US" sz="800" dirty="0"/>
          </a:p>
        </p:txBody>
      </p:sp>
      <p:sp>
        <p:nvSpPr>
          <p:cNvPr id="55" name="Shape 25">
            <a:extLst>
              <a:ext uri="{FF2B5EF4-FFF2-40B4-BE49-F238E27FC236}">
                <a16:creationId xmlns:a16="http://schemas.microsoft.com/office/drawing/2014/main" id="{800EE4A0-F001-D163-AA3C-7F4C7B725965}"/>
              </a:ext>
            </a:extLst>
          </p:cNvPr>
          <p:cNvSpPr/>
          <p:nvPr/>
        </p:nvSpPr>
        <p:spPr>
          <a:xfrm>
            <a:off x="4462272" y="1536192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41A771C1-1D6B-7707-7779-87BEA4F39D8F}"/>
              </a:ext>
            </a:extLst>
          </p:cNvPr>
          <p:cNvSpPr/>
          <p:nvPr/>
        </p:nvSpPr>
        <p:spPr>
          <a:xfrm>
            <a:off x="4462272" y="1536192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4E20D376-E86B-5D73-0EBD-C46EC91656B7}"/>
              </a:ext>
            </a:extLst>
          </p:cNvPr>
          <p:cNvSpPr/>
          <p:nvPr/>
        </p:nvSpPr>
        <p:spPr>
          <a:xfrm>
            <a:off x="4599432" y="161848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Admin Dashboard &amp; Navigation</a:t>
            </a:r>
            <a:endParaRPr lang="en-US" sz="1000" dirty="0"/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83279FAD-BCA3-2A7C-3FDC-300E07CB28FC}"/>
              </a:ext>
            </a:extLst>
          </p:cNvPr>
          <p:cNvSpPr/>
          <p:nvPr/>
        </p:nvSpPr>
        <p:spPr>
          <a:xfrm>
            <a:off x="4599432" y="181965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Role-restricted SPA routing · persistent sidebar nav · active link states · responsive layout wrapper · unauthorized redirect</a:t>
            </a:r>
            <a:endParaRPr lang="en-US" sz="800" dirty="0"/>
          </a:p>
        </p:txBody>
      </p:sp>
      <p:sp>
        <p:nvSpPr>
          <p:cNvPr id="59" name="Shape 29">
            <a:extLst>
              <a:ext uri="{FF2B5EF4-FFF2-40B4-BE49-F238E27FC236}">
                <a16:creationId xmlns:a16="http://schemas.microsoft.com/office/drawing/2014/main" id="{B8A20FCD-F8B7-CFFE-1A75-E4194EABA27A}"/>
              </a:ext>
            </a:extLst>
          </p:cNvPr>
          <p:cNvSpPr/>
          <p:nvPr/>
        </p:nvSpPr>
        <p:spPr>
          <a:xfrm>
            <a:off x="4462272" y="2331720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30">
            <a:extLst>
              <a:ext uri="{FF2B5EF4-FFF2-40B4-BE49-F238E27FC236}">
                <a16:creationId xmlns:a16="http://schemas.microsoft.com/office/drawing/2014/main" id="{8C4C2310-3903-31A4-B83F-A55379CED0C9}"/>
              </a:ext>
            </a:extLst>
          </p:cNvPr>
          <p:cNvSpPr/>
          <p:nvPr/>
        </p:nvSpPr>
        <p:spPr>
          <a:xfrm>
            <a:off x="4462272" y="2331720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31">
            <a:extLst>
              <a:ext uri="{FF2B5EF4-FFF2-40B4-BE49-F238E27FC236}">
                <a16:creationId xmlns:a16="http://schemas.microsoft.com/office/drawing/2014/main" id="{1F368AE5-45DE-10D6-63AF-9EE847CEBE2A}"/>
              </a:ext>
            </a:extLst>
          </p:cNvPr>
          <p:cNvSpPr/>
          <p:nvPr/>
        </p:nvSpPr>
        <p:spPr>
          <a:xfrm>
            <a:off x="4599432" y="24140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Product Management</a:t>
            </a:r>
            <a:endParaRPr lang="en-US" sz="1000" dirty="0"/>
          </a:p>
        </p:txBody>
      </p:sp>
      <p:sp>
        <p:nvSpPr>
          <p:cNvPr id="62" name="Text 32">
            <a:extLst>
              <a:ext uri="{FF2B5EF4-FFF2-40B4-BE49-F238E27FC236}">
                <a16:creationId xmlns:a16="http://schemas.microsoft.com/office/drawing/2014/main" id="{1964AC51-933D-94F1-D1F2-3B56CB284FB7}"/>
              </a:ext>
            </a:extLst>
          </p:cNvPr>
          <p:cNvSpPr/>
          <p:nvPr/>
        </p:nvSpPr>
        <p:spPr>
          <a:xfrm>
            <a:off x="4599432" y="261518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Full CRUD for products &amp; variants · inline validation · delete confirmation · image upload · modifier display (read-only)</a:t>
            </a:r>
            <a:endParaRPr lang="en-US" sz="800" dirty="0"/>
          </a:p>
        </p:txBody>
      </p:sp>
      <p:sp>
        <p:nvSpPr>
          <p:cNvPr id="63" name="Shape 33">
            <a:extLst>
              <a:ext uri="{FF2B5EF4-FFF2-40B4-BE49-F238E27FC236}">
                <a16:creationId xmlns:a16="http://schemas.microsoft.com/office/drawing/2014/main" id="{F9E9E496-1C10-D9E4-582F-AF4927D61533}"/>
              </a:ext>
            </a:extLst>
          </p:cNvPr>
          <p:cNvSpPr/>
          <p:nvPr/>
        </p:nvSpPr>
        <p:spPr>
          <a:xfrm>
            <a:off x="4462272" y="3127248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34">
            <a:extLst>
              <a:ext uri="{FF2B5EF4-FFF2-40B4-BE49-F238E27FC236}">
                <a16:creationId xmlns:a16="http://schemas.microsoft.com/office/drawing/2014/main" id="{1F959ED7-3B8D-3D30-2165-7842D629644D}"/>
              </a:ext>
            </a:extLst>
          </p:cNvPr>
          <p:cNvSpPr/>
          <p:nvPr/>
        </p:nvSpPr>
        <p:spPr>
          <a:xfrm>
            <a:off x="4462272" y="3127248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35">
            <a:extLst>
              <a:ext uri="{FF2B5EF4-FFF2-40B4-BE49-F238E27FC236}">
                <a16:creationId xmlns:a16="http://schemas.microsoft.com/office/drawing/2014/main" id="{0F1DB284-3720-D067-E038-AE1F486EA9D9}"/>
              </a:ext>
            </a:extLst>
          </p:cNvPr>
          <p:cNvSpPr/>
          <p:nvPr/>
        </p:nvSpPr>
        <p:spPr>
          <a:xfrm>
            <a:off x="4599432" y="320954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Inventory Management</a:t>
            </a:r>
            <a:endParaRPr lang="en-US" sz="1000" dirty="0"/>
          </a:p>
        </p:txBody>
      </p:sp>
      <p:sp>
        <p:nvSpPr>
          <p:cNvPr id="66" name="Text 36">
            <a:extLst>
              <a:ext uri="{FF2B5EF4-FFF2-40B4-BE49-F238E27FC236}">
                <a16:creationId xmlns:a16="http://schemas.microsoft.com/office/drawing/2014/main" id="{BA56C409-7668-C879-0063-74E0F12DD6B1}"/>
              </a:ext>
            </a:extLst>
          </p:cNvPr>
          <p:cNvSpPr/>
          <p:nvPr/>
        </p:nvSpPr>
        <p:spPr>
          <a:xfrm>
            <a:off x="4599432" y="341071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Stock level view · quantity adjustment · low-stock indicators · item detail editing · empty &amp; error state handling</a:t>
            </a:r>
            <a:endParaRPr lang="en-US" sz="800" dirty="0"/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68070C5F-1B01-31B6-EE08-125CCA192C3A}"/>
              </a:ext>
            </a:extLst>
          </p:cNvPr>
          <p:cNvSpPr/>
          <p:nvPr/>
        </p:nvSpPr>
        <p:spPr>
          <a:xfrm>
            <a:off x="4462272" y="3922776"/>
            <a:ext cx="388620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8" name="Shape 38">
            <a:extLst>
              <a:ext uri="{FF2B5EF4-FFF2-40B4-BE49-F238E27FC236}">
                <a16:creationId xmlns:a16="http://schemas.microsoft.com/office/drawing/2014/main" id="{61026FD6-ED4C-B9A4-9677-3C9A2115F6BD}"/>
              </a:ext>
            </a:extLst>
          </p:cNvPr>
          <p:cNvSpPr/>
          <p:nvPr/>
        </p:nvSpPr>
        <p:spPr>
          <a:xfrm>
            <a:off x="4462272" y="3922776"/>
            <a:ext cx="457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39">
            <a:extLst>
              <a:ext uri="{FF2B5EF4-FFF2-40B4-BE49-F238E27FC236}">
                <a16:creationId xmlns:a16="http://schemas.microsoft.com/office/drawing/2014/main" id="{A868BB30-60D4-7D15-1F18-8B828A5172B5}"/>
              </a:ext>
            </a:extLst>
          </p:cNvPr>
          <p:cNvSpPr/>
          <p:nvPr/>
        </p:nvSpPr>
        <p:spPr>
          <a:xfrm>
            <a:off x="4599432" y="400507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Sales Dashboard &amp; Orders</a:t>
            </a:r>
            <a:endParaRPr lang="en-US" sz="1000" dirty="0"/>
          </a:p>
        </p:txBody>
      </p:sp>
      <p:sp>
        <p:nvSpPr>
          <p:cNvPr id="70" name="Text 40">
            <a:extLst>
              <a:ext uri="{FF2B5EF4-FFF2-40B4-BE49-F238E27FC236}">
                <a16:creationId xmlns:a16="http://schemas.microsoft.com/office/drawing/2014/main" id="{51850835-9CC0-0DE7-89F2-3D1CB6EF1045}"/>
              </a:ext>
            </a:extLst>
          </p:cNvPr>
          <p:cNvSpPr/>
          <p:nvPr/>
        </p:nvSpPr>
        <p:spPr>
          <a:xfrm>
            <a:off x="4599432" y="4206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Revenue summary · best sellers · order list with status · Mark Complete workflow · date-filterable reporting view</a:t>
            </a:r>
            <a:endParaRPr lang="en-US" sz="800" dirty="0"/>
          </a:p>
        </p:txBody>
      </p:sp>
      <p:sp>
        <p:nvSpPr>
          <p:cNvPr id="71" name="Shape 41">
            <a:extLst>
              <a:ext uri="{FF2B5EF4-FFF2-40B4-BE49-F238E27FC236}">
                <a16:creationId xmlns:a16="http://schemas.microsoft.com/office/drawing/2014/main" id="{92270F2A-4CDA-9065-E7F9-1322AA5BB0AB}"/>
              </a:ext>
            </a:extLst>
          </p:cNvPr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42">
            <a:extLst>
              <a:ext uri="{FF2B5EF4-FFF2-40B4-BE49-F238E27FC236}">
                <a16:creationId xmlns:a16="http://schemas.microsoft.com/office/drawing/2014/main" id="{E5BE1204-8654-E499-8EBC-DDF73D408B5C}"/>
              </a:ext>
            </a:extLst>
          </p:cNvPr>
          <p:cNvSpPr/>
          <p:nvPr/>
        </p:nvSpPr>
        <p:spPr>
          <a:xfrm>
            <a:off x="658368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🎨  Consistent Branding</a:t>
            </a:r>
            <a:endParaRPr lang="en-US" sz="800" dirty="0"/>
          </a:p>
        </p:txBody>
      </p:sp>
      <p:sp>
        <p:nvSpPr>
          <p:cNvPr id="73" name="Text 43">
            <a:extLst>
              <a:ext uri="{FF2B5EF4-FFF2-40B4-BE49-F238E27FC236}">
                <a16:creationId xmlns:a16="http://schemas.microsoft.com/office/drawing/2014/main" id="{EC633D3B-73E8-BF4B-8EEA-989E72CD7864}"/>
              </a:ext>
            </a:extLst>
          </p:cNvPr>
          <p:cNvSpPr/>
          <p:nvPr/>
        </p:nvSpPr>
        <p:spPr>
          <a:xfrm>
            <a:off x="658368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Colors, typography &amp; components unified across all views</a:t>
            </a:r>
            <a:endParaRPr lang="en-US" sz="650" dirty="0"/>
          </a:p>
        </p:txBody>
      </p:sp>
      <p:sp>
        <p:nvSpPr>
          <p:cNvPr id="74" name="Text 44">
            <a:extLst>
              <a:ext uri="{FF2B5EF4-FFF2-40B4-BE49-F238E27FC236}">
                <a16:creationId xmlns:a16="http://schemas.microsoft.com/office/drawing/2014/main" id="{C4ABB8FE-2687-75AD-F3B1-FC8B99C4FF69}"/>
              </a:ext>
            </a:extLst>
          </p:cNvPr>
          <p:cNvSpPr/>
          <p:nvPr/>
        </p:nvSpPr>
        <p:spPr>
          <a:xfrm>
            <a:off x="2706624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📱  Responsive Design</a:t>
            </a:r>
            <a:endParaRPr lang="en-US" sz="800" dirty="0"/>
          </a:p>
        </p:txBody>
      </p:sp>
      <p:sp>
        <p:nvSpPr>
          <p:cNvPr id="75" name="Text 45">
            <a:extLst>
              <a:ext uri="{FF2B5EF4-FFF2-40B4-BE49-F238E27FC236}">
                <a16:creationId xmlns:a16="http://schemas.microsoft.com/office/drawing/2014/main" id="{3535C6FA-833A-AB79-5213-DAE25E209FD4}"/>
              </a:ext>
            </a:extLst>
          </p:cNvPr>
          <p:cNvSpPr/>
          <p:nvPr/>
        </p:nvSpPr>
        <p:spPr>
          <a:xfrm>
            <a:off x="2706624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Layouts adapt across desktop and mobile breakpoints</a:t>
            </a:r>
            <a:endParaRPr lang="en-US" sz="650" dirty="0"/>
          </a:p>
        </p:txBody>
      </p:sp>
      <p:sp>
        <p:nvSpPr>
          <p:cNvPr id="76" name="Text 46">
            <a:extLst>
              <a:ext uri="{FF2B5EF4-FFF2-40B4-BE49-F238E27FC236}">
                <a16:creationId xmlns:a16="http://schemas.microsoft.com/office/drawing/2014/main" id="{837CE29A-3EEF-4D8A-88BF-666FC65DBDC3}"/>
              </a:ext>
            </a:extLst>
          </p:cNvPr>
          <p:cNvSpPr/>
          <p:nvPr/>
        </p:nvSpPr>
        <p:spPr>
          <a:xfrm>
            <a:off x="4754880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🔒  Role-Based UI</a:t>
            </a:r>
            <a:endParaRPr lang="en-US" sz="800" dirty="0"/>
          </a:p>
        </p:txBody>
      </p:sp>
      <p:sp>
        <p:nvSpPr>
          <p:cNvPr id="77" name="Text 47">
            <a:extLst>
              <a:ext uri="{FF2B5EF4-FFF2-40B4-BE49-F238E27FC236}">
                <a16:creationId xmlns:a16="http://schemas.microsoft.com/office/drawing/2014/main" id="{9AD0FFCA-2B77-EA08-B098-F49134144E69}"/>
              </a:ext>
            </a:extLst>
          </p:cNvPr>
          <p:cNvSpPr/>
          <p:nvPr/>
        </p:nvSpPr>
        <p:spPr>
          <a:xfrm>
            <a:off x="4754880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Admin views restricted; customers see only their flows</a:t>
            </a:r>
            <a:endParaRPr lang="en-US" sz="650" dirty="0"/>
          </a:p>
        </p:txBody>
      </p:sp>
      <p:sp>
        <p:nvSpPr>
          <p:cNvPr id="78" name="Text 48">
            <a:extLst>
              <a:ext uri="{FF2B5EF4-FFF2-40B4-BE49-F238E27FC236}">
                <a16:creationId xmlns:a16="http://schemas.microsoft.com/office/drawing/2014/main" id="{A0C00045-1AD6-987F-3773-9FB5BDE6A2AD}"/>
              </a:ext>
            </a:extLst>
          </p:cNvPr>
          <p:cNvSpPr/>
          <p:nvPr/>
        </p:nvSpPr>
        <p:spPr>
          <a:xfrm>
            <a:off x="6803136" y="46817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</a:rPr>
              <a:t>⚡  State Management</a:t>
            </a:r>
            <a:endParaRPr lang="en-US" sz="800" dirty="0"/>
          </a:p>
        </p:txBody>
      </p:sp>
      <p:sp>
        <p:nvSpPr>
          <p:cNvPr id="79" name="Text 49">
            <a:extLst>
              <a:ext uri="{FF2B5EF4-FFF2-40B4-BE49-F238E27FC236}">
                <a16:creationId xmlns:a16="http://schemas.microsoft.com/office/drawing/2014/main" id="{95AC6EFD-D09B-01FE-FEC2-90F8FD8F8661}"/>
              </a:ext>
            </a:extLst>
          </p:cNvPr>
          <p:cNvSpPr/>
          <p:nvPr/>
        </p:nvSpPr>
        <p:spPr>
          <a:xfrm>
            <a:off x="6803136" y="4828032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4A3B8"/>
                </a:solidFill>
              </a:rPr>
              <a:t>Loading, empty, error &amp; success states on every view</a:t>
            </a:r>
            <a:endParaRPr lang="en-US" sz="650" dirty="0"/>
          </a:p>
        </p:txBody>
      </p:sp>
    </p:spTree>
    <p:extLst>
      <p:ext uri="{BB962C8B-B14F-4D97-AF65-F5344CB8AC3E}">
        <p14:creationId xmlns:p14="http://schemas.microsoft.com/office/powerpoint/2010/main" val="184323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CB47F-8D70-0381-08E3-BC912EE2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C50509C-14BC-71D6-0205-203A60195B9A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477F2A-9A91-DF02-ECA3-856BF2B56D9D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D845693-C0A8-64FA-BDBC-DDBAFE2EED6F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1FFC6B1-0702-0D9E-C770-64B80A4F3810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E9ED67E-F45A-8B1D-7770-63BD7DCCC72F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23F636C-F194-B1B2-5248-CCA191C36108}"/>
              </a:ext>
            </a:extLst>
          </p:cNvPr>
          <p:cNvSpPr/>
          <p:nvPr/>
        </p:nvSpPr>
        <p:spPr>
          <a:xfrm>
            <a:off x="457200" y="1115568"/>
            <a:ext cx="4023360" cy="310896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6B45CEA-7587-5151-C26A-D31600DFCEC6}"/>
              </a:ext>
            </a:extLst>
          </p:cNvPr>
          <p:cNvSpPr/>
          <p:nvPr/>
        </p:nvSpPr>
        <p:spPr>
          <a:xfrm>
            <a:off x="56692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Storefront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A765D42-820A-09FA-DF64-848172D63AC2}"/>
              </a:ext>
            </a:extLst>
          </p:cNvPr>
          <p:cNvSpPr/>
          <p:nvPr/>
        </p:nvSpPr>
        <p:spPr>
          <a:xfrm>
            <a:off x="56692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Product browsing · cart · checkout flow</a:t>
            </a:r>
            <a:endParaRPr lang="en-US" sz="7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C917F27-14DA-8C83-B1A5-E78AA36A60B7}"/>
              </a:ext>
            </a:extLst>
          </p:cNvPr>
          <p:cNvSpPr/>
          <p:nvPr/>
        </p:nvSpPr>
        <p:spPr>
          <a:xfrm>
            <a:off x="45720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FEBC012-4308-97DD-5009-8BF9C19E27C6}"/>
              </a:ext>
            </a:extLst>
          </p:cNvPr>
          <p:cNvSpPr/>
          <p:nvPr/>
        </p:nvSpPr>
        <p:spPr>
          <a:xfrm>
            <a:off x="59436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E5D196A-7700-476E-E796-63DE69745D2F}"/>
              </a:ext>
            </a:extLst>
          </p:cNvPr>
          <p:cNvSpPr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storefront screenshot 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40814F4-496C-EAA8-4B0F-7BDA8947CF45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5BE1E0-8588-870B-9933-4749E70EB23D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084282C-6F12-24E5-FF4E-5192AA414B44}"/>
              </a:ext>
            </a:extLst>
          </p:cNvPr>
          <p:cNvSpPr/>
          <p:nvPr/>
        </p:nvSpPr>
        <p:spPr>
          <a:xfrm>
            <a:off x="4617720" y="1115568"/>
            <a:ext cx="4023360" cy="31089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A772D7-CD43-7F75-F9BC-DE7CEF34071E}"/>
              </a:ext>
            </a:extLst>
          </p:cNvPr>
          <p:cNvSpPr/>
          <p:nvPr/>
        </p:nvSpPr>
        <p:spPr>
          <a:xfrm>
            <a:off x="472744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Admin Dashboard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48C89B8-9DEF-7118-AC62-22B947264B8C}"/>
              </a:ext>
            </a:extLst>
          </p:cNvPr>
          <p:cNvSpPr/>
          <p:nvPr/>
        </p:nvSpPr>
        <p:spPr>
          <a:xfrm>
            <a:off x="472744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Navigation · role-restricted views · admin layout</a:t>
            </a:r>
            <a:endParaRPr lang="en-US" sz="7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BB93498-50D6-DAEE-4104-E70F6EC952C6}"/>
              </a:ext>
            </a:extLst>
          </p:cNvPr>
          <p:cNvSpPr/>
          <p:nvPr/>
        </p:nvSpPr>
        <p:spPr>
          <a:xfrm>
            <a:off x="461772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4117A1C-4189-6FAF-D682-FD687B9E9117}"/>
              </a:ext>
            </a:extLst>
          </p:cNvPr>
          <p:cNvSpPr/>
          <p:nvPr/>
        </p:nvSpPr>
        <p:spPr>
          <a:xfrm>
            <a:off x="475488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3063F1F-B93E-FB4D-A89B-E5C82E0F0364}"/>
              </a:ext>
            </a:extLst>
          </p:cNvPr>
          <p:cNvSpPr/>
          <p:nvPr/>
        </p:nvSpPr>
        <p:spPr>
          <a:xfrm>
            <a:off x="48006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admin dashboard screenshot ]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18ECAA6-03F3-57E4-E01C-50B74917703E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F22A46F-730B-7A46-5FC8-065F292800DB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CCCEEE9-7BE8-F449-BE69-5C3CBEA17F51}"/>
              </a:ext>
            </a:extLst>
          </p:cNvPr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EA55B8-302A-302A-86F4-5D9F250A11EB}"/>
              </a:ext>
            </a:extLst>
          </p:cNvPr>
          <p:cNvSpPr/>
          <p:nvPr/>
        </p:nvSpPr>
        <p:spPr>
          <a:xfrm>
            <a:off x="566928" y="4828032"/>
            <a:ext cx="8010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75569"/>
                </a:solidFill>
              </a:rPr>
              <a:t>React SPA  ·  SimpleJWT authentication  ·  Role-enforced routing  ·  Component-based architecture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381649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57BC8D-BFBA-CCF8-24BD-47EF05531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46EC5CC-763D-01E7-C0C4-064543FD66B8}"/>
              </a:ext>
            </a:extLst>
          </p:cNvPr>
          <p:cNvSpPr/>
          <p:nvPr/>
        </p:nvSpPr>
        <p:spPr>
          <a:xfrm>
            <a:off x="457200" y="256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FRONTEND &amp; USER EXPERIENCE</a:t>
            </a:r>
            <a:endParaRPr lang="en-US" sz="8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C905C9F-C73E-C869-E79F-756CBD393CAA}"/>
              </a:ext>
            </a:extLst>
          </p:cNvPr>
          <p:cNvSpPr/>
          <p:nvPr/>
        </p:nvSpPr>
        <p:spPr>
          <a:xfrm>
            <a:off x="457200" y="4572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428D9C-7277-C59B-9075-E55F8DC87A9F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Rachel Mizer</a:t>
            </a:r>
            <a:endParaRPr lang="en-US" sz="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5959F35-87FB-6DB4-717A-438CD9105E79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Frontend &amp; UI/UX Lead</a:t>
            </a:r>
            <a:endParaRPr lang="en-US" sz="7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98978A-6AEE-11F9-36B0-36CD29514E22}"/>
              </a:ext>
            </a:extLst>
          </p:cNvPr>
          <p:cNvSpPr/>
          <p:nvPr/>
        </p:nvSpPr>
        <p:spPr>
          <a:xfrm>
            <a:off x="457200" y="1024128"/>
            <a:ext cx="8229600" cy="10973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6F04FCE-5078-FE1D-61C2-CE148AB9F06B}"/>
              </a:ext>
            </a:extLst>
          </p:cNvPr>
          <p:cNvSpPr/>
          <p:nvPr/>
        </p:nvSpPr>
        <p:spPr>
          <a:xfrm>
            <a:off x="457200" y="1115568"/>
            <a:ext cx="4023360" cy="310896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EAFD97D-9CE5-261C-E95A-7F1F11EF29AC}"/>
              </a:ext>
            </a:extLst>
          </p:cNvPr>
          <p:cNvSpPr/>
          <p:nvPr/>
        </p:nvSpPr>
        <p:spPr>
          <a:xfrm>
            <a:off x="56692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Customer Profile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4876047-AC9D-617B-8BF7-8E37EC4C737B}"/>
              </a:ext>
            </a:extLst>
          </p:cNvPr>
          <p:cNvSpPr/>
          <p:nvPr/>
        </p:nvSpPr>
        <p:spPr>
          <a:xfrm>
            <a:off x="56692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Account management · order history · profile editing</a:t>
            </a:r>
            <a:endParaRPr lang="en-US" sz="7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576614E-FABB-25E3-41EE-F3210F876B1C}"/>
              </a:ext>
            </a:extLst>
          </p:cNvPr>
          <p:cNvSpPr/>
          <p:nvPr/>
        </p:nvSpPr>
        <p:spPr>
          <a:xfrm>
            <a:off x="45720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17259BF-657C-8EE6-96BA-05357B738E0D}"/>
              </a:ext>
            </a:extLst>
          </p:cNvPr>
          <p:cNvSpPr/>
          <p:nvPr/>
        </p:nvSpPr>
        <p:spPr>
          <a:xfrm>
            <a:off x="59436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3282C6B-E67A-03AC-345A-AE28AD86EC5A}"/>
              </a:ext>
            </a:extLst>
          </p:cNvPr>
          <p:cNvSpPr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customer profile screenshot ]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806DC52-004B-0DC6-C0F7-08DEB3CAC32F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2AAD1CF-74BB-B14C-3E05-6517FA0E2688}"/>
              </a:ext>
            </a:extLst>
          </p:cNvPr>
          <p:cNvSpPr/>
          <p:nvPr/>
        </p:nvSpPr>
        <p:spPr>
          <a:xfrm>
            <a:off x="384048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33899B5-0D41-059C-FAC1-16B8F779C19B}"/>
              </a:ext>
            </a:extLst>
          </p:cNvPr>
          <p:cNvSpPr/>
          <p:nvPr/>
        </p:nvSpPr>
        <p:spPr>
          <a:xfrm>
            <a:off x="4617720" y="1115568"/>
            <a:ext cx="4023360" cy="31089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C263B7-12AC-A817-26B6-F018BD8AD547}"/>
              </a:ext>
            </a:extLst>
          </p:cNvPr>
          <p:cNvSpPr/>
          <p:nvPr/>
        </p:nvSpPr>
        <p:spPr>
          <a:xfrm>
            <a:off x="4727448" y="11155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Tools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939F9CF-AEF4-E267-602B-6AA72F5165C8}"/>
              </a:ext>
            </a:extLst>
          </p:cNvPr>
          <p:cNvSpPr/>
          <p:nvPr/>
        </p:nvSpPr>
        <p:spPr>
          <a:xfrm>
            <a:off x="4727448" y="1280160"/>
            <a:ext cx="3749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ADCFC"/>
                </a:solidFill>
              </a:rPr>
              <a:t>Product &amp; inventory management · sales dashboard</a:t>
            </a:r>
            <a:endParaRPr lang="en-US" sz="7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4068518-4647-49A4-BC81-4DFC9E23F16B}"/>
              </a:ext>
            </a:extLst>
          </p:cNvPr>
          <p:cNvSpPr/>
          <p:nvPr/>
        </p:nvSpPr>
        <p:spPr>
          <a:xfrm>
            <a:off x="4617720" y="1463040"/>
            <a:ext cx="4023360" cy="3291840"/>
          </a:xfrm>
          <a:prstGeom prst="rect">
            <a:avLst/>
          </a:prstGeom>
          <a:solidFill>
            <a:srgbClr val="F0F2F6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AA8B83-4B30-DE7B-9135-F58F382796CE}"/>
              </a:ext>
            </a:extLst>
          </p:cNvPr>
          <p:cNvSpPr/>
          <p:nvPr/>
        </p:nvSpPr>
        <p:spPr>
          <a:xfrm>
            <a:off x="4754880" y="1600200"/>
            <a:ext cx="3749040" cy="3017520"/>
          </a:xfrm>
          <a:prstGeom prst="rect">
            <a:avLst/>
          </a:prstGeom>
          <a:solidFill>
            <a:srgbClr val="E8EAF0"/>
          </a:solidFill>
          <a:ln w="6350">
            <a:solidFill>
              <a:srgbClr val="C8CDD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941B7A8-4096-F865-7C9F-5213710FACFF}"/>
              </a:ext>
            </a:extLst>
          </p:cNvPr>
          <p:cNvSpPr/>
          <p:nvPr/>
        </p:nvSpPr>
        <p:spPr>
          <a:xfrm>
            <a:off x="48006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</a:rPr>
              <a:t>[ Replace with business settings screenshot ]</a:t>
            </a:r>
            <a:endParaRPr lang="en-US" sz="9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9828094-89E8-272E-D765-C5F1878062D7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2A83AD3-6F18-7300-924A-DBCB92CD26E8}"/>
              </a:ext>
            </a:extLst>
          </p:cNvPr>
          <p:cNvSpPr/>
          <p:nvPr/>
        </p:nvSpPr>
        <p:spPr>
          <a:xfrm>
            <a:off x="8001000" y="1508760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</a:rPr>
              <a:t>UI</a:t>
            </a:r>
            <a:endParaRPr lang="en-US" sz="7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16DF484-6009-023B-41D1-CCA84D58930C}"/>
              </a:ext>
            </a:extLst>
          </p:cNvPr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50FDA77-E641-ED75-F586-4D39E349E52F}"/>
              </a:ext>
            </a:extLst>
          </p:cNvPr>
          <p:cNvSpPr/>
          <p:nvPr/>
        </p:nvSpPr>
        <p:spPr>
          <a:xfrm>
            <a:off x="566928" y="4828032"/>
            <a:ext cx="8010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75569"/>
                </a:solidFill>
              </a:rPr>
              <a:t>Branding consistent across all views  ·  Loading, error &amp; empty states on every page  ·  77+ automated tests passing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1831737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>
            <a:extLst>
              <a:ext uri="{FF2B5EF4-FFF2-40B4-BE49-F238E27FC236}">
                <a16:creationId xmlns:a16="http://schemas.microsoft.com/office/drawing/2014/main" id="{0ED63F8C-5F5E-FC7F-D090-7DF1629F19BE}"/>
              </a:ext>
            </a:extLst>
          </p:cNvPr>
          <p:cNvSpPr/>
          <p:nvPr/>
        </p:nvSpPr>
        <p:spPr>
          <a:xfrm>
            <a:off x="457200" y="256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ARCHITECTURE &amp; DESIGN</a:t>
            </a:r>
            <a:endParaRPr lang="en-US" sz="850" dirty="0"/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F5146563-6AAF-81EF-4D27-79F771B994A8}"/>
              </a:ext>
            </a:extLst>
          </p:cNvPr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3400" dirty="0"/>
          </a:p>
        </p:txBody>
      </p:sp>
      <p:sp>
        <p:nvSpPr>
          <p:cNvPr id="56" name="Shape 2">
            <a:extLst>
              <a:ext uri="{FF2B5EF4-FFF2-40B4-BE49-F238E27FC236}">
                <a16:creationId xmlns:a16="http://schemas.microsoft.com/office/drawing/2014/main" id="{676B14F0-D263-0BA7-854F-20FFC222ABB2}"/>
              </a:ext>
            </a:extLst>
          </p:cNvPr>
          <p:cNvSpPr/>
          <p:nvPr/>
        </p:nvSpPr>
        <p:spPr>
          <a:xfrm>
            <a:off x="457200" y="1097280"/>
            <a:ext cx="2606040" cy="5029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C3BFA7-7A66-EB99-3554-A9064C3302A6}"/>
              </a:ext>
            </a:extLst>
          </p:cNvPr>
          <p:cNvSpPr/>
          <p:nvPr/>
        </p:nvSpPr>
        <p:spPr>
          <a:xfrm>
            <a:off x="45720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B4D11A6C-CBFD-D6B4-7588-08295B98BCAF}"/>
              </a:ext>
            </a:extLst>
          </p:cNvPr>
          <p:cNvSpPr/>
          <p:nvPr/>
        </p:nvSpPr>
        <p:spPr>
          <a:xfrm>
            <a:off x="56692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React</a:t>
            </a:r>
            <a:endParaRPr lang="en-US" sz="1100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83598DC0-ED9D-E0C1-BFA7-5CBF331A01FB}"/>
              </a:ext>
            </a:extLst>
          </p:cNvPr>
          <p:cNvSpPr/>
          <p:nvPr/>
        </p:nvSpPr>
        <p:spPr>
          <a:xfrm>
            <a:off x="56692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SPA – Component Based – SimpleJWT auth</a:t>
            </a:r>
            <a:endParaRPr lang="en-US" sz="80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B2D9734B-5957-F413-0BB4-460C53BEB4B3}"/>
              </a:ext>
            </a:extLst>
          </p:cNvPr>
          <p:cNvSpPr/>
          <p:nvPr/>
        </p:nvSpPr>
        <p:spPr>
          <a:xfrm>
            <a:off x="3291840" y="1097280"/>
            <a:ext cx="260604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7EFB7336-A024-C2C3-7990-8EBA54522DA2}"/>
              </a:ext>
            </a:extLst>
          </p:cNvPr>
          <p:cNvSpPr/>
          <p:nvPr/>
        </p:nvSpPr>
        <p:spPr>
          <a:xfrm>
            <a:off x="329184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10">
            <a:extLst>
              <a:ext uri="{FF2B5EF4-FFF2-40B4-BE49-F238E27FC236}">
                <a16:creationId xmlns:a16="http://schemas.microsoft.com/office/drawing/2014/main" id="{35D68F9F-F816-370D-5CD8-10DD0513BD7D}"/>
              </a:ext>
            </a:extLst>
          </p:cNvPr>
          <p:cNvSpPr/>
          <p:nvPr/>
        </p:nvSpPr>
        <p:spPr>
          <a:xfrm>
            <a:off x="340156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Django + DRF</a:t>
            </a:r>
            <a:endParaRPr lang="en-US" sz="1100" dirty="0"/>
          </a:p>
        </p:txBody>
      </p:sp>
      <p:sp>
        <p:nvSpPr>
          <p:cNvPr id="65" name="Text 11">
            <a:extLst>
              <a:ext uri="{FF2B5EF4-FFF2-40B4-BE49-F238E27FC236}">
                <a16:creationId xmlns:a16="http://schemas.microsoft.com/office/drawing/2014/main" id="{F7F26A5F-C45C-A579-586A-1FAF380072BC}"/>
              </a:ext>
            </a:extLst>
          </p:cNvPr>
          <p:cNvSpPr/>
          <p:nvPr/>
        </p:nvSpPr>
        <p:spPr>
          <a:xfrm>
            <a:off x="340156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REST API – JWT auth – Business Logic</a:t>
            </a:r>
            <a:endParaRPr lang="en-US" sz="80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8D96B1B9-9506-3AA8-66FD-91E72E83773B}"/>
              </a:ext>
            </a:extLst>
          </p:cNvPr>
          <p:cNvSpPr/>
          <p:nvPr/>
        </p:nvSpPr>
        <p:spPr>
          <a:xfrm>
            <a:off x="6126480" y="1097280"/>
            <a:ext cx="260604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F6DD4974-74DD-D34A-E0AD-6233A1EF3569}"/>
              </a:ext>
            </a:extLst>
          </p:cNvPr>
          <p:cNvSpPr/>
          <p:nvPr/>
        </p:nvSpPr>
        <p:spPr>
          <a:xfrm>
            <a:off x="612648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71EC4547-6D91-B66C-6231-30A49961B632}"/>
              </a:ext>
            </a:extLst>
          </p:cNvPr>
          <p:cNvSpPr/>
          <p:nvPr/>
        </p:nvSpPr>
        <p:spPr>
          <a:xfrm>
            <a:off x="623620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MySQL 8.0</a:t>
            </a:r>
            <a:endParaRPr lang="en-US" sz="1100" dirty="0"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441060B9-6EFC-7328-9A6E-8BF0C70E0791}"/>
              </a:ext>
            </a:extLst>
          </p:cNvPr>
          <p:cNvSpPr/>
          <p:nvPr/>
        </p:nvSpPr>
        <p:spPr>
          <a:xfrm>
            <a:off x="623620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Relational Schema – Seed Data – Migrations</a:t>
            </a:r>
            <a:endParaRPr lang="en-US" sz="800" dirty="0"/>
          </a:p>
        </p:txBody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C930D2EA-1438-FFF9-94B7-8764BD7E9D8A}"/>
              </a:ext>
            </a:extLst>
          </p:cNvPr>
          <p:cNvSpPr/>
          <p:nvPr/>
        </p:nvSpPr>
        <p:spPr>
          <a:xfrm>
            <a:off x="45720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Tools &amp; Stack</a:t>
            </a:r>
            <a:endParaRPr lang="en-US" sz="11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A2F16956-9D71-9F2F-72BB-534626206FC4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5809C058-CA4E-6880-0C64-9E8B95F9AC7E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React</a:t>
            </a:r>
            <a:endParaRPr lang="en-US" sz="85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AB515E14-E6BD-894E-9427-7587661A43DC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DE64E97A-3B1A-C421-8846-31A10A560D78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Django + DRF</a:t>
            </a:r>
            <a:endParaRPr lang="en-US" sz="85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232CA1A5-0633-5BA2-7FFE-C5F1C2A1DC9D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9AA33D6C-B668-2A76-4517-0A27156C2070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MySQL 8.0</a:t>
            </a:r>
            <a:endParaRPr lang="en-US" sz="85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FE726050-0B2D-8B00-DAA5-753D9739BCF7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B37CC9EC-31A3-57C9-7CF6-4BE4D268AA31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SimpleJWT</a:t>
            </a:r>
            <a:endParaRPr lang="en-US" sz="85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6D7A9168-37FC-EA77-327D-BE88EC86FCAA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A3E45DE9-E8C8-829F-7A0B-BDBC1E949230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Robot Framework</a:t>
            </a:r>
            <a:endParaRPr lang="en-US" sz="850" dirty="0"/>
          </a:p>
        </p:txBody>
      </p:sp>
      <p:sp>
        <p:nvSpPr>
          <p:cNvPr id="82" name="Shape 28">
            <a:extLst>
              <a:ext uri="{FF2B5EF4-FFF2-40B4-BE49-F238E27FC236}">
                <a16:creationId xmlns:a16="http://schemas.microsoft.com/office/drawing/2014/main" id="{1321C424-7357-A9D2-CA22-789D59CCA104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903AA382-269C-750A-186D-FB57A216325F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GitHub Actions</a:t>
            </a:r>
            <a:endParaRPr lang="en-US" sz="850" dirty="0"/>
          </a:p>
        </p:txBody>
      </p:sp>
      <p:sp>
        <p:nvSpPr>
          <p:cNvPr id="84" name="Shape 30">
            <a:extLst>
              <a:ext uri="{FF2B5EF4-FFF2-40B4-BE49-F238E27FC236}">
                <a16:creationId xmlns:a16="http://schemas.microsoft.com/office/drawing/2014/main" id="{F0AD0DFC-0761-9914-A2F1-85A08A290C2D}"/>
              </a:ext>
            </a:extLst>
          </p:cNvPr>
          <p:cNvSpPr/>
          <p:nvPr/>
        </p:nvSpPr>
        <p:spPr>
          <a:xfrm>
            <a:off x="457200" y="3044952"/>
            <a:ext cx="8229600" cy="1810512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5" name="Text 31">
            <a:extLst>
              <a:ext uri="{FF2B5EF4-FFF2-40B4-BE49-F238E27FC236}">
                <a16:creationId xmlns:a16="http://schemas.microsoft.com/office/drawing/2014/main" id="{BA8F7C36-9577-AF90-1C6E-97E95FD719E9}"/>
              </a:ext>
            </a:extLst>
          </p:cNvPr>
          <p:cNvSpPr/>
          <p:nvPr/>
        </p:nvSpPr>
        <p:spPr>
          <a:xfrm>
            <a:off x="56692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APIs</a:t>
            </a:r>
            <a:endParaRPr lang="en-US" sz="1100" dirty="0"/>
          </a:p>
        </p:txBody>
      </p:sp>
      <p:sp>
        <p:nvSpPr>
          <p:cNvPr id="86" name="Text 32">
            <a:extLst>
              <a:ext uri="{FF2B5EF4-FFF2-40B4-BE49-F238E27FC236}">
                <a16:creationId xmlns:a16="http://schemas.microsoft.com/office/drawing/2014/main" id="{19457A24-0BD9-A653-DD2B-3DBAA8B5EABC}"/>
              </a:ext>
            </a:extLst>
          </p:cNvPr>
          <p:cNvSpPr/>
          <p:nvPr/>
        </p:nvSpPr>
        <p:spPr>
          <a:xfrm>
            <a:off x="566928" y="331927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REST  ·  versioned at /api/v1/  ·  JWT-authenticated  ·  role-enforced (Customer / Business / Guest)</a:t>
            </a:r>
            <a:endParaRPr lang="en-US" sz="750" dirty="0"/>
          </a:p>
        </p:txBody>
      </p:sp>
      <p:sp>
        <p:nvSpPr>
          <p:cNvPr id="87" name="Shape 33">
            <a:extLst>
              <a:ext uri="{FF2B5EF4-FFF2-40B4-BE49-F238E27FC236}">
                <a16:creationId xmlns:a16="http://schemas.microsoft.com/office/drawing/2014/main" id="{94A3EAB6-F583-6B6C-C67E-292FB36551E2}"/>
              </a:ext>
            </a:extLst>
          </p:cNvPr>
          <p:cNvSpPr/>
          <p:nvPr/>
        </p:nvSpPr>
        <p:spPr>
          <a:xfrm>
            <a:off x="566928" y="3493008"/>
            <a:ext cx="7644384" cy="9144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34">
            <a:extLst>
              <a:ext uri="{FF2B5EF4-FFF2-40B4-BE49-F238E27FC236}">
                <a16:creationId xmlns:a16="http://schemas.microsoft.com/office/drawing/2014/main" id="{0A1B6897-7E10-F9EA-0335-858DD3322E26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35">
            <a:extLst>
              <a:ext uri="{FF2B5EF4-FFF2-40B4-BE49-F238E27FC236}">
                <a16:creationId xmlns:a16="http://schemas.microsoft.com/office/drawing/2014/main" id="{04AC7289-1E1F-64DB-AAFA-0DC6A3097DB8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0" name="Text 36">
            <a:extLst>
              <a:ext uri="{FF2B5EF4-FFF2-40B4-BE49-F238E27FC236}">
                <a16:creationId xmlns:a16="http://schemas.microsoft.com/office/drawing/2014/main" id="{B609767F-9EF2-6E18-50C8-78A460291F32}"/>
              </a:ext>
            </a:extLst>
          </p:cNvPr>
          <p:cNvSpPr/>
          <p:nvPr/>
        </p:nvSpPr>
        <p:spPr>
          <a:xfrm>
            <a:off x="2377440" y="35570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/api/v1/auth/login/</a:t>
            </a:r>
            <a:endParaRPr lang="en-US" sz="800" dirty="0"/>
          </a:p>
        </p:txBody>
      </p:sp>
      <p:sp>
        <p:nvSpPr>
          <p:cNvPr id="91" name="Text 37">
            <a:extLst>
              <a:ext uri="{FF2B5EF4-FFF2-40B4-BE49-F238E27FC236}">
                <a16:creationId xmlns:a16="http://schemas.microsoft.com/office/drawing/2014/main" id="{3163E7E2-025C-33CE-5F81-D1CCB79C01B9}"/>
              </a:ext>
            </a:extLst>
          </p:cNvPr>
          <p:cNvSpPr/>
          <p:nvPr/>
        </p:nvSpPr>
        <p:spPr>
          <a:xfrm>
            <a:off x="5486400" y="35570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Issues JWT access + refresh tokens</a:t>
            </a:r>
            <a:endParaRPr lang="en-US" sz="750" dirty="0"/>
          </a:p>
        </p:txBody>
      </p:sp>
      <p:sp>
        <p:nvSpPr>
          <p:cNvPr id="92" name="Shape 38">
            <a:extLst>
              <a:ext uri="{FF2B5EF4-FFF2-40B4-BE49-F238E27FC236}">
                <a16:creationId xmlns:a16="http://schemas.microsoft.com/office/drawing/2014/main" id="{8F6E5A85-6DF8-E9CF-CEA9-C97B4201CAAD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FDC525ED-3C98-CF09-8CF1-FFF9FADB4C5F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B21B6"/>
                </a:solidFill>
              </a:rPr>
              <a:t>JWT</a:t>
            </a:r>
            <a:endParaRPr lang="en-US" sz="650" dirty="0"/>
          </a:p>
        </p:txBody>
      </p:sp>
      <p:sp>
        <p:nvSpPr>
          <p:cNvPr id="94" name="Shape 40">
            <a:extLst>
              <a:ext uri="{FF2B5EF4-FFF2-40B4-BE49-F238E27FC236}">
                <a16:creationId xmlns:a16="http://schemas.microsoft.com/office/drawing/2014/main" id="{ECDEEEB3-CD4F-5442-1EC6-7495E12F5701}"/>
              </a:ext>
            </a:extLst>
          </p:cNvPr>
          <p:cNvSpPr/>
          <p:nvPr/>
        </p:nvSpPr>
        <p:spPr>
          <a:xfrm>
            <a:off x="566928" y="37581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41">
            <a:extLst>
              <a:ext uri="{FF2B5EF4-FFF2-40B4-BE49-F238E27FC236}">
                <a16:creationId xmlns:a16="http://schemas.microsoft.com/office/drawing/2014/main" id="{22A799A9-D15F-6154-4638-E3A4A4281F03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42">
            <a:extLst>
              <a:ext uri="{FF2B5EF4-FFF2-40B4-BE49-F238E27FC236}">
                <a16:creationId xmlns:a16="http://schemas.microsoft.com/office/drawing/2014/main" id="{66E6E10B-2BBD-9283-61C9-D4158D7270EF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97" name="Shape 43">
            <a:extLst>
              <a:ext uri="{FF2B5EF4-FFF2-40B4-BE49-F238E27FC236}">
                <a16:creationId xmlns:a16="http://schemas.microsoft.com/office/drawing/2014/main" id="{09CBDFFA-6A6D-9BAA-3F0F-22C32C36EC03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44">
            <a:extLst>
              <a:ext uri="{FF2B5EF4-FFF2-40B4-BE49-F238E27FC236}">
                <a16:creationId xmlns:a16="http://schemas.microsoft.com/office/drawing/2014/main" id="{F9151A57-E1AF-98AF-0931-D263620294D5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9" name="Shape 45">
            <a:extLst>
              <a:ext uri="{FF2B5EF4-FFF2-40B4-BE49-F238E27FC236}">
                <a16:creationId xmlns:a16="http://schemas.microsoft.com/office/drawing/2014/main" id="{49E3D096-EB13-6C08-86BC-3A7AF54BA25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46">
            <a:extLst>
              <a:ext uri="{FF2B5EF4-FFF2-40B4-BE49-F238E27FC236}">
                <a16:creationId xmlns:a16="http://schemas.microsoft.com/office/drawing/2014/main" id="{01FE61E5-280C-FBE2-4A05-2A825D9527A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01" name="Shape 47">
            <a:extLst>
              <a:ext uri="{FF2B5EF4-FFF2-40B4-BE49-F238E27FC236}">
                <a16:creationId xmlns:a16="http://schemas.microsoft.com/office/drawing/2014/main" id="{B5EDC3E9-9224-68C9-95B6-9AEDC291C570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48">
            <a:extLst>
              <a:ext uri="{FF2B5EF4-FFF2-40B4-BE49-F238E27FC236}">
                <a16:creationId xmlns:a16="http://schemas.microsoft.com/office/drawing/2014/main" id="{9702F993-6D87-3782-D4D9-F7D89CB7074A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991B1B"/>
                </a:solidFill>
              </a:rPr>
              <a:t>DELETE</a:t>
            </a:r>
            <a:endParaRPr lang="en-US" sz="600" dirty="0"/>
          </a:p>
        </p:txBody>
      </p:sp>
      <p:sp>
        <p:nvSpPr>
          <p:cNvPr id="103" name="Text 49">
            <a:extLst>
              <a:ext uri="{FF2B5EF4-FFF2-40B4-BE49-F238E27FC236}">
                <a16:creationId xmlns:a16="http://schemas.microsoft.com/office/drawing/2014/main" id="{1A0E1397-DD3D-7F2A-71B7-004B91A2AD50}"/>
              </a:ext>
            </a:extLst>
          </p:cNvPr>
          <p:cNvSpPr/>
          <p:nvPr/>
        </p:nvSpPr>
        <p:spPr>
          <a:xfrm>
            <a:off x="2377440" y="37856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/api/v1/products</a:t>
            </a:r>
            <a:endParaRPr lang="en-US" sz="800" dirty="0"/>
          </a:p>
        </p:txBody>
      </p:sp>
      <p:sp>
        <p:nvSpPr>
          <p:cNvPr id="104" name="Text 50">
            <a:extLst>
              <a:ext uri="{FF2B5EF4-FFF2-40B4-BE49-F238E27FC236}">
                <a16:creationId xmlns:a16="http://schemas.microsoft.com/office/drawing/2014/main" id="{F7330509-530D-37DA-B38D-0BED5212275E}"/>
              </a:ext>
            </a:extLst>
          </p:cNvPr>
          <p:cNvSpPr/>
          <p:nvPr/>
        </p:nvSpPr>
        <p:spPr>
          <a:xfrm>
            <a:off x="5486400" y="37856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Product catalog CRUD</a:t>
            </a:r>
            <a:endParaRPr lang="en-US" sz="750" dirty="0"/>
          </a:p>
        </p:txBody>
      </p:sp>
      <p:sp>
        <p:nvSpPr>
          <p:cNvPr id="105" name="Shape 51">
            <a:extLst>
              <a:ext uri="{FF2B5EF4-FFF2-40B4-BE49-F238E27FC236}">
                <a16:creationId xmlns:a16="http://schemas.microsoft.com/office/drawing/2014/main" id="{55102050-6551-B591-E6FE-F9A79E59B1FA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52">
            <a:extLst>
              <a:ext uri="{FF2B5EF4-FFF2-40B4-BE49-F238E27FC236}">
                <a16:creationId xmlns:a16="http://schemas.microsoft.com/office/drawing/2014/main" id="{53ED20F4-45FA-D7C0-18B4-CF34067C40F2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07" name="Shape 53">
            <a:extLst>
              <a:ext uri="{FF2B5EF4-FFF2-40B4-BE49-F238E27FC236}">
                <a16:creationId xmlns:a16="http://schemas.microsoft.com/office/drawing/2014/main" id="{22BEFB21-BDB9-D420-B134-07A41A0B5C56}"/>
              </a:ext>
            </a:extLst>
          </p:cNvPr>
          <p:cNvSpPr/>
          <p:nvPr/>
        </p:nvSpPr>
        <p:spPr>
          <a:xfrm>
            <a:off x="566928" y="39867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54">
            <a:extLst>
              <a:ext uri="{FF2B5EF4-FFF2-40B4-BE49-F238E27FC236}">
                <a16:creationId xmlns:a16="http://schemas.microsoft.com/office/drawing/2014/main" id="{2AD27C57-55CF-4D4A-5F60-1A4C14161599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55">
            <a:extLst>
              <a:ext uri="{FF2B5EF4-FFF2-40B4-BE49-F238E27FC236}">
                <a16:creationId xmlns:a16="http://schemas.microsoft.com/office/drawing/2014/main" id="{83A63171-8F3A-B36D-10E0-FEECEEF0DA36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110" name="Shape 56">
            <a:extLst>
              <a:ext uri="{FF2B5EF4-FFF2-40B4-BE49-F238E27FC236}">
                <a16:creationId xmlns:a16="http://schemas.microsoft.com/office/drawing/2014/main" id="{34088CE7-1B7B-FCA6-8415-FFF852D63C79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57">
            <a:extLst>
              <a:ext uri="{FF2B5EF4-FFF2-40B4-BE49-F238E27FC236}">
                <a16:creationId xmlns:a16="http://schemas.microsoft.com/office/drawing/2014/main" id="{796D6AAB-0A35-DB23-900B-6B5C6A8094BC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12" name="Text 58">
            <a:extLst>
              <a:ext uri="{FF2B5EF4-FFF2-40B4-BE49-F238E27FC236}">
                <a16:creationId xmlns:a16="http://schemas.microsoft.com/office/drawing/2014/main" id="{22406778-BE24-CBC7-9499-129184F0B620}"/>
              </a:ext>
            </a:extLst>
          </p:cNvPr>
          <p:cNvSpPr/>
          <p:nvPr/>
        </p:nvSpPr>
        <p:spPr>
          <a:xfrm>
            <a:off x="2377440" y="40142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/api/v1/orders / orders/{id}/submit</a:t>
            </a:r>
            <a:endParaRPr lang="en-US" sz="800" dirty="0"/>
          </a:p>
        </p:txBody>
      </p:sp>
      <p:sp>
        <p:nvSpPr>
          <p:cNvPr id="113" name="Text 59">
            <a:extLst>
              <a:ext uri="{FF2B5EF4-FFF2-40B4-BE49-F238E27FC236}">
                <a16:creationId xmlns:a16="http://schemas.microsoft.com/office/drawing/2014/main" id="{84E0BC9E-1DD7-83E3-0380-FB3D045BA6F5}"/>
              </a:ext>
            </a:extLst>
          </p:cNvPr>
          <p:cNvSpPr/>
          <p:nvPr/>
        </p:nvSpPr>
        <p:spPr>
          <a:xfrm>
            <a:off x="5486400" y="40142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Create &amp; submit customer orders</a:t>
            </a:r>
            <a:endParaRPr lang="en-US" sz="750" dirty="0"/>
          </a:p>
        </p:txBody>
      </p:sp>
      <p:sp>
        <p:nvSpPr>
          <p:cNvPr id="114" name="Shape 60">
            <a:extLst>
              <a:ext uri="{FF2B5EF4-FFF2-40B4-BE49-F238E27FC236}">
                <a16:creationId xmlns:a16="http://schemas.microsoft.com/office/drawing/2014/main" id="{82F255E5-95AC-EF2F-6BC2-D8E07200E946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61">
            <a:extLst>
              <a:ext uri="{FF2B5EF4-FFF2-40B4-BE49-F238E27FC236}">
                <a16:creationId xmlns:a16="http://schemas.microsoft.com/office/drawing/2014/main" id="{A1786989-BAF8-992E-8BAC-8C5D2C45BE3D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369A1"/>
                </a:solidFill>
              </a:rPr>
              <a:t>Customer</a:t>
            </a:r>
            <a:endParaRPr lang="en-US" sz="650" dirty="0"/>
          </a:p>
        </p:txBody>
      </p:sp>
      <p:sp>
        <p:nvSpPr>
          <p:cNvPr id="116" name="Shape 62">
            <a:extLst>
              <a:ext uri="{FF2B5EF4-FFF2-40B4-BE49-F238E27FC236}">
                <a16:creationId xmlns:a16="http://schemas.microsoft.com/office/drawing/2014/main" id="{6C755F24-346E-66E1-DCAA-3F847CE21DAB}"/>
              </a:ext>
            </a:extLst>
          </p:cNvPr>
          <p:cNvSpPr/>
          <p:nvPr/>
        </p:nvSpPr>
        <p:spPr>
          <a:xfrm>
            <a:off x="566928" y="42153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63">
            <a:extLst>
              <a:ext uri="{FF2B5EF4-FFF2-40B4-BE49-F238E27FC236}">
                <a16:creationId xmlns:a16="http://schemas.microsoft.com/office/drawing/2014/main" id="{5809A4CB-4E70-10AD-3D2D-8B2EF7F16552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64">
            <a:extLst>
              <a:ext uri="{FF2B5EF4-FFF2-40B4-BE49-F238E27FC236}">
                <a16:creationId xmlns:a16="http://schemas.microsoft.com/office/drawing/2014/main" id="{36050456-8F91-047A-0B91-3247737479CB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19" name="Text 65">
            <a:extLst>
              <a:ext uri="{FF2B5EF4-FFF2-40B4-BE49-F238E27FC236}">
                <a16:creationId xmlns:a16="http://schemas.microsoft.com/office/drawing/2014/main" id="{613754F3-CE12-F1B4-E18F-A874546F7BCB}"/>
              </a:ext>
            </a:extLst>
          </p:cNvPr>
          <p:cNvSpPr/>
          <p:nvPr/>
        </p:nvSpPr>
        <p:spPr>
          <a:xfrm>
            <a:off x="2377440" y="42428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/api/v1/reports/sales · /low-stock</a:t>
            </a:r>
            <a:endParaRPr lang="en-US" sz="800" dirty="0"/>
          </a:p>
        </p:txBody>
      </p:sp>
      <p:sp>
        <p:nvSpPr>
          <p:cNvPr id="120" name="Text 66">
            <a:extLst>
              <a:ext uri="{FF2B5EF4-FFF2-40B4-BE49-F238E27FC236}">
                <a16:creationId xmlns:a16="http://schemas.microsoft.com/office/drawing/2014/main" id="{37FD6A23-CAC1-3A13-7191-B6EC0462E2ED}"/>
              </a:ext>
            </a:extLst>
          </p:cNvPr>
          <p:cNvSpPr/>
          <p:nvPr/>
        </p:nvSpPr>
        <p:spPr>
          <a:xfrm>
            <a:off x="5486400" y="42428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Sales summary &amp; low-stock report</a:t>
            </a:r>
            <a:endParaRPr lang="en-US" sz="750" dirty="0"/>
          </a:p>
        </p:txBody>
      </p:sp>
      <p:sp>
        <p:nvSpPr>
          <p:cNvPr id="121" name="Shape 67">
            <a:extLst>
              <a:ext uri="{FF2B5EF4-FFF2-40B4-BE49-F238E27FC236}">
                <a16:creationId xmlns:a16="http://schemas.microsoft.com/office/drawing/2014/main" id="{A8E36612-C5A2-7B1C-651C-5D99284C8336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68">
            <a:extLst>
              <a:ext uri="{FF2B5EF4-FFF2-40B4-BE49-F238E27FC236}">
                <a16:creationId xmlns:a16="http://schemas.microsoft.com/office/drawing/2014/main" id="{CCAE7DCB-9FDA-78B6-4BD5-5CF09AFCC3AD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23" name="Shape 69">
            <a:extLst>
              <a:ext uri="{FF2B5EF4-FFF2-40B4-BE49-F238E27FC236}">
                <a16:creationId xmlns:a16="http://schemas.microsoft.com/office/drawing/2014/main" id="{9EEC8C0A-526A-D655-6CF6-6B349AE30FF8}"/>
              </a:ext>
            </a:extLst>
          </p:cNvPr>
          <p:cNvSpPr/>
          <p:nvPr/>
        </p:nvSpPr>
        <p:spPr>
          <a:xfrm>
            <a:off x="566928" y="44439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70">
            <a:extLst>
              <a:ext uri="{FF2B5EF4-FFF2-40B4-BE49-F238E27FC236}">
                <a16:creationId xmlns:a16="http://schemas.microsoft.com/office/drawing/2014/main" id="{535D7817-7D64-D97A-6AAD-705C0722798A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71">
            <a:extLst>
              <a:ext uri="{FF2B5EF4-FFF2-40B4-BE49-F238E27FC236}">
                <a16:creationId xmlns:a16="http://schemas.microsoft.com/office/drawing/2014/main" id="{B954FC77-8A2C-6F9D-4739-F92CA1848B36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B8A23C5C-5655-7697-0B84-3B08AD56D60D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1BC303F5-C5C9-87FD-FCC1-79C831A73428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D40BAF5E-D2D0-61B3-F45F-BACB19BF6F75}"/>
              </a:ext>
            </a:extLst>
          </p:cNvPr>
          <p:cNvSpPr/>
          <p:nvPr/>
        </p:nvSpPr>
        <p:spPr>
          <a:xfrm>
            <a:off x="2377440" y="44714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/api/v1/inventory</a:t>
            </a:r>
            <a:endParaRPr lang="en-US" sz="800" dirty="0"/>
          </a:p>
        </p:txBody>
      </p:sp>
      <p:sp>
        <p:nvSpPr>
          <p:cNvPr id="129" name="Text 75">
            <a:extLst>
              <a:ext uri="{FF2B5EF4-FFF2-40B4-BE49-F238E27FC236}">
                <a16:creationId xmlns:a16="http://schemas.microsoft.com/office/drawing/2014/main" id="{751945C9-FDB8-AC24-9108-0B3C1AB42352}"/>
              </a:ext>
            </a:extLst>
          </p:cNvPr>
          <p:cNvSpPr/>
          <p:nvPr/>
        </p:nvSpPr>
        <p:spPr>
          <a:xfrm>
            <a:off x="5486400" y="44714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Stock view &amp; update</a:t>
            </a:r>
            <a:endParaRPr lang="en-US" sz="750" dirty="0"/>
          </a:p>
        </p:txBody>
      </p:sp>
      <p:sp>
        <p:nvSpPr>
          <p:cNvPr id="130" name="Shape 76">
            <a:extLst>
              <a:ext uri="{FF2B5EF4-FFF2-40B4-BE49-F238E27FC236}">
                <a16:creationId xmlns:a16="http://schemas.microsoft.com/office/drawing/2014/main" id="{79294ED0-1490-BAB6-EB7D-AAB272CBF309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77">
            <a:extLst>
              <a:ext uri="{FF2B5EF4-FFF2-40B4-BE49-F238E27FC236}">
                <a16:creationId xmlns:a16="http://schemas.microsoft.com/office/drawing/2014/main" id="{F42900C4-AB74-841B-A461-F22695D84B63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32" name="Shape 78">
            <a:extLst>
              <a:ext uri="{FF2B5EF4-FFF2-40B4-BE49-F238E27FC236}">
                <a16:creationId xmlns:a16="http://schemas.microsoft.com/office/drawing/2014/main" id="{D5385CB1-DA2C-D9EA-1AF8-269A37AEDD4E}"/>
              </a:ext>
            </a:extLst>
          </p:cNvPr>
          <p:cNvSpPr/>
          <p:nvPr/>
        </p:nvSpPr>
        <p:spPr>
          <a:xfrm>
            <a:off x="457200" y="4718304"/>
            <a:ext cx="8229600" cy="228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79">
            <a:extLst>
              <a:ext uri="{FF2B5EF4-FFF2-40B4-BE49-F238E27FC236}">
                <a16:creationId xmlns:a16="http://schemas.microsoft.com/office/drawing/2014/main" id="{00EA5CE6-2BC6-830B-FB71-9CDF206C8D7A}"/>
              </a:ext>
            </a:extLst>
          </p:cNvPr>
          <p:cNvSpPr/>
          <p:nvPr/>
        </p:nvSpPr>
        <p:spPr>
          <a:xfrm>
            <a:off x="594360" y="47183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Consistent error format across all endpoints:  { "error": "ERROR_TYPE",  "message": "Human readable message" }</a:t>
            </a:r>
            <a:endParaRPr lang="en-US" sz="750" dirty="0"/>
          </a:p>
        </p:txBody>
      </p:sp>
      <p:pic>
        <p:nvPicPr>
          <p:cNvPr id="134" name="Image 0" descr="preencoded.png">
            <a:extLst>
              <a:ext uri="{FF2B5EF4-FFF2-40B4-BE49-F238E27FC236}">
                <a16:creationId xmlns:a16="http://schemas.microsoft.com/office/drawing/2014/main" id="{38837380-42F9-96A3-E8FD-18F5F89CC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161288"/>
            <a:ext cx="411480" cy="411480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11EC5FDD-B0D9-EAD4-BDF4-4E2CD71479C6}"/>
              </a:ext>
            </a:extLst>
          </p:cNvPr>
          <p:cNvSpPr txBox="1"/>
          <p:nvPr/>
        </p:nvSpPr>
        <p:spPr>
          <a:xfrm>
            <a:off x="978408" y="1174218"/>
            <a:ext cx="1889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pic>
        <p:nvPicPr>
          <p:cNvPr id="137" name="Image 1" descr="preencoded.png">
            <a:extLst>
              <a:ext uri="{FF2B5EF4-FFF2-40B4-BE49-F238E27FC236}">
                <a16:creationId xmlns:a16="http://schemas.microsoft.com/office/drawing/2014/main" id="{057A1AF1-7F29-47B7-3658-D06CBF7CF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38428"/>
            <a:ext cx="411480" cy="411480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1EFB3F96-2788-182F-B032-629103756E21}"/>
              </a:ext>
            </a:extLst>
          </p:cNvPr>
          <p:cNvSpPr txBox="1"/>
          <p:nvPr/>
        </p:nvSpPr>
        <p:spPr>
          <a:xfrm>
            <a:off x="3796864" y="1159502"/>
            <a:ext cx="1403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pic>
        <p:nvPicPr>
          <p:cNvPr id="140" name="Image 2" descr="preencoded.png">
            <a:extLst>
              <a:ext uri="{FF2B5EF4-FFF2-40B4-BE49-F238E27FC236}">
                <a16:creationId xmlns:a16="http://schemas.microsoft.com/office/drawing/2014/main" id="{3A3278C3-39A8-3709-EF2D-8202190E5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138428"/>
            <a:ext cx="411480" cy="411480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CB338483-EAD8-9A1F-4488-80B03E769FEB}"/>
              </a:ext>
            </a:extLst>
          </p:cNvPr>
          <p:cNvSpPr txBox="1"/>
          <p:nvPr/>
        </p:nvSpPr>
        <p:spPr>
          <a:xfrm>
            <a:off x="6639515" y="1166360"/>
            <a:ext cx="1420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43" name="Text 2">
            <a:extLst>
              <a:ext uri="{FF2B5EF4-FFF2-40B4-BE49-F238E27FC236}">
                <a16:creationId xmlns:a16="http://schemas.microsoft.com/office/drawing/2014/main" id="{517FD148-BD51-1447-C7ED-4CD224F9CAC3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Tristin Gatt</a:t>
            </a:r>
            <a:endParaRPr lang="en-US" sz="800" dirty="0"/>
          </a:p>
        </p:txBody>
      </p:sp>
      <p:sp>
        <p:nvSpPr>
          <p:cNvPr id="144" name="Text 3">
            <a:extLst>
              <a:ext uri="{FF2B5EF4-FFF2-40B4-BE49-F238E27FC236}">
                <a16:creationId xmlns:a16="http://schemas.microsoft.com/office/drawing/2014/main" id="{1CB87F4C-0575-1924-1BEB-A2E4C21045B7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Software Architecture  &amp; Backend Lead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– Docker &amp;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417320"/>
            <a:ext cx="1298448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747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bundles frontend &amp; backend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645920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1417320"/>
            <a:ext cx="1298448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783080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triggers on push to main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81528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417320"/>
            <a:ext cx="129844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Passes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18688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NPM, Robot Framework all green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17136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54296" y="1417320"/>
            <a:ext cx="1298448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EC2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54296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 run on AWS EC2 Instance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52744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9904" y="1417320"/>
            <a:ext cx="1298448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9904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89904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database on AWS RDS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88352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25512" y="1417320"/>
            <a:ext cx="1298448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2551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AWS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2551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live at:</a:t>
            </a:r>
            <a:b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http://54.145.84.28:3000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2331720"/>
            <a:ext cx="411480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39" y="2423160"/>
            <a:ext cx="19824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docker-compose up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0540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application runs locally in minutes. Clone the repo, run Docker Compose, and the stack is live.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331720"/>
            <a:ext cx="406908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Target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(app) + AWS RDS (MySQL)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Dockerized frontend &amp; backend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Environment Variables for secrets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39" y="3749040"/>
            <a:ext cx="28394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Orderly: http://54.145.84.28:3000/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05993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Deployed April 25, 2026.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AWS deployment is live and functional. Image rendering requires a final polish pass -- the local build is the recommended demo environment and reflects the full, complete experience.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2CBB9275-92C1-853E-58CD-65D15166657B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Tristin Gatt</a:t>
            </a:r>
            <a:endParaRPr lang="en-US" sz="8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14EC1E94-0157-691C-546A-38B9A186586C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Software Architecture  &amp; Backend Lead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QA Strategy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2606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646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Frontend Component Testing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Jest + React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626 Automated test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54 Test Suites passing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UI, Routing, Validation, Admin pages tested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06040" cy="50292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264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6732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Backend/API Testing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0040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33756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PyTest + DRF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 Automated tests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Backend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API Validation, RBAC, Inventory tested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Contract and Edge-Case coverage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35040" y="1353312"/>
            <a:ext cx="260604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42646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Testing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03504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17220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Robot Framework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7220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Automated Tests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Critical Customer Workflows validated</a:t>
            </a:r>
          </a:p>
          <a:p>
            <a:pPr marL="0" indent="0">
              <a:buNone/>
            </a:pPr>
            <a:r>
              <a:rPr lang="en-US" sz="1000" dirty="0"/>
              <a:t>Admin Workflows and Regression coverage</a:t>
            </a:r>
          </a:p>
          <a:p>
            <a:pPr marL="0" indent="0">
              <a:buNone/>
            </a:pPr>
            <a:r>
              <a:rPr lang="en-US" sz="1000" dirty="0"/>
              <a:t>100% pass rate</a:t>
            </a:r>
          </a:p>
        </p:txBody>
      </p:sp>
      <p:sp>
        <p:nvSpPr>
          <p:cNvPr id="22" name="Shape 17"/>
          <p:cNvSpPr/>
          <p:nvPr/>
        </p:nvSpPr>
        <p:spPr>
          <a:xfrm>
            <a:off x="365760" y="3493008"/>
            <a:ext cx="8412480" cy="1325880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0332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611880"/>
            <a:ext cx="365760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Lead: Kenny Bacdayan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3931920"/>
            <a:ext cx="731520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 the quality assurance strategy and test suite across all five sprints. Authored test plans, test cases, acceptance coverage reports, automated test coverage, and CI regression validation. Owned end-to-end QA coordination and helped drive release readiness with no critical defects open.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 and consistent throughout.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90% test coverage achieved.</a:t>
            </a:r>
            <a:endParaRPr lang="en-US" sz="10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C7E3651-284E-1D36-B013-5B8020B37EF9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Kenny Bacdayan</a:t>
            </a:r>
            <a:endParaRPr lang="en-US" sz="800" dirty="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C3BF64B5-6C68-0CA2-D527-EE038E4429D0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Quality Assurance &amp; Testing Lead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Feedback Shaped the Product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 flow was intuitive — testers completed orders without instruction. Confirmed the UX approach was on track; no changes needed.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353312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103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 → Sprint 5 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navigation needed clearer labeling. Feedback was logged as Sprint 5 UX cards and resolved before code freeze.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 CRUD performed consistently across create, edit, and delete. Confirmed feature was production-ready with no iteration needed.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 indicators surfaced inventory visibility in a practical, immediately useful way. Positive reaction confirmed the feature met the original intent.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 charts and date filtering were praised as genuinely practical for non-technical business owners. No changes requested.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09728" cy="107899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PM Decision → Scope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0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4EEDEEB6-EEC4-DD58-2A79-B3EA681D70E8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Caleb Fowlkes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9FFFA49E-A104-E658-05CE-1111F8A13E1C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Code Review Lead &amp; Database Specialist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v1.1 Look Like?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Loyalty Programs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Points, discounts, and perks tied to order history. High-value retention tool for small businesses.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Management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55848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product add-ons and customizations. Formally scoped out – the clearest candidate for v1.1.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71616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208776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Forecasting, trend analysis, and AI-driven recommendations for business owners.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4472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Payment Gateways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Stripe, Square, and external POS hardware integration for end-to-end transaction handling.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218688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4728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40480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355848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tuning, accessibility, and full mobile responsiveness across devices.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71616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47288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and Multi-Currency Support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208776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to enable Orderly to serve businesses operating in diverse regions and markets.</a:t>
            </a:r>
            <a:endParaRPr lang="en-US" sz="95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3B97204-BE0B-678D-673D-BC9575231D22}"/>
              </a:ext>
            </a:extLst>
          </p:cNvPr>
          <p:cNvSpPr/>
          <p:nvPr/>
        </p:nvSpPr>
        <p:spPr>
          <a:xfrm>
            <a:off x="7132320" y="493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</a:rPr>
              <a:t>Caleb Fowlkes</a:t>
            </a:r>
            <a:endParaRPr lang="en-US" sz="800" dirty="0"/>
          </a:p>
        </p:txBody>
      </p:sp>
      <p:sp>
        <p:nvSpPr>
          <p:cNvPr id="29" name="Text 3">
            <a:extLst>
              <a:ext uri="{FF2B5EF4-FFF2-40B4-BE49-F238E27FC236}">
                <a16:creationId xmlns:a16="http://schemas.microsoft.com/office/drawing/2014/main" id="{86DC4E17-F0A0-AFA9-5DB8-F5085D3A5151}"/>
              </a:ext>
            </a:extLst>
          </p:cNvPr>
          <p:cNvSpPr/>
          <p:nvPr/>
        </p:nvSpPr>
        <p:spPr>
          <a:xfrm>
            <a:off x="7132320" y="658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D9E75"/>
                </a:solidFill>
              </a:rPr>
              <a:t>Code Review Lead &amp; Database Specialist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Built. What We Learned.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fully functional full-stack ordering and business management platform across 5 Agile sprints, on schedule, deployed to AWS on April 25</a:t>
            </a:r>
            <a:r>
              <a:rPr lang="en-US" sz="12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execution kept scope, capacity, and delivery in sync across a 6-person cross-functional team for the full semester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8254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Hear from each of our team members!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339242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confident Orderly delivers a clean, functional, and extensible platform that reflects what professional software development looks like in practice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05072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attention. We welcome any questions.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 ·  CSC 289.001  ·  WTCC  ·  April 30,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457200" y="2487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love to walk you through a demo or answer any questions.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Project Manager — Team 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289.0001 ·  Wake Technical Community College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5565</TotalTime>
  <Words>2173</Words>
  <Application>Microsoft Macintosh PowerPoint</Application>
  <PresentationFormat>On-screen Show (16:9)</PresentationFormat>
  <Paragraphs>363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Orderly — Presentation Template</dc:title>
  <dc:subject>PptxGenJS Presentation</dc:subject>
  <dc:creator>[Your Name]</dc:creator>
  <cp:lastModifiedBy>Serina Rodriguez</cp:lastModifiedBy>
  <cp:revision>13</cp:revision>
  <dcterms:created xsi:type="dcterms:W3CDTF">2026-04-23T04:42:28Z</dcterms:created>
  <dcterms:modified xsi:type="dcterms:W3CDTF">2026-04-27T01:30:53Z</dcterms:modified>
</cp:coreProperties>
</file>