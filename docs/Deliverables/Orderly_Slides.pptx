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9" r:id="rId4"/>
    <p:sldId id="261" r:id="rId5"/>
    <p:sldId id="272" r:id="rId6"/>
    <p:sldId id="273" r:id="rId7"/>
    <p:sldId id="262" r:id="rId8"/>
    <p:sldId id="269" r:id="rId9"/>
    <p:sldId id="270" r:id="rId10"/>
    <p:sldId id="271" r:id="rId11"/>
    <p:sldId id="260" r:id="rId12"/>
    <p:sldId id="264" r:id="rId13"/>
    <p:sldId id="263" r:id="rId14"/>
    <p:sldId id="265" r:id="rId15"/>
    <p:sldId id="266" r:id="rId16"/>
    <p:sldId id="267" r:id="rId17"/>
    <p:sldId id="268"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544"/>
    <p:restoredTop sz="90204"/>
  </p:normalViewPr>
  <p:slideViewPr>
    <p:cSldViewPr snapToGrid="0" snapToObjects="1">
      <p:cViewPr>
        <p:scale>
          <a:sx n="158" d="100"/>
          <a:sy n="158" d="100"/>
        </p:scale>
        <p:origin x="133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UP NEXT</a:t>
            </a:r>
            <a:r>
              <a:rPr lang="en-US" dirty="0"/>
              <a:t>: What is it? (Serina continues..)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 UP NEXT: </a:t>
            </a:r>
            <a:r>
              <a:rPr lang="en-US" sz="1200" b="0" i="0" kern="1200" dirty="0">
                <a:solidFill>
                  <a:schemeClr val="tx1"/>
                </a:solidFill>
                <a:effectLst/>
                <a:latin typeface="+mn-lt"/>
                <a:ea typeface="+mn-ea"/>
                <a:cs typeface="+mn-cs"/>
              </a:rPr>
              <a:t>How Agile brought forward our sprint structure (Serina)</a:t>
            </a:r>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"15 features delivered”</a:t>
            </a:r>
            <a:r>
              <a:rPr lang="en-US" sz="1200" b="0" i="0" kern="1200" dirty="0">
                <a:solidFill>
                  <a:schemeClr val="tx1"/>
                </a:solidFill>
                <a:effectLst/>
                <a:latin typeface="+mn-lt"/>
                <a:ea typeface="+mn-ea"/>
                <a:cs typeface="+mn-cs"/>
              </a:rPr>
              <a:t>: counting by user-facing feature area rather than individual Trello cards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(which split each feature into UX/Frontend/Backend). </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 Product Browsing</a:t>
            </a:r>
            <a:r>
              <a:rPr lang="en-US" sz="1200" b="0" i="0" kern="1200" dirty="0">
                <a:solidFill>
                  <a:schemeClr val="tx1"/>
                </a:solidFill>
                <a:effectLst/>
                <a:latin typeface="+mn-lt"/>
                <a:ea typeface="+mn-ea"/>
                <a:cs typeface="+mn-cs"/>
              </a:rPr>
              <a:t> — browse the menu catalog</a:t>
            </a:r>
          </a:p>
          <a:p>
            <a:r>
              <a:rPr lang="en-US" sz="1200" b="1" i="0" kern="1200" dirty="0">
                <a:solidFill>
                  <a:schemeClr val="tx1"/>
                </a:solidFill>
                <a:effectLst/>
                <a:latin typeface="+mn-lt"/>
                <a:ea typeface="+mn-ea"/>
                <a:cs typeface="+mn-cs"/>
              </a:rPr>
              <a:t>2. Shopping Cart</a:t>
            </a:r>
            <a:r>
              <a:rPr lang="en-US" sz="1200" b="0" i="0" kern="1200" dirty="0">
                <a:solidFill>
                  <a:schemeClr val="tx1"/>
                </a:solidFill>
                <a:effectLst/>
                <a:latin typeface="+mn-lt"/>
                <a:ea typeface="+mn-ea"/>
                <a:cs typeface="+mn-cs"/>
              </a:rPr>
              <a:t> — persistent cart with customization display</a:t>
            </a:r>
          </a:p>
          <a:p>
            <a:r>
              <a:rPr lang="en-US" sz="1200" b="1" i="0" kern="1200" dirty="0">
                <a:solidFill>
                  <a:schemeClr val="tx1"/>
                </a:solidFill>
                <a:effectLst/>
                <a:latin typeface="+mn-lt"/>
                <a:ea typeface="+mn-ea"/>
                <a:cs typeface="+mn-cs"/>
              </a:rPr>
              <a:t>3. Item Customization</a:t>
            </a:r>
            <a:r>
              <a:rPr lang="en-US" sz="1200" b="0" i="0" kern="1200" dirty="0">
                <a:solidFill>
                  <a:schemeClr val="tx1"/>
                </a:solidFill>
                <a:effectLst/>
                <a:latin typeface="+mn-lt"/>
                <a:ea typeface="+mn-ea"/>
                <a:cs typeface="+mn-cs"/>
              </a:rPr>
              <a:t> — modifier selection with live price updates</a:t>
            </a:r>
          </a:p>
          <a:p>
            <a:r>
              <a:rPr lang="en-US" sz="1200" b="1" i="0" kern="1200" dirty="0">
                <a:solidFill>
                  <a:schemeClr val="tx1"/>
                </a:solidFill>
                <a:effectLst/>
                <a:latin typeface="+mn-lt"/>
                <a:ea typeface="+mn-ea"/>
                <a:cs typeface="+mn-cs"/>
              </a:rPr>
              <a:t>4. Checkout</a:t>
            </a:r>
            <a:r>
              <a:rPr lang="en-US" sz="1200" b="0" i="0" kern="1200" dirty="0">
                <a:solidFill>
                  <a:schemeClr val="tx1"/>
                </a:solidFill>
                <a:effectLst/>
                <a:latin typeface="+mn-lt"/>
                <a:ea typeface="+mn-ea"/>
                <a:cs typeface="+mn-cs"/>
              </a:rPr>
              <a:t> — submit an order</a:t>
            </a:r>
          </a:p>
          <a:p>
            <a:r>
              <a:rPr lang="en-US" sz="1200" b="1" i="0" kern="1200" dirty="0">
                <a:solidFill>
                  <a:schemeClr val="tx1"/>
                </a:solidFill>
                <a:effectLst/>
                <a:latin typeface="+mn-lt"/>
                <a:ea typeface="+mn-ea"/>
                <a:cs typeface="+mn-cs"/>
              </a:rPr>
              <a:t>5. Order Confirmation</a:t>
            </a:r>
            <a:r>
              <a:rPr lang="en-US" sz="1200" b="0" i="0" kern="1200" dirty="0">
                <a:solidFill>
                  <a:schemeClr val="tx1"/>
                </a:solidFill>
                <a:effectLst/>
                <a:latin typeface="+mn-lt"/>
                <a:ea typeface="+mn-ea"/>
                <a:cs typeface="+mn-cs"/>
              </a:rPr>
              <a:t> — receipt after placing an order</a:t>
            </a:r>
          </a:p>
          <a:p>
            <a:r>
              <a:rPr lang="en-US" sz="1200" b="1" i="0" kern="1200" dirty="0">
                <a:solidFill>
                  <a:schemeClr val="tx1"/>
                </a:solidFill>
                <a:effectLst/>
                <a:latin typeface="+mn-lt"/>
                <a:ea typeface="+mn-ea"/>
                <a:cs typeface="+mn-cs"/>
              </a:rPr>
              <a:t>6. Order History</a:t>
            </a:r>
            <a:r>
              <a:rPr lang="en-US" sz="1200" b="0" i="0" kern="1200" dirty="0">
                <a:solidFill>
                  <a:schemeClr val="tx1"/>
                </a:solidFill>
                <a:effectLst/>
                <a:latin typeface="+mn-lt"/>
                <a:ea typeface="+mn-ea"/>
                <a:cs typeface="+mn-cs"/>
              </a:rPr>
              <a:t> — customer view of past orders</a:t>
            </a:r>
          </a:p>
          <a:p>
            <a:r>
              <a:rPr lang="en-US" sz="1200" b="1" i="0" kern="1200" dirty="0">
                <a:solidFill>
                  <a:schemeClr val="tx1"/>
                </a:solidFill>
                <a:effectLst/>
                <a:latin typeface="+mn-lt"/>
                <a:ea typeface="+mn-ea"/>
                <a:cs typeface="+mn-cs"/>
              </a:rPr>
              <a:t>7. Customer Order Cancellation</a:t>
            </a:r>
            <a:r>
              <a:rPr lang="en-US" sz="1200" b="0" i="0" kern="1200" dirty="0">
                <a:solidFill>
                  <a:schemeClr val="tx1"/>
                </a:solidFill>
                <a:effectLst/>
                <a:latin typeface="+mn-lt"/>
                <a:ea typeface="+mn-ea"/>
                <a:cs typeface="+mn-cs"/>
              </a:rPr>
              <a:t> — cancel a placed order</a:t>
            </a:r>
          </a:p>
          <a:p>
            <a:r>
              <a:rPr lang="en-US" sz="1200" b="1" i="0" kern="1200" dirty="0">
                <a:solidFill>
                  <a:schemeClr val="tx1"/>
                </a:solidFill>
                <a:effectLst/>
                <a:latin typeface="+mn-lt"/>
                <a:ea typeface="+mn-ea"/>
                <a:cs typeface="+mn-cs"/>
              </a:rPr>
              <a:t>8. Admin Dashboard Navigation</a:t>
            </a:r>
            <a:r>
              <a:rPr lang="en-US" sz="1200" b="0" i="0" kern="1200" dirty="0">
                <a:solidFill>
                  <a:schemeClr val="tx1"/>
                </a:solidFill>
                <a:effectLst/>
                <a:latin typeface="+mn-lt"/>
                <a:ea typeface="+mn-ea"/>
                <a:cs typeface="+mn-cs"/>
              </a:rPr>
              <a:t> — unified admin hub</a:t>
            </a:r>
          </a:p>
          <a:p>
            <a:r>
              <a:rPr lang="en-US" sz="1200" b="1" i="0" kern="1200" dirty="0">
                <a:solidFill>
                  <a:schemeClr val="tx1"/>
                </a:solidFill>
                <a:effectLst/>
                <a:latin typeface="+mn-lt"/>
                <a:ea typeface="+mn-ea"/>
                <a:cs typeface="+mn-cs"/>
              </a:rPr>
              <a:t>9. Product &amp; Variant Management</a:t>
            </a:r>
            <a:r>
              <a:rPr lang="en-US" sz="1200" b="0" i="0" kern="1200" dirty="0">
                <a:solidFill>
                  <a:schemeClr val="tx1"/>
                </a:solidFill>
                <a:effectLst/>
                <a:latin typeface="+mn-lt"/>
                <a:ea typeface="+mn-ea"/>
                <a:cs typeface="+mn-cs"/>
              </a:rPr>
              <a:t> — full CRUD for products</a:t>
            </a:r>
          </a:p>
          <a:p>
            <a:r>
              <a:rPr lang="en-US" sz="1200" b="1" i="0" kern="1200" dirty="0">
                <a:solidFill>
                  <a:schemeClr val="tx1"/>
                </a:solidFill>
                <a:effectLst/>
                <a:latin typeface="+mn-lt"/>
                <a:ea typeface="+mn-ea"/>
                <a:cs typeface="+mn-cs"/>
              </a:rPr>
              <a:t>10. Inventory Management</a:t>
            </a:r>
            <a:r>
              <a:rPr lang="en-US" sz="1200" b="0" i="0" kern="1200" dirty="0">
                <a:solidFill>
                  <a:schemeClr val="tx1"/>
                </a:solidFill>
                <a:effectLst/>
                <a:latin typeface="+mn-lt"/>
                <a:ea typeface="+mn-ea"/>
                <a:cs typeface="+mn-cs"/>
              </a:rPr>
              <a:t> — stock tracking and adjustments</a:t>
            </a:r>
          </a:p>
          <a:p>
            <a:r>
              <a:rPr lang="en-US" sz="1200" b="1" i="0" kern="1200" dirty="0">
                <a:solidFill>
                  <a:schemeClr val="tx1"/>
                </a:solidFill>
                <a:effectLst/>
                <a:latin typeface="+mn-lt"/>
                <a:ea typeface="+mn-ea"/>
                <a:cs typeface="+mn-cs"/>
              </a:rPr>
              <a:t>11. Sales Summary Dashboard</a:t>
            </a:r>
            <a:r>
              <a:rPr lang="en-US" sz="1200" b="0" i="0" kern="1200" dirty="0">
                <a:solidFill>
                  <a:schemeClr val="tx1"/>
                </a:solidFill>
                <a:effectLst/>
                <a:latin typeface="+mn-lt"/>
                <a:ea typeface="+mn-ea"/>
                <a:cs typeface="+mn-cs"/>
              </a:rPr>
              <a:t> — revenue trends and analytics</a:t>
            </a:r>
          </a:p>
          <a:p>
            <a:r>
              <a:rPr lang="en-US" sz="1200" b="1" i="0" kern="1200" dirty="0">
                <a:solidFill>
                  <a:schemeClr val="tx1"/>
                </a:solidFill>
                <a:effectLst/>
                <a:latin typeface="+mn-lt"/>
                <a:ea typeface="+mn-ea"/>
                <a:cs typeface="+mn-cs"/>
              </a:rPr>
              <a:t>12. Low Stock Indicators</a:t>
            </a:r>
            <a:r>
              <a:rPr lang="en-US" sz="1200" b="0" i="0" kern="1200" dirty="0">
                <a:solidFill>
                  <a:schemeClr val="tx1"/>
                </a:solidFill>
                <a:effectLst/>
                <a:latin typeface="+mn-lt"/>
                <a:ea typeface="+mn-ea"/>
                <a:cs typeface="+mn-cs"/>
              </a:rPr>
              <a:t> — real-time stock alerts</a:t>
            </a:r>
          </a:p>
          <a:p>
            <a:r>
              <a:rPr lang="en-US" sz="1200" b="1" i="0" kern="1200" dirty="0">
                <a:solidFill>
                  <a:schemeClr val="tx1"/>
                </a:solidFill>
                <a:effectLst/>
                <a:latin typeface="+mn-lt"/>
                <a:ea typeface="+mn-ea"/>
                <a:cs typeface="+mn-cs"/>
              </a:rPr>
              <a:t>13. Admin Orders Management</a:t>
            </a:r>
            <a:r>
              <a:rPr lang="en-US" sz="1200" b="0" i="0" kern="1200" dirty="0">
                <a:solidFill>
                  <a:schemeClr val="tx1"/>
                </a:solidFill>
                <a:effectLst/>
                <a:latin typeface="+mn-lt"/>
                <a:ea typeface="+mn-ea"/>
                <a:cs typeface="+mn-cs"/>
              </a:rPr>
              <a:t> — view and manage all orders</a:t>
            </a:r>
          </a:p>
          <a:p>
            <a:r>
              <a:rPr lang="en-US" sz="1200" b="1" i="0" kern="1200" dirty="0">
                <a:solidFill>
                  <a:schemeClr val="tx1"/>
                </a:solidFill>
                <a:effectLst/>
                <a:latin typeface="+mn-lt"/>
                <a:ea typeface="+mn-ea"/>
                <a:cs typeface="+mn-cs"/>
              </a:rPr>
              <a:t>14. Settings</a:t>
            </a:r>
            <a:r>
              <a:rPr lang="en-US" sz="1200" b="0" i="0" kern="1200" dirty="0">
                <a:solidFill>
                  <a:schemeClr val="tx1"/>
                </a:solidFill>
                <a:effectLst/>
                <a:latin typeface="+mn-lt"/>
                <a:ea typeface="+mn-ea"/>
                <a:cs typeface="+mn-cs"/>
              </a:rPr>
              <a:t> — business profile and preference config</a:t>
            </a:r>
          </a:p>
          <a:p>
            <a:r>
              <a:rPr lang="en-US" sz="1200" b="1" i="0" kern="1200" dirty="0">
                <a:solidFill>
                  <a:schemeClr val="tx1"/>
                </a:solidFill>
                <a:effectLst/>
                <a:latin typeface="+mn-lt"/>
                <a:ea typeface="+mn-ea"/>
                <a:cs typeface="+mn-cs"/>
              </a:rPr>
              <a:t>15. Profile Page</a:t>
            </a:r>
            <a:r>
              <a:rPr lang="en-US" sz="1200" b="0" i="0" kern="1200" dirty="0">
                <a:solidFill>
                  <a:schemeClr val="tx1"/>
                </a:solidFill>
                <a:effectLst/>
                <a:latin typeface="+mn-lt"/>
                <a:ea typeface="+mn-ea"/>
                <a:cs typeface="+mn-cs"/>
              </a:rPr>
              <a:t> — customer profile management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dirty="0"/>
              <a:t>KIM (following slide)</a:t>
            </a:r>
          </a:p>
          <a:p>
            <a:r>
              <a:rPr lang="en-US" dirty="0"/>
              <a:t>To share what our team development delivered and how we scoped it all out!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Kim</a:t>
            </a:r>
          </a:p>
          <a:p>
            <a:r>
              <a:rPr lang="en-US" dirty="0"/>
              <a:t>Note: These are the key features! Highlight them and let them shine through. Then… </a:t>
            </a:r>
          </a:p>
          <a:p>
            <a:r>
              <a:rPr lang="en-US" dirty="0"/>
              <a:t>Transition into the next slide to talk about the Epics that brought them to life plus BONUS stats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r>
              <a:rPr lang="en-US" dirty="0"/>
              <a:t>🟡 KIM:</a:t>
            </a:r>
            <a:br>
              <a:rPr lang="en-US" dirty="0"/>
            </a:br>
            <a:r>
              <a:rPr lang="en-US" dirty="0"/>
              <a:t>The previous slide listed out the key features. </a:t>
            </a:r>
            <a:br>
              <a:rPr lang="en-US" dirty="0"/>
            </a:br>
            <a:r>
              <a:rPr lang="en-US" dirty="0"/>
              <a:t>Transition into this slide and focus on the Epics that were delivered + Bonus Stats ✨</a:t>
            </a:r>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r>
              <a:rPr lang="en-US" b="1" dirty="0"/>
              <a:t>🟡 Up Next: </a:t>
            </a:r>
            <a:r>
              <a:rPr lang="en-US" b="0" dirty="0"/>
              <a:t>What we are proud of (Kim continues..)</a:t>
            </a:r>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Frontend Development (Rachel!)</a:t>
            </a:r>
            <a:br>
              <a:rPr lang="en-US" b="0" dirty="0"/>
            </a:br>
            <a:r>
              <a:rPr lang="en-US" b="0" dirty="0"/>
              <a:t>Transition with ”A Product that Actually feels like one…” into User Experience</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Up Next: </a:t>
            </a:r>
            <a:r>
              <a:rPr lang="en-US" b="0" dirty="0"/>
              <a:t>See it all in Action – Customer Storefront + Admin Dashboard (Rachel Continues..)</a:t>
            </a:r>
            <a:endParaRPr lang="en-US" b="1" dirty="0"/>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Up Next: </a:t>
            </a:r>
            <a:r>
              <a:rPr lang="en-US" b="0" dirty="0"/>
              <a:t>See it all in Action PT II Customer Profile + Business Tools - (Rachel Continues..)</a:t>
            </a:r>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Up Next: </a:t>
            </a:r>
            <a:r>
              <a:rPr lang="en-US" b="0" dirty="0"/>
              <a:t>Backend Development (Tristin!)</a:t>
            </a:r>
            <a:br>
              <a:rPr lang="en-US" b="0" dirty="0"/>
            </a:br>
            <a:r>
              <a:rPr lang="en-US" b="0" dirty="0"/>
              <a:t>Transition with ”Frontend had to start somewhere, in the backend! Let’s find out how it all worked behind the scenes of UI” </a:t>
            </a:r>
            <a:r>
              <a:rPr lang="en-US" b="0" i="1" dirty="0"/>
              <a:t>or something similar</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Deployment (Tristin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⏭️Up Next: </a:t>
            </a:r>
            <a:r>
              <a:rPr lang="en-US" b="0" dirty="0"/>
              <a:t>QA Strategy (Kenny)</a:t>
            </a:r>
            <a:br>
              <a:rPr lang="en-US" b="0" dirty="0"/>
            </a:br>
            <a:r>
              <a:rPr lang="en-US" b="0" dirty="0"/>
              <a:t>Transition with ”We have had a ton of moving parts but the glue that kept it together was our strategic approach to testing and quality assurance..”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The Value of Feedback (Caleb)</a:t>
            </a:r>
            <a:br>
              <a:rPr lang="en-US" b="0" dirty="0"/>
            </a:br>
            <a:r>
              <a:rPr lang="en-US" b="0" dirty="0"/>
              <a:t>Transition with ”Test Results served as valuable feedback amongst other sources within our development, let’s hear more about how”… </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What does the future hold in upcoming development- (Caleb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Wrap UP (Serina)</a:t>
            </a:r>
            <a:br>
              <a:rPr lang="en-US" b="0" dirty="0"/>
            </a:br>
            <a:r>
              <a:rPr lang="en-US" b="0" dirty="0"/>
              <a:t>Transition with ”Now back to our PM as she guides us through our final messages ”…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i="1" dirty="0"/>
              <a:t>Before we present our demonstration, we have about ~_____ minutes for questions.” </a:t>
            </a:r>
            <a:r>
              <a:rPr lang="en-US" b="0" dirty="0"/>
              <a:t>(Next Slide, whole team ready on standby)</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mc:Choice xmlns:p14="http://schemas.microsoft.com/office/powerpoint/2010/main" Requires="p14">
      <p:transition spd="slow" p14:dur="1750">
        <p:pull/>
      </p:transition>
    </mc:Choice>
    <mc:Fallback>
      <p:transition spd="slow">
        <p:pull/>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par>
                          <p:cTn id="8" fill="hold">
                            <p:stCondLst>
                              <p:cond delay="500"/>
                            </p:stCondLst>
                            <p:childTnLst>
                              <p:par>
                                <p:cTn id="9" presetID="18" presetClass="entr" presetSubtype="12"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strips(downLeft)">
                                      <p:cBhvr>
                                        <p:cTn id="11" dur="1000"/>
                                        <p:tgtEl>
                                          <p:spTgt spid="10"/>
                                        </p:tgtEl>
                                      </p:cBhvr>
                                    </p:animEffect>
                                  </p:childTnLst>
                                </p:cTn>
                              </p:par>
                            </p:childTnLst>
                          </p:cTn>
                        </p:par>
                        <p:par>
                          <p:cTn id="12" fill="hold">
                            <p:stCondLst>
                              <p:cond delay="1500"/>
                            </p:stCondLst>
                            <p:childTnLst>
                              <p:par>
                                <p:cTn id="13" presetID="43" presetClass="entr" presetSubtype="0"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00"/>
                                        <p:tgtEl>
                                          <p:spTgt spid="13"/>
                                        </p:tgtEl>
                                      </p:cBhvr>
                                    </p:animEffect>
                                    <p:anim calcmode="lin" valueType="num">
                                      <p:cBhvr>
                                        <p:cTn id="16" dur="800" fill="hold"/>
                                        <p:tgtEl>
                                          <p:spTgt spid="13"/>
                                        </p:tgtEl>
                                        <p:attrNameLst>
                                          <p:attrName>ppt_x</p:attrName>
                                        </p:attrNameLst>
                                      </p:cBhvr>
                                      <p:tavLst>
                                        <p:tav tm="0">
                                          <p:val>
                                            <p:strVal val="#ppt_x"/>
                                          </p:val>
                                        </p:tav>
                                        <p:tav tm="100000">
                                          <p:val>
                                            <p:strVal val="#ppt_x"/>
                                          </p:val>
                                        </p:tav>
                                      </p:tavLst>
                                    </p:anim>
                                    <p:anim calcmode="lin" valueType="num">
                                      <p:cBhvr>
                                        <p:cTn id="17" dur="800" fill="hold"/>
                                        <p:tgtEl>
                                          <p:spTgt spid="13"/>
                                        </p:tgtEl>
                                        <p:attrNameLst>
                                          <p:attrName>ppt_y</p:attrName>
                                        </p:attrNameLst>
                                      </p:cBhvr>
                                      <p:tavLst>
                                        <p:tav tm="0">
                                          <p:val>
                                            <p:strVal val="#ppt_y+0.31"/>
                                          </p:val>
                                        </p:tav>
                                        <p:tav tm="100000">
                                          <p:val>
                                            <p:strVal val="#ppt_y+0.31"/>
                                          </p:val>
                                        </p:tav>
                                      </p:tavLst>
                                    </p:anim>
                                    <p:anim calcmode="lin" valueType="num">
                                      <p:cBhvr>
                                        <p:cTn id="18" dur="1200" decel="50000" fill="hold">
                                          <p:stCondLst>
                                            <p:cond delay="800"/>
                                          </p:stCondLst>
                                        </p:cTn>
                                        <p:tgtEl>
                                          <p:spTgt spid="13"/>
                                        </p:tgtEl>
                                        <p:attrNameLst>
                                          <p:attrName>ppt_x</p:attrName>
                                        </p:attrNameLst>
                                      </p:cBhvr>
                                      <p:tavLst>
                                        <p:tav tm="0">
                                          <p:val>
                                            <p:strVal val="#ppt_x"/>
                                          </p:val>
                                        </p:tav>
                                        <p:tav tm="5000">
                                          <p:val>
                                            <p:strVal val="#ppt_x+0.0242"/>
                                          </p:val>
                                        </p:tav>
                                        <p:tav tm="10000">
                                          <p:val>
                                            <p:strVal val="#ppt_x+0.0479"/>
                                          </p:val>
                                        </p:tav>
                                        <p:tav tm="15000">
                                          <p:val>
                                            <p:strVal val="#ppt_x+0.0704"/>
                                          </p:val>
                                        </p:tav>
                                        <p:tav tm="20000">
                                          <p:val>
                                            <p:strVal val="#ppt_x+0.0911"/>
                                          </p:val>
                                        </p:tav>
                                        <p:tav tm="25000">
                                          <p:val>
                                            <p:strVal val="#ppt_x+0.1096"/>
                                          </p:val>
                                        </p:tav>
                                        <p:tav tm="30000">
                                          <p:val>
                                            <p:strVal val="#ppt_x+0.1254"/>
                                          </p:val>
                                        </p:tav>
                                        <p:tav tm="35000">
                                          <p:val>
                                            <p:strVal val="#ppt_x+0.1381"/>
                                          </p:val>
                                        </p:tav>
                                        <p:tav tm="40000">
                                          <p:val>
                                            <p:strVal val="#ppt_x+0.1474"/>
                                          </p:val>
                                        </p:tav>
                                        <p:tav tm="45000">
                                          <p:val>
                                            <p:strVal val="#ppt_x+0.1531"/>
                                          </p:val>
                                        </p:tav>
                                        <p:tav tm="50000">
                                          <p:val>
                                            <p:strVal val="#ppt_x+0.1550"/>
                                          </p:val>
                                        </p:tav>
                                        <p:tav tm="55000">
                                          <p:val>
                                            <p:strVal val="#ppt_x+0.1531"/>
                                          </p:val>
                                        </p:tav>
                                        <p:tav tm="60000">
                                          <p:val>
                                            <p:strVal val="#ppt_x+0.1474"/>
                                          </p:val>
                                        </p:tav>
                                        <p:tav tm="65000">
                                          <p:val>
                                            <p:strVal val="#ppt_x+0.1381"/>
                                          </p:val>
                                        </p:tav>
                                        <p:tav tm="70000">
                                          <p:val>
                                            <p:strVal val="#ppt_x+0.1254"/>
                                          </p:val>
                                        </p:tav>
                                        <p:tav tm="75000">
                                          <p:val>
                                            <p:strVal val="#ppt_x+0.1096"/>
                                          </p:val>
                                        </p:tav>
                                        <p:tav tm="80000">
                                          <p:val>
                                            <p:strVal val="#ppt_x+0.0911"/>
                                          </p:val>
                                        </p:tav>
                                        <p:tav tm="85000">
                                          <p:val>
                                            <p:strVal val="#ppt_x+0.0704"/>
                                          </p:val>
                                        </p:tav>
                                        <p:tav tm="90000">
                                          <p:val>
                                            <p:strVal val="#ppt_x+0.0479"/>
                                          </p:val>
                                        </p:tav>
                                        <p:tav tm="95000">
                                          <p:val>
                                            <p:strVal val="#ppt_x+0.0242"/>
                                          </p:val>
                                        </p:tav>
                                        <p:tav tm="100000">
                                          <p:val>
                                            <p:strVal val="#ppt_x"/>
                                          </p:val>
                                        </p:tav>
                                      </p:tavLst>
                                    </p:anim>
                                    <p:anim calcmode="lin" valueType="num">
                                      <p:cBhvr>
                                        <p:cTn id="19" dur="1200" decel="50000" fill="hold">
                                          <p:stCondLst>
                                            <p:cond delay="800"/>
                                          </p:stCondLst>
                                        </p:cTn>
                                        <p:tgtEl>
                                          <p:spTgt spid="13"/>
                                        </p:tgtEl>
                                        <p:attrNameLst>
                                          <p:attrName>ppt_y</p:attrName>
                                        </p:attrNameLst>
                                      </p:cBhvr>
                                      <p:tavLst>
                                        <p:tav tm="0">
                                          <p:val>
                                            <p:strVal val="#ppt_y+0.31"/>
                                          </p:val>
                                        </p:tav>
                                        <p:tav tm="5000">
                                          <p:val>
                                            <p:strVal val="#ppt_y+0.308"/>
                                          </p:val>
                                        </p:tav>
                                        <p:tav tm="10000">
                                          <p:val>
                                            <p:strVal val="#ppt_y+0.3024"/>
                                          </p:val>
                                        </p:tav>
                                        <p:tav tm="15000">
                                          <p:val>
                                            <p:strVal val="#ppt_y+0.2931"/>
                                          </p:val>
                                        </p:tav>
                                        <p:tav tm="20000">
                                          <p:val>
                                            <p:strVal val="#ppt_y+0.2804"/>
                                          </p:val>
                                        </p:tav>
                                        <p:tav tm="25000">
                                          <p:val>
                                            <p:strVal val="#ppt_y+0.2646"/>
                                          </p:val>
                                        </p:tav>
                                        <p:tav tm="30000">
                                          <p:val>
                                            <p:strVal val="#ppt_y+0.2461"/>
                                          </p:val>
                                        </p:tav>
                                        <p:tav tm="35000">
                                          <p:val>
                                            <p:strVal val="#ppt_y+0.2253"/>
                                          </p:val>
                                        </p:tav>
                                        <p:tav tm="40000">
                                          <p:val>
                                            <p:strVal val="#ppt_y+0.2029"/>
                                          </p:val>
                                        </p:tav>
                                        <p:tav tm="45000">
                                          <p:val>
                                            <p:strVal val="#ppt_y+0.1792"/>
                                          </p:val>
                                        </p:tav>
                                        <p:tav tm="50000">
                                          <p:val>
                                            <p:strVal val="#ppt_y+0.155"/>
                                          </p:val>
                                        </p:tav>
                                        <p:tav tm="55000">
                                          <p:val>
                                            <p:strVal val="#ppt_y+0.1307"/>
                                          </p:val>
                                        </p:tav>
                                        <p:tav tm="60000">
                                          <p:val>
                                            <p:strVal val="#ppt_y+0.1071"/>
                                          </p:val>
                                        </p:tav>
                                        <p:tav tm="65000">
                                          <p:val>
                                            <p:strVal val="#ppt_y+0.0846"/>
                                          </p:val>
                                        </p:tav>
                                        <p:tav tm="70000">
                                          <p:val>
                                            <p:strVal val="#ppt_y+0.0639"/>
                                          </p:val>
                                        </p:tav>
                                        <p:tav tm="75000">
                                          <p:val>
                                            <p:strVal val="#ppt_y+0.0454"/>
                                          </p:val>
                                        </p:tav>
                                        <p:tav tm="80000">
                                          <p:val>
                                            <p:strVal val="#ppt_y+0.0296"/>
                                          </p:val>
                                        </p:tav>
                                        <p:tav tm="85000">
                                          <p:val>
                                            <p:strVal val="#ppt_y+0.0169"/>
                                          </p:val>
                                        </p:tav>
                                        <p:tav tm="90000">
                                          <p:val>
                                            <p:strVal val="#ppt_y+0.0076"/>
                                          </p:val>
                                        </p:tav>
                                        <p:tav tm="95000">
                                          <p:val>
                                            <p:strVal val="#ppt_y+0.0019"/>
                                          </p:val>
                                        </p:tav>
                                        <p:tav tm="100000">
                                          <p:val>
                                            <p:strVal val="#ppt_y"/>
                                          </p:val>
                                        </p:tav>
                                      </p:tavLst>
                                    </p:anim>
                                  </p:childTnLst>
                                </p:cTn>
                              </p:par>
                            </p:childTnLst>
                          </p:cTn>
                        </p:par>
                        <p:par>
                          <p:cTn id="20" fill="hold">
                            <p:stCondLst>
                              <p:cond delay="3500"/>
                            </p:stCondLst>
                            <p:childTnLst>
                              <p:par>
                                <p:cTn id="21" presetID="37"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2000"/>
                                        <p:tgtEl>
                                          <p:spTgt spid="16"/>
                                        </p:tgtEl>
                                      </p:cBhvr>
                                    </p:animEffect>
                                    <p:anim calcmode="lin" valueType="num">
                                      <p:cBhvr>
                                        <p:cTn id="24" dur="2000" fill="hold"/>
                                        <p:tgtEl>
                                          <p:spTgt spid="16"/>
                                        </p:tgtEl>
                                        <p:attrNameLst>
                                          <p:attrName>ppt_x</p:attrName>
                                        </p:attrNameLst>
                                      </p:cBhvr>
                                      <p:tavLst>
                                        <p:tav tm="0">
                                          <p:val>
                                            <p:strVal val="#ppt_x"/>
                                          </p:val>
                                        </p:tav>
                                        <p:tav tm="100000">
                                          <p:val>
                                            <p:strVal val="#ppt_x"/>
                                          </p:val>
                                        </p:tav>
                                      </p:tavLst>
                                    </p:anim>
                                    <p:anim calcmode="lin" valueType="num">
                                      <p:cBhvr>
                                        <p:cTn id="25" dur="1800" decel="100000" fill="hold"/>
                                        <p:tgtEl>
                                          <p:spTgt spid="16"/>
                                        </p:tgtEl>
                                        <p:attrNameLst>
                                          <p:attrName>ppt_y</p:attrName>
                                        </p:attrNameLst>
                                      </p:cBhvr>
                                      <p:tavLst>
                                        <p:tav tm="0">
                                          <p:val>
                                            <p:strVal val="#ppt_y+1"/>
                                          </p:val>
                                        </p:tav>
                                        <p:tav tm="100000">
                                          <p:val>
                                            <p:strVal val="#ppt_y-.03"/>
                                          </p:val>
                                        </p:tav>
                                      </p:tavLst>
                                    </p:anim>
                                    <p:anim calcmode="lin" valueType="num">
                                      <p:cBhvr>
                                        <p:cTn id="26" dur="200" accel="100000" fill="hold">
                                          <p:stCondLst>
                                            <p:cond delay="1800"/>
                                          </p:stCondLst>
                                        </p:cTn>
                                        <p:tgtEl>
                                          <p:spTgt spid="1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3"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462272"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572000"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462272"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462272"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599432"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599432"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462272"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462272"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599432"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599432"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462272"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462272"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599432"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599432"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462272"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462272"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599432"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599432"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20" name="Text 18">
            <a:extLst>
              <a:ext uri="{FF2B5EF4-FFF2-40B4-BE49-F238E27FC236}">
                <a16:creationId xmlns:a16="http://schemas.microsoft.com/office/drawing/2014/main" id="{63063F1F-B93E-FB4D-A89B-E5C82E0F0364}"/>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admin dashboard screenshot ]</a:t>
            </a:r>
            <a:endParaRPr lang="en-US" sz="900" dirty="0"/>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77740" y="1600200"/>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0" name="Text 18">
            <a:extLst>
              <a:ext uri="{FF2B5EF4-FFF2-40B4-BE49-F238E27FC236}">
                <a16:creationId xmlns:a16="http://schemas.microsoft.com/office/drawing/2014/main" id="{2941B7A8-4096-F865-7C9F-5213710FACFF}"/>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business settings screenshot ]</a:t>
            </a:r>
            <a:endParaRPr lang="en-US" sz="900" dirty="0"/>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27449"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dirty="0">
                <a:solidFill>
                  <a:srgbClr val="374151"/>
                </a:solidFill>
                <a:latin typeface="Calibri" pitchFamily="34" charset="0"/>
                <a:ea typeface="Calibri" pitchFamily="34" charset="-122"/>
                <a:cs typeface="Calibri" pitchFamily="34" charset="-120"/>
              </a:rPr>
              <a:t>Results: 90%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5890</TotalTime>
  <Words>3286</Words>
  <Application>Microsoft Macintosh PowerPoint</Application>
  <PresentationFormat>On-screen Show (16:9)</PresentationFormat>
  <Paragraphs>478</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Serina Rodriguez</cp:lastModifiedBy>
  <cp:revision>14</cp:revision>
  <dcterms:created xsi:type="dcterms:W3CDTF">2026-04-23T04:42:28Z</dcterms:created>
  <dcterms:modified xsi:type="dcterms:W3CDTF">2026-04-27T06:56:36Z</dcterms:modified>
</cp:coreProperties>
</file>