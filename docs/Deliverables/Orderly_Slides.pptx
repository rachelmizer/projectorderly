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70" r:id="rId9"/>
    <p:sldId id="269" r:id="rId10"/>
    <p:sldId id="271" r:id="rId11"/>
    <p:sldId id="260" r:id="rId12"/>
    <p:sldId id="264" r:id="rId13"/>
    <p:sldId id="274" r:id="rId14"/>
    <p:sldId id="263"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31"/>
    <p:restoredTop sz="45890"/>
  </p:normalViewPr>
  <p:slideViewPr>
    <p:cSldViewPr snapToGrid="0" snapToObjects="1">
      <p:cViewPr varScale="1">
        <p:scale>
          <a:sx n="72" d="100"/>
          <a:sy n="72" d="100"/>
        </p:scale>
        <p:origin x="3128" y="19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SERINA</a:t>
            </a:r>
          </a:p>
          <a:p>
            <a:endParaRPr lang="en-US" dirty="0"/>
          </a:p>
          <a:p>
            <a:r>
              <a:rPr lang="en-US" dirty="0"/>
              <a:t>Hello, and welcome.</a:t>
            </a:r>
          </a:p>
          <a:p>
            <a:endParaRPr lang="en-US" dirty="0"/>
          </a:p>
          <a:p>
            <a:r>
              <a:rPr lang="en-US" dirty="0"/>
              <a:t>Today is a big milestone for our team — and we are truly excited to share what we've built.</a:t>
            </a:r>
          </a:p>
          <a:p>
            <a:endParaRPr lang="en-US" dirty="0"/>
          </a:p>
          <a:p>
            <a:r>
              <a:rPr lang="en-US" dirty="0"/>
              <a:t>My name is Serina </a:t>
            </a:r>
          </a:p>
          <a:p>
            <a:r>
              <a:rPr lang="en-US" dirty="0"/>
              <a:t>And I am the Project Manager </a:t>
            </a:r>
            <a:r>
              <a:rPr lang="en-US" b="1" dirty="0"/>
              <a:t>and</a:t>
            </a:r>
            <a:r>
              <a:rPr lang="en-US" dirty="0"/>
              <a:t> Scrum Master for Team 7: a group of six student developers formed together at Wake Tech Community College.</a:t>
            </a:r>
          </a:p>
          <a:p>
            <a:endParaRPr lang="en-US" dirty="0"/>
          </a:p>
          <a:p>
            <a:r>
              <a:rPr lang="en-US" dirty="0"/>
              <a:t>As “PM”, I was the </a:t>
            </a:r>
            <a:r>
              <a:rPr lang="en-US" i="1" dirty="0"/>
              <a:t>main</a:t>
            </a:r>
            <a:r>
              <a:rPr lang="en-US" dirty="0"/>
              <a:t> facilitator for our </a:t>
            </a:r>
            <a:r>
              <a:rPr lang="en-US" b="1" dirty="0"/>
              <a:t>entire</a:t>
            </a:r>
            <a:r>
              <a:rPr lang="en-US" dirty="0"/>
              <a:t> development process </a:t>
            </a:r>
          </a:p>
          <a:p>
            <a:r>
              <a:rPr lang="en-US" dirty="0"/>
              <a:t>— keeping us </a:t>
            </a:r>
            <a:r>
              <a:rPr lang="en-US" i="1" dirty="0"/>
              <a:t>aligned</a:t>
            </a:r>
            <a:r>
              <a:rPr lang="en-US" dirty="0"/>
              <a:t>, </a:t>
            </a:r>
            <a:r>
              <a:rPr lang="en-US" b="1" i="1" dirty="0"/>
              <a:t>moving</a:t>
            </a:r>
            <a:r>
              <a:rPr lang="en-US" dirty="0"/>
              <a:t>, </a:t>
            </a:r>
            <a:r>
              <a:rPr lang="en-US" i="1" dirty="0"/>
              <a:t>and accountable</a:t>
            </a:r>
            <a:r>
              <a:rPr lang="en-US" dirty="0"/>
              <a:t> from the very 1st planning meeting -- </a:t>
            </a:r>
            <a:r>
              <a:rPr lang="en-US" i="1" dirty="0" err="1"/>
              <a:t>allll</a:t>
            </a:r>
            <a:r>
              <a:rPr lang="en-US" i="1" dirty="0"/>
              <a:t> the way -- </a:t>
            </a:r>
            <a:r>
              <a:rPr lang="en-US" dirty="0"/>
              <a:t>to shipping version </a:t>
            </a:r>
            <a:r>
              <a:rPr lang="en-US" b="1" dirty="0"/>
              <a:t>1.0.0</a:t>
            </a:r>
            <a:r>
              <a:rPr lang="en-US" dirty="0"/>
              <a:t> this week.</a:t>
            </a:r>
          </a:p>
          <a:p>
            <a:endParaRPr lang="en-US" dirty="0"/>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  👀 READ the room: </a:t>
            </a:r>
          </a:p>
          <a:p>
            <a:r>
              <a:rPr lang="en-US" sz="1200" b="0" i="0" kern="1200" dirty="0">
                <a:solidFill>
                  <a:schemeClr val="tx1"/>
                </a:solidFill>
                <a:effectLst/>
                <a:latin typeface="+mn-lt"/>
                <a:ea typeface="+mn-ea"/>
                <a:cs typeface="+mn-cs"/>
              </a:rPr>
              <a:t>|  “Wait, so before I continue… </a:t>
            </a:r>
          </a:p>
          <a:p>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let’s welcome </a:t>
            </a:r>
            <a:r>
              <a:rPr lang="en-US" sz="1200" b="0" i="0" kern="1200" dirty="0">
                <a:solidFill>
                  <a:schemeClr val="tx1"/>
                </a:solidFill>
                <a:effectLst/>
                <a:latin typeface="+mn-lt"/>
                <a:ea typeface="+mn-ea"/>
                <a:cs typeface="+mn-cs"/>
              </a:rPr>
              <a:t>Professor Tabbal </a:t>
            </a:r>
            <a:r>
              <a:rPr lang="en-US" sz="1200" b="1" i="0"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our spectators 😊 </a:t>
            </a:r>
          </a:p>
          <a:p>
            <a:r>
              <a:rPr lang="en-US" sz="1200" b="0" i="0" kern="1200" dirty="0">
                <a:solidFill>
                  <a:schemeClr val="tx1"/>
                </a:solidFill>
                <a:effectLst/>
                <a:latin typeface="+mn-lt"/>
                <a:ea typeface="+mn-ea"/>
                <a:cs typeface="+mn-cs"/>
              </a:rPr>
              <a:t>|  We’re glad to have you here, thank you.”</a:t>
            </a:r>
          </a:p>
          <a:p>
            <a:endParaRPr lang="en-US" sz="1200" b="0" i="0" kern="1200" dirty="0">
              <a:solidFill>
                <a:schemeClr val="tx1"/>
              </a:solidFill>
              <a:effectLst/>
              <a:latin typeface="+mn-lt"/>
              <a:ea typeface="+mn-ea"/>
              <a:cs typeface="+mn-cs"/>
            </a:endParaRPr>
          </a:p>
          <a:p>
            <a:r>
              <a:rPr lang="en-US" dirty="0"/>
              <a:t>So — </a:t>
            </a:r>
            <a:r>
              <a:rPr lang="en-US" b="1" dirty="0"/>
              <a:t>what exactly </a:t>
            </a:r>
            <a:r>
              <a:rPr lang="en-US" b="1" i="1" dirty="0"/>
              <a:t>is…</a:t>
            </a:r>
            <a:r>
              <a:rPr lang="en-US" b="1" dirty="0"/>
              <a:t> </a:t>
            </a:r>
            <a:r>
              <a:rPr lang="en-US" dirty="0"/>
              <a:t>“Orderly”?</a:t>
            </a:r>
          </a:p>
          <a:p>
            <a:endParaRPr lang="en-US" dirty="0"/>
          </a:p>
          <a:p>
            <a:r>
              <a:rPr lang="en-US" dirty="0"/>
              <a:t>At the start of this semester…</a:t>
            </a:r>
          </a:p>
          <a:p>
            <a:r>
              <a:rPr lang="en-US" dirty="0"/>
              <a:t>our class was surveyed, grouped, and handed.. a </a:t>
            </a:r>
            <a:r>
              <a:rPr lang="en-US" b="1" dirty="0"/>
              <a:t>Software Requirements Specification </a:t>
            </a:r>
            <a:r>
              <a:rPr lang="en-US" dirty="0"/>
              <a:t>developed by a </a:t>
            </a:r>
            <a:r>
              <a:rPr lang="en-US" b="1" dirty="0"/>
              <a:t>separate group</a:t>
            </a:r>
            <a:r>
              <a:rPr lang="en-US" b="1" i="1" dirty="0"/>
              <a:t> </a:t>
            </a:r>
            <a:r>
              <a:rPr lang="en-US" i="1" dirty="0"/>
              <a:t>in </a:t>
            </a:r>
            <a:r>
              <a:rPr lang="en-US" b="1" dirty="0"/>
              <a:t>previous semester</a:t>
            </a:r>
            <a:r>
              <a:rPr lang="en-US" dirty="0"/>
              <a:t>. </a:t>
            </a:r>
          </a:p>
          <a:p>
            <a:r>
              <a:rPr lang="en-US" dirty="0"/>
              <a:t>…Our challenge was simple: </a:t>
            </a:r>
            <a:r>
              <a:rPr lang="en-US" b="1" dirty="0"/>
              <a:t>make it happen</a:t>
            </a:r>
            <a:r>
              <a:rPr lang="en-US" dirty="0"/>
              <a:t>.</a:t>
            </a:r>
          </a:p>
          <a:p>
            <a:endParaRPr lang="en-US" dirty="0"/>
          </a:p>
          <a:p>
            <a:r>
              <a:rPr lang="en-US" dirty="0"/>
              <a:t>What we were handed was a </a:t>
            </a:r>
            <a:r>
              <a:rPr lang="en-US" i="1" dirty="0"/>
              <a:t>vision</a:t>
            </a:r>
            <a:r>
              <a:rPr lang="en-US" dirty="0"/>
              <a:t> for a </a:t>
            </a:r>
            <a:r>
              <a:rPr lang="en-US" b="1" dirty="0"/>
              <a:t>centralized</a:t>
            </a:r>
            <a:r>
              <a:rPr lang="en-US" dirty="0"/>
              <a:t> </a:t>
            </a:r>
            <a:r>
              <a:rPr lang="en-US" i="1" dirty="0"/>
              <a:t>web application </a:t>
            </a:r>
            <a:r>
              <a:rPr lang="en-US" dirty="0"/>
              <a:t>— </a:t>
            </a:r>
          </a:p>
          <a:p>
            <a:r>
              <a:rPr lang="en-US" dirty="0"/>
              <a:t>one designed to solve a </a:t>
            </a:r>
            <a:r>
              <a:rPr lang="en-US" b="1" dirty="0"/>
              <a:t>very real problem </a:t>
            </a:r>
            <a:r>
              <a:rPr lang="en-US" dirty="0"/>
              <a:t>for </a:t>
            </a:r>
            <a:r>
              <a:rPr lang="en-US" i="1" dirty="0"/>
              <a:t>small to mid-sized </a:t>
            </a:r>
            <a:r>
              <a:rPr lang="en-US" dirty="0"/>
              <a:t>businesses. </a:t>
            </a:r>
          </a:p>
          <a:p>
            <a:endParaRPr lang="en-US" dirty="0"/>
          </a:p>
          <a:p>
            <a:r>
              <a:rPr lang="en-US" dirty="0"/>
              <a:t>Business owners were managing orders on paper</a:t>
            </a:r>
            <a:r>
              <a:rPr lang="en-US" b="1" dirty="0"/>
              <a:t>, tracking inventory</a:t>
            </a:r>
            <a:r>
              <a:rPr lang="en-US" dirty="0"/>
              <a:t> in spreadsheets, </a:t>
            </a:r>
            <a:r>
              <a:rPr lang="en-US" b="1" dirty="0"/>
              <a:t>juggling tools </a:t>
            </a:r>
            <a:r>
              <a:rPr lang="en-US" dirty="0"/>
              <a:t>that were NEVER meant to work together.. </a:t>
            </a:r>
          </a:p>
          <a:p>
            <a:r>
              <a:rPr lang="en-US" dirty="0"/>
              <a:t>This meant manual processes.. missed orders.. and </a:t>
            </a:r>
            <a:r>
              <a:rPr lang="en-US" b="1" dirty="0"/>
              <a:t>no</a:t>
            </a:r>
            <a:r>
              <a:rPr lang="en-US" dirty="0"/>
              <a:t> </a:t>
            </a:r>
            <a:r>
              <a:rPr lang="en-US" i="1" dirty="0"/>
              <a:t>real-time</a:t>
            </a:r>
            <a:r>
              <a:rPr lang="en-US" dirty="0"/>
              <a:t> visibility.</a:t>
            </a:r>
          </a:p>
          <a:p>
            <a:endParaRPr lang="en-US" dirty="0"/>
          </a:p>
          <a:p>
            <a:r>
              <a:rPr lang="en-US" dirty="0"/>
              <a:t>Our job was to take that vision off the page… </a:t>
            </a:r>
            <a:r>
              <a:rPr lang="en-US" b="1" dirty="0"/>
              <a:t>and then build it</a:t>
            </a:r>
            <a:r>
              <a:rPr lang="en-US" dirty="0"/>
              <a:t>.</a:t>
            </a:r>
          </a:p>
          <a:p>
            <a:endParaRPr lang="en-US" dirty="0"/>
          </a:p>
          <a:p>
            <a:r>
              <a:rPr lang="en-US" b="1" dirty="0"/>
              <a:t>The final result? </a:t>
            </a:r>
          </a:p>
          <a:p>
            <a:r>
              <a:rPr lang="en-US" dirty="0"/>
              <a:t>Our software that stands today.. Orderly. </a:t>
            </a:r>
          </a:p>
          <a:p>
            <a:endParaRPr lang="en-US" dirty="0"/>
          </a:p>
          <a:p>
            <a:r>
              <a:rPr lang="en-US" dirty="0"/>
              <a:t>A </a:t>
            </a:r>
            <a:r>
              <a:rPr lang="en-US" i="1" dirty="0"/>
              <a:t>flexible</a:t>
            </a:r>
            <a:r>
              <a:rPr lang="en-US" dirty="0"/>
              <a:t>, </a:t>
            </a:r>
            <a:r>
              <a:rPr lang="en-US" b="1" dirty="0"/>
              <a:t>self-service..</a:t>
            </a:r>
            <a:r>
              <a:rPr lang="en-US" dirty="0"/>
              <a:t> ordering </a:t>
            </a:r>
            <a:r>
              <a:rPr lang="en-US" b="1" dirty="0"/>
              <a:t>and</a:t>
            </a:r>
            <a:r>
              <a:rPr lang="en-US" dirty="0"/>
              <a:t> business management </a:t>
            </a:r>
            <a:r>
              <a:rPr lang="en-US" b="1" dirty="0"/>
              <a:t>platform</a:t>
            </a:r>
            <a:r>
              <a:rPr lang="en-US" dirty="0"/>
              <a:t> — </a:t>
            </a:r>
          </a:p>
          <a:p>
            <a:r>
              <a:rPr lang="en-US" b="1" dirty="0"/>
              <a:t>With ✨</a:t>
            </a:r>
            <a:r>
              <a:rPr lang="en-US" dirty="0"/>
              <a:t> a </a:t>
            </a:r>
            <a:r>
              <a:rPr lang="en-US" i="1" dirty="0"/>
              <a:t>customer-facing</a:t>
            </a:r>
            <a:r>
              <a:rPr lang="en-US" dirty="0"/>
              <a:t> </a:t>
            </a:r>
            <a:r>
              <a:rPr lang="en-US" b="1" dirty="0"/>
              <a:t>storefront</a:t>
            </a:r>
            <a:r>
              <a:rPr lang="en-US" dirty="0"/>
              <a:t> </a:t>
            </a:r>
            <a:r>
              <a:rPr lang="en-US" i="1" dirty="0"/>
              <a:t>and</a:t>
            </a:r>
            <a:r>
              <a:rPr lang="en-US" dirty="0"/>
              <a:t> a</a:t>
            </a:r>
            <a:r>
              <a:rPr lang="en-US" b="1" dirty="0"/>
              <a:t> full business admin portal… built..</a:t>
            </a:r>
            <a:r>
              <a:rPr lang="en-US" dirty="0"/>
              <a:t> from the </a:t>
            </a:r>
            <a:r>
              <a:rPr lang="en-US" i="1" dirty="0"/>
              <a:t>ground</a:t>
            </a:r>
            <a:r>
              <a:rPr lang="en-US" dirty="0"/>
              <a:t> up..</a:t>
            </a:r>
          </a:p>
          <a:p>
            <a:r>
              <a:rPr lang="en-US" b="1" dirty="0"/>
              <a:t>Across Five</a:t>
            </a:r>
            <a:r>
              <a:rPr lang="en-US" dirty="0"/>
              <a:t> sprints. </a:t>
            </a:r>
          </a:p>
          <a:p>
            <a:r>
              <a:rPr lang="en-US" b="1" dirty="0"/>
              <a:t>Six</a:t>
            </a:r>
            <a:r>
              <a:rPr lang="en-US" dirty="0"/>
              <a:t> team members. </a:t>
            </a:r>
          </a:p>
          <a:p>
            <a:r>
              <a:rPr lang="en-US" dirty="0"/>
              <a:t>And </a:t>
            </a:r>
            <a:r>
              <a:rPr lang="en-US" b="1" dirty="0"/>
              <a:t>over fifteen user </a:t>
            </a:r>
            <a:r>
              <a:rPr lang="en-US" dirty="0"/>
              <a:t>features </a:t>
            </a:r>
            <a:r>
              <a:rPr lang="en-US" b="1" dirty="0"/>
              <a:t>delivered</a:t>
            </a:r>
            <a:r>
              <a:rPr lang="en-US" dirty="0"/>
              <a:t>.</a:t>
            </a:r>
          </a:p>
          <a:p>
            <a:endParaRPr lang="en-US" dirty="0"/>
          </a:p>
          <a:p>
            <a:r>
              <a:rPr lang="en-US" dirty="0"/>
              <a:t>Now, Let me walk you through </a:t>
            </a:r>
            <a:r>
              <a:rPr lang="en-US" i="1" dirty="0"/>
              <a:t>exactly </a:t>
            </a:r>
            <a:r>
              <a:rPr lang="en-US" b="1" dirty="0"/>
              <a:t>how</a:t>
            </a:r>
            <a:r>
              <a:rPr lang="en-US" dirty="0"/>
              <a:t> we got there.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Alright. So..</a:t>
            </a:r>
          </a:p>
          <a:p>
            <a:r>
              <a:rPr lang="en-US" dirty="0"/>
              <a:t>We followed an </a:t>
            </a:r>
            <a:r>
              <a:rPr lang="en-US" b="1" dirty="0"/>
              <a:t>Agile Scrum </a:t>
            </a:r>
            <a:r>
              <a:rPr lang="en-US" dirty="0"/>
              <a:t>methodology across </a:t>
            </a:r>
            <a:r>
              <a:rPr lang="en-US" b="1" dirty="0"/>
              <a:t>five</a:t>
            </a:r>
            <a:r>
              <a:rPr lang="en-US" dirty="0"/>
              <a:t> “</a:t>
            </a:r>
            <a:r>
              <a:rPr lang="en-US" i="1" dirty="0"/>
              <a:t>two-week</a:t>
            </a:r>
            <a:r>
              <a:rPr lang="en-US" dirty="0"/>
              <a:t> sprints”.. running from January through April. </a:t>
            </a:r>
          </a:p>
          <a:p>
            <a:endParaRPr lang="en-US" dirty="0"/>
          </a:p>
          <a:p>
            <a:r>
              <a:rPr lang="en-US" dirty="0"/>
              <a:t>Each sprint had a clear focus — </a:t>
            </a:r>
          </a:p>
          <a:p>
            <a:r>
              <a:rPr lang="en-US" dirty="0"/>
              <a:t>we started with Foundation: laying out our software </a:t>
            </a:r>
            <a:r>
              <a:rPr lang="en-US" b="1" dirty="0"/>
              <a:t>architecture</a:t>
            </a:r>
            <a:r>
              <a:rPr lang="en-US" dirty="0"/>
              <a:t>, team </a:t>
            </a:r>
            <a:r>
              <a:rPr lang="en-US" b="1" dirty="0"/>
              <a:t>standards</a:t>
            </a:r>
            <a:r>
              <a:rPr lang="en-US" dirty="0"/>
              <a:t>, and </a:t>
            </a:r>
            <a:r>
              <a:rPr lang="en-US" b="1" dirty="0"/>
              <a:t>development environment</a:t>
            </a:r>
            <a:r>
              <a:rPr lang="en-US" dirty="0"/>
              <a:t>. </a:t>
            </a:r>
          </a:p>
          <a:p>
            <a:endParaRPr lang="en-US" dirty="0"/>
          </a:p>
          <a:p>
            <a:r>
              <a:rPr lang="en-US" dirty="0"/>
              <a:t>From there, we </a:t>
            </a:r>
            <a:r>
              <a:rPr lang="en-US" i="1" dirty="0"/>
              <a:t>built up </a:t>
            </a:r>
            <a:r>
              <a:rPr lang="en-US" dirty="0"/>
              <a:t>our </a:t>
            </a:r>
            <a:r>
              <a:rPr lang="en-US" b="1" dirty="0"/>
              <a:t>data layer… </a:t>
            </a:r>
            <a:r>
              <a:rPr lang="en-US" dirty="0"/>
              <a:t>then our </a:t>
            </a:r>
            <a:r>
              <a:rPr lang="en-US" b="1" dirty="0"/>
              <a:t>engineering backbone</a:t>
            </a:r>
            <a:r>
              <a:rPr lang="en-US" dirty="0"/>
              <a:t>.. then the </a:t>
            </a:r>
            <a:r>
              <a:rPr lang="en-US" b="1" dirty="0"/>
              <a:t>full</a:t>
            </a:r>
            <a:r>
              <a:rPr lang="en-US" dirty="0"/>
              <a:t> customer experience…  and then finally </a:t>
            </a:r>
            <a:r>
              <a:rPr lang="en-US" b="1" dirty="0"/>
              <a:t>the business </a:t>
            </a:r>
            <a:r>
              <a:rPr lang="en-US" dirty="0"/>
              <a:t>admin tools.</a:t>
            </a:r>
          </a:p>
          <a:p>
            <a:endParaRPr lang="en-US" dirty="0"/>
          </a:p>
          <a:p>
            <a:r>
              <a:rPr lang="en-US" dirty="0"/>
              <a:t>The timeline on this slide tells that exact story.</a:t>
            </a:r>
          </a:p>
          <a:p>
            <a:r>
              <a:rPr lang="en-US" dirty="0"/>
              <a:t> </a:t>
            </a:r>
          </a:p>
          <a:p>
            <a:r>
              <a:rPr lang="en-US" dirty="0"/>
              <a:t>You can see.. the </a:t>
            </a:r>
            <a:r>
              <a:rPr lang="en-US" b="1" dirty="0"/>
              <a:t>sprint milestones</a:t>
            </a:r>
            <a:r>
              <a:rPr lang="en-US" dirty="0"/>
              <a:t>, our </a:t>
            </a:r>
            <a:r>
              <a:rPr lang="en-US" b="1" dirty="0"/>
              <a:t>spring break</a:t>
            </a:r>
            <a:r>
              <a:rPr lang="en-US" dirty="0"/>
              <a:t>, and then.. the </a:t>
            </a:r>
            <a:r>
              <a:rPr lang="en-US" b="1" dirty="0"/>
              <a:t>final push </a:t>
            </a:r>
            <a:r>
              <a:rPr lang="en-US" dirty="0"/>
              <a:t>— </a:t>
            </a:r>
          </a:p>
          <a:p>
            <a:r>
              <a:rPr lang="en-US" dirty="0"/>
              <a:t>Which Included a </a:t>
            </a:r>
            <a:r>
              <a:rPr lang="en-US" b="1" dirty="0"/>
              <a:t>hard code freeze </a:t>
            </a:r>
            <a:r>
              <a:rPr lang="en-US" dirty="0"/>
              <a:t>on </a:t>
            </a:r>
            <a:r>
              <a:rPr lang="en-US" i="1" dirty="0"/>
              <a:t>April 24th</a:t>
            </a:r>
            <a:r>
              <a:rPr lang="en-US" dirty="0"/>
              <a:t>, deployment on the 25th, and then… </a:t>
            </a:r>
            <a:r>
              <a:rPr lang="en-US" b="1" dirty="0"/>
              <a:t>here</a:t>
            </a:r>
            <a:r>
              <a:rPr lang="en-US" dirty="0"/>
              <a:t>.. where we stand today.</a:t>
            </a:r>
          </a:p>
          <a:p>
            <a:endParaRPr lang="en-US" dirty="0"/>
          </a:p>
          <a:p>
            <a:r>
              <a:rPr lang="en-US" dirty="0"/>
              <a:t>This was all built across </a:t>
            </a:r>
            <a:r>
              <a:rPr lang="en-US" b="1" dirty="0"/>
              <a:t>Fourteen weeks </a:t>
            </a:r>
            <a:r>
              <a:rPr lang="en-US" dirty="0"/>
              <a:t>where our team held </a:t>
            </a:r>
            <a:r>
              <a:rPr lang="en-US" b="1" dirty="0"/>
              <a:t>Five sprint reviews</a:t>
            </a:r>
            <a:r>
              <a:rPr lang="en-US" dirty="0"/>
              <a:t> </a:t>
            </a:r>
            <a:r>
              <a:rPr lang="en-US" i="1" dirty="0"/>
              <a:t>and five more</a:t>
            </a:r>
            <a:r>
              <a:rPr lang="en-US" dirty="0"/>
              <a:t> </a:t>
            </a:r>
            <a:r>
              <a:rPr lang="en-US" b="1" dirty="0"/>
              <a:t>retrospectives</a:t>
            </a:r>
            <a:r>
              <a:rPr lang="en-US" b="0" dirty="0"/>
              <a:t>, </a:t>
            </a:r>
          </a:p>
          <a:p>
            <a:r>
              <a:rPr lang="en-US" b="0" dirty="0"/>
              <a:t>Where I as PM facilitated</a:t>
            </a:r>
            <a:r>
              <a:rPr lang="en-US" b="1" dirty="0"/>
              <a:t> over </a:t>
            </a:r>
            <a:r>
              <a:rPr lang="en-US" b="0" i="1" dirty="0"/>
              <a:t>thirty</a:t>
            </a:r>
            <a:r>
              <a:rPr lang="en-US" b="1" dirty="0"/>
              <a:t> team meetings </a:t>
            </a:r>
            <a:r>
              <a:rPr lang="en-US" dirty="0"/>
              <a:t>using </a:t>
            </a:r>
            <a:r>
              <a:rPr lang="en-US" b="1" dirty="0"/>
              <a:t>two “</a:t>
            </a:r>
            <a:r>
              <a:rPr lang="en-US" b="0" i="1" dirty="0"/>
              <a:t>Kanban Trello boards</a:t>
            </a:r>
            <a:r>
              <a:rPr lang="en-US" b="0" dirty="0"/>
              <a:t>” that </a:t>
            </a:r>
            <a:r>
              <a:rPr lang="en-US" b="0" i="1" dirty="0"/>
              <a:t>served</a:t>
            </a:r>
            <a:r>
              <a:rPr lang="en-US" b="0" dirty="0"/>
              <a:t> </a:t>
            </a:r>
            <a:r>
              <a:rPr lang="en-US" dirty="0"/>
              <a:t>as our Team’s “process organization”. </a:t>
            </a:r>
            <a:br>
              <a:rPr lang="en-US" dirty="0"/>
            </a:br>
            <a:endParaRPr lang="en-US" dirty="0"/>
          </a:p>
          <a:p>
            <a:r>
              <a:rPr lang="en-US" i="1" dirty="0"/>
              <a:t>Iteratively built</a:t>
            </a:r>
            <a:r>
              <a:rPr lang="en-US" dirty="0"/>
              <a:t>, from the ground up.. All under one </a:t>
            </a:r>
            <a:r>
              <a:rPr lang="en-US" b="1" dirty="0"/>
              <a:t>product development plan.</a:t>
            </a:r>
            <a:br>
              <a:rPr lang="en-US" dirty="0"/>
            </a:br>
            <a:endParaRPr lang="en-US" dirty="0"/>
          </a:p>
          <a:p>
            <a:r>
              <a:rPr lang="en-US" dirty="0"/>
              <a:t>'ll now hand it over to Kim, our Product Owner, to walk you through </a:t>
            </a:r>
            <a:r>
              <a:rPr lang="en-US" b="1" dirty="0"/>
              <a:t>what</a:t>
            </a:r>
            <a:r>
              <a:rPr lang="en-US" dirty="0"/>
              <a:t> we delivered and </a:t>
            </a:r>
            <a:r>
              <a:rPr lang="en-US" b="1" i="1" dirty="0"/>
              <a:t>how.. </a:t>
            </a:r>
            <a:r>
              <a:rPr lang="en-US" dirty="0"/>
              <a:t> 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 –</a:t>
            </a:r>
            <a:r>
              <a:rPr lang="en-US" i="0" dirty="0"/>
              <a:t>✨ You got this!</a:t>
            </a:r>
            <a:endParaRPr lang="en-US" i="1" dirty="0"/>
          </a:p>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r>
              <a:rPr lang="en-US" dirty="0"/>
              <a:t>Now that we’ve looked at what </a:t>
            </a:r>
            <a:r>
              <a:rPr lang="en-US" b="1" dirty="0"/>
              <a:t>Orderly does from a </a:t>
            </a:r>
            <a:r>
              <a:rPr lang="en-US" i="1" dirty="0"/>
              <a:t>user perspective</a:t>
            </a:r>
            <a:r>
              <a:rPr lang="en-US" dirty="0"/>
              <a:t>,</a:t>
            </a:r>
          </a:p>
          <a:p>
            <a:r>
              <a:rPr lang="en-US" dirty="0"/>
              <a:t>let’s… talk about the </a:t>
            </a:r>
            <a:r>
              <a:rPr lang="en-US" b="1" dirty="0"/>
              <a:t>Epic planning </a:t>
            </a:r>
            <a:r>
              <a:rPr lang="en-US" dirty="0"/>
              <a:t>that brought them to life...!</a:t>
            </a:r>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 -</a:t>
            </a:r>
            <a:r>
              <a:rPr lang="en-US" i="1" dirty="0"/>
              <a:t>breathe- 🍃</a:t>
            </a:r>
            <a:endParaRPr lang="en-US" dirty="0"/>
          </a:p>
          <a:p>
            <a:endParaRPr lang="en-US" dirty="0"/>
          </a:p>
          <a:p>
            <a:r>
              <a:rPr lang="en-US" dirty="0"/>
              <a:t>Orderly is a </a:t>
            </a:r>
            <a:r>
              <a:rPr lang="en-US" b="1" dirty="0"/>
              <a:t>full-stack</a:t>
            </a:r>
            <a:r>
              <a:rPr lang="en-US" dirty="0"/>
              <a:t> system..</a:t>
            </a:r>
          </a:p>
          <a:p>
            <a:r>
              <a:rPr lang="en-US" i="1" dirty="0"/>
              <a:t>Designed</a:t>
            </a:r>
            <a:r>
              <a:rPr lang="en-US" dirty="0"/>
              <a:t> to be both: </a:t>
            </a:r>
            <a:r>
              <a:rPr lang="en-US" b="1" dirty="0"/>
              <a:t>flexible</a:t>
            </a:r>
            <a:r>
              <a:rPr lang="en-US" dirty="0"/>
              <a:t> </a:t>
            </a:r>
            <a:r>
              <a:rPr lang="en-US" i="1" dirty="0"/>
              <a:t>and</a:t>
            </a:r>
            <a:r>
              <a:rPr lang="en-US" dirty="0"/>
              <a:t> </a:t>
            </a:r>
            <a:r>
              <a:rPr lang="en-US" b="1" dirty="0"/>
              <a:t>scalable</a:t>
            </a:r>
            <a:r>
              <a:rPr lang="en-US" dirty="0"/>
              <a:t>.</a:t>
            </a:r>
          </a:p>
          <a:p>
            <a:endParaRPr lang="en-US" dirty="0"/>
          </a:p>
          <a:p>
            <a:r>
              <a:rPr lang="en-US" dirty="0"/>
              <a:t>We worked across four major epics and delivered </a:t>
            </a:r>
            <a:r>
              <a:rPr lang="en-US" b="1" dirty="0"/>
              <a:t>over </a:t>
            </a:r>
            <a:r>
              <a:rPr lang="en-US" dirty="0"/>
              <a:t>25 user stories..</a:t>
            </a:r>
          </a:p>
          <a:p>
            <a:r>
              <a:rPr lang="en-US" dirty="0"/>
              <a:t>supporting both: </a:t>
            </a:r>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As a team—</a:t>
            </a:r>
          </a:p>
          <a:p>
            <a:r>
              <a:rPr lang="en-US" dirty="0"/>
              <a:t>we made over 800 code commits</a:t>
            </a:r>
          </a:p>
          <a:p>
            <a:r>
              <a:rPr lang="en-US" dirty="0"/>
              <a:t>.. reflecting </a:t>
            </a:r>
            <a:r>
              <a:rPr lang="en-US" i="1" dirty="0"/>
              <a:t>strong collaboration </a:t>
            </a:r>
            <a:r>
              <a:rPr lang="en-US" b="1" dirty="0"/>
              <a:t>throughout</a:t>
            </a:r>
            <a:r>
              <a:rPr lang="en-US" dirty="0"/>
              <a:t> the project.</a:t>
            </a:r>
          </a:p>
          <a:p>
            <a:endParaRPr lang="en-US" dirty="0"/>
          </a:p>
          <a:p>
            <a:r>
              <a:rPr lang="en-US" dirty="0"/>
              <a:t>We also developed </a:t>
            </a:r>
            <a:r>
              <a:rPr lang="en-US" b="1" dirty="0"/>
              <a:t>over 50</a:t>
            </a:r>
            <a:r>
              <a:rPr lang="en-US" dirty="0"/>
              <a:t> </a:t>
            </a:r>
            <a:r>
              <a:rPr lang="en-US" i="0" dirty="0"/>
              <a:t>API endpoints </a:t>
            </a:r>
            <a:r>
              <a:rPr lang="en-US" b="1" dirty="0"/>
              <a:t>and,</a:t>
            </a:r>
            <a:endParaRPr lang="en-US" dirty="0"/>
          </a:p>
          <a:p>
            <a:r>
              <a:rPr lang="en-US" dirty="0"/>
              <a:t>supported them with automated testing to ensure system reliability.</a:t>
            </a:r>
          </a:p>
          <a:p>
            <a:endParaRPr lang="en-US" dirty="0"/>
          </a:p>
          <a:p>
            <a:r>
              <a:rPr lang="en-US" i="1" dirty="0"/>
              <a:t>Finally</a:t>
            </a:r>
            <a:r>
              <a:rPr lang="en-US" dirty="0"/>
              <a:t>, </a:t>
            </a:r>
          </a:p>
          <a:p>
            <a:r>
              <a:rPr lang="en-US" dirty="0"/>
              <a:t>we maintained a living backlog.. to keep development </a:t>
            </a:r>
            <a:r>
              <a:rPr lang="en-US" i="1" dirty="0"/>
              <a:t>aligned…</a:t>
            </a:r>
            <a:r>
              <a:rPr lang="en-US" dirty="0"/>
              <a:t> and up to date.</a:t>
            </a:r>
          </a:p>
          <a:p>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 that said, Let’s take a step back and </a:t>
            </a:r>
            <a:r>
              <a:rPr lang="en-US" b="1" dirty="0"/>
              <a:t>look </a:t>
            </a:r>
            <a:r>
              <a:rPr lang="en-US" dirty="0"/>
              <a:t>at the overall scope of the project…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dirty="0"/>
              <a:t>🟡 KIM: </a:t>
            </a:r>
            <a:r>
              <a:rPr lang="en-US" dirty="0">
                <a:solidFill>
                  <a:schemeClr val="accent3"/>
                </a:solidFill>
              </a:rPr>
              <a:t>--one more to go!--</a:t>
            </a:r>
          </a:p>
          <a:p>
            <a:endParaRPr lang="en-US" b="0" dirty="0"/>
          </a:p>
          <a:p>
            <a:r>
              <a:rPr lang="en-US" dirty="0"/>
              <a:t>To make </a:t>
            </a:r>
            <a:r>
              <a:rPr lang="en-US" b="1" dirty="0"/>
              <a:t>all</a:t>
            </a:r>
            <a:r>
              <a:rPr lang="en-US" dirty="0"/>
              <a:t> of that possible..</a:t>
            </a:r>
          </a:p>
          <a:p>
            <a:r>
              <a:rPr lang="en-US" dirty="0"/>
              <a:t>we had to be </a:t>
            </a:r>
            <a:r>
              <a:rPr lang="en-US" i="1" dirty="0"/>
              <a:t>very</a:t>
            </a:r>
            <a:r>
              <a:rPr lang="en-US" dirty="0"/>
              <a:t> intentional about </a:t>
            </a:r>
            <a:r>
              <a:rPr lang="en-US" i="1" dirty="0"/>
              <a:t>how</a:t>
            </a:r>
            <a:r>
              <a:rPr lang="en-US" dirty="0"/>
              <a:t> we managed scope and made our product decisions.</a:t>
            </a:r>
          </a:p>
          <a:p>
            <a:endParaRPr lang="en-US" dirty="0"/>
          </a:p>
          <a:p>
            <a:r>
              <a:rPr lang="en-US" dirty="0"/>
              <a:t>We kept the project </a:t>
            </a:r>
            <a:r>
              <a:rPr lang="en-US" b="1" dirty="0"/>
              <a:t>focused</a:t>
            </a:r>
            <a:r>
              <a:rPr lang="en-US" dirty="0"/>
              <a:t> </a:t>
            </a:r>
            <a:r>
              <a:rPr lang="en-US" i="1" dirty="0"/>
              <a:t>and</a:t>
            </a:r>
            <a:r>
              <a:rPr lang="en-US" dirty="0"/>
              <a:t> </a:t>
            </a:r>
            <a:r>
              <a:rPr lang="en-US" b="1" dirty="0"/>
              <a:t>deliverable</a:t>
            </a:r>
            <a:r>
              <a:rPr lang="en-US" dirty="0"/>
              <a:t> </a:t>
            </a:r>
            <a:r>
              <a:rPr lang="en-US" i="1" dirty="0"/>
              <a:t>throughout development</a:t>
            </a:r>
            <a:r>
              <a:rPr lang="en-US" dirty="0"/>
              <a:t>.</a:t>
            </a:r>
          </a:p>
          <a:p>
            <a:r>
              <a:rPr lang="en-US" dirty="0"/>
              <a:t>We used Moscow to ensure critical features were completed </a:t>
            </a:r>
            <a:r>
              <a:rPr lang="en-US" b="1" dirty="0"/>
              <a:t>first</a:t>
            </a:r>
            <a:r>
              <a:rPr lang="en-US" dirty="0"/>
              <a:t>.</a:t>
            </a:r>
          </a:p>
          <a:p>
            <a:r>
              <a:rPr lang="en-US" dirty="0"/>
              <a:t>Also, we </a:t>
            </a:r>
            <a:r>
              <a:rPr lang="en-US" dirty="0" err="1"/>
              <a:t>followed..a</a:t>
            </a:r>
            <a:r>
              <a:rPr lang="en-US" dirty="0"/>
              <a:t> wave-based approach-- completing backend APIs </a:t>
            </a:r>
            <a:r>
              <a:rPr lang="en-US" i="1" dirty="0"/>
              <a:t>before</a:t>
            </a:r>
            <a:r>
              <a:rPr lang="en-US" dirty="0"/>
              <a:t> frontend integration to </a:t>
            </a:r>
            <a:r>
              <a:rPr lang="en-US" b="0" i="1" dirty="0"/>
              <a:t>reduce: </a:t>
            </a:r>
            <a:r>
              <a:rPr lang="en-US" b="1" i="0" dirty="0"/>
              <a:t>blockers</a:t>
            </a:r>
            <a:r>
              <a:rPr lang="en-US" dirty="0"/>
              <a:t>.</a:t>
            </a:r>
          </a:p>
          <a:p>
            <a:endParaRPr lang="en-US" dirty="0"/>
          </a:p>
          <a:p>
            <a:r>
              <a:rPr lang="en-US" dirty="0"/>
              <a:t>We made sure </a:t>
            </a:r>
            <a:r>
              <a:rPr lang="en-US" i="1" dirty="0"/>
              <a:t>every</a:t>
            </a:r>
            <a:r>
              <a:rPr lang="en-US" dirty="0"/>
              <a:t> feature had </a:t>
            </a:r>
            <a:r>
              <a:rPr lang="en-US" b="1" dirty="0"/>
              <a:t>clear requirements </a:t>
            </a:r>
            <a:r>
              <a:rPr lang="en-US" dirty="0"/>
              <a:t>before development even began.</a:t>
            </a:r>
          </a:p>
          <a:p>
            <a:endParaRPr lang="en-US" dirty="0"/>
          </a:p>
          <a:p>
            <a:r>
              <a:rPr lang="en-US" dirty="0"/>
              <a:t>.. These decisions helped us stay organized to deliver a </a:t>
            </a:r>
            <a:r>
              <a:rPr lang="en-US" b="1" dirty="0"/>
              <a:t>complete</a:t>
            </a:r>
            <a:r>
              <a:rPr lang="en-US" dirty="0"/>
              <a:t> </a:t>
            </a:r>
            <a:r>
              <a:rPr lang="en-US" b="1" dirty="0"/>
              <a:t>system</a:t>
            </a:r>
            <a:r>
              <a:rPr lang="en-US" dirty="0"/>
              <a:t>.</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 </a:t>
            </a:r>
          </a:p>
          <a:p>
            <a:endParaRPr lang="en-US" b="1" dirty="0"/>
          </a:p>
          <a:p>
            <a:r>
              <a:rPr lang="en-US" dirty="0"/>
              <a:t>Beyond how we built the system, we also want to highlight what stood out in how we worked as a team.</a:t>
            </a:r>
          </a:p>
          <a:p>
            <a:r>
              <a:rPr lang="en-US" dirty="0"/>
              <a:t>One of our biggest strengths was maintaining a clear API contract, which kept the frontend and backend aligned.</a:t>
            </a:r>
          </a:p>
          <a:p>
            <a:r>
              <a:rPr lang="en-US" dirty="0"/>
              <a:t>We also followed strong development practices, including code reviews and testing before merging changes.</a:t>
            </a:r>
          </a:p>
          <a:p>
            <a:r>
              <a:rPr lang="en-US" dirty="0"/>
              <a:t>Our team collaborated closely, supporting each other and adapting quickly when needed.</a:t>
            </a:r>
          </a:p>
          <a:p>
            <a:r>
              <a:rPr lang="en-US" dirty="0"/>
              <a:t>From a personal standpoint, I worked across both the backend and frontend, contributing to API development and frontend integration. I also helped ensure that features worked together end-to-end, focusing on connecting components and maintaining consistency across the system.</a:t>
            </a:r>
          </a:p>
          <a:p>
            <a:r>
              <a:rPr lang="en-US" dirty="0"/>
              <a:t>Overall, what we’re most proud of is that this idea became a reality—a complete platform with both a customer-facing interface and an admin portal that work together seamlessly.</a:t>
            </a:r>
            <a:endParaRPr lang="en-US" b="1" dirty="0"/>
          </a:p>
          <a:p>
            <a:endParaRPr lang="en-US" b="1" dirty="0"/>
          </a:p>
          <a:p>
            <a:endParaRPr lang="en-US" b="1" dirty="0"/>
          </a:p>
          <a:p>
            <a:r>
              <a:rPr lang="en-US" b="1" dirty="0"/>
              <a:t>⏭️ Up Next: </a:t>
            </a:r>
            <a:r>
              <a:rPr lang="en-US" b="0" dirty="0"/>
              <a:t>Frontend Development (Rachel!)</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RACHEL: </a:t>
            </a:r>
            <a:r>
              <a:rPr lang="en-US" b="0" i="1" dirty="0"/>
              <a:t>one more..</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r>
              <a:rPr lang="en-US" b="0" dirty="0"/>
              <a:t>”Frontend had to start somewhere, in the backend! Let’s hear from Tristin about how it all worked behind the scenes of UI..” </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 Up Next: </a:t>
            </a:r>
            <a:r>
              <a:rPr lang="en-US" b="0" dirty="0"/>
              <a:t>Backend Development (Tristin!)</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r>
              <a:rPr lang="en-US" b="0" i="1" dirty="0"/>
              <a:t>two slides total! One more after this one.</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r>
              <a:rPr lang="en-US" b="0" i="1" dirty="0"/>
              <a:t>final slide</a:t>
            </a:r>
            <a:endParaRPr lang="en-US" b="0" dirty="0"/>
          </a:p>
          <a:p>
            <a:endParaRPr lang="en-US" b="0" dirty="0"/>
          </a:p>
          <a:p>
            <a:r>
              <a:rPr lang="en-US" b="0" dirty="0"/>
              <a:t>“””</a:t>
            </a:r>
          </a:p>
          <a:p>
            <a:endParaRPr lang="en-US" b="0" dirty="0"/>
          </a:p>
          <a:p>
            <a:endParaRPr lang="en-US" b="0" dirty="0"/>
          </a:p>
          <a:p>
            <a:r>
              <a:rPr lang="en-US" b="0" dirty="0"/>
              <a:t>“””</a:t>
            </a:r>
          </a:p>
          <a:p>
            <a:endParaRPr lang="en-US" b="0" dirty="0"/>
          </a:p>
          <a:p>
            <a:r>
              <a:rPr lang="en-US" b="0" i="1" dirty="0"/>
              <a:t>(TRANSITION): </a:t>
            </a:r>
            <a:r>
              <a:rPr lang="en-US" b="0" dirty="0"/>
              <a:t>”We have had a ton of moving parts but the glue that kept it together was our strategic approach to testing and quality assurance..”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QA Practice (Kenny)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r>
              <a:rPr lang="en-US" b="0" i="1" dirty="0"/>
              <a:t>two slides total! One more after this one.</a:t>
            </a:r>
            <a:endParaRPr lang="en-US" b="0" dirty="0"/>
          </a:p>
          <a:p>
            <a:endParaRPr lang="en-US" dirty="0"/>
          </a:p>
          <a:p>
            <a:r>
              <a:rPr lang="en-US" dirty="0"/>
              <a:t>Thanks, Tristan — and thanks everyone.</a:t>
            </a:r>
          </a:p>
          <a:p>
            <a:endParaRPr lang="en-US" dirty="0"/>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endParaRPr lang="en-US" dirty="0"/>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endParaRPr lang="en-US" dirty="0"/>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endParaRPr lang="en-US" dirty="0"/>
          </a:p>
          <a:p>
            <a:r>
              <a:rPr lang="en-US" dirty="0"/>
              <a:t>In addition to automation, I led QA coordination by creating test plans, test cases, testing matrices, acceptance coverage reports, and supporting CI regression validation to help drive release readiness with no critical defects open.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r>
              <a:rPr lang="en-US" b="0" i="1" dirty="0"/>
              <a:t>last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p>
          <a:p>
            <a:r>
              <a:rPr lang="en-US" dirty="0"/>
              <a:t>For me, that captures how QA supported the project — not just identifying issues, but improving long-term reliability throughout development.</a:t>
            </a:r>
          </a:p>
          <a:p>
            <a:endParaRPr lang="en-US" dirty="0"/>
          </a:p>
          <a:p>
            <a:r>
              <a:rPr lang="en-US" dirty="0"/>
              <a:t>And with that, I’ll hand it over to Caleb, who will walk through </a:t>
            </a:r>
            <a:r>
              <a:rPr lang="en-US" b="1" dirty="0"/>
              <a:t>User Feedback</a:t>
            </a:r>
            <a:r>
              <a:rPr lang="en-US" dirty="0"/>
              <a:t>. Thank you.</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Caleb</a:t>
            </a:r>
            <a:endParaRPr lang="en-US" b="1"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two slides total! One more after this 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NOTE: Transition to your next slide please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last slide!</a:t>
            </a:r>
          </a:p>
          <a:p>
            <a:endParaRPr lang="en-US" b="1" dirty="0"/>
          </a:p>
          <a:p>
            <a:r>
              <a:rPr lang="en-US" b="1" dirty="0"/>
              <a:t>“””</a:t>
            </a:r>
          </a:p>
          <a:p>
            <a:endParaRPr lang="en-US" b="1" dirty="0"/>
          </a:p>
          <a:p>
            <a:endParaRPr lang="en-US" b="1" dirty="0"/>
          </a:p>
          <a:p>
            <a:r>
              <a:rPr lang="en-US" b="1" dirty="0"/>
              <a:t>“””</a:t>
            </a:r>
          </a:p>
          <a:p>
            <a:endParaRPr lang="en-US" b="1" dirty="0"/>
          </a:p>
          <a:p>
            <a:r>
              <a:rPr lang="en-US" b="0" dirty="0"/>
              <a:t>”Now back to our PM as she guides us through our final messages ”… </a:t>
            </a:r>
            <a:endParaRPr lang="en-US" b="1" dirty="0"/>
          </a:p>
          <a:p>
            <a:endParaRPr lang="en-US" b="1" dirty="0"/>
          </a:p>
          <a:p>
            <a:r>
              <a:rPr lang="en-US" dirty="0"/>
              <a:t>🎬</a:t>
            </a:r>
            <a:r>
              <a:rPr lang="en-US" b="1" dirty="0"/>
              <a:t>⏭️ Up Next: </a:t>
            </a:r>
            <a:r>
              <a:rPr lang="en-US" b="0" dirty="0"/>
              <a:t>Wrap UP (Serina)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SERINA: </a:t>
            </a:r>
            <a:r>
              <a:rPr lang="en-US" b="0" i="1" dirty="0"/>
              <a:t>This slide, then demo, then questions!</a:t>
            </a:r>
          </a:p>
          <a:p>
            <a:endParaRPr lang="en-US" b="1" dirty="0"/>
          </a:p>
          <a:p>
            <a:r>
              <a:rPr lang="en-US" b="1" dirty="0"/>
              <a:t>Thank you </a:t>
            </a:r>
            <a:r>
              <a:rPr lang="en-US" b="0" dirty="0"/>
              <a:t>so much Caleb, and to my </a:t>
            </a:r>
            <a:r>
              <a:rPr lang="en-US" b="1" dirty="0"/>
              <a:t>entire Orderly team</a:t>
            </a:r>
            <a:r>
              <a:rPr lang="en-US" b="0" dirty="0"/>
              <a:t> for bringing us to this </a:t>
            </a:r>
            <a:r>
              <a:rPr lang="en-US" b="0" i="1" dirty="0"/>
              <a:t>closing moment</a:t>
            </a:r>
            <a:r>
              <a:rPr lang="en-US" b="0" dirty="0"/>
              <a:t>.</a:t>
            </a:r>
          </a:p>
          <a:p>
            <a:endParaRPr lang="en-US" b="0" dirty="0"/>
          </a:p>
          <a:p>
            <a:r>
              <a:rPr lang="en-US" dirty="0"/>
              <a:t>Now, before we present a live demo of our software </a:t>
            </a:r>
            <a:r>
              <a:rPr lang="en-US" i="1" dirty="0"/>
              <a:t>and then.. </a:t>
            </a:r>
            <a:r>
              <a:rPr lang="en-US" dirty="0"/>
              <a:t>open the floor for questions… </a:t>
            </a:r>
          </a:p>
          <a:p>
            <a:r>
              <a:rPr lang="en-US" dirty="0"/>
              <a:t>I want to close out with </a:t>
            </a:r>
            <a:r>
              <a:rPr lang="en-US" b="1" dirty="0"/>
              <a:t>what this experience </a:t>
            </a:r>
            <a:r>
              <a:rPr lang="en-US" i="1" dirty="0"/>
              <a:t>actually</a:t>
            </a:r>
            <a:r>
              <a:rPr lang="en-US" dirty="0"/>
              <a:t> taught us.</a:t>
            </a:r>
          </a:p>
          <a:p>
            <a:endParaRPr lang="en-US" dirty="0"/>
          </a:p>
          <a:p>
            <a:r>
              <a:rPr lang="en-US" dirty="0"/>
              <a:t>To start our list..</a:t>
            </a:r>
          </a:p>
          <a:p>
            <a:r>
              <a:rPr lang="en-US" b="1" dirty="0"/>
              <a:t>Dependency-first planning </a:t>
            </a:r>
            <a:r>
              <a:rPr lang="en-US" i="1" dirty="0"/>
              <a:t>changed</a:t>
            </a:r>
            <a:r>
              <a:rPr lang="en-US" dirty="0"/>
              <a:t> how we worked. </a:t>
            </a:r>
          </a:p>
          <a:p>
            <a:r>
              <a:rPr lang="en-US" dirty="0"/>
              <a:t>..early in the project, we learned </a:t>
            </a:r>
            <a:r>
              <a:rPr lang="en-US" b="1" dirty="0"/>
              <a:t>the hard way </a:t>
            </a:r>
            <a:r>
              <a:rPr lang="en-US" dirty="0"/>
              <a:t>that when one piece arrives late</a:t>
            </a:r>
            <a:r>
              <a:rPr lang="en-US" i="1" dirty="0"/>
              <a:t>… everything downstream </a:t>
            </a:r>
            <a:r>
              <a:rPr lang="en-US" b="1" dirty="0"/>
              <a:t>stalls</a:t>
            </a:r>
            <a:r>
              <a:rPr lang="en-US" dirty="0"/>
              <a:t>. </a:t>
            </a:r>
          </a:p>
          <a:p>
            <a:endParaRPr lang="en-US" b="1" dirty="0"/>
          </a:p>
          <a:p>
            <a:r>
              <a:rPr lang="en-US" b="1" dirty="0"/>
              <a:t>.. Wave-based delivery </a:t>
            </a:r>
            <a:r>
              <a:rPr lang="en-US" dirty="0"/>
              <a:t>fixed exactly that — and it's something I’ll remember in every project I manage moving forward</a:t>
            </a:r>
            <a:r>
              <a:rPr lang="en-US" b="1" dirty="0"/>
              <a:t>, </a:t>
            </a:r>
          </a:p>
          <a:p>
            <a:r>
              <a:rPr lang="en-US" b="1" dirty="0"/>
              <a:t>or at the very least…</a:t>
            </a:r>
            <a:r>
              <a:rPr lang="en-US" dirty="0"/>
              <a:t> having a contingency plan and map for dependencies.</a:t>
            </a:r>
            <a:br>
              <a:rPr lang="en-US" dirty="0"/>
            </a:br>
            <a:endParaRPr lang="en-US" dirty="0"/>
          </a:p>
          <a:p>
            <a:r>
              <a:rPr lang="en-US" dirty="0"/>
              <a:t>..Another moment showed us that..</a:t>
            </a:r>
          </a:p>
          <a:p>
            <a:r>
              <a:rPr lang="en-US" b="1" dirty="0"/>
              <a:t>Vocabulary matters a lot more than we expected</a:t>
            </a:r>
            <a:r>
              <a:rPr lang="en-US" dirty="0"/>
              <a:t>. Understanding the language of APIs, endpoints, and contracts much earlier would have saved us </a:t>
            </a:r>
            <a:r>
              <a:rPr lang="en-US" i="1" dirty="0"/>
              <a:t>real time</a:t>
            </a:r>
            <a:r>
              <a:rPr lang="en-US" dirty="0"/>
              <a:t> </a:t>
            </a:r>
            <a:r>
              <a:rPr lang="en-US" b="1" dirty="0"/>
              <a:t>across</a:t>
            </a:r>
            <a:r>
              <a:rPr lang="en-US" dirty="0"/>
              <a:t> the team. </a:t>
            </a:r>
          </a:p>
          <a:p>
            <a:r>
              <a:rPr lang="en-US" dirty="0"/>
              <a:t>It is understood that communication only works when everyone is speaking the </a:t>
            </a:r>
            <a:r>
              <a:rPr lang="en-US" b="1" dirty="0"/>
              <a:t>same</a:t>
            </a:r>
            <a:r>
              <a:rPr lang="en-US" dirty="0"/>
              <a:t> language.</a:t>
            </a:r>
          </a:p>
          <a:p>
            <a:endParaRPr lang="en-US" dirty="0"/>
          </a:p>
          <a:p>
            <a:r>
              <a:rPr lang="en-US" i="1" dirty="0"/>
              <a:t>Next, a lesson I found crucial: </a:t>
            </a:r>
          </a:p>
          <a:p>
            <a:r>
              <a:rPr lang="en-US" i="1" dirty="0"/>
              <a:t>Collaborative development </a:t>
            </a:r>
            <a:r>
              <a:rPr lang="en-US" b="1" i="1" dirty="0"/>
              <a:t>is</a:t>
            </a:r>
            <a:r>
              <a:rPr lang="en-US" i="1" dirty="0"/>
              <a:t> </a:t>
            </a:r>
            <a:r>
              <a:rPr lang="en-US" b="1" i="1" dirty="0"/>
              <a:t>a skill </a:t>
            </a:r>
            <a:r>
              <a:rPr lang="en-US" dirty="0"/>
              <a:t>— and it's one that we built </a:t>
            </a:r>
            <a:r>
              <a:rPr lang="en-US" b="1" dirty="0"/>
              <a:t>sprint over sprint</a:t>
            </a:r>
            <a:r>
              <a:rPr lang="en-US" dirty="0"/>
              <a:t>. </a:t>
            </a:r>
          </a:p>
          <a:p>
            <a:r>
              <a:rPr lang="en-US" dirty="0"/>
              <a:t>This </a:t>
            </a:r>
            <a:r>
              <a:rPr lang="en-US" b="1" dirty="0"/>
              <a:t>surfaced</a:t>
            </a:r>
            <a:r>
              <a:rPr lang="en-US" dirty="0"/>
              <a:t> in better </a:t>
            </a:r>
            <a:r>
              <a:rPr lang="en-US" b="1" dirty="0"/>
              <a:t>PR habits</a:t>
            </a:r>
            <a:r>
              <a:rPr lang="en-US" dirty="0"/>
              <a:t>, better </a:t>
            </a:r>
            <a:r>
              <a:rPr lang="en-US" b="1" dirty="0"/>
              <a:t>communication</a:t>
            </a:r>
            <a:r>
              <a:rPr lang="en-US" dirty="0"/>
              <a:t>, and.. better </a:t>
            </a:r>
            <a:r>
              <a:rPr lang="en-US" b="1" dirty="0"/>
              <a:t>problem-solving </a:t>
            </a:r>
            <a:r>
              <a:rPr lang="en-US" dirty="0"/>
              <a:t>and it didn't happen overnight…. but </a:t>
            </a:r>
            <a:r>
              <a:rPr lang="en-US" b="1" i="1" dirty="0"/>
              <a:t>it</a:t>
            </a:r>
            <a:r>
              <a:rPr lang="en-US" dirty="0"/>
              <a:t> </a:t>
            </a:r>
            <a:r>
              <a:rPr lang="en-US" b="1" i="1" dirty="0"/>
              <a:t>happened</a:t>
            </a:r>
            <a:r>
              <a:rPr lang="en-US" dirty="0"/>
              <a:t>.</a:t>
            </a:r>
          </a:p>
          <a:p>
            <a:endParaRPr lang="en-US" dirty="0"/>
          </a:p>
          <a:p>
            <a:r>
              <a:rPr lang="en-US" dirty="0"/>
              <a:t>And lastly…</a:t>
            </a:r>
          </a:p>
          <a:p>
            <a:r>
              <a:rPr lang="en-US" dirty="0"/>
              <a:t>Agile works when the team </a:t>
            </a:r>
            <a:r>
              <a:rPr lang="en-US" b="1" dirty="0"/>
              <a:t>owns</a:t>
            </a:r>
            <a:r>
              <a:rPr lang="en-US" dirty="0"/>
              <a:t> it. </a:t>
            </a:r>
          </a:p>
          <a:p>
            <a:r>
              <a:rPr lang="en-US" dirty="0"/>
              <a:t>We didn't just note our retrospective actions. We </a:t>
            </a:r>
            <a:r>
              <a:rPr lang="en-US" b="1" dirty="0"/>
              <a:t>acted on </a:t>
            </a:r>
            <a:r>
              <a:rPr lang="en-US" dirty="0"/>
              <a:t>them. </a:t>
            </a:r>
            <a:r>
              <a:rPr lang="en-US" b="1" dirty="0"/>
              <a:t>Every</a:t>
            </a:r>
            <a:r>
              <a:rPr lang="en-US" dirty="0"/>
              <a:t> </a:t>
            </a:r>
            <a:r>
              <a:rPr lang="en-US" b="0" dirty="0"/>
              <a:t>sprint</a:t>
            </a:r>
            <a:r>
              <a:rPr lang="en-US" dirty="0"/>
              <a:t> closed </a:t>
            </a:r>
            <a:r>
              <a:rPr lang="en-US" i="1" dirty="0"/>
              <a:t>better than</a:t>
            </a:r>
            <a:r>
              <a:rPr lang="en-US" dirty="0"/>
              <a:t> the one before it.</a:t>
            </a:r>
          </a:p>
          <a:p>
            <a:endParaRPr lang="en-US" dirty="0"/>
          </a:p>
          <a:p>
            <a:r>
              <a:rPr lang="en-US" dirty="0"/>
              <a:t>Together, we built something </a:t>
            </a:r>
            <a:r>
              <a:rPr lang="en-US" b="1" dirty="0"/>
              <a:t>real</a:t>
            </a:r>
            <a:r>
              <a:rPr lang="en-US" dirty="0"/>
              <a:t>. A platform that </a:t>
            </a:r>
            <a:r>
              <a:rPr lang="en-US" b="1" dirty="0"/>
              <a:t>looks</a:t>
            </a:r>
            <a:r>
              <a:rPr lang="en-US" dirty="0"/>
              <a:t>, </a:t>
            </a:r>
            <a:r>
              <a:rPr lang="en-US" b="1" dirty="0"/>
              <a:t>works</a:t>
            </a:r>
            <a:r>
              <a:rPr lang="en-US" dirty="0"/>
              <a:t>, </a:t>
            </a:r>
            <a:r>
              <a:rPr lang="en-US" i="1" dirty="0"/>
              <a:t>and</a:t>
            </a:r>
            <a:r>
              <a:rPr lang="en-US" dirty="0"/>
              <a:t> </a:t>
            </a:r>
            <a:r>
              <a:rPr lang="en-US" b="1" dirty="0"/>
              <a:t>ships</a:t>
            </a:r>
            <a:r>
              <a:rPr lang="en-US" dirty="0"/>
              <a:t> like professional software. </a:t>
            </a:r>
          </a:p>
          <a:p>
            <a:r>
              <a:rPr lang="en-US" dirty="0"/>
              <a:t>And we built it together — as </a:t>
            </a:r>
            <a:r>
              <a:rPr lang="en-US" b="1" dirty="0"/>
              <a:t>academic</a:t>
            </a:r>
            <a:r>
              <a:rPr lang="en-US" dirty="0"/>
              <a:t> </a:t>
            </a:r>
            <a:r>
              <a:rPr lang="en-US" i="1" dirty="0"/>
              <a:t>software developers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built and delivered by your team of dedicated Project Capstone students.</a:t>
            </a:r>
          </a:p>
          <a:p>
            <a:endParaRPr lang="en-US" dirty="0"/>
          </a:p>
          <a:p>
            <a:endParaRPr lang="en-US" dirty="0"/>
          </a:p>
          <a:p>
            <a:r>
              <a:rPr lang="en-US" dirty="0"/>
              <a:t>Thank you. </a:t>
            </a:r>
          </a:p>
          <a:p>
            <a:r>
              <a:rPr lang="en-US" dirty="0"/>
              <a:t>Before we open the floor for questions, We'll now bring everything together with a demo, brought to you by our frontend lead, Rachel Mizer—</a:t>
            </a:r>
            <a:endParaRPr lang="en-US" b="1" dirty="0"/>
          </a:p>
          <a:p>
            <a:r>
              <a:rPr lang="en-US" b="0" i="1" dirty="0"/>
              <a:t>… Please let it be known that at this point, after our demo, we should have about ~_____ minutes for questions.</a:t>
            </a:r>
          </a:p>
          <a:p>
            <a:endParaRPr lang="en-US" b="0" i="1" dirty="0"/>
          </a:p>
          <a:p>
            <a:r>
              <a:rPr lang="en-US" b="0" i="1" dirty="0"/>
              <a:t>Rachel, when you’re ready…</a:t>
            </a:r>
          </a:p>
          <a:p>
            <a:endParaRPr lang="en-US" b="0" i="1" dirty="0"/>
          </a:p>
          <a:p>
            <a:endParaRPr lang="en-US" b="1" dirty="0"/>
          </a:p>
          <a:p>
            <a:r>
              <a:rPr lang="en-US" dirty="0"/>
              <a:t>🎬</a:t>
            </a:r>
            <a:r>
              <a:rPr lang="en-US" b="1" dirty="0"/>
              <a:t>⏭️ Up Next: </a:t>
            </a:r>
            <a:r>
              <a:rPr lang="en-US" b="0" dirty="0"/>
              <a:t>Rachel with our demo! </a:t>
            </a:r>
          </a:p>
          <a:p>
            <a:endParaRPr lang="en-US" b="0" i="1" dirty="0"/>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a:p>
            <a:endParaRPr lang="en-US" dirty="0"/>
          </a:p>
          <a:p>
            <a:endParaRPr lang="en-US" dirty="0"/>
          </a:p>
          <a:p>
            <a:r>
              <a:rPr lang="en-US" b="1" dirty="0"/>
              <a:t>🟢 SERINA: [Take control — advance to Questions slide]</a:t>
            </a:r>
          </a:p>
          <a:p>
            <a:endParaRPr lang="en-US" dirty="0"/>
          </a:p>
          <a:p>
            <a:r>
              <a:rPr lang="en-US" dirty="0"/>
              <a:t>Thank you, Rachel — for not only putting that together, but for running it live in front of everyone today.</a:t>
            </a:r>
          </a:p>
          <a:p>
            <a:endParaRPr lang="en-US" dirty="0"/>
          </a:p>
          <a:p>
            <a:r>
              <a:rPr lang="en-US" dirty="0"/>
              <a:t>That demo represents what this whole project has been about. Real software, built by a real team, working exactly as intended.</a:t>
            </a:r>
          </a:p>
          <a:p>
            <a:r>
              <a:rPr lang="en-US" dirty="0"/>
              <a:t>And </a:t>
            </a:r>
            <a:r>
              <a:rPr lang="en-US" b="1" dirty="0"/>
              <a:t>with that</a:t>
            </a:r>
            <a:r>
              <a:rPr lang="en-US" dirty="0"/>
              <a:t>, Team 7 is </a:t>
            </a:r>
            <a:r>
              <a:rPr lang="en-US" b="1" dirty="0"/>
              <a:t>ready</a:t>
            </a:r>
            <a:r>
              <a:rPr lang="en-US" dirty="0"/>
              <a:t> for your questions.</a:t>
            </a:r>
          </a:p>
          <a:p>
            <a:endParaRPr lang="en-US" dirty="0"/>
          </a:p>
          <a:p>
            <a:r>
              <a:rPr lang="en-US" dirty="0"/>
              <a:t>I'll be directing questions to whoever is best positioned to answer — so don't hesitate to ask about any part of what you've seen today, whether that's the product, our process, or how we got here.</a:t>
            </a:r>
          </a:p>
          <a:p>
            <a:endParaRPr lang="en-US" dirty="0"/>
          </a:p>
          <a:p>
            <a:r>
              <a:rPr lang="en-US" dirty="0"/>
              <a:t>We have approximately </a:t>
            </a:r>
            <a:r>
              <a:rPr lang="en-US" b="1" dirty="0"/>
              <a:t>_____</a:t>
            </a:r>
            <a:r>
              <a:rPr lang="en-US" dirty="0"/>
              <a:t> minutes. The floor is </a:t>
            </a:r>
            <a:r>
              <a:rPr lang="en-US"/>
              <a:t>yours Professor.</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1.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Discover → Report → Fix → Retest → Document &amp; Expand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LIVE. Requires minor image support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7038</TotalTime>
  <Words>5409</Words>
  <Application>Microsoft Macintosh PowerPoint</Application>
  <PresentationFormat>On-screen Show (16:9)</PresentationFormat>
  <Paragraphs>777</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24</cp:revision>
  <dcterms:created xsi:type="dcterms:W3CDTF">2026-04-23T04:42:28Z</dcterms:created>
  <dcterms:modified xsi:type="dcterms:W3CDTF">2026-04-29T18:27:19Z</dcterms:modified>
</cp:coreProperties>
</file>