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9" r:id="rId4"/>
    <p:sldId id="261" r:id="rId5"/>
    <p:sldId id="272" r:id="rId6"/>
    <p:sldId id="273" r:id="rId7"/>
    <p:sldId id="262" r:id="rId8"/>
    <p:sldId id="269" r:id="rId9"/>
    <p:sldId id="270" r:id="rId10"/>
    <p:sldId id="271" r:id="rId11"/>
    <p:sldId id="260" r:id="rId12"/>
    <p:sldId id="264" r:id="rId13"/>
    <p:sldId id="263" r:id="rId14"/>
    <p:sldId id="274" r:id="rId15"/>
    <p:sldId id="265" r:id="rId16"/>
    <p:sldId id="266" r:id="rId17"/>
    <p:sldId id="267" r:id="rId18"/>
    <p:sldId id="268"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A1A2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921"/>
    <p:restoredTop sz="96276"/>
  </p:normalViewPr>
  <p:slideViewPr>
    <p:cSldViewPr snapToGrid="0" snapToObjects="1">
      <p:cViewPr varScale="1">
        <p:scale>
          <a:sx n="142" d="100"/>
          <a:sy n="142" d="100"/>
        </p:scale>
        <p:origin x="192" y="600"/>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826770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a:t>
            </a:r>
            <a:r>
              <a:rPr lang="en-US" b="1" dirty="0"/>
              <a:t>UP NEXT</a:t>
            </a:r>
            <a:r>
              <a:rPr lang="en-US" dirty="0"/>
              <a:t>: What is it? (Serina continues..)</a:t>
            </a:r>
            <a:br>
              <a:rPr lang="en-US" dirty="0"/>
            </a:br>
            <a:br>
              <a:rPr lang="en-US" dirty="0"/>
            </a:br>
            <a:r>
              <a:rPr lang="en-US" dirty="0"/>
              <a:t>Hello, and Welcome!</a:t>
            </a:r>
            <a:br>
              <a:rPr lang="en-US" dirty="0"/>
            </a:br>
            <a:endParaRPr lang="en-US" dirty="0"/>
          </a:p>
          <a:p>
            <a:r>
              <a:rPr lang="en-US" dirty="0"/>
              <a:t>Today marks a huge milestone for our Team and we are excited to both share and showcase our collective efforts brought together by a team dedicated to putting our best efforts forward towards developing our software, Orderly.</a:t>
            </a:r>
          </a:p>
          <a:p>
            <a:endParaRPr lang="en-US" dirty="0"/>
          </a:p>
          <a:p>
            <a:r>
              <a:rPr lang="en-US" dirty="0"/>
              <a:t>My name is Serina, and I am both the Project Manager and SCRUM Master for a team of 6 academic developers. </a:t>
            </a:r>
          </a:p>
          <a:p>
            <a:endParaRPr lang="en-US" dirty="0"/>
          </a:p>
          <a:p>
            <a:r>
              <a:rPr lang="en-US" dirty="0"/>
              <a:t>As the PM, I served as the Main facilitator for our software development process. My role was to keep us aligned, moving, and accountable – from our very first planning meeting to shipping version 1.0.0 this week. </a:t>
            </a:r>
            <a:br>
              <a:rPr lang="en-US" dirty="0"/>
            </a:br>
            <a:br>
              <a:rPr lang="en-US" dirty="0"/>
            </a:br>
            <a:r>
              <a:rPr lang="en-US" dirty="0"/>
              <a:t>But </a:t>
            </a:r>
            <a:r>
              <a:rPr lang="en-US" b="1" dirty="0"/>
              <a:t>before</a:t>
            </a:r>
            <a:r>
              <a:rPr lang="en-US" b="0" dirty="0"/>
              <a:t> I talk about </a:t>
            </a:r>
            <a:r>
              <a:rPr lang="en-US" b="0" i="1" dirty="0"/>
              <a:t>how</a:t>
            </a:r>
            <a:r>
              <a:rPr lang="en-US" b="0" i="0" dirty="0"/>
              <a:t> we built it – let me tell you </a:t>
            </a:r>
            <a:r>
              <a:rPr lang="en-US" b="0" i="1" dirty="0"/>
              <a:t>what </a:t>
            </a:r>
            <a:r>
              <a:rPr lang="en-US" b="0" i="0" dirty="0"/>
              <a:t>we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b="1" i="0" kern="1200" dirty="0">
                <a:solidFill>
                  <a:schemeClr val="tx1"/>
                </a:solidFill>
                <a:effectLst/>
                <a:latin typeface="+mn-lt"/>
                <a:ea typeface="+mn-ea"/>
                <a:cs typeface="+mn-cs"/>
              </a:rPr>
              <a:t>🟡 UP NEXT: </a:t>
            </a:r>
            <a:r>
              <a:rPr lang="en-US" sz="1200" b="0" i="0" kern="1200" dirty="0">
                <a:solidFill>
                  <a:schemeClr val="tx1"/>
                </a:solidFill>
                <a:effectLst/>
                <a:latin typeface="+mn-lt"/>
                <a:ea typeface="+mn-ea"/>
                <a:cs typeface="+mn-cs"/>
              </a:rPr>
              <a:t>How Agile brought forward our sprint structure (Serina)</a:t>
            </a:r>
          </a:p>
          <a:p>
            <a:endParaRPr lang="en-US" sz="1200" b="0" i="0" kern="1200" dirty="0">
              <a:solidFill>
                <a:schemeClr val="tx1"/>
              </a:solidFill>
              <a:effectLst/>
              <a:latin typeface="+mn-lt"/>
              <a:ea typeface="+mn-ea"/>
              <a:cs typeface="+mn-cs"/>
            </a:endParaRPr>
          </a:p>
          <a:p>
            <a:r>
              <a:rPr lang="en-US" dirty="0"/>
              <a:t>So, what is Orderly?</a:t>
            </a:r>
          </a:p>
          <a:p>
            <a:endParaRPr lang="en-US" dirty="0"/>
          </a:p>
          <a:p>
            <a:r>
              <a:rPr lang="en-US" dirty="0"/>
              <a:t>At its core, Orderly is a </a:t>
            </a:r>
            <a:r>
              <a:rPr lang="en-US" b="1" dirty="0"/>
              <a:t>centralized web application</a:t>
            </a:r>
            <a:r>
              <a:rPr lang="en-US" dirty="0"/>
              <a:t> built to streamline operations for small to mid-sized businesses. </a:t>
            </a:r>
          </a:p>
          <a:p>
            <a:r>
              <a:rPr lang="en-US" dirty="0"/>
              <a:t>And the reason we built it comes down to a very real problem.</a:t>
            </a:r>
          </a:p>
          <a:p>
            <a:endParaRPr lang="en-US" dirty="0"/>
          </a:p>
          <a:p>
            <a:r>
              <a:rPr lang="en-US" dirty="0"/>
              <a:t>Small business owners are managing orders on paper, tracking inventory in spreadsheets, and piecing together tools that were never meant to work together. The result is manual processes, missed orders, and zero real-time visibility into what's actually happening in their business.</a:t>
            </a:r>
          </a:p>
          <a:p>
            <a:endParaRPr lang="en-US" dirty="0"/>
          </a:p>
          <a:p>
            <a:r>
              <a:rPr lang="en-US" dirty="0"/>
              <a:t>So we asked ourselves — what would it look like if all of that lived in one place?</a:t>
            </a:r>
          </a:p>
          <a:p>
            <a:endParaRPr lang="en-US" dirty="0"/>
          </a:p>
          <a:p>
            <a:r>
              <a:rPr lang="en-US" dirty="0"/>
              <a:t>Orderly is the answer to that question. A flexible, self-service ordering and business management platform </a:t>
            </a:r>
          </a:p>
          <a:p>
            <a:r>
              <a:rPr lang="en-US" dirty="0"/>
              <a:t>— with a customer-facing storefront and a full business admin portal, built together from the ground up.</a:t>
            </a:r>
          </a:p>
          <a:p>
            <a:endParaRPr lang="en-US" dirty="0"/>
          </a:p>
          <a:p>
            <a:r>
              <a:rPr lang="en-US" dirty="0"/>
              <a:t>Five sprints. Six team members. Over fifteen user features delivered.</a:t>
            </a:r>
          </a:p>
          <a:p>
            <a:r>
              <a:rPr lang="en-US" dirty="0"/>
              <a:t>And speaking of sprints — let me walk you through exactly how we got here.</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"15 features delivered”</a:t>
            </a:r>
            <a:r>
              <a:rPr lang="en-US" sz="1200" b="0" i="0" kern="1200" dirty="0">
                <a:solidFill>
                  <a:schemeClr val="tx1"/>
                </a:solidFill>
                <a:effectLst/>
                <a:latin typeface="+mn-lt"/>
                <a:ea typeface="+mn-ea"/>
                <a:cs typeface="+mn-cs"/>
              </a:rPr>
              <a:t>: counting by user-facing feature area rather than individual Trello cards </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(which split each feature into UX/Frontend/Backend). </a:t>
            </a:r>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1. Product Browsing</a:t>
            </a:r>
            <a:r>
              <a:rPr lang="en-US" sz="1200" b="0" i="0" kern="1200" dirty="0">
                <a:solidFill>
                  <a:schemeClr val="tx1"/>
                </a:solidFill>
                <a:effectLst/>
                <a:latin typeface="+mn-lt"/>
                <a:ea typeface="+mn-ea"/>
                <a:cs typeface="+mn-cs"/>
              </a:rPr>
              <a:t> — browse the menu catalog</a:t>
            </a:r>
          </a:p>
          <a:p>
            <a:r>
              <a:rPr lang="en-US" sz="1200" b="1" i="0" kern="1200" dirty="0">
                <a:solidFill>
                  <a:schemeClr val="tx1"/>
                </a:solidFill>
                <a:effectLst/>
                <a:latin typeface="+mn-lt"/>
                <a:ea typeface="+mn-ea"/>
                <a:cs typeface="+mn-cs"/>
              </a:rPr>
              <a:t>2. Shopping Cart</a:t>
            </a:r>
            <a:r>
              <a:rPr lang="en-US" sz="1200" b="0" i="0" kern="1200" dirty="0">
                <a:solidFill>
                  <a:schemeClr val="tx1"/>
                </a:solidFill>
                <a:effectLst/>
                <a:latin typeface="+mn-lt"/>
                <a:ea typeface="+mn-ea"/>
                <a:cs typeface="+mn-cs"/>
              </a:rPr>
              <a:t> — persistent cart with customization display</a:t>
            </a:r>
          </a:p>
          <a:p>
            <a:r>
              <a:rPr lang="en-US" sz="1200" b="1" i="0" kern="1200" dirty="0">
                <a:solidFill>
                  <a:schemeClr val="tx1"/>
                </a:solidFill>
                <a:effectLst/>
                <a:latin typeface="+mn-lt"/>
                <a:ea typeface="+mn-ea"/>
                <a:cs typeface="+mn-cs"/>
              </a:rPr>
              <a:t>3. Item Customization</a:t>
            </a:r>
            <a:r>
              <a:rPr lang="en-US" sz="1200" b="0" i="0" kern="1200" dirty="0">
                <a:solidFill>
                  <a:schemeClr val="tx1"/>
                </a:solidFill>
                <a:effectLst/>
                <a:latin typeface="+mn-lt"/>
                <a:ea typeface="+mn-ea"/>
                <a:cs typeface="+mn-cs"/>
              </a:rPr>
              <a:t> — modifier selection with live price updates</a:t>
            </a:r>
          </a:p>
          <a:p>
            <a:r>
              <a:rPr lang="en-US" sz="1200" b="1" i="0" kern="1200" dirty="0">
                <a:solidFill>
                  <a:schemeClr val="tx1"/>
                </a:solidFill>
                <a:effectLst/>
                <a:latin typeface="+mn-lt"/>
                <a:ea typeface="+mn-ea"/>
                <a:cs typeface="+mn-cs"/>
              </a:rPr>
              <a:t>4. Checkout</a:t>
            </a:r>
            <a:r>
              <a:rPr lang="en-US" sz="1200" b="0" i="0" kern="1200" dirty="0">
                <a:solidFill>
                  <a:schemeClr val="tx1"/>
                </a:solidFill>
                <a:effectLst/>
                <a:latin typeface="+mn-lt"/>
                <a:ea typeface="+mn-ea"/>
                <a:cs typeface="+mn-cs"/>
              </a:rPr>
              <a:t> — submit an order</a:t>
            </a:r>
          </a:p>
          <a:p>
            <a:r>
              <a:rPr lang="en-US" sz="1200" b="1" i="0" kern="1200" dirty="0">
                <a:solidFill>
                  <a:schemeClr val="tx1"/>
                </a:solidFill>
                <a:effectLst/>
                <a:latin typeface="+mn-lt"/>
                <a:ea typeface="+mn-ea"/>
                <a:cs typeface="+mn-cs"/>
              </a:rPr>
              <a:t>5. Order Confirmation</a:t>
            </a:r>
            <a:r>
              <a:rPr lang="en-US" sz="1200" b="0" i="0" kern="1200" dirty="0">
                <a:solidFill>
                  <a:schemeClr val="tx1"/>
                </a:solidFill>
                <a:effectLst/>
                <a:latin typeface="+mn-lt"/>
                <a:ea typeface="+mn-ea"/>
                <a:cs typeface="+mn-cs"/>
              </a:rPr>
              <a:t> — receipt after placing an order</a:t>
            </a:r>
          </a:p>
          <a:p>
            <a:r>
              <a:rPr lang="en-US" sz="1200" b="1" i="0" kern="1200" dirty="0">
                <a:solidFill>
                  <a:schemeClr val="tx1"/>
                </a:solidFill>
                <a:effectLst/>
                <a:latin typeface="+mn-lt"/>
                <a:ea typeface="+mn-ea"/>
                <a:cs typeface="+mn-cs"/>
              </a:rPr>
              <a:t>6. Order History</a:t>
            </a:r>
            <a:r>
              <a:rPr lang="en-US" sz="1200" b="0" i="0" kern="1200" dirty="0">
                <a:solidFill>
                  <a:schemeClr val="tx1"/>
                </a:solidFill>
                <a:effectLst/>
                <a:latin typeface="+mn-lt"/>
                <a:ea typeface="+mn-ea"/>
                <a:cs typeface="+mn-cs"/>
              </a:rPr>
              <a:t> — customer view of past orders</a:t>
            </a:r>
          </a:p>
          <a:p>
            <a:r>
              <a:rPr lang="en-US" sz="1200" b="1" i="0" kern="1200" dirty="0">
                <a:solidFill>
                  <a:schemeClr val="tx1"/>
                </a:solidFill>
                <a:effectLst/>
                <a:latin typeface="+mn-lt"/>
                <a:ea typeface="+mn-ea"/>
                <a:cs typeface="+mn-cs"/>
              </a:rPr>
              <a:t>7. Customer Order Cancellation</a:t>
            </a:r>
            <a:r>
              <a:rPr lang="en-US" sz="1200" b="0" i="0" kern="1200" dirty="0">
                <a:solidFill>
                  <a:schemeClr val="tx1"/>
                </a:solidFill>
                <a:effectLst/>
                <a:latin typeface="+mn-lt"/>
                <a:ea typeface="+mn-ea"/>
                <a:cs typeface="+mn-cs"/>
              </a:rPr>
              <a:t> — cancel a placed order</a:t>
            </a:r>
          </a:p>
          <a:p>
            <a:r>
              <a:rPr lang="en-US" sz="1200" b="1" i="0" kern="1200" dirty="0">
                <a:solidFill>
                  <a:schemeClr val="tx1"/>
                </a:solidFill>
                <a:effectLst/>
                <a:latin typeface="+mn-lt"/>
                <a:ea typeface="+mn-ea"/>
                <a:cs typeface="+mn-cs"/>
              </a:rPr>
              <a:t>8. Admin Dashboard Navigation</a:t>
            </a:r>
            <a:r>
              <a:rPr lang="en-US" sz="1200" b="0" i="0" kern="1200" dirty="0">
                <a:solidFill>
                  <a:schemeClr val="tx1"/>
                </a:solidFill>
                <a:effectLst/>
                <a:latin typeface="+mn-lt"/>
                <a:ea typeface="+mn-ea"/>
                <a:cs typeface="+mn-cs"/>
              </a:rPr>
              <a:t> — unified admin hub</a:t>
            </a:r>
          </a:p>
          <a:p>
            <a:r>
              <a:rPr lang="en-US" sz="1200" b="1" i="0" kern="1200" dirty="0">
                <a:solidFill>
                  <a:schemeClr val="tx1"/>
                </a:solidFill>
                <a:effectLst/>
                <a:latin typeface="+mn-lt"/>
                <a:ea typeface="+mn-ea"/>
                <a:cs typeface="+mn-cs"/>
              </a:rPr>
              <a:t>9. Product &amp; Variant Management</a:t>
            </a:r>
            <a:r>
              <a:rPr lang="en-US" sz="1200" b="0" i="0" kern="1200" dirty="0">
                <a:solidFill>
                  <a:schemeClr val="tx1"/>
                </a:solidFill>
                <a:effectLst/>
                <a:latin typeface="+mn-lt"/>
                <a:ea typeface="+mn-ea"/>
                <a:cs typeface="+mn-cs"/>
              </a:rPr>
              <a:t> — full CRUD for products</a:t>
            </a:r>
          </a:p>
          <a:p>
            <a:r>
              <a:rPr lang="en-US" sz="1200" b="1" i="0" kern="1200" dirty="0">
                <a:solidFill>
                  <a:schemeClr val="tx1"/>
                </a:solidFill>
                <a:effectLst/>
                <a:latin typeface="+mn-lt"/>
                <a:ea typeface="+mn-ea"/>
                <a:cs typeface="+mn-cs"/>
              </a:rPr>
              <a:t>10. Inventory Management</a:t>
            </a:r>
            <a:r>
              <a:rPr lang="en-US" sz="1200" b="0" i="0" kern="1200" dirty="0">
                <a:solidFill>
                  <a:schemeClr val="tx1"/>
                </a:solidFill>
                <a:effectLst/>
                <a:latin typeface="+mn-lt"/>
                <a:ea typeface="+mn-ea"/>
                <a:cs typeface="+mn-cs"/>
              </a:rPr>
              <a:t> — stock tracking and adjustments</a:t>
            </a:r>
          </a:p>
          <a:p>
            <a:r>
              <a:rPr lang="en-US" sz="1200" b="1" i="0" kern="1200" dirty="0">
                <a:solidFill>
                  <a:schemeClr val="tx1"/>
                </a:solidFill>
                <a:effectLst/>
                <a:latin typeface="+mn-lt"/>
                <a:ea typeface="+mn-ea"/>
                <a:cs typeface="+mn-cs"/>
              </a:rPr>
              <a:t>11. Sales Summary Dashboard</a:t>
            </a:r>
            <a:r>
              <a:rPr lang="en-US" sz="1200" b="0" i="0" kern="1200" dirty="0">
                <a:solidFill>
                  <a:schemeClr val="tx1"/>
                </a:solidFill>
                <a:effectLst/>
                <a:latin typeface="+mn-lt"/>
                <a:ea typeface="+mn-ea"/>
                <a:cs typeface="+mn-cs"/>
              </a:rPr>
              <a:t> — revenue trends and analytics</a:t>
            </a:r>
          </a:p>
          <a:p>
            <a:r>
              <a:rPr lang="en-US" sz="1200" b="1" i="0" kern="1200" dirty="0">
                <a:solidFill>
                  <a:schemeClr val="tx1"/>
                </a:solidFill>
                <a:effectLst/>
                <a:latin typeface="+mn-lt"/>
                <a:ea typeface="+mn-ea"/>
                <a:cs typeface="+mn-cs"/>
              </a:rPr>
              <a:t>12. Low Stock Indicators</a:t>
            </a:r>
            <a:r>
              <a:rPr lang="en-US" sz="1200" b="0" i="0" kern="1200" dirty="0">
                <a:solidFill>
                  <a:schemeClr val="tx1"/>
                </a:solidFill>
                <a:effectLst/>
                <a:latin typeface="+mn-lt"/>
                <a:ea typeface="+mn-ea"/>
                <a:cs typeface="+mn-cs"/>
              </a:rPr>
              <a:t> — real-time stock alerts</a:t>
            </a:r>
          </a:p>
          <a:p>
            <a:r>
              <a:rPr lang="en-US" sz="1200" b="1" i="0" kern="1200" dirty="0">
                <a:solidFill>
                  <a:schemeClr val="tx1"/>
                </a:solidFill>
                <a:effectLst/>
                <a:latin typeface="+mn-lt"/>
                <a:ea typeface="+mn-ea"/>
                <a:cs typeface="+mn-cs"/>
              </a:rPr>
              <a:t>13. Admin Orders Management</a:t>
            </a:r>
            <a:r>
              <a:rPr lang="en-US" sz="1200" b="0" i="0" kern="1200" dirty="0">
                <a:solidFill>
                  <a:schemeClr val="tx1"/>
                </a:solidFill>
                <a:effectLst/>
                <a:latin typeface="+mn-lt"/>
                <a:ea typeface="+mn-ea"/>
                <a:cs typeface="+mn-cs"/>
              </a:rPr>
              <a:t> — view and manage all orders</a:t>
            </a:r>
          </a:p>
          <a:p>
            <a:r>
              <a:rPr lang="en-US" sz="1200" b="1" i="0" kern="1200" dirty="0">
                <a:solidFill>
                  <a:schemeClr val="tx1"/>
                </a:solidFill>
                <a:effectLst/>
                <a:latin typeface="+mn-lt"/>
                <a:ea typeface="+mn-ea"/>
                <a:cs typeface="+mn-cs"/>
              </a:rPr>
              <a:t>14. Settings</a:t>
            </a:r>
            <a:r>
              <a:rPr lang="en-US" sz="1200" b="0" i="0" kern="1200" dirty="0">
                <a:solidFill>
                  <a:schemeClr val="tx1"/>
                </a:solidFill>
                <a:effectLst/>
                <a:latin typeface="+mn-lt"/>
                <a:ea typeface="+mn-ea"/>
                <a:cs typeface="+mn-cs"/>
              </a:rPr>
              <a:t> — business profile and preference config</a:t>
            </a:r>
          </a:p>
          <a:p>
            <a:r>
              <a:rPr lang="en-US" sz="1200" b="1" i="0" kern="1200" dirty="0">
                <a:solidFill>
                  <a:schemeClr val="tx1"/>
                </a:solidFill>
                <a:effectLst/>
                <a:latin typeface="+mn-lt"/>
                <a:ea typeface="+mn-ea"/>
                <a:cs typeface="+mn-cs"/>
              </a:rPr>
              <a:t>15. Profile Page</a:t>
            </a:r>
            <a:r>
              <a:rPr lang="en-US" sz="1200" b="0" i="0" kern="1200" dirty="0">
                <a:solidFill>
                  <a:schemeClr val="tx1"/>
                </a:solidFill>
                <a:effectLst/>
                <a:latin typeface="+mn-lt"/>
                <a:ea typeface="+mn-ea"/>
                <a:cs typeface="+mn-cs"/>
              </a:rPr>
              <a:t> — customer profile management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dirty="0"/>
              <a:t>KIM (following slide)</a:t>
            </a:r>
          </a:p>
          <a:p>
            <a:r>
              <a:rPr lang="en-US" dirty="0"/>
              <a:t>To share what our team development delivered and how we scoped it all out!</a:t>
            </a:r>
          </a:p>
          <a:p>
            <a:endParaRPr lang="en-US" dirty="0"/>
          </a:p>
          <a:p>
            <a:r>
              <a:rPr lang="en-US" b="1" u="sng" dirty="0"/>
              <a:t>Script</a:t>
            </a:r>
            <a:r>
              <a:rPr lang="en-US" dirty="0"/>
              <a:t>:</a:t>
            </a:r>
          </a:p>
          <a:p>
            <a:r>
              <a:rPr lang="en-US" dirty="0"/>
              <a:t>So let me walk you through how we actually built this.</a:t>
            </a:r>
          </a:p>
          <a:p>
            <a:endParaRPr lang="en-US" dirty="0"/>
          </a:p>
          <a:p>
            <a:r>
              <a:rPr lang="en-US" dirty="0"/>
              <a:t>We followed an Agile Scrum methodology across five two-week sprints, running from January through April. Each sprint had a clear focus — we started with Foundation, laying out our architecture, standards, and development environment. From there we built up our data layer, then our engineering backbone, then the full customer experience, and finally the business admin tools.</a:t>
            </a:r>
          </a:p>
          <a:p>
            <a:endParaRPr lang="en-US" dirty="0"/>
          </a:p>
          <a:p>
            <a:r>
              <a:rPr lang="en-US" dirty="0"/>
              <a:t>The timeline on this slide tells that story. </a:t>
            </a:r>
          </a:p>
          <a:p>
            <a:r>
              <a:rPr lang="en-US" dirty="0"/>
              <a:t>You can see the sprint milestones, our spring break, and then the final push — code freeze on April 24th, deployed on the 25th, and here we are today.</a:t>
            </a:r>
          </a:p>
          <a:p>
            <a:endParaRPr lang="en-US" dirty="0"/>
          </a:p>
          <a:p>
            <a:r>
              <a:rPr lang="en-US" dirty="0"/>
              <a:t>Built across </a:t>
            </a:r>
            <a:r>
              <a:rPr lang="en-US" b="1" dirty="0"/>
              <a:t>Fourteen weeks </a:t>
            </a:r>
            <a:r>
              <a:rPr lang="en-US" dirty="0"/>
              <a:t>through </a:t>
            </a:r>
            <a:r>
              <a:rPr lang="en-US" b="1" dirty="0"/>
              <a:t>Five sprint reviews</a:t>
            </a:r>
            <a:r>
              <a:rPr lang="en-US" dirty="0"/>
              <a:t> </a:t>
            </a:r>
            <a:r>
              <a:rPr lang="en-US" i="1" dirty="0"/>
              <a:t>and</a:t>
            </a:r>
            <a:r>
              <a:rPr lang="en-US" dirty="0"/>
              <a:t> </a:t>
            </a:r>
            <a:r>
              <a:rPr lang="en-US" b="1" dirty="0"/>
              <a:t>retrospectives</a:t>
            </a:r>
            <a:r>
              <a:rPr lang="en-US" dirty="0"/>
              <a:t>. </a:t>
            </a:r>
            <a:r>
              <a:rPr lang="en-US" b="1" dirty="0"/>
              <a:t>Facilitating over thirty </a:t>
            </a:r>
            <a:r>
              <a:rPr lang="en-US" dirty="0"/>
              <a:t>team meetings using </a:t>
            </a:r>
            <a:r>
              <a:rPr lang="en-US" b="1" dirty="0"/>
              <a:t>Two Kanban Trello boards </a:t>
            </a:r>
            <a:r>
              <a:rPr lang="en-US" b="0" dirty="0"/>
              <a:t>that served </a:t>
            </a:r>
            <a:r>
              <a:rPr lang="en-US" dirty="0"/>
              <a:t>as  our Team’s process organization. </a:t>
            </a:r>
            <a:br>
              <a:rPr lang="en-US" dirty="0"/>
            </a:br>
            <a:r>
              <a:rPr lang="en-US" dirty="0"/>
              <a:t>All under one </a:t>
            </a:r>
            <a:r>
              <a:rPr lang="en-US" b="1" dirty="0"/>
              <a:t>product development plan</a:t>
            </a:r>
            <a:r>
              <a:rPr lang="en-US" dirty="0"/>
              <a:t>… </a:t>
            </a:r>
            <a:r>
              <a:rPr lang="en-US" i="1" dirty="0"/>
              <a:t>Iteratively built</a:t>
            </a:r>
            <a:r>
              <a:rPr lang="en-US" dirty="0"/>
              <a:t>, from the ground up.</a:t>
            </a:r>
            <a:br>
              <a:rPr lang="en-US" dirty="0"/>
            </a:br>
            <a:endParaRPr lang="en-US" dirty="0"/>
          </a:p>
          <a:p>
            <a:r>
              <a:rPr lang="en-US" dirty="0"/>
              <a:t>I'll now hand it over to Kim, our Product Owner, to walk you through what we delivered.</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Kim</a:t>
            </a:r>
          </a:p>
          <a:p>
            <a:r>
              <a:rPr lang="en-US" dirty="0"/>
              <a:t>Note: These are the key features! Highlight them and let them shine through. Then… </a:t>
            </a:r>
          </a:p>
          <a:p>
            <a:r>
              <a:rPr lang="en-US" dirty="0"/>
              <a:t>Transition into the next slide to talk about the Epics that brought them to life plus BONUS stats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3EFC71-D3EF-62C9-F514-B1DECA46A5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DEC32F-F70E-F27D-912B-F0BF686019E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C33A61-3977-F9A5-EB8D-E09495503881}"/>
              </a:ext>
            </a:extLst>
          </p:cNvPr>
          <p:cNvSpPr>
            <a:spLocks noGrp="1"/>
          </p:cNvSpPr>
          <p:nvPr>
            <p:ph type="body" idx="1"/>
          </p:nvPr>
        </p:nvSpPr>
        <p:spPr/>
        <p:txBody>
          <a:bodyPr/>
          <a:lstStyle/>
          <a:p>
            <a:r>
              <a:rPr lang="en-US" dirty="0"/>
              <a:t>🟡 KIM:</a:t>
            </a:r>
            <a:br>
              <a:rPr lang="en-US" dirty="0"/>
            </a:br>
            <a:r>
              <a:rPr lang="en-US" dirty="0"/>
              <a:t>The previous slide listed out the key features. </a:t>
            </a:r>
            <a:br>
              <a:rPr lang="en-US" dirty="0"/>
            </a:br>
            <a:r>
              <a:rPr lang="en-US" dirty="0"/>
              <a:t>Transition into this slide and focus on the Epics that were delivered + Bonus Stats ✨</a:t>
            </a:r>
          </a:p>
        </p:txBody>
      </p:sp>
      <p:sp>
        <p:nvSpPr>
          <p:cNvPr id="4" name="Slide Number Placeholder 3">
            <a:extLst>
              <a:ext uri="{FF2B5EF4-FFF2-40B4-BE49-F238E27FC236}">
                <a16:creationId xmlns:a16="http://schemas.microsoft.com/office/drawing/2014/main" id="{35C08A93-D3B1-553D-59F7-C75B65EB15EF}"/>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5545954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697F1-FF6F-4CDB-30EF-033C349BC0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1898E-722F-11D0-8A99-9047D15CD20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9E28768-93E5-C1DD-D817-9A47E54D9034}"/>
              </a:ext>
            </a:extLst>
          </p:cNvPr>
          <p:cNvSpPr>
            <a:spLocks noGrp="1"/>
          </p:cNvSpPr>
          <p:nvPr>
            <p:ph type="body" idx="1"/>
          </p:nvPr>
        </p:nvSpPr>
        <p:spPr/>
        <p:txBody>
          <a:bodyPr/>
          <a:lstStyle/>
          <a:p>
            <a:r>
              <a:rPr lang="en-US" b="1" dirty="0"/>
              <a:t>🟡 Up Next: </a:t>
            </a:r>
            <a:r>
              <a:rPr lang="en-US" b="0" dirty="0"/>
              <a:t>What we are proud of (Kim continues..)</a:t>
            </a:r>
            <a:endParaRPr lang="en-US" b="1" dirty="0"/>
          </a:p>
        </p:txBody>
      </p:sp>
      <p:sp>
        <p:nvSpPr>
          <p:cNvPr id="4" name="Slide Number Placeholder 3">
            <a:extLst>
              <a:ext uri="{FF2B5EF4-FFF2-40B4-BE49-F238E27FC236}">
                <a16:creationId xmlns:a16="http://schemas.microsoft.com/office/drawing/2014/main" id="{08CE45D6-9F3E-D6F6-C871-6BF3A3BF1AB4}"/>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607310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dirty="0"/>
              <a:t>Frontend Development (Rachel!)</a:t>
            </a:r>
            <a:br>
              <a:rPr lang="en-US" b="0" dirty="0"/>
            </a:br>
            <a:r>
              <a:rPr lang="en-US" b="0" dirty="0"/>
              <a:t>Transition with ”A Product that Actually feels like one…” into User Experience</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2E6DE-8B90-9BDF-389D-709C4BB34D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29010D-58EE-84EA-365D-C435E8697DC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D1CB2B0-48EB-ED34-5047-6D87712303E5}"/>
              </a:ext>
            </a:extLst>
          </p:cNvPr>
          <p:cNvSpPr>
            <a:spLocks noGrp="1"/>
          </p:cNvSpPr>
          <p:nvPr>
            <p:ph type="body" idx="1"/>
          </p:nvPr>
        </p:nvSpPr>
        <p:spPr/>
        <p:txBody>
          <a:bodyPr/>
          <a:lstStyle/>
          <a:p>
            <a:r>
              <a:rPr lang="en-US" b="1" dirty="0"/>
              <a:t>🟡 Up Next: </a:t>
            </a:r>
            <a:r>
              <a:rPr lang="en-US" b="0" dirty="0"/>
              <a:t>See it all in Action – Customer Storefront + Admin Dashboard (Rachel Continues..)</a:t>
            </a:r>
            <a:endParaRPr lang="en-US" b="1" dirty="0"/>
          </a:p>
        </p:txBody>
      </p:sp>
      <p:sp>
        <p:nvSpPr>
          <p:cNvPr id="4" name="Slide Number Placeholder 3">
            <a:extLst>
              <a:ext uri="{FF2B5EF4-FFF2-40B4-BE49-F238E27FC236}">
                <a16:creationId xmlns:a16="http://schemas.microsoft.com/office/drawing/2014/main" id="{4D3E0945-90EF-9518-F33A-4F132A214BAA}"/>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6423997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BCE08-5870-D4A2-0392-DE47257989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CEBB60-46CF-369D-877E-0174F5153A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20D29F-F877-2DB6-3517-EDFF9567A65D}"/>
              </a:ext>
            </a:extLst>
          </p:cNvPr>
          <p:cNvSpPr>
            <a:spLocks noGrp="1"/>
          </p:cNvSpPr>
          <p:nvPr>
            <p:ph type="body" idx="1"/>
          </p:nvPr>
        </p:nvSpPr>
        <p:spPr/>
        <p:txBody>
          <a:bodyPr/>
          <a:lstStyle/>
          <a:p>
            <a:r>
              <a:rPr lang="en-US" b="1" dirty="0"/>
              <a:t>🟡 Up Next: </a:t>
            </a:r>
            <a:r>
              <a:rPr lang="en-US" b="0" dirty="0"/>
              <a:t>See it all in Action PT II Customer Profile + Business Tools - (Rachel Continues..)</a:t>
            </a:r>
            <a:endParaRPr lang="en-US" b="1" dirty="0"/>
          </a:p>
        </p:txBody>
      </p:sp>
      <p:sp>
        <p:nvSpPr>
          <p:cNvPr id="4" name="Slide Number Placeholder 3">
            <a:extLst>
              <a:ext uri="{FF2B5EF4-FFF2-40B4-BE49-F238E27FC236}">
                <a16:creationId xmlns:a16="http://schemas.microsoft.com/office/drawing/2014/main" id="{6D69AD2B-CEEE-2FBB-15BC-B1BFC90C3E52}"/>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5214395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1F97C8-49CB-4741-C080-08FE9BDF84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765F94-B72F-3FFB-B242-FE36CD4251A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BD5F05F-3AC1-3A38-DADF-E47159D2A990}"/>
              </a:ext>
            </a:extLst>
          </p:cNvPr>
          <p:cNvSpPr>
            <a:spLocks noGrp="1"/>
          </p:cNvSpPr>
          <p:nvPr>
            <p:ph type="body" idx="1"/>
          </p:nvPr>
        </p:nvSpPr>
        <p:spPr/>
        <p:txBody>
          <a:bodyPr/>
          <a:lstStyle/>
          <a:p>
            <a:r>
              <a:rPr lang="en-US" b="1" dirty="0"/>
              <a:t>⏭️ Up Next: </a:t>
            </a:r>
            <a:r>
              <a:rPr lang="en-US" b="0" dirty="0"/>
              <a:t>Backend Development (Tristin!)</a:t>
            </a:r>
            <a:br>
              <a:rPr lang="en-US" b="0" dirty="0"/>
            </a:br>
            <a:r>
              <a:rPr lang="en-US" b="0" dirty="0"/>
              <a:t>Transition with ”Frontend had to start somewhere, in the backend! Let’s find out how it all worked behind the scenes of UI” </a:t>
            </a:r>
            <a:r>
              <a:rPr lang="en-US" b="0" i="1" dirty="0"/>
              <a:t>or something similar</a:t>
            </a:r>
            <a:endParaRPr lang="en-US" b="1" dirty="0"/>
          </a:p>
        </p:txBody>
      </p:sp>
      <p:sp>
        <p:nvSpPr>
          <p:cNvPr id="4" name="Slide Number Placeholder 3">
            <a:extLst>
              <a:ext uri="{FF2B5EF4-FFF2-40B4-BE49-F238E27FC236}">
                <a16:creationId xmlns:a16="http://schemas.microsoft.com/office/drawing/2014/main" id="{D0A18B05-99CA-48B4-9FA3-6606A4957466}"/>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2227047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dirty="0"/>
              <a:t>Deployment (Tristin continues..)</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⏭️Up Next: </a:t>
            </a:r>
            <a:r>
              <a:rPr lang="en-US" b="0" dirty="0"/>
              <a:t>QA Strategy (Kenny)</a:t>
            </a:r>
            <a:br>
              <a:rPr lang="en-US" b="0" dirty="0"/>
            </a:br>
            <a:r>
              <a:rPr lang="en-US" b="0" dirty="0"/>
              <a:t>Transition with ”We have had a ton of moving parts but the glue that kept it together was our strategic approach to testing and quality assurance..” </a:t>
            </a:r>
            <a:r>
              <a:rPr lang="en-US" b="0" i="1" dirty="0"/>
              <a:t>or something similar</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dirty="0"/>
              <a:t>The Value of Feedback (Caleb)</a:t>
            </a:r>
            <a:br>
              <a:rPr lang="en-US" b="0" dirty="0"/>
            </a:br>
            <a:r>
              <a:rPr lang="en-US" b="0" dirty="0"/>
              <a:t>Transition with ”Test Results served as valuable feedback amongst other sources within our development, let’s hear more about how”… </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dirty="0"/>
              <a:t>What does the future hold in upcoming development- (Caleb Continues..)</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dirty="0"/>
              <a:t>Wrap UP (Serina)</a:t>
            </a:r>
            <a:br>
              <a:rPr lang="en-US" b="0" dirty="0"/>
            </a:br>
            <a:r>
              <a:rPr lang="en-US" b="0" dirty="0"/>
              <a:t>Transition with ”Now back to our PM as she guides us through our final messages ”… </a:t>
            </a:r>
            <a:r>
              <a:rPr lang="en-US" b="0" i="1" dirty="0"/>
              <a:t>or something similar</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i="1" dirty="0"/>
              <a:t>Before we present our demonstration, we have about ~_____ minutes for questions.” </a:t>
            </a:r>
            <a:r>
              <a:rPr lang="en-US" b="0" dirty="0"/>
              <a:t>(Next Slide, whole team ready on standby)</a:t>
            </a:r>
          </a:p>
          <a:p>
            <a:endParaRPr lang="en-US" b="0" dirty="0"/>
          </a:p>
          <a:p>
            <a:r>
              <a:rPr lang="en-US" dirty="0"/>
              <a:t>Before I open the floor for questions, I want to close with what this experience </a:t>
            </a:r>
            <a:r>
              <a:rPr lang="en-US" i="1" dirty="0"/>
              <a:t>actually</a:t>
            </a:r>
            <a:r>
              <a:rPr lang="en-US" dirty="0"/>
              <a:t> taught us.</a:t>
            </a:r>
          </a:p>
          <a:p>
            <a:endParaRPr lang="en-US" dirty="0"/>
          </a:p>
          <a:p>
            <a:r>
              <a:rPr lang="en-US" b="1" dirty="0"/>
              <a:t>Dependency-first planning </a:t>
            </a:r>
            <a:r>
              <a:rPr lang="en-US" dirty="0"/>
              <a:t>changed how we worked. </a:t>
            </a:r>
          </a:p>
          <a:p>
            <a:r>
              <a:rPr lang="en-US" dirty="0"/>
              <a:t>Early in the project, we learned the hard way that when one piece arrives late… everything downstream stalls. </a:t>
            </a:r>
          </a:p>
          <a:p>
            <a:endParaRPr lang="en-US" b="1" dirty="0"/>
          </a:p>
          <a:p>
            <a:r>
              <a:rPr lang="en-US" b="1" dirty="0"/>
              <a:t>.. Wave-based delivery </a:t>
            </a:r>
            <a:r>
              <a:rPr lang="en-US" dirty="0"/>
              <a:t>fixed that — and it's something I'll carry into every project I manage going forward</a:t>
            </a:r>
            <a:r>
              <a:rPr lang="en-US" b="1" dirty="0"/>
              <a:t>, </a:t>
            </a:r>
          </a:p>
          <a:p>
            <a:r>
              <a:rPr lang="en-US" b="1" dirty="0"/>
              <a:t>or at the very least…</a:t>
            </a:r>
            <a:r>
              <a:rPr lang="en-US" dirty="0"/>
              <a:t> having a contingency plan for dependencies.</a:t>
            </a:r>
            <a:br>
              <a:rPr lang="en-US" dirty="0"/>
            </a:br>
            <a:endParaRPr lang="en-US" dirty="0"/>
          </a:p>
          <a:p>
            <a:r>
              <a:rPr lang="en-US" b="1" dirty="0"/>
              <a:t>Vocabulary matters more than we expected</a:t>
            </a:r>
            <a:r>
              <a:rPr lang="en-US" dirty="0"/>
              <a:t>. Understanding the language of APIs, endpoints, and contracts earlier would have saved us real time across the team. </a:t>
            </a:r>
          </a:p>
          <a:p>
            <a:r>
              <a:rPr lang="en-US" dirty="0"/>
              <a:t>Communication only works when everyone is speaking the </a:t>
            </a:r>
            <a:r>
              <a:rPr lang="en-US" b="1" dirty="0"/>
              <a:t>same</a:t>
            </a:r>
            <a:r>
              <a:rPr lang="en-US" dirty="0"/>
              <a:t> language.</a:t>
            </a:r>
          </a:p>
          <a:p>
            <a:endParaRPr lang="en-US" dirty="0"/>
          </a:p>
          <a:p>
            <a:r>
              <a:rPr lang="en-US" dirty="0"/>
              <a:t>Importantly, </a:t>
            </a:r>
            <a:r>
              <a:rPr lang="en-US" i="1" dirty="0"/>
              <a:t>Collaborative development is a skill </a:t>
            </a:r>
            <a:r>
              <a:rPr lang="en-US" dirty="0"/>
              <a:t>— and it's one we built </a:t>
            </a:r>
            <a:r>
              <a:rPr lang="en-US" b="1" dirty="0"/>
              <a:t>sprint over sprint</a:t>
            </a:r>
            <a:r>
              <a:rPr lang="en-US" dirty="0"/>
              <a:t>. </a:t>
            </a:r>
          </a:p>
          <a:p>
            <a:r>
              <a:rPr lang="en-US" dirty="0"/>
              <a:t>Better PR habits, better check-ins, better handoffs. It didn't happen overnight, but </a:t>
            </a:r>
            <a:r>
              <a:rPr lang="en-US" b="1" i="1" dirty="0"/>
              <a:t>it</a:t>
            </a:r>
            <a:r>
              <a:rPr lang="en-US" dirty="0"/>
              <a:t> </a:t>
            </a:r>
            <a:r>
              <a:rPr lang="en-US" b="1" i="1" dirty="0"/>
              <a:t>happened</a:t>
            </a:r>
            <a:r>
              <a:rPr lang="en-US" dirty="0"/>
              <a:t>.</a:t>
            </a:r>
          </a:p>
          <a:p>
            <a:endParaRPr lang="en-US" dirty="0"/>
          </a:p>
          <a:p>
            <a:r>
              <a:rPr lang="en-US" dirty="0"/>
              <a:t>And lastly, Agile works when the team owns it. </a:t>
            </a:r>
          </a:p>
          <a:p>
            <a:r>
              <a:rPr lang="en-US" dirty="0"/>
              <a:t>We didn't just note our retrospective actions. We </a:t>
            </a:r>
            <a:r>
              <a:rPr lang="en-US" b="1" dirty="0"/>
              <a:t>acted on </a:t>
            </a:r>
            <a:r>
              <a:rPr lang="en-US" dirty="0"/>
              <a:t>them. Every sprint closed </a:t>
            </a:r>
            <a:r>
              <a:rPr lang="en-US" i="1" dirty="0"/>
              <a:t>better than</a:t>
            </a:r>
            <a:r>
              <a:rPr lang="en-US" dirty="0"/>
              <a:t> the one before it.</a:t>
            </a:r>
          </a:p>
          <a:p>
            <a:endParaRPr lang="en-US" dirty="0"/>
          </a:p>
          <a:p>
            <a:r>
              <a:rPr lang="en-US" dirty="0"/>
              <a:t>We built something real. A platform that looks, works, and ships like professional software. </a:t>
            </a:r>
          </a:p>
          <a:p>
            <a:r>
              <a:rPr lang="en-US" dirty="0"/>
              <a:t>And we built it together — as </a:t>
            </a:r>
            <a:r>
              <a:rPr lang="en-US" b="1" dirty="0"/>
              <a:t>academic</a:t>
            </a:r>
            <a:r>
              <a:rPr lang="en-US" dirty="0"/>
              <a:t> </a:t>
            </a:r>
            <a:r>
              <a:rPr lang="en-US" i="1" dirty="0"/>
              <a:t>software developers</a:t>
            </a:r>
            <a:r>
              <a:rPr lang="en-US" dirty="0"/>
              <a:t>. 👏</a:t>
            </a:r>
          </a:p>
          <a:p>
            <a:endParaRPr lang="en-US" dirty="0"/>
          </a:p>
          <a:p>
            <a:r>
              <a:rPr lang="en-US" dirty="0"/>
              <a:t>Thank you. </a:t>
            </a:r>
          </a:p>
          <a:p>
            <a:r>
              <a:rPr lang="en-US" dirty="0"/>
              <a:t>We'll now open the floor for questions — before we bring everything together with a demo, </a:t>
            </a:r>
          </a:p>
          <a:p>
            <a:r>
              <a:rPr lang="en-US" dirty="0"/>
              <a:t>built and delivered by your team of dedicated Project Capstone students.</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All team members should be prepared to step forward to answer any questions respectively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9.png"/><Relationship Id="rId7" Type="http://schemas.openxmlformats.org/officeDocument/2006/relationships/image" Target="../media/image2.sv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BB77E"/>
          </a:solidFill>
          <a:ln w="12700">
            <a:solidFill>
              <a:srgbClr val="3BB77E"/>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502920" y="914400"/>
            <a:ext cx="1005840" cy="1005840"/>
          </a:xfrm>
          <a:prstGeom prst="rect">
            <a:avLst/>
          </a:prstGeom>
        </p:spPr>
      </p:pic>
      <p:sp>
        <p:nvSpPr>
          <p:cNvPr id="4" name="Text 1"/>
          <p:cNvSpPr/>
          <p:nvPr/>
        </p:nvSpPr>
        <p:spPr>
          <a:xfrm>
            <a:off x="457200" y="2011680"/>
            <a:ext cx="7315200" cy="1005840"/>
          </a:xfrm>
          <a:prstGeom prst="rect">
            <a:avLst/>
          </a:prstGeom>
          <a:noFill/>
          <a:ln/>
        </p:spPr>
        <p:txBody>
          <a:bodyPr wrap="square" lIns="0" tIns="0" rIns="0" bIns="0" rtlCol="0" anchor="ctr"/>
          <a:lstStyle/>
          <a:p>
            <a:pPr marL="0" indent="0" algn="l">
              <a:buNone/>
            </a:pPr>
            <a:r>
              <a:rPr lang="en-US" sz="7200" b="1" dirty="0">
                <a:solidFill>
                  <a:srgbClr val="FFFFFF"/>
                </a:solidFill>
                <a:latin typeface="Calibri" pitchFamily="34" charset="0"/>
                <a:ea typeface="Calibri" pitchFamily="34" charset="-122"/>
                <a:cs typeface="Calibri" pitchFamily="34" charset="-120"/>
              </a:rPr>
              <a:t>Orderly</a:t>
            </a:r>
            <a:endParaRPr lang="en-US" sz="7200" dirty="0"/>
          </a:p>
        </p:txBody>
      </p:sp>
      <p:sp>
        <p:nvSpPr>
          <p:cNvPr id="5" name="Text 2"/>
          <p:cNvSpPr/>
          <p:nvPr/>
        </p:nvSpPr>
        <p:spPr>
          <a:xfrm>
            <a:off x="457200" y="3063240"/>
            <a:ext cx="7772400" cy="457200"/>
          </a:xfrm>
          <a:prstGeom prst="rect">
            <a:avLst/>
          </a:prstGeom>
          <a:noFill/>
          <a:ln/>
        </p:spPr>
        <p:txBody>
          <a:bodyPr wrap="square" lIns="0" tIns="0" rIns="0" bIns="0" rtlCol="0" anchor="ctr"/>
          <a:lstStyle/>
          <a:p>
            <a:pPr marL="0" indent="0" algn="l">
              <a:buNone/>
            </a:pPr>
            <a:r>
              <a:rPr lang="en-US" sz="2000" i="1" dirty="0">
                <a:solidFill>
                  <a:srgbClr val="CADCFC"/>
                </a:solidFill>
                <a:latin typeface="Calibri" pitchFamily="34" charset="0"/>
                <a:ea typeface="Calibri" pitchFamily="34" charset="-122"/>
                <a:cs typeface="Calibri" pitchFamily="34" charset="-120"/>
              </a:rPr>
              <a:t>Fast, flexible ordering for any business</a:t>
            </a:r>
            <a:endParaRPr lang="en-US" sz="2000" dirty="0"/>
          </a:p>
        </p:txBody>
      </p:sp>
      <p:sp>
        <p:nvSpPr>
          <p:cNvPr id="6" name="Shape 3"/>
          <p:cNvSpPr/>
          <p:nvPr/>
        </p:nvSpPr>
        <p:spPr>
          <a:xfrm>
            <a:off x="457200" y="3611880"/>
            <a:ext cx="4114800" cy="36576"/>
          </a:xfrm>
          <a:prstGeom prst="rect">
            <a:avLst/>
          </a:prstGeom>
          <a:solidFill>
            <a:srgbClr val="3BB77E"/>
          </a:solidFill>
          <a:ln w="12700">
            <a:solidFill>
              <a:srgbClr val="3BB77E"/>
            </a:solidFill>
            <a:prstDash val="solid"/>
          </a:ln>
        </p:spPr>
        <p:txBody>
          <a:bodyPr/>
          <a:lstStyle/>
          <a:p>
            <a:endParaRPr lang="en-US"/>
          </a:p>
        </p:txBody>
      </p:sp>
      <p:sp>
        <p:nvSpPr>
          <p:cNvPr id="7" name="Text 4"/>
          <p:cNvSpPr/>
          <p:nvPr/>
        </p:nvSpPr>
        <p:spPr>
          <a:xfrm>
            <a:off x="457200" y="3749040"/>
            <a:ext cx="8229600" cy="822960"/>
          </a:xfrm>
          <a:prstGeom prst="rect">
            <a:avLst/>
          </a:prstGeom>
          <a:noFill/>
          <a:ln/>
        </p:spPr>
        <p:txBody>
          <a:bodyPr wrap="square" lIns="0" tIns="0" rIns="0" bIns="0" rtlCol="0" anchor="ctr"/>
          <a:lstStyle/>
          <a:p>
            <a:pPr marL="0" indent="0" algn="l">
              <a:buNone/>
            </a:pPr>
            <a:r>
              <a:rPr lang="en-US" sz="1100" dirty="0">
                <a:solidFill>
                  <a:srgbClr val="CADCFC"/>
                </a:solidFill>
                <a:latin typeface="Calibri" pitchFamily="34" charset="0"/>
                <a:ea typeface="Calibri" pitchFamily="34" charset="-122"/>
                <a:cs typeface="Calibri" pitchFamily="34" charset="-120"/>
              </a:rPr>
              <a:t>Team 7 |  Programming Capstone Project | CSC 289.0001 | April 30</a:t>
            </a:r>
            <a:r>
              <a:rPr lang="en-US" sz="1100" baseline="30000" dirty="0">
                <a:solidFill>
                  <a:srgbClr val="CADCFC"/>
                </a:solidFill>
                <a:latin typeface="Calibri" pitchFamily="34" charset="0"/>
                <a:ea typeface="Calibri" pitchFamily="34" charset="-122"/>
                <a:cs typeface="Calibri" pitchFamily="34" charset="-120"/>
              </a:rPr>
              <a:t>th</a:t>
            </a:r>
            <a:r>
              <a:rPr lang="en-US" sz="1100" dirty="0">
                <a:solidFill>
                  <a:srgbClr val="CADCFC"/>
                </a:solidFill>
                <a:latin typeface="Calibri" pitchFamily="34" charset="0"/>
                <a:ea typeface="Calibri" pitchFamily="34" charset="-122"/>
                <a:cs typeface="Calibri" pitchFamily="34" charset="-120"/>
              </a:rPr>
              <a:t>, 2026 </a:t>
            </a:r>
            <a:endParaRPr lang="en-US" sz="1100" dirty="0"/>
          </a:p>
          <a:p>
            <a:r>
              <a:rPr lang="en-US" sz="1100" dirty="0">
                <a:solidFill>
                  <a:srgbClr val="CADCFC"/>
                </a:solidFill>
                <a:latin typeface="Calibri" pitchFamily="34" charset="0"/>
                <a:ea typeface="Calibri" pitchFamily="34" charset="-122"/>
                <a:cs typeface="Calibri" pitchFamily="34" charset="-120"/>
              </a:rPr>
              <a:t>Kim Mayo · Kenny Bacdayan · Rachel Mizer · Tristin Gatt · Caleb Fowlkes · Serina Rodriguez (PM/SCRUM Master) </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INTRODUCTION</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is Orderly?</a:t>
            </a:r>
            <a:endParaRPr lang="en-US" sz="3200" dirty="0"/>
          </a:p>
        </p:txBody>
      </p:sp>
      <p:sp>
        <p:nvSpPr>
          <p:cNvPr id="4" name="Shape 2"/>
          <p:cNvSpPr/>
          <p:nvPr/>
        </p:nvSpPr>
        <p:spPr>
          <a:xfrm>
            <a:off x="365760" y="1280160"/>
            <a:ext cx="3931920" cy="34290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dirty="0"/>
          </a:p>
        </p:txBody>
      </p:sp>
      <p:sp>
        <p:nvSpPr>
          <p:cNvPr id="5" name="Text 3"/>
          <p:cNvSpPr/>
          <p:nvPr/>
        </p:nvSpPr>
        <p:spPr>
          <a:xfrm>
            <a:off x="594360" y="2035263"/>
            <a:ext cx="3474720" cy="320040"/>
          </a:xfrm>
          <a:prstGeom prst="rect">
            <a:avLst/>
          </a:prstGeom>
          <a:noFill/>
          <a:ln/>
        </p:spPr>
        <p:txBody>
          <a:bodyPr wrap="square" lIns="0" tIns="0" rIns="0" bIns="0" rtlCol="0" anchor="ctr"/>
          <a:lstStyle/>
          <a:p>
            <a:pPr marL="0" indent="0">
              <a:buNone/>
            </a:pPr>
            <a:r>
              <a:rPr lang="en-US" sz="1300" b="1" dirty="0">
                <a:solidFill>
                  <a:srgbClr val="1B2B5E"/>
                </a:solidFill>
                <a:latin typeface="Calibri" pitchFamily="34" charset="0"/>
                <a:ea typeface="Calibri" pitchFamily="34" charset="-122"/>
                <a:cs typeface="Calibri" pitchFamily="34" charset="-120"/>
              </a:rPr>
              <a:t>The Problem</a:t>
            </a:r>
            <a:endParaRPr lang="en-US" sz="1300" dirty="0"/>
          </a:p>
        </p:txBody>
      </p:sp>
      <p:sp>
        <p:nvSpPr>
          <p:cNvPr id="6" name="Text 4"/>
          <p:cNvSpPr/>
          <p:nvPr/>
        </p:nvSpPr>
        <p:spPr>
          <a:xfrm>
            <a:off x="594360" y="2346160"/>
            <a:ext cx="3474720" cy="1069848"/>
          </a:xfrm>
          <a:prstGeom prst="rect">
            <a:avLst/>
          </a:prstGeom>
          <a:noFill/>
          <a:ln/>
        </p:spPr>
        <p:txBody>
          <a:bodyPr wrap="square" lIns="0" tIns="0" rIns="0" bIns="0" rtlCol="0" anchor="ctr"/>
          <a:lstStyle/>
          <a:p>
            <a:pPr marL="0" indent="0">
              <a:buNone/>
            </a:pPr>
            <a:r>
              <a:rPr lang="en-US" sz="1200" dirty="0">
                <a:solidFill>
                  <a:srgbClr val="374151"/>
                </a:solidFill>
                <a:latin typeface="Calibri" pitchFamily="34" charset="0"/>
                <a:ea typeface="Calibri" pitchFamily="34" charset="-122"/>
                <a:cs typeface="Calibri" pitchFamily="34" charset="-120"/>
              </a:rPr>
              <a:t>Small and mid-sized businesses lack affordable, efficient, and unified tools for managing orders, inventory, and customer-facing menus. </a:t>
            </a:r>
          </a:p>
          <a:p>
            <a:pPr marL="0" indent="0">
              <a:buNone/>
            </a:pPr>
            <a:endParaRPr lang="en-US" sz="1200" dirty="0">
              <a:solidFill>
                <a:srgbClr val="374151"/>
              </a:solidFill>
              <a:latin typeface="Calibri" pitchFamily="34" charset="0"/>
              <a:cs typeface="Calibri" pitchFamily="34" charset="-120"/>
            </a:endParaRPr>
          </a:p>
          <a:p>
            <a:pPr marL="0" indent="0">
              <a:buNone/>
            </a:pPr>
            <a:r>
              <a:rPr lang="en-US" sz="1200" dirty="0">
                <a:solidFill>
                  <a:srgbClr val="374151"/>
                </a:solidFill>
                <a:latin typeface="Calibri" pitchFamily="34" charset="0"/>
                <a:cs typeface="Calibri" pitchFamily="34" charset="-120"/>
              </a:rPr>
              <a:t>The result: </a:t>
            </a:r>
            <a:r>
              <a:rPr lang="en-US" sz="1200" i="1" dirty="0">
                <a:solidFill>
                  <a:srgbClr val="374151"/>
                </a:solidFill>
                <a:latin typeface="Calibri" pitchFamily="34" charset="0"/>
                <a:cs typeface="Calibri" pitchFamily="34" charset="-120"/>
              </a:rPr>
              <a:t>manual processes, spreadsheet chaos, and no real-time visibility.</a:t>
            </a:r>
            <a:endParaRPr lang="en-US" sz="1200" i="1" dirty="0"/>
          </a:p>
        </p:txBody>
      </p:sp>
      <p:sp>
        <p:nvSpPr>
          <p:cNvPr id="7" name="Shape 5"/>
          <p:cNvSpPr/>
          <p:nvPr/>
        </p:nvSpPr>
        <p:spPr>
          <a:xfrm>
            <a:off x="594360" y="3520440"/>
            <a:ext cx="3474720" cy="36576"/>
          </a:xfrm>
          <a:prstGeom prst="rect">
            <a:avLst/>
          </a:prstGeom>
          <a:solidFill>
            <a:srgbClr val="3BB77E"/>
          </a:solidFill>
          <a:ln w="12700">
            <a:solidFill>
              <a:srgbClr val="3BB77E"/>
            </a:solidFill>
            <a:prstDash val="solid"/>
          </a:ln>
        </p:spPr>
        <p:txBody>
          <a:bodyPr/>
          <a:lstStyle/>
          <a:p>
            <a:endParaRPr lang="en-US"/>
          </a:p>
        </p:txBody>
      </p:sp>
      <p:sp>
        <p:nvSpPr>
          <p:cNvPr id="8" name="Text 6"/>
          <p:cNvSpPr/>
          <p:nvPr/>
        </p:nvSpPr>
        <p:spPr>
          <a:xfrm>
            <a:off x="594360" y="3630168"/>
            <a:ext cx="3474720" cy="320040"/>
          </a:xfrm>
          <a:prstGeom prst="rect">
            <a:avLst/>
          </a:prstGeom>
          <a:noFill/>
          <a:ln/>
        </p:spPr>
        <p:txBody>
          <a:bodyPr wrap="square" lIns="0" tIns="0" rIns="0" bIns="0" rtlCol="0" anchor="ctr"/>
          <a:lstStyle/>
          <a:p>
            <a:pPr marL="0" indent="0">
              <a:buNone/>
            </a:pPr>
            <a:r>
              <a:rPr lang="en-US" sz="1300" b="1" dirty="0">
                <a:solidFill>
                  <a:srgbClr val="1B2B5E"/>
                </a:solidFill>
                <a:latin typeface="Calibri" pitchFamily="34" charset="0"/>
                <a:ea typeface="Calibri" pitchFamily="34" charset="-122"/>
                <a:cs typeface="Calibri" pitchFamily="34" charset="-120"/>
              </a:rPr>
              <a:t>Our Solution</a:t>
            </a:r>
            <a:endParaRPr lang="en-US" sz="1300" dirty="0"/>
          </a:p>
        </p:txBody>
      </p:sp>
      <p:sp>
        <p:nvSpPr>
          <p:cNvPr id="9" name="Text 7"/>
          <p:cNvSpPr/>
          <p:nvPr/>
        </p:nvSpPr>
        <p:spPr>
          <a:xfrm>
            <a:off x="594360" y="3886200"/>
            <a:ext cx="3474720" cy="685800"/>
          </a:xfrm>
          <a:prstGeom prst="rect">
            <a:avLst/>
          </a:prstGeom>
          <a:noFill/>
          <a:ln/>
        </p:spPr>
        <p:txBody>
          <a:bodyPr wrap="square" lIns="0" tIns="0" rIns="0" bIns="0" rtlCol="0" anchor="ctr"/>
          <a:lstStyle/>
          <a:p>
            <a:pPr marL="0" indent="0">
              <a:buNone/>
            </a:pPr>
            <a:r>
              <a:rPr lang="en-US" sz="1200" dirty="0">
                <a:solidFill>
                  <a:schemeClr val="accent2"/>
                </a:solidFill>
                <a:latin typeface="Calibri" pitchFamily="34" charset="0"/>
                <a:cs typeface="Calibri" pitchFamily="34" charset="-120"/>
              </a:rPr>
              <a:t>A </a:t>
            </a:r>
            <a:r>
              <a:rPr lang="en-US" sz="1200" b="1" dirty="0">
                <a:solidFill>
                  <a:schemeClr val="accent2"/>
                </a:solidFill>
                <a:latin typeface="Calibri" pitchFamily="34" charset="0"/>
                <a:cs typeface="Calibri" pitchFamily="34" charset="-120"/>
              </a:rPr>
              <a:t>flexible</a:t>
            </a:r>
            <a:r>
              <a:rPr lang="en-US" sz="1200" dirty="0">
                <a:solidFill>
                  <a:schemeClr val="accent2"/>
                </a:solidFill>
                <a:latin typeface="Calibri" pitchFamily="34" charset="0"/>
                <a:cs typeface="Calibri" pitchFamily="34" charset="-120"/>
              </a:rPr>
              <a:t>, </a:t>
            </a:r>
            <a:r>
              <a:rPr lang="en-US" sz="1200" dirty="0">
                <a:solidFill>
                  <a:schemeClr val="accent3"/>
                </a:solidFill>
                <a:latin typeface="Calibri" pitchFamily="34" charset="0"/>
                <a:cs typeface="Calibri" pitchFamily="34" charset="-120"/>
              </a:rPr>
              <a:t>full-stack</a:t>
            </a:r>
            <a:r>
              <a:rPr lang="en-US" sz="1200" dirty="0">
                <a:solidFill>
                  <a:schemeClr val="accent2"/>
                </a:solidFill>
                <a:latin typeface="Calibri" pitchFamily="34" charset="0"/>
                <a:cs typeface="Calibri" pitchFamily="34" charset="-120"/>
              </a:rPr>
              <a:t> </a:t>
            </a:r>
            <a:r>
              <a:rPr lang="en-US" sz="1200" b="1" dirty="0">
                <a:solidFill>
                  <a:schemeClr val="accent2"/>
                </a:solidFill>
                <a:latin typeface="Calibri" pitchFamily="34" charset="0"/>
                <a:cs typeface="Calibri" pitchFamily="34" charset="-120"/>
              </a:rPr>
              <a:t>self-service</a:t>
            </a:r>
            <a:r>
              <a:rPr lang="en-US" sz="1200" dirty="0">
                <a:solidFill>
                  <a:schemeClr val="accent2"/>
                </a:solidFill>
                <a:latin typeface="Calibri" pitchFamily="34" charset="0"/>
                <a:cs typeface="Calibri" pitchFamily="34" charset="-120"/>
              </a:rPr>
              <a:t> </a:t>
            </a:r>
            <a:r>
              <a:rPr lang="en-US" sz="1200" dirty="0">
                <a:solidFill>
                  <a:schemeClr val="accent3"/>
                </a:solidFill>
                <a:latin typeface="Calibri" pitchFamily="34" charset="0"/>
                <a:cs typeface="Calibri" pitchFamily="34" charset="-120"/>
              </a:rPr>
              <a:t>ordering and business </a:t>
            </a:r>
            <a:r>
              <a:rPr lang="en-US" sz="1200" b="1" dirty="0">
                <a:solidFill>
                  <a:schemeClr val="accent2"/>
                </a:solidFill>
                <a:latin typeface="Calibri" pitchFamily="34" charset="0"/>
                <a:cs typeface="Calibri" pitchFamily="34" charset="-120"/>
              </a:rPr>
              <a:t>management platform </a:t>
            </a:r>
            <a:r>
              <a:rPr lang="en-US" sz="1200" dirty="0">
                <a:solidFill>
                  <a:schemeClr val="accent3"/>
                </a:solidFill>
                <a:latin typeface="Calibri" pitchFamily="34" charset="0"/>
                <a:cs typeface="Calibri" pitchFamily="34" charset="-120"/>
              </a:rPr>
              <a:t>– built for real businesses, by a team of student developers. </a:t>
            </a:r>
            <a:endParaRPr lang="en-US" sz="1200" dirty="0">
              <a:solidFill>
                <a:schemeClr val="accent3"/>
              </a:solidFill>
            </a:endParaRPr>
          </a:p>
        </p:txBody>
      </p:sp>
      <p:sp>
        <p:nvSpPr>
          <p:cNvPr id="10" name="Shape 8"/>
          <p:cNvSpPr/>
          <p:nvPr/>
        </p:nvSpPr>
        <p:spPr>
          <a:xfrm>
            <a:off x="4663440" y="1280160"/>
            <a:ext cx="4023360" cy="100584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1" name="Text 9"/>
          <p:cNvSpPr/>
          <p:nvPr/>
        </p:nvSpPr>
        <p:spPr>
          <a:xfrm>
            <a:off x="4846320" y="1325880"/>
            <a:ext cx="914400"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cs typeface="Calibri" pitchFamily="34" charset="-120"/>
              </a:rPr>
              <a:t>5</a:t>
            </a:r>
            <a:endParaRPr lang="en-US" sz="4800" dirty="0"/>
          </a:p>
        </p:txBody>
      </p:sp>
      <p:sp>
        <p:nvSpPr>
          <p:cNvPr id="12" name="Text 10"/>
          <p:cNvSpPr/>
          <p:nvPr/>
        </p:nvSpPr>
        <p:spPr>
          <a:xfrm>
            <a:off x="5852160" y="1572768"/>
            <a:ext cx="2560320" cy="457200"/>
          </a:xfrm>
          <a:prstGeom prst="rect">
            <a:avLst/>
          </a:prstGeom>
          <a:noFill/>
          <a:ln/>
        </p:spPr>
        <p:txBody>
          <a:bodyPr wrap="square" lIns="0" tIns="0" rIns="0" bIns="0" rtlCol="0" anchor="ctr"/>
          <a:lstStyle/>
          <a:p>
            <a:pPr marL="0" indent="0">
              <a:buNone/>
            </a:pPr>
            <a:r>
              <a:rPr lang="en-US" sz="1600" b="1" dirty="0">
                <a:solidFill>
                  <a:srgbClr val="1B2B5E"/>
                </a:solidFill>
                <a:latin typeface="Calibri" pitchFamily="34" charset="0"/>
                <a:cs typeface="Calibri" pitchFamily="34" charset="-120"/>
              </a:rPr>
              <a:t>Agile Sprints</a:t>
            </a:r>
            <a:endParaRPr lang="en-US" sz="1600" dirty="0"/>
          </a:p>
        </p:txBody>
      </p:sp>
      <p:sp>
        <p:nvSpPr>
          <p:cNvPr id="13" name="Shape 11"/>
          <p:cNvSpPr/>
          <p:nvPr/>
        </p:nvSpPr>
        <p:spPr>
          <a:xfrm>
            <a:off x="4663440" y="2468880"/>
            <a:ext cx="4023360" cy="1005840"/>
          </a:xfrm>
          <a:prstGeom prst="rect">
            <a:avLst/>
          </a:prstGeom>
          <a:solidFill>
            <a:srgbClr val="1B2B5E"/>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4" name="Text 12"/>
          <p:cNvSpPr/>
          <p:nvPr/>
        </p:nvSpPr>
        <p:spPr>
          <a:xfrm>
            <a:off x="4846320" y="2514600"/>
            <a:ext cx="914400"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ea typeface="Calibri" pitchFamily="34" charset="-122"/>
                <a:cs typeface="Calibri" pitchFamily="34" charset="-120"/>
              </a:rPr>
              <a:t>6</a:t>
            </a:r>
            <a:endParaRPr lang="en-US" sz="4800" dirty="0"/>
          </a:p>
        </p:txBody>
      </p:sp>
      <p:sp>
        <p:nvSpPr>
          <p:cNvPr id="15" name="Text 13"/>
          <p:cNvSpPr/>
          <p:nvPr/>
        </p:nvSpPr>
        <p:spPr>
          <a:xfrm>
            <a:off x="5852160" y="2761488"/>
            <a:ext cx="2560320" cy="45720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Team Members</a:t>
            </a:r>
            <a:endParaRPr lang="en-US" sz="1600" dirty="0"/>
          </a:p>
        </p:txBody>
      </p:sp>
      <p:sp>
        <p:nvSpPr>
          <p:cNvPr id="16" name="Shape 14"/>
          <p:cNvSpPr/>
          <p:nvPr/>
        </p:nvSpPr>
        <p:spPr>
          <a:xfrm>
            <a:off x="4663440" y="3657600"/>
            <a:ext cx="4023360" cy="100584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7" name="Text 15"/>
          <p:cNvSpPr/>
          <p:nvPr/>
        </p:nvSpPr>
        <p:spPr>
          <a:xfrm>
            <a:off x="4762195" y="3703320"/>
            <a:ext cx="998525"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cs typeface="Calibri" pitchFamily="34" charset="-120"/>
              </a:rPr>
              <a:t>15</a:t>
            </a:r>
            <a:r>
              <a:rPr lang="en-US" sz="3600" b="1" dirty="0">
                <a:solidFill>
                  <a:srgbClr val="3BB77E"/>
                </a:solidFill>
                <a:latin typeface="Calibri" pitchFamily="34" charset="0"/>
                <a:cs typeface="Calibri" pitchFamily="34" charset="-120"/>
              </a:rPr>
              <a:t>+</a:t>
            </a:r>
            <a:endParaRPr lang="en-US" sz="4800" dirty="0"/>
          </a:p>
        </p:txBody>
      </p:sp>
      <p:sp>
        <p:nvSpPr>
          <p:cNvPr id="18" name="Text 16"/>
          <p:cNvSpPr/>
          <p:nvPr/>
        </p:nvSpPr>
        <p:spPr>
          <a:xfrm>
            <a:off x="5852160" y="3950208"/>
            <a:ext cx="2560320" cy="457200"/>
          </a:xfrm>
          <a:prstGeom prst="rect">
            <a:avLst/>
          </a:prstGeom>
          <a:noFill/>
          <a:ln/>
        </p:spPr>
        <p:txBody>
          <a:bodyPr wrap="square" lIns="0" tIns="0" rIns="0" bIns="0" rtlCol="0" anchor="ctr"/>
          <a:lstStyle/>
          <a:p>
            <a:pPr marL="0" indent="0">
              <a:buNone/>
            </a:pPr>
            <a:r>
              <a:rPr lang="en-US" sz="1600" b="1" dirty="0">
                <a:solidFill>
                  <a:srgbClr val="1B2B5E"/>
                </a:solidFill>
                <a:latin typeface="Calibri" pitchFamily="34" charset="0"/>
                <a:cs typeface="Calibri" pitchFamily="34" charset="-120"/>
              </a:rPr>
              <a:t>User Features Done 🎉</a:t>
            </a:r>
            <a:endParaRPr lang="en-US" sz="1600" dirty="0"/>
          </a:p>
        </p:txBody>
      </p:sp>
      <p:sp>
        <p:nvSpPr>
          <p:cNvPr id="19" name="Text 4">
            <a:extLst>
              <a:ext uri="{FF2B5EF4-FFF2-40B4-BE49-F238E27FC236}">
                <a16:creationId xmlns:a16="http://schemas.microsoft.com/office/drawing/2014/main" id="{E6A7EF37-E701-B089-536B-846DD2F90B82}"/>
              </a:ext>
            </a:extLst>
          </p:cNvPr>
          <p:cNvSpPr/>
          <p:nvPr/>
        </p:nvSpPr>
        <p:spPr>
          <a:xfrm>
            <a:off x="548640" y="1389889"/>
            <a:ext cx="3474720" cy="736092"/>
          </a:xfrm>
          <a:prstGeom prst="rect">
            <a:avLst/>
          </a:prstGeom>
          <a:noFill/>
          <a:ln/>
        </p:spPr>
        <p:txBody>
          <a:bodyPr wrap="square" lIns="0" tIns="0" rIns="0" bIns="0" rtlCol="0" anchor="ctr"/>
          <a:lstStyle/>
          <a:p>
            <a:pPr marL="0" indent="0">
              <a:buNone/>
            </a:pPr>
            <a:r>
              <a:rPr lang="en-US" sz="1200" dirty="0">
                <a:solidFill>
                  <a:srgbClr val="374151"/>
                </a:solidFill>
                <a:latin typeface="Calibri" pitchFamily="34" charset="0"/>
                <a:ea typeface="Calibri" pitchFamily="34" charset="-122"/>
                <a:cs typeface="Calibri" pitchFamily="34" charset="-120"/>
              </a:rPr>
              <a:t>A </a:t>
            </a:r>
            <a:r>
              <a:rPr lang="en-US" sz="1200" b="1" dirty="0">
                <a:solidFill>
                  <a:srgbClr val="374151"/>
                </a:solidFill>
                <a:latin typeface="Calibri" pitchFamily="34" charset="0"/>
                <a:ea typeface="Calibri" pitchFamily="34" charset="-122"/>
                <a:cs typeface="Calibri" pitchFamily="34" charset="-120"/>
              </a:rPr>
              <a:t>centralized web application </a:t>
            </a:r>
            <a:r>
              <a:rPr lang="en-US" sz="1200" dirty="0">
                <a:solidFill>
                  <a:srgbClr val="374151"/>
                </a:solidFill>
                <a:latin typeface="Calibri" pitchFamily="34" charset="0"/>
                <a:ea typeface="Calibri" pitchFamily="34" charset="-122"/>
                <a:cs typeface="Calibri" pitchFamily="34" charset="-120"/>
              </a:rPr>
              <a:t>designed to streamline operations for small to mid-sized businesses.</a:t>
            </a:r>
            <a:endParaRPr lang="en-US" sz="1200" dirty="0"/>
          </a:p>
        </p:txBody>
      </p:sp>
      <p:sp>
        <p:nvSpPr>
          <p:cNvPr id="20" name="Text 2">
            <a:extLst>
              <a:ext uri="{FF2B5EF4-FFF2-40B4-BE49-F238E27FC236}">
                <a16:creationId xmlns:a16="http://schemas.microsoft.com/office/drawing/2014/main" id="{9F7911BB-5986-21B9-D273-1041466AAE3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Serina Rodriguez</a:t>
            </a:r>
            <a:endParaRPr lang="en-US" sz="800" dirty="0"/>
          </a:p>
        </p:txBody>
      </p:sp>
      <p:sp>
        <p:nvSpPr>
          <p:cNvPr id="21" name="Text 3">
            <a:extLst>
              <a:ext uri="{FF2B5EF4-FFF2-40B4-BE49-F238E27FC236}">
                <a16:creationId xmlns:a16="http://schemas.microsoft.com/office/drawing/2014/main" id="{A998996D-EB5B-A159-A1A7-1982757F401D}"/>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PM | SCRUM Master</a:t>
            </a:r>
            <a:endParaRPr lang="en-US" sz="700" dirty="0"/>
          </a:p>
        </p:txBody>
      </p:sp>
    </p:spTree>
  </p:cSld>
  <p:clrMapOvr>
    <a:masterClrMapping/>
  </p:clrMapOvr>
  <mc:AlternateContent xmlns:mc="http://schemas.openxmlformats.org/markup-compatibility/2006" xmlns:p14="http://schemas.microsoft.com/office/powerpoint/2010/main">
    <mc:Choice Requires="p14">
      <p:transition spd="slow" p14:dur="1750">
        <p:pull/>
      </p:transition>
    </mc:Choice>
    <mc:Fallback xmlns="">
      <p:transition spd="slow">
        <p:pull/>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par>
                          <p:cTn id="8" fill="hold">
                            <p:stCondLst>
                              <p:cond delay="500"/>
                            </p:stCondLst>
                            <p:childTnLst>
                              <p:par>
                                <p:cTn id="9" presetID="18" presetClass="entr" presetSubtype="12"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strips(downLeft)">
                                      <p:cBhvr>
                                        <p:cTn id="11" dur="1000"/>
                                        <p:tgtEl>
                                          <p:spTgt spid="10"/>
                                        </p:tgtEl>
                                      </p:cBhvr>
                                    </p:animEffect>
                                  </p:childTnLst>
                                </p:cTn>
                              </p:par>
                            </p:childTnLst>
                          </p:cTn>
                        </p:par>
                        <p:par>
                          <p:cTn id="12" fill="hold">
                            <p:stCondLst>
                              <p:cond delay="1500"/>
                            </p:stCondLst>
                            <p:childTnLst>
                              <p:par>
                                <p:cTn id="13" presetID="43" presetClass="entr" presetSubtype="0" fill="hold" grpId="0" nodeType="after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00"/>
                                        <p:tgtEl>
                                          <p:spTgt spid="13"/>
                                        </p:tgtEl>
                                      </p:cBhvr>
                                    </p:animEffect>
                                    <p:anim calcmode="lin" valueType="num">
                                      <p:cBhvr>
                                        <p:cTn id="16" dur="800" fill="hold"/>
                                        <p:tgtEl>
                                          <p:spTgt spid="13"/>
                                        </p:tgtEl>
                                        <p:attrNameLst>
                                          <p:attrName>ppt_x</p:attrName>
                                        </p:attrNameLst>
                                      </p:cBhvr>
                                      <p:tavLst>
                                        <p:tav tm="0">
                                          <p:val>
                                            <p:strVal val="#ppt_x"/>
                                          </p:val>
                                        </p:tav>
                                        <p:tav tm="100000">
                                          <p:val>
                                            <p:strVal val="#ppt_x"/>
                                          </p:val>
                                        </p:tav>
                                      </p:tavLst>
                                    </p:anim>
                                    <p:anim calcmode="lin" valueType="num">
                                      <p:cBhvr>
                                        <p:cTn id="17" dur="800" fill="hold"/>
                                        <p:tgtEl>
                                          <p:spTgt spid="13"/>
                                        </p:tgtEl>
                                        <p:attrNameLst>
                                          <p:attrName>ppt_y</p:attrName>
                                        </p:attrNameLst>
                                      </p:cBhvr>
                                      <p:tavLst>
                                        <p:tav tm="0">
                                          <p:val>
                                            <p:strVal val="#ppt_y+0.31"/>
                                          </p:val>
                                        </p:tav>
                                        <p:tav tm="100000">
                                          <p:val>
                                            <p:strVal val="#ppt_y+0.31"/>
                                          </p:val>
                                        </p:tav>
                                      </p:tavLst>
                                    </p:anim>
                                    <p:anim calcmode="lin" valueType="num">
                                      <p:cBhvr>
                                        <p:cTn id="18" dur="1200" decel="50000" fill="hold">
                                          <p:stCondLst>
                                            <p:cond delay="800"/>
                                          </p:stCondLst>
                                        </p:cTn>
                                        <p:tgtEl>
                                          <p:spTgt spid="13"/>
                                        </p:tgtEl>
                                        <p:attrNameLst>
                                          <p:attrName>ppt_x</p:attrName>
                                        </p:attrNameLst>
                                      </p:cBhvr>
                                      <p:tavLst>
                                        <p:tav tm="0">
                                          <p:val>
                                            <p:strVal val="#ppt_x"/>
                                          </p:val>
                                        </p:tav>
                                        <p:tav tm="5000">
                                          <p:val>
                                            <p:strVal val="#ppt_x+0.0242"/>
                                          </p:val>
                                        </p:tav>
                                        <p:tav tm="10000">
                                          <p:val>
                                            <p:strVal val="#ppt_x+0.0479"/>
                                          </p:val>
                                        </p:tav>
                                        <p:tav tm="15000">
                                          <p:val>
                                            <p:strVal val="#ppt_x+0.0704"/>
                                          </p:val>
                                        </p:tav>
                                        <p:tav tm="20000">
                                          <p:val>
                                            <p:strVal val="#ppt_x+0.0911"/>
                                          </p:val>
                                        </p:tav>
                                        <p:tav tm="25000">
                                          <p:val>
                                            <p:strVal val="#ppt_x+0.1096"/>
                                          </p:val>
                                        </p:tav>
                                        <p:tav tm="30000">
                                          <p:val>
                                            <p:strVal val="#ppt_x+0.1254"/>
                                          </p:val>
                                        </p:tav>
                                        <p:tav tm="35000">
                                          <p:val>
                                            <p:strVal val="#ppt_x+0.1381"/>
                                          </p:val>
                                        </p:tav>
                                        <p:tav tm="40000">
                                          <p:val>
                                            <p:strVal val="#ppt_x+0.1474"/>
                                          </p:val>
                                        </p:tav>
                                        <p:tav tm="45000">
                                          <p:val>
                                            <p:strVal val="#ppt_x+0.1531"/>
                                          </p:val>
                                        </p:tav>
                                        <p:tav tm="50000">
                                          <p:val>
                                            <p:strVal val="#ppt_x+0.1550"/>
                                          </p:val>
                                        </p:tav>
                                        <p:tav tm="55000">
                                          <p:val>
                                            <p:strVal val="#ppt_x+0.1531"/>
                                          </p:val>
                                        </p:tav>
                                        <p:tav tm="60000">
                                          <p:val>
                                            <p:strVal val="#ppt_x+0.1474"/>
                                          </p:val>
                                        </p:tav>
                                        <p:tav tm="65000">
                                          <p:val>
                                            <p:strVal val="#ppt_x+0.1381"/>
                                          </p:val>
                                        </p:tav>
                                        <p:tav tm="70000">
                                          <p:val>
                                            <p:strVal val="#ppt_x+0.1254"/>
                                          </p:val>
                                        </p:tav>
                                        <p:tav tm="75000">
                                          <p:val>
                                            <p:strVal val="#ppt_x+0.1096"/>
                                          </p:val>
                                        </p:tav>
                                        <p:tav tm="80000">
                                          <p:val>
                                            <p:strVal val="#ppt_x+0.0911"/>
                                          </p:val>
                                        </p:tav>
                                        <p:tav tm="85000">
                                          <p:val>
                                            <p:strVal val="#ppt_x+0.0704"/>
                                          </p:val>
                                        </p:tav>
                                        <p:tav tm="90000">
                                          <p:val>
                                            <p:strVal val="#ppt_x+0.0479"/>
                                          </p:val>
                                        </p:tav>
                                        <p:tav tm="95000">
                                          <p:val>
                                            <p:strVal val="#ppt_x+0.0242"/>
                                          </p:val>
                                        </p:tav>
                                        <p:tav tm="100000">
                                          <p:val>
                                            <p:strVal val="#ppt_x"/>
                                          </p:val>
                                        </p:tav>
                                      </p:tavLst>
                                    </p:anim>
                                    <p:anim calcmode="lin" valueType="num">
                                      <p:cBhvr>
                                        <p:cTn id="19" dur="1200" decel="50000" fill="hold">
                                          <p:stCondLst>
                                            <p:cond delay="800"/>
                                          </p:stCondLst>
                                        </p:cTn>
                                        <p:tgtEl>
                                          <p:spTgt spid="13"/>
                                        </p:tgtEl>
                                        <p:attrNameLst>
                                          <p:attrName>ppt_y</p:attrName>
                                        </p:attrNameLst>
                                      </p:cBhvr>
                                      <p:tavLst>
                                        <p:tav tm="0">
                                          <p:val>
                                            <p:strVal val="#ppt_y+0.31"/>
                                          </p:val>
                                        </p:tav>
                                        <p:tav tm="5000">
                                          <p:val>
                                            <p:strVal val="#ppt_y+0.308"/>
                                          </p:val>
                                        </p:tav>
                                        <p:tav tm="10000">
                                          <p:val>
                                            <p:strVal val="#ppt_y+0.3024"/>
                                          </p:val>
                                        </p:tav>
                                        <p:tav tm="15000">
                                          <p:val>
                                            <p:strVal val="#ppt_y+0.2931"/>
                                          </p:val>
                                        </p:tav>
                                        <p:tav tm="20000">
                                          <p:val>
                                            <p:strVal val="#ppt_y+0.2804"/>
                                          </p:val>
                                        </p:tav>
                                        <p:tav tm="25000">
                                          <p:val>
                                            <p:strVal val="#ppt_y+0.2646"/>
                                          </p:val>
                                        </p:tav>
                                        <p:tav tm="30000">
                                          <p:val>
                                            <p:strVal val="#ppt_y+0.2461"/>
                                          </p:val>
                                        </p:tav>
                                        <p:tav tm="35000">
                                          <p:val>
                                            <p:strVal val="#ppt_y+0.2253"/>
                                          </p:val>
                                        </p:tav>
                                        <p:tav tm="40000">
                                          <p:val>
                                            <p:strVal val="#ppt_y+0.2029"/>
                                          </p:val>
                                        </p:tav>
                                        <p:tav tm="45000">
                                          <p:val>
                                            <p:strVal val="#ppt_y+0.1792"/>
                                          </p:val>
                                        </p:tav>
                                        <p:tav tm="50000">
                                          <p:val>
                                            <p:strVal val="#ppt_y+0.155"/>
                                          </p:val>
                                        </p:tav>
                                        <p:tav tm="55000">
                                          <p:val>
                                            <p:strVal val="#ppt_y+0.1307"/>
                                          </p:val>
                                        </p:tav>
                                        <p:tav tm="60000">
                                          <p:val>
                                            <p:strVal val="#ppt_y+0.1071"/>
                                          </p:val>
                                        </p:tav>
                                        <p:tav tm="65000">
                                          <p:val>
                                            <p:strVal val="#ppt_y+0.0846"/>
                                          </p:val>
                                        </p:tav>
                                        <p:tav tm="70000">
                                          <p:val>
                                            <p:strVal val="#ppt_y+0.0639"/>
                                          </p:val>
                                        </p:tav>
                                        <p:tav tm="75000">
                                          <p:val>
                                            <p:strVal val="#ppt_y+0.0454"/>
                                          </p:val>
                                        </p:tav>
                                        <p:tav tm="80000">
                                          <p:val>
                                            <p:strVal val="#ppt_y+0.0296"/>
                                          </p:val>
                                        </p:tav>
                                        <p:tav tm="85000">
                                          <p:val>
                                            <p:strVal val="#ppt_y+0.0169"/>
                                          </p:val>
                                        </p:tav>
                                        <p:tav tm="90000">
                                          <p:val>
                                            <p:strVal val="#ppt_y+0.0076"/>
                                          </p:val>
                                        </p:tav>
                                        <p:tav tm="95000">
                                          <p:val>
                                            <p:strVal val="#ppt_y+0.0019"/>
                                          </p:val>
                                        </p:tav>
                                        <p:tav tm="100000">
                                          <p:val>
                                            <p:strVal val="#ppt_y"/>
                                          </p:val>
                                        </p:tav>
                                      </p:tavLst>
                                    </p:anim>
                                  </p:childTnLst>
                                </p:cTn>
                              </p:par>
                            </p:childTnLst>
                          </p:cTn>
                        </p:par>
                        <p:par>
                          <p:cTn id="20" fill="hold">
                            <p:stCondLst>
                              <p:cond delay="3500"/>
                            </p:stCondLst>
                            <p:childTnLst>
                              <p:par>
                                <p:cTn id="21" presetID="37" presetClass="entr" presetSubtype="0" fill="hold" grpId="0" nodeType="after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2000"/>
                                        <p:tgtEl>
                                          <p:spTgt spid="16"/>
                                        </p:tgtEl>
                                      </p:cBhvr>
                                    </p:animEffect>
                                    <p:anim calcmode="lin" valueType="num">
                                      <p:cBhvr>
                                        <p:cTn id="24" dur="2000" fill="hold"/>
                                        <p:tgtEl>
                                          <p:spTgt spid="16"/>
                                        </p:tgtEl>
                                        <p:attrNameLst>
                                          <p:attrName>ppt_x</p:attrName>
                                        </p:attrNameLst>
                                      </p:cBhvr>
                                      <p:tavLst>
                                        <p:tav tm="0">
                                          <p:val>
                                            <p:strVal val="#ppt_x"/>
                                          </p:val>
                                        </p:tav>
                                        <p:tav tm="100000">
                                          <p:val>
                                            <p:strVal val="#ppt_x"/>
                                          </p:val>
                                        </p:tav>
                                      </p:tavLst>
                                    </p:anim>
                                    <p:anim calcmode="lin" valueType="num">
                                      <p:cBhvr>
                                        <p:cTn id="25" dur="1800" decel="100000" fill="hold"/>
                                        <p:tgtEl>
                                          <p:spTgt spid="16"/>
                                        </p:tgtEl>
                                        <p:attrNameLst>
                                          <p:attrName>ppt_y</p:attrName>
                                        </p:attrNameLst>
                                      </p:cBhvr>
                                      <p:tavLst>
                                        <p:tav tm="0">
                                          <p:val>
                                            <p:strVal val="#ppt_y+1"/>
                                          </p:val>
                                        </p:tav>
                                        <p:tav tm="100000">
                                          <p:val>
                                            <p:strVal val="#ppt_y-.03"/>
                                          </p:val>
                                        </p:tav>
                                      </p:tavLst>
                                    </p:anim>
                                    <p:anim calcmode="lin" valueType="num">
                                      <p:cBhvr>
                                        <p:cTn id="26" dur="200" accel="100000" fill="hold">
                                          <p:stCondLst>
                                            <p:cond delay="1800"/>
                                          </p:stCondLst>
                                        </p:cTn>
                                        <p:tgtEl>
                                          <p:spTgt spid="16"/>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0" grpId="0" animBg="1"/>
      <p:bldP spid="13" grpId="0" animBg="1"/>
      <p:bldP spid="16"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DEVELOPMENT PROCESS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Agile Workflow &amp; Sprint Structure</a:t>
            </a:r>
            <a:endParaRPr lang="en-US" sz="3200" dirty="0"/>
          </a:p>
        </p:txBody>
      </p:sp>
      <p:sp>
        <p:nvSpPr>
          <p:cNvPr id="4" name="Shape 2"/>
          <p:cNvSpPr/>
          <p:nvPr/>
        </p:nvSpPr>
        <p:spPr>
          <a:xfrm>
            <a:off x="365760"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5" name="Text 3"/>
          <p:cNvSpPr/>
          <p:nvPr/>
        </p:nvSpPr>
        <p:spPr>
          <a:xfrm>
            <a:off x="365760"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S1</a:t>
            </a:r>
            <a:endParaRPr lang="en-US" sz="2200" dirty="0"/>
          </a:p>
        </p:txBody>
      </p:sp>
      <p:sp>
        <p:nvSpPr>
          <p:cNvPr id="6" name="Text 4"/>
          <p:cNvSpPr/>
          <p:nvPr/>
        </p:nvSpPr>
        <p:spPr>
          <a:xfrm>
            <a:off x="320040"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Foundation</a:t>
            </a:r>
            <a:endParaRPr lang="en-US" sz="1100" dirty="0"/>
          </a:p>
        </p:txBody>
      </p:sp>
      <p:sp>
        <p:nvSpPr>
          <p:cNvPr id="7" name="Text 5"/>
          <p:cNvSpPr/>
          <p:nvPr/>
        </p:nvSpPr>
        <p:spPr>
          <a:xfrm>
            <a:off x="320040"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Architecture, Planning, Standards, Development Environment</a:t>
            </a:r>
            <a:endParaRPr lang="en-US" sz="900" dirty="0"/>
          </a:p>
        </p:txBody>
      </p:sp>
      <p:sp>
        <p:nvSpPr>
          <p:cNvPr id="8" name="Shape 6"/>
          <p:cNvSpPr/>
          <p:nvPr/>
        </p:nvSpPr>
        <p:spPr>
          <a:xfrm>
            <a:off x="1920240" y="1709928"/>
            <a:ext cx="164592" cy="73152"/>
          </a:xfrm>
          <a:prstGeom prst="rect">
            <a:avLst/>
          </a:prstGeom>
          <a:solidFill>
            <a:srgbClr val="CBD5E1"/>
          </a:solidFill>
          <a:ln w="12700">
            <a:solidFill>
              <a:srgbClr val="CBD5E1"/>
            </a:solidFill>
            <a:prstDash val="solid"/>
          </a:ln>
        </p:spPr>
        <p:txBody>
          <a:bodyPr/>
          <a:lstStyle/>
          <a:p>
            <a:endParaRPr lang="en-US" dirty="0"/>
          </a:p>
        </p:txBody>
      </p:sp>
      <p:sp>
        <p:nvSpPr>
          <p:cNvPr id="9" name="Shape 7"/>
          <p:cNvSpPr/>
          <p:nvPr/>
        </p:nvSpPr>
        <p:spPr>
          <a:xfrm>
            <a:off x="2084832"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10" name="Text 8"/>
          <p:cNvSpPr/>
          <p:nvPr/>
        </p:nvSpPr>
        <p:spPr>
          <a:xfrm>
            <a:off x="2084832"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S2</a:t>
            </a:r>
            <a:endParaRPr lang="en-US" sz="2200" dirty="0"/>
          </a:p>
        </p:txBody>
      </p:sp>
      <p:sp>
        <p:nvSpPr>
          <p:cNvPr id="11" name="Text 9"/>
          <p:cNvSpPr/>
          <p:nvPr/>
        </p:nvSpPr>
        <p:spPr>
          <a:xfrm>
            <a:off x="2039112"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Infrastructure &amp; Data Layer</a:t>
            </a:r>
            <a:endParaRPr lang="en-US" sz="1100" dirty="0"/>
          </a:p>
        </p:txBody>
      </p:sp>
      <p:sp>
        <p:nvSpPr>
          <p:cNvPr id="12" name="Text 10"/>
          <p:cNvSpPr/>
          <p:nvPr/>
        </p:nvSpPr>
        <p:spPr>
          <a:xfrm>
            <a:off x="2039112"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Authentication, Database Management, UI shell</a:t>
            </a:r>
            <a:endParaRPr lang="en-US" sz="900" dirty="0"/>
          </a:p>
        </p:txBody>
      </p:sp>
      <p:sp>
        <p:nvSpPr>
          <p:cNvPr id="13" name="Shape 11"/>
          <p:cNvSpPr/>
          <p:nvPr/>
        </p:nvSpPr>
        <p:spPr>
          <a:xfrm>
            <a:off x="3639312"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14" name="Shape 12"/>
          <p:cNvSpPr/>
          <p:nvPr/>
        </p:nvSpPr>
        <p:spPr>
          <a:xfrm>
            <a:off x="3803904"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15" name="Text 13"/>
          <p:cNvSpPr/>
          <p:nvPr/>
        </p:nvSpPr>
        <p:spPr>
          <a:xfrm>
            <a:off x="3803904"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S3</a:t>
            </a:r>
            <a:endParaRPr lang="en-US" sz="2200" dirty="0"/>
          </a:p>
        </p:txBody>
      </p:sp>
      <p:sp>
        <p:nvSpPr>
          <p:cNvPr id="16" name="Text 14"/>
          <p:cNvSpPr/>
          <p:nvPr/>
        </p:nvSpPr>
        <p:spPr>
          <a:xfrm>
            <a:off x="3758184"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Engineering Backbone</a:t>
            </a:r>
            <a:endParaRPr lang="en-US" sz="1100" dirty="0"/>
          </a:p>
        </p:txBody>
      </p:sp>
      <p:sp>
        <p:nvSpPr>
          <p:cNvPr id="17" name="Text 15"/>
          <p:cNvSpPr/>
          <p:nvPr/>
        </p:nvSpPr>
        <p:spPr>
          <a:xfrm>
            <a:off x="3758184"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APIs, Authentication, Process Improvements &amp; CI Pipeline</a:t>
            </a:r>
            <a:endParaRPr lang="en-US" sz="900" dirty="0"/>
          </a:p>
        </p:txBody>
      </p:sp>
      <p:sp>
        <p:nvSpPr>
          <p:cNvPr id="18" name="Shape 16"/>
          <p:cNvSpPr/>
          <p:nvPr/>
        </p:nvSpPr>
        <p:spPr>
          <a:xfrm>
            <a:off x="5358384"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19" name="Shape 17"/>
          <p:cNvSpPr/>
          <p:nvPr/>
        </p:nvSpPr>
        <p:spPr>
          <a:xfrm>
            <a:off x="5522976"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20" name="Text 18"/>
          <p:cNvSpPr/>
          <p:nvPr/>
        </p:nvSpPr>
        <p:spPr>
          <a:xfrm>
            <a:off x="5522976"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S4</a:t>
            </a:r>
            <a:endParaRPr lang="en-US" sz="2200" dirty="0"/>
          </a:p>
        </p:txBody>
      </p:sp>
      <p:sp>
        <p:nvSpPr>
          <p:cNvPr id="21" name="Text 19"/>
          <p:cNvSpPr/>
          <p:nvPr/>
        </p:nvSpPr>
        <p:spPr>
          <a:xfrm>
            <a:off x="5477256"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cs typeface="Calibri" pitchFamily="34" charset="-120"/>
              </a:rPr>
              <a:t>Customer Experience</a:t>
            </a:r>
            <a:endParaRPr lang="en-US" sz="1100" dirty="0"/>
          </a:p>
        </p:txBody>
      </p:sp>
      <p:sp>
        <p:nvSpPr>
          <p:cNvPr id="22" name="Text 20"/>
          <p:cNvSpPr/>
          <p:nvPr/>
        </p:nvSpPr>
        <p:spPr>
          <a:xfrm>
            <a:off x="5477256"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Storefront Page, Customer Order Flow, RBAC</a:t>
            </a:r>
            <a:endParaRPr lang="en-US" sz="900" dirty="0"/>
          </a:p>
        </p:txBody>
      </p:sp>
      <p:sp>
        <p:nvSpPr>
          <p:cNvPr id="23" name="Shape 21"/>
          <p:cNvSpPr/>
          <p:nvPr/>
        </p:nvSpPr>
        <p:spPr>
          <a:xfrm>
            <a:off x="7077456"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24" name="Shape 22"/>
          <p:cNvSpPr/>
          <p:nvPr/>
        </p:nvSpPr>
        <p:spPr>
          <a:xfrm>
            <a:off x="7242048" y="1417320"/>
            <a:ext cx="1554480" cy="658368"/>
          </a:xfrm>
          <a:prstGeom prst="rect">
            <a:avLst/>
          </a:prstGeom>
          <a:solidFill>
            <a:srgbClr val="3BB77E"/>
          </a:solidFill>
          <a:ln w="12700">
            <a:solidFill>
              <a:srgbClr val="3BB77E"/>
            </a:solidFill>
            <a:prstDash val="solid"/>
          </a:ln>
        </p:spPr>
        <p:txBody>
          <a:bodyPr/>
          <a:lstStyle/>
          <a:p>
            <a:endParaRPr lang="en-US"/>
          </a:p>
        </p:txBody>
      </p:sp>
      <p:sp>
        <p:nvSpPr>
          <p:cNvPr id="25" name="Text 23"/>
          <p:cNvSpPr/>
          <p:nvPr/>
        </p:nvSpPr>
        <p:spPr>
          <a:xfrm>
            <a:off x="7242048"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S5</a:t>
            </a:r>
            <a:endParaRPr lang="en-US" sz="2200" dirty="0"/>
          </a:p>
        </p:txBody>
      </p:sp>
      <p:sp>
        <p:nvSpPr>
          <p:cNvPr id="26" name="Text 24"/>
          <p:cNvSpPr/>
          <p:nvPr/>
        </p:nvSpPr>
        <p:spPr>
          <a:xfrm>
            <a:off x="7196328"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cs typeface="Calibri" pitchFamily="34" charset="-120"/>
              </a:rPr>
              <a:t>Business Admin</a:t>
            </a:r>
            <a:endParaRPr lang="en-US" sz="1100" dirty="0"/>
          </a:p>
        </p:txBody>
      </p:sp>
      <p:sp>
        <p:nvSpPr>
          <p:cNvPr id="27" name="Text 25"/>
          <p:cNvSpPr/>
          <p:nvPr/>
        </p:nvSpPr>
        <p:spPr>
          <a:xfrm>
            <a:off x="7196328" y="2404872"/>
            <a:ext cx="1730696"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Dashboard, Admin Settings, </a:t>
            </a:r>
            <a:br>
              <a:rPr lang="en-US" sz="900" dirty="0">
                <a:solidFill>
                  <a:srgbClr val="6B7280"/>
                </a:solidFill>
                <a:latin typeface="Calibri" pitchFamily="34" charset="0"/>
                <a:ea typeface="Calibri" pitchFamily="34" charset="-122"/>
                <a:cs typeface="Calibri" pitchFamily="34" charset="-120"/>
              </a:rPr>
            </a:br>
            <a:r>
              <a:rPr lang="en-US" sz="900" dirty="0">
                <a:solidFill>
                  <a:srgbClr val="6B7280"/>
                </a:solidFill>
                <a:latin typeface="Calibri" pitchFamily="34" charset="0"/>
                <a:ea typeface="Calibri" pitchFamily="34" charset="-122"/>
                <a:cs typeface="Calibri" pitchFamily="34" charset="-120"/>
              </a:rPr>
              <a:t>Product &amp; Inventory Operations,</a:t>
            </a:r>
            <a:br>
              <a:rPr lang="en-US" sz="900" dirty="0">
                <a:solidFill>
                  <a:srgbClr val="6B7280"/>
                </a:solidFill>
                <a:latin typeface="Calibri" pitchFamily="34" charset="0"/>
                <a:ea typeface="Calibri" pitchFamily="34" charset="-122"/>
                <a:cs typeface="Calibri" pitchFamily="34" charset="-120"/>
              </a:rPr>
            </a:br>
            <a:r>
              <a:rPr lang="en-US" sz="900" dirty="0">
                <a:solidFill>
                  <a:srgbClr val="6B7280"/>
                </a:solidFill>
                <a:latin typeface="Calibri" pitchFamily="34" charset="0"/>
                <a:ea typeface="Calibri" pitchFamily="34" charset="-122"/>
                <a:cs typeface="Calibri" pitchFamily="34" charset="-120"/>
              </a:rPr>
              <a:t>Order Management &amp; Sales Analytics </a:t>
            </a:r>
            <a:endParaRPr lang="en-US" sz="900" dirty="0"/>
          </a:p>
        </p:txBody>
      </p:sp>
      <p:sp>
        <p:nvSpPr>
          <p:cNvPr id="43" name="Shape 41"/>
          <p:cNvSpPr/>
          <p:nvPr/>
        </p:nvSpPr>
        <p:spPr>
          <a:xfrm>
            <a:off x="365760" y="3951348"/>
            <a:ext cx="8412480" cy="822960"/>
          </a:xfrm>
          <a:prstGeom prst="rect">
            <a:avLst/>
          </a:prstGeom>
          <a:solidFill>
            <a:srgbClr val="EFF6FF"/>
          </a:solidFill>
          <a:ln w="12700">
            <a:solidFill>
              <a:srgbClr val="BFDBFE"/>
            </a:solidFill>
            <a:prstDash val="solid"/>
          </a:ln>
          <a:effectLst>
            <a:outerShdw blurRad="101600" dist="25400" dir="8100000" algn="bl" rotWithShape="0">
              <a:srgbClr val="000000">
                <a:alpha val="7000"/>
              </a:srgbClr>
            </a:outerShdw>
          </a:effectLst>
        </p:spPr>
        <p:txBody>
          <a:bodyPr/>
          <a:lstStyle/>
          <a:p>
            <a:endParaRPr lang="en-US" dirty="0"/>
          </a:p>
        </p:txBody>
      </p:sp>
      <p:sp>
        <p:nvSpPr>
          <p:cNvPr id="48" name="TL_Track">
            <a:extLst>
              <a:ext uri="{FF2B5EF4-FFF2-40B4-BE49-F238E27FC236}">
                <a16:creationId xmlns:a16="http://schemas.microsoft.com/office/drawing/2014/main" id="{1CCCF149-763F-A5B5-78E2-07C7C04ED3CE}"/>
              </a:ext>
            </a:extLst>
          </p:cNvPr>
          <p:cNvSpPr/>
          <p:nvPr/>
        </p:nvSpPr>
        <p:spPr>
          <a:xfrm>
            <a:off x="355208" y="3360421"/>
            <a:ext cx="8412480" cy="60960"/>
          </a:xfrm>
          <a:prstGeom prst="rect">
            <a:avLst/>
          </a:prstGeom>
          <a:solidFill>
            <a:srgbClr val="CBD5E1"/>
          </a:solidFill>
          <a:ln>
            <a:noFill/>
          </a:ln>
        </p:spPr>
        <p:txBody>
          <a:bodyPr/>
          <a:lstStyle/>
          <a:p>
            <a:endParaRPr lang="en-US"/>
          </a:p>
        </p:txBody>
      </p:sp>
      <p:sp>
        <p:nvSpPr>
          <p:cNvPr id="49" name="TL_S1_dot">
            <a:extLst>
              <a:ext uri="{FF2B5EF4-FFF2-40B4-BE49-F238E27FC236}">
                <a16:creationId xmlns:a16="http://schemas.microsoft.com/office/drawing/2014/main" id="{477F04EF-DE87-4B33-6658-21185A3D22E9}"/>
              </a:ext>
            </a:extLst>
          </p:cNvPr>
          <p:cNvSpPr/>
          <p:nvPr/>
        </p:nvSpPr>
        <p:spPr>
          <a:xfrm>
            <a:off x="396240" y="3321625"/>
            <a:ext cx="121920" cy="121920"/>
          </a:xfrm>
          <a:prstGeom prst="ellipse">
            <a:avLst/>
          </a:prstGeom>
          <a:solidFill>
            <a:srgbClr val="1B2B5E"/>
          </a:solidFill>
          <a:ln>
            <a:noFill/>
          </a:ln>
        </p:spPr>
        <p:txBody>
          <a:bodyPr/>
          <a:lstStyle/>
          <a:p>
            <a:endParaRPr lang="en-US"/>
          </a:p>
        </p:txBody>
      </p:sp>
      <p:sp>
        <p:nvSpPr>
          <p:cNvPr id="50" name="TL_S1_lbl">
            <a:extLst>
              <a:ext uri="{FF2B5EF4-FFF2-40B4-BE49-F238E27FC236}">
                <a16:creationId xmlns:a16="http://schemas.microsoft.com/office/drawing/2014/main" id="{D7DE4412-E18E-4B5A-6A3C-E5BEAF41DE50}"/>
              </a:ext>
            </a:extLst>
          </p:cNvPr>
          <p:cNvSpPr/>
          <p:nvPr/>
        </p:nvSpPr>
        <p:spPr>
          <a:xfrm>
            <a:off x="241134"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S1</a:t>
            </a:r>
          </a:p>
        </p:txBody>
      </p:sp>
      <p:sp>
        <p:nvSpPr>
          <p:cNvPr id="51" name="TL_S1_date">
            <a:extLst>
              <a:ext uri="{FF2B5EF4-FFF2-40B4-BE49-F238E27FC236}">
                <a16:creationId xmlns:a16="http://schemas.microsoft.com/office/drawing/2014/main" id="{5E33277C-34EB-EF05-33F9-4D355904870E}"/>
              </a:ext>
            </a:extLst>
          </p:cNvPr>
          <p:cNvSpPr/>
          <p:nvPr/>
        </p:nvSpPr>
        <p:spPr>
          <a:xfrm>
            <a:off x="146273" y="3488341"/>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Jan 31</a:t>
            </a:r>
          </a:p>
        </p:txBody>
      </p:sp>
      <p:sp>
        <p:nvSpPr>
          <p:cNvPr id="52" name="TL_S2_dot">
            <a:extLst>
              <a:ext uri="{FF2B5EF4-FFF2-40B4-BE49-F238E27FC236}">
                <a16:creationId xmlns:a16="http://schemas.microsoft.com/office/drawing/2014/main" id="{4B2D0CE8-F4C3-9462-2F85-D88E5E517431}"/>
              </a:ext>
            </a:extLst>
          </p:cNvPr>
          <p:cNvSpPr/>
          <p:nvPr/>
        </p:nvSpPr>
        <p:spPr>
          <a:xfrm>
            <a:off x="1755128" y="3329461"/>
            <a:ext cx="121920" cy="121920"/>
          </a:xfrm>
          <a:prstGeom prst="ellipse">
            <a:avLst/>
          </a:prstGeom>
          <a:solidFill>
            <a:srgbClr val="1B2B5E"/>
          </a:solidFill>
          <a:ln>
            <a:noFill/>
          </a:ln>
        </p:spPr>
        <p:txBody>
          <a:bodyPr/>
          <a:lstStyle/>
          <a:p>
            <a:endParaRPr lang="en-US"/>
          </a:p>
        </p:txBody>
      </p:sp>
      <p:sp>
        <p:nvSpPr>
          <p:cNvPr id="53" name="TL_S2_lbl">
            <a:extLst>
              <a:ext uri="{FF2B5EF4-FFF2-40B4-BE49-F238E27FC236}">
                <a16:creationId xmlns:a16="http://schemas.microsoft.com/office/drawing/2014/main" id="{08BDC6FB-077B-87FC-60A1-3555F78C31D8}"/>
              </a:ext>
            </a:extLst>
          </p:cNvPr>
          <p:cNvSpPr/>
          <p:nvPr/>
        </p:nvSpPr>
        <p:spPr>
          <a:xfrm>
            <a:off x="1587488" y="3185813"/>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S2</a:t>
            </a:r>
          </a:p>
        </p:txBody>
      </p:sp>
      <p:sp>
        <p:nvSpPr>
          <p:cNvPr id="54" name="TL_S2_date">
            <a:extLst>
              <a:ext uri="{FF2B5EF4-FFF2-40B4-BE49-F238E27FC236}">
                <a16:creationId xmlns:a16="http://schemas.microsoft.com/office/drawing/2014/main" id="{D74263D3-2CD9-4A83-C80B-67F88276B918}"/>
              </a:ext>
            </a:extLst>
          </p:cNvPr>
          <p:cNvSpPr/>
          <p:nvPr/>
        </p:nvSpPr>
        <p:spPr>
          <a:xfrm>
            <a:off x="1464961" y="3507430"/>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Feb 14</a:t>
            </a:r>
          </a:p>
        </p:txBody>
      </p:sp>
      <p:sp>
        <p:nvSpPr>
          <p:cNvPr id="55" name="TL_S3_dot">
            <a:extLst>
              <a:ext uri="{FF2B5EF4-FFF2-40B4-BE49-F238E27FC236}">
                <a16:creationId xmlns:a16="http://schemas.microsoft.com/office/drawing/2014/main" id="{DB51A5CB-2961-6753-31BC-A87CFAF37128}"/>
              </a:ext>
            </a:extLst>
          </p:cNvPr>
          <p:cNvSpPr/>
          <p:nvPr/>
        </p:nvSpPr>
        <p:spPr>
          <a:xfrm>
            <a:off x="3155048" y="3329461"/>
            <a:ext cx="121920" cy="121920"/>
          </a:xfrm>
          <a:prstGeom prst="ellipse">
            <a:avLst/>
          </a:prstGeom>
          <a:solidFill>
            <a:srgbClr val="1B2B5E"/>
          </a:solidFill>
          <a:ln>
            <a:noFill/>
          </a:ln>
        </p:spPr>
        <p:txBody>
          <a:bodyPr/>
          <a:lstStyle/>
          <a:p>
            <a:endParaRPr lang="en-US"/>
          </a:p>
        </p:txBody>
      </p:sp>
      <p:sp>
        <p:nvSpPr>
          <p:cNvPr id="56" name="TL_S3_lbl">
            <a:extLst>
              <a:ext uri="{FF2B5EF4-FFF2-40B4-BE49-F238E27FC236}">
                <a16:creationId xmlns:a16="http://schemas.microsoft.com/office/drawing/2014/main" id="{C4BFA7C0-CA77-165D-2795-5FA26D456F3E}"/>
              </a:ext>
            </a:extLst>
          </p:cNvPr>
          <p:cNvSpPr/>
          <p:nvPr/>
        </p:nvSpPr>
        <p:spPr>
          <a:xfrm>
            <a:off x="2993080"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S3</a:t>
            </a:r>
          </a:p>
        </p:txBody>
      </p:sp>
      <p:sp>
        <p:nvSpPr>
          <p:cNvPr id="57" name="TL_S3_date">
            <a:extLst>
              <a:ext uri="{FF2B5EF4-FFF2-40B4-BE49-F238E27FC236}">
                <a16:creationId xmlns:a16="http://schemas.microsoft.com/office/drawing/2014/main" id="{EE407D33-F8A8-6D38-5BDC-B4A967AAECDC}"/>
              </a:ext>
            </a:extLst>
          </p:cNvPr>
          <p:cNvSpPr/>
          <p:nvPr/>
        </p:nvSpPr>
        <p:spPr>
          <a:xfrm>
            <a:off x="2905968" y="3506750"/>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Feb 28</a:t>
            </a:r>
          </a:p>
        </p:txBody>
      </p:sp>
      <p:sp>
        <p:nvSpPr>
          <p:cNvPr id="58" name="TL_Break_bar">
            <a:extLst>
              <a:ext uri="{FF2B5EF4-FFF2-40B4-BE49-F238E27FC236}">
                <a16:creationId xmlns:a16="http://schemas.microsoft.com/office/drawing/2014/main" id="{EE14E628-AEDD-493F-857D-AD1B302B7EC6}"/>
              </a:ext>
            </a:extLst>
          </p:cNvPr>
          <p:cNvSpPr/>
          <p:nvPr/>
        </p:nvSpPr>
        <p:spPr>
          <a:xfrm>
            <a:off x="3874354" y="3356947"/>
            <a:ext cx="304800" cy="40000"/>
          </a:xfrm>
          <a:prstGeom prst="rect">
            <a:avLst/>
          </a:prstGeom>
          <a:solidFill>
            <a:srgbClr val="F59E0B"/>
          </a:solidFill>
          <a:ln>
            <a:noFill/>
          </a:ln>
        </p:spPr>
        <p:txBody>
          <a:bodyPr/>
          <a:lstStyle/>
          <a:p>
            <a:endParaRPr lang="en-US"/>
          </a:p>
        </p:txBody>
      </p:sp>
      <p:sp>
        <p:nvSpPr>
          <p:cNvPr id="59" name="TL_Break_lbl">
            <a:extLst>
              <a:ext uri="{FF2B5EF4-FFF2-40B4-BE49-F238E27FC236}">
                <a16:creationId xmlns:a16="http://schemas.microsoft.com/office/drawing/2014/main" id="{3A655CB8-C811-9635-03C4-3B3FC877B822}"/>
              </a:ext>
            </a:extLst>
          </p:cNvPr>
          <p:cNvSpPr/>
          <p:nvPr/>
        </p:nvSpPr>
        <p:spPr>
          <a:xfrm>
            <a:off x="3763687" y="3429505"/>
            <a:ext cx="530000" cy="110000"/>
          </a:xfrm>
          <a:prstGeom prst="rect">
            <a:avLst/>
          </a:prstGeom>
          <a:noFill/>
          <a:ln>
            <a:noFill/>
          </a:ln>
        </p:spPr>
        <p:txBody>
          <a:bodyPr wrap="square" lIns="0" tIns="0" rIns="0" bIns="0" rtlCol="0" anchor="ctr"/>
          <a:lstStyle/>
          <a:p>
            <a:pPr algn="ctr">
              <a:buNone/>
            </a:pPr>
            <a:r>
              <a:rPr lang="en-US" sz="550" b="1" dirty="0">
                <a:solidFill>
                  <a:srgbClr val="F59E0B"/>
                </a:solidFill>
                <a:latin typeface="Calibri"/>
              </a:rPr>
              <a:t>Break</a:t>
            </a:r>
          </a:p>
        </p:txBody>
      </p:sp>
      <p:sp>
        <p:nvSpPr>
          <p:cNvPr id="60" name="TL_S4_dot">
            <a:extLst>
              <a:ext uri="{FF2B5EF4-FFF2-40B4-BE49-F238E27FC236}">
                <a16:creationId xmlns:a16="http://schemas.microsoft.com/office/drawing/2014/main" id="{548FEB90-9705-9621-11E8-5C5F044C83E9}"/>
              </a:ext>
            </a:extLst>
          </p:cNvPr>
          <p:cNvSpPr/>
          <p:nvPr/>
        </p:nvSpPr>
        <p:spPr>
          <a:xfrm>
            <a:off x="4739640" y="3321625"/>
            <a:ext cx="121920" cy="121920"/>
          </a:xfrm>
          <a:prstGeom prst="ellipse">
            <a:avLst/>
          </a:prstGeom>
          <a:solidFill>
            <a:srgbClr val="1B2B5E"/>
          </a:solidFill>
          <a:ln>
            <a:noFill/>
          </a:ln>
        </p:spPr>
        <p:txBody>
          <a:bodyPr/>
          <a:lstStyle/>
          <a:p>
            <a:endParaRPr lang="en-US"/>
          </a:p>
        </p:txBody>
      </p:sp>
      <p:sp>
        <p:nvSpPr>
          <p:cNvPr id="61" name="TL_S4_lbl">
            <a:extLst>
              <a:ext uri="{FF2B5EF4-FFF2-40B4-BE49-F238E27FC236}">
                <a16:creationId xmlns:a16="http://schemas.microsoft.com/office/drawing/2014/main" id="{54987736-CD40-8D15-FE3C-791F5D12BE7F}"/>
              </a:ext>
            </a:extLst>
          </p:cNvPr>
          <p:cNvSpPr/>
          <p:nvPr/>
        </p:nvSpPr>
        <p:spPr>
          <a:xfrm>
            <a:off x="4572000"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S4</a:t>
            </a:r>
          </a:p>
        </p:txBody>
      </p:sp>
      <p:sp>
        <p:nvSpPr>
          <p:cNvPr id="62" name="TL_S4_date">
            <a:extLst>
              <a:ext uri="{FF2B5EF4-FFF2-40B4-BE49-F238E27FC236}">
                <a16:creationId xmlns:a16="http://schemas.microsoft.com/office/drawing/2014/main" id="{460EDA01-7315-26DB-89D1-004B7E9EF140}"/>
              </a:ext>
            </a:extLst>
          </p:cNvPr>
          <p:cNvSpPr/>
          <p:nvPr/>
        </p:nvSpPr>
        <p:spPr>
          <a:xfrm>
            <a:off x="4490375" y="3484505"/>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Mar 21</a:t>
            </a:r>
          </a:p>
        </p:txBody>
      </p:sp>
      <p:sp>
        <p:nvSpPr>
          <p:cNvPr id="63" name="TL_S5_dot">
            <a:extLst>
              <a:ext uri="{FF2B5EF4-FFF2-40B4-BE49-F238E27FC236}">
                <a16:creationId xmlns:a16="http://schemas.microsoft.com/office/drawing/2014/main" id="{43B6A58A-1D88-8581-31F5-7F46238AC892}"/>
              </a:ext>
            </a:extLst>
          </p:cNvPr>
          <p:cNvSpPr/>
          <p:nvPr/>
        </p:nvSpPr>
        <p:spPr>
          <a:xfrm>
            <a:off x="5969768" y="3329461"/>
            <a:ext cx="121920" cy="121920"/>
          </a:xfrm>
          <a:prstGeom prst="ellipse">
            <a:avLst/>
          </a:prstGeom>
          <a:solidFill>
            <a:srgbClr val="1B2B5E"/>
          </a:solidFill>
          <a:ln>
            <a:noFill/>
          </a:ln>
        </p:spPr>
        <p:txBody>
          <a:bodyPr/>
          <a:lstStyle/>
          <a:p>
            <a:endParaRPr lang="en-US"/>
          </a:p>
        </p:txBody>
      </p:sp>
      <p:sp>
        <p:nvSpPr>
          <p:cNvPr id="64" name="TL_S5_lbl">
            <a:extLst>
              <a:ext uri="{FF2B5EF4-FFF2-40B4-BE49-F238E27FC236}">
                <a16:creationId xmlns:a16="http://schemas.microsoft.com/office/drawing/2014/main" id="{1F5A13EB-A0AF-DEA3-7EBA-DB9FDDDED293}"/>
              </a:ext>
            </a:extLst>
          </p:cNvPr>
          <p:cNvSpPr/>
          <p:nvPr/>
        </p:nvSpPr>
        <p:spPr>
          <a:xfrm>
            <a:off x="5802128"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S5</a:t>
            </a:r>
          </a:p>
        </p:txBody>
      </p:sp>
      <p:sp>
        <p:nvSpPr>
          <p:cNvPr id="65" name="TL_S5_date">
            <a:extLst>
              <a:ext uri="{FF2B5EF4-FFF2-40B4-BE49-F238E27FC236}">
                <a16:creationId xmlns:a16="http://schemas.microsoft.com/office/drawing/2014/main" id="{42E47CFC-CF73-9158-6354-8FEDAE7CFDB2}"/>
              </a:ext>
            </a:extLst>
          </p:cNvPr>
          <p:cNvSpPr/>
          <p:nvPr/>
        </p:nvSpPr>
        <p:spPr>
          <a:xfrm>
            <a:off x="5710688" y="3492379"/>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Apr 4</a:t>
            </a:r>
          </a:p>
        </p:txBody>
      </p:sp>
      <p:sp>
        <p:nvSpPr>
          <p:cNvPr id="67" name="TL_P4_date">
            <a:extLst>
              <a:ext uri="{FF2B5EF4-FFF2-40B4-BE49-F238E27FC236}">
                <a16:creationId xmlns:a16="http://schemas.microsoft.com/office/drawing/2014/main" id="{8647019D-2240-6132-55CE-34C07FD5A3AD}"/>
              </a:ext>
            </a:extLst>
          </p:cNvPr>
          <p:cNvSpPr/>
          <p:nvPr/>
        </p:nvSpPr>
        <p:spPr>
          <a:xfrm>
            <a:off x="8080368" y="3598670"/>
            <a:ext cx="640080" cy="110000"/>
          </a:xfrm>
          <a:prstGeom prst="rect">
            <a:avLst/>
          </a:prstGeom>
          <a:noFill/>
          <a:ln>
            <a:noFill/>
          </a:ln>
        </p:spPr>
        <p:txBody>
          <a:bodyPr wrap="square" lIns="0" tIns="0" rIns="0" bIns="0" rtlCol="0" anchor="ctr"/>
          <a:lstStyle/>
          <a:p>
            <a:pPr algn="ctr">
              <a:buNone/>
            </a:pPr>
            <a:r>
              <a:rPr lang="en-US" sz="600" dirty="0">
                <a:solidFill>
                  <a:srgbClr val="3BB77E"/>
                </a:solidFill>
                <a:latin typeface="Calibri"/>
              </a:rPr>
              <a:t>April 30</a:t>
            </a:r>
            <a:br>
              <a:rPr lang="en-US" sz="600" dirty="0">
                <a:solidFill>
                  <a:srgbClr val="3BB77E"/>
                </a:solidFill>
                <a:latin typeface="Calibri"/>
              </a:rPr>
            </a:br>
            <a:r>
              <a:rPr lang="en-US" sz="600" b="1" dirty="0">
                <a:solidFill>
                  <a:srgbClr val="3BB77E"/>
                </a:solidFill>
                <a:latin typeface="Calibri"/>
              </a:rPr>
              <a:t>Presentation</a:t>
            </a:r>
            <a:br>
              <a:rPr lang="en-US" sz="600" b="1" dirty="0">
                <a:solidFill>
                  <a:srgbClr val="3BB77E"/>
                </a:solidFill>
                <a:latin typeface="Calibri"/>
              </a:rPr>
            </a:br>
            <a:r>
              <a:rPr lang="en-US" sz="600" b="1" dirty="0">
                <a:solidFill>
                  <a:srgbClr val="3BB77E"/>
                </a:solidFill>
                <a:latin typeface="Calibri"/>
              </a:rPr>
              <a:t>&amp; Demo</a:t>
            </a:r>
          </a:p>
        </p:txBody>
      </p:sp>
      <p:sp>
        <p:nvSpPr>
          <p:cNvPr id="68" name="TL_CF_diamond">
            <a:extLst>
              <a:ext uri="{FF2B5EF4-FFF2-40B4-BE49-F238E27FC236}">
                <a16:creationId xmlns:a16="http://schemas.microsoft.com/office/drawing/2014/main" id="{1070B717-8419-287F-EF0B-0E237466906C}"/>
              </a:ext>
            </a:extLst>
          </p:cNvPr>
          <p:cNvSpPr>
            <a:spLocks noChangeAspect="1"/>
          </p:cNvSpPr>
          <p:nvPr/>
        </p:nvSpPr>
        <p:spPr>
          <a:xfrm rot="2700000">
            <a:off x="7443939" y="3334495"/>
            <a:ext cx="125003" cy="125003"/>
          </a:xfrm>
          <a:prstGeom prst="rect">
            <a:avLst/>
          </a:prstGeom>
          <a:solidFill>
            <a:srgbClr val="EF4444"/>
          </a:solidFill>
          <a:ln>
            <a:noFill/>
          </a:ln>
        </p:spPr>
        <p:txBody>
          <a:bodyPr/>
          <a:lstStyle/>
          <a:p>
            <a:endParaRPr lang="en-US"/>
          </a:p>
        </p:txBody>
      </p:sp>
      <p:sp>
        <p:nvSpPr>
          <p:cNvPr id="69" name="TL_CF_date">
            <a:extLst>
              <a:ext uri="{FF2B5EF4-FFF2-40B4-BE49-F238E27FC236}">
                <a16:creationId xmlns:a16="http://schemas.microsoft.com/office/drawing/2014/main" id="{7FE53BD2-3391-EE04-3FC1-61C00B533499}"/>
              </a:ext>
            </a:extLst>
          </p:cNvPr>
          <p:cNvSpPr/>
          <p:nvPr/>
        </p:nvSpPr>
        <p:spPr>
          <a:xfrm>
            <a:off x="7232904" y="3558008"/>
            <a:ext cx="530000" cy="213623"/>
          </a:xfrm>
          <a:prstGeom prst="rect">
            <a:avLst/>
          </a:prstGeom>
          <a:noFill/>
          <a:ln>
            <a:noFill/>
          </a:ln>
        </p:spPr>
        <p:txBody>
          <a:bodyPr wrap="square" lIns="0" tIns="0" rIns="0" bIns="0" rtlCol="0" anchor="ctr"/>
          <a:lstStyle/>
          <a:p>
            <a:pPr algn="ctr">
              <a:buNone/>
            </a:pPr>
            <a:r>
              <a:rPr lang="en-US" sz="600" dirty="0">
                <a:solidFill>
                  <a:srgbClr val="EF4444"/>
                </a:solidFill>
                <a:latin typeface="Calibri"/>
              </a:rPr>
              <a:t>Apr 24</a:t>
            </a:r>
            <a:br>
              <a:rPr lang="en-US" sz="600" dirty="0">
                <a:solidFill>
                  <a:srgbClr val="EF4444"/>
                </a:solidFill>
                <a:latin typeface="Calibri"/>
              </a:rPr>
            </a:br>
            <a:r>
              <a:rPr lang="en-US" sz="600" dirty="0">
                <a:solidFill>
                  <a:srgbClr val="EF4444"/>
                </a:solidFill>
                <a:latin typeface="Calibri"/>
              </a:rPr>
              <a:t>Code Freeze</a:t>
            </a:r>
          </a:p>
        </p:txBody>
      </p:sp>
      <p:sp>
        <p:nvSpPr>
          <p:cNvPr id="70" name="TL_Deploy_diamond">
            <a:extLst>
              <a:ext uri="{FF2B5EF4-FFF2-40B4-BE49-F238E27FC236}">
                <a16:creationId xmlns:a16="http://schemas.microsoft.com/office/drawing/2014/main" id="{2E84DF80-0523-D79F-6C2F-94D93579CEAA}"/>
              </a:ext>
            </a:extLst>
          </p:cNvPr>
          <p:cNvSpPr>
            <a:spLocks noChangeAspect="1"/>
          </p:cNvSpPr>
          <p:nvPr/>
        </p:nvSpPr>
        <p:spPr>
          <a:xfrm rot="2700000">
            <a:off x="7879504" y="3332448"/>
            <a:ext cx="129095" cy="129095"/>
          </a:xfrm>
          <a:prstGeom prst="rect">
            <a:avLst/>
          </a:prstGeom>
          <a:solidFill>
            <a:srgbClr val="3BB77E"/>
          </a:solidFill>
          <a:ln>
            <a:noFill/>
          </a:ln>
        </p:spPr>
        <p:txBody>
          <a:bodyPr/>
          <a:lstStyle/>
          <a:p>
            <a:endParaRPr lang="en-US"/>
          </a:p>
        </p:txBody>
      </p:sp>
      <p:sp>
        <p:nvSpPr>
          <p:cNvPr id="71" name="TL_Deploy_lbl">
            <a:extLst>
              <a:ext uri="{FF2B5EF4-FFF2-40B4-BE49-F238E27FC236}">
                <a16:creationId xmlns:a16="http://schemas.microsoft.com/office/drawing/2014/main" id="{C95C77BA-0EB4-7A9A-451C-4AA6F11F6124}"/>
              </a:ext>
            </a:extLst>
          </p:cNvPr>
          <p:cNvSpPr/>
          <p:nvPr/>
        </p:nvSpPr>
        <p:spPr>
          <a:xfrm>
            <a:off x="7715451" y="3598029"/>
            <a:ext cx="457200" cy="110000"/>
          </a:xfrm>
          <a:prstGeom prst="rect">
            <a:avLst/>
          </a:prstGeom>
          <a:noFill/>
          <a:ln>
            <a:noFill/>
          </a:ln>
        </p:spPr>
        <p:txBody>
          <a:bodyPr wrap="square" lIns="0" tIns="0" rIns="0" bIns="0" rtlCol="0" anchor="ctr"/>
          <a:lstStyle/>
          <a:p>
            <a:pPr algn="ctr">
              <a:buNone/>
            </a:pPr>
            <a:r>
              <a:rPr lang="en-US" sz="600" b="1" dirty="0">
                <a:solidFill>
                  <a:srgbClr val="3BB77E"/>
                </a:solidFill>
                <a:latin typeface="Calibri"/>
              </a:rPr>
              <a:t>Apr 25</a:t>
            </a:r>
            <a:br>
              <a:rPr lang="en-US" sz="600" b="1" dirty="0">
                <a:solidFill>
                  <a:srgbClr val="3BB77E"/>
                </a:solidFill>
                <a:latin typeface="Calibri"/>
              </a:rPr>
            </a:br>
            <a:r>
              <a:rPr lang="en-US" sz="600" b="1" dirty="0">
                <a:solidFill>
                  <a:srgbClr val="3BB77E"/>
                </a:solidFill>
                <a:latin typeface="Calibri"/>
              </a:rPr>
              <a:t>Deployed</a:t>
            </a:r>
          </a:p>
        </p:txBody>
      </p:sp>
      <p:sp>
        <p:nvSpPr>
          <p:cNvPr id="72" name="TL_S5_dot">
            <a:extLst>
              <a:ext uri="{FF2B5EF4-FFF2-40B4-BE49-F238E27FC236}">
                <a16:creationId xmlns:a16="http://schemas.microsoft.com/office/drawing/2014/main" id="{0A944DAF-64E4-041E-08A4-655642322C1D}"/>
              </a:ext>
            </a:extLst>
          </p:cNvPr>
          <p:cNvSpPr/>
          <p:nvPr/>
        </p:nvSpPr>
        <p:spPr>
          <a:xfrm>
            <a:off x="6907860" y="3319461"/>
            <a:ext cx="121920" cy="121920"/>
          </a:xfrm>
          <a:prstGeom prst="ellipse">
            <a:avLst/>
          </a:prstGeom>
          <a:solidFill>
            <a:srgbClr val="1B2B5E"/>
          </a:solidFill>
          <a:ln>
            <a:noFill/>
          </a:ln>
        </p:spPr>
        <p:txBody>
          <a:bodyPr/>
          <a:lstStyle/>
          <a:p>
            <a:endParaRPr lang="en-US"/>
          </a:p>
        </p:txBody>
      </p:sp>
      <p:sp>
        <p:nvSpPr>
          <p:cNvPr id="74" name="TL_S5_lbl">
            <a:extLst>
              <a:ext uri="{FF2B5EF4-FFF2-40B4-BE49-F238E27FC236}">
                <a16:creationId xmlns:a16="http://schemas.microsoft.com/office/drawing/2014/main" id="{69A61A27-5772-B1EF-6624-6788079957B8}"/>
              </a:ext>
            </a:extLst>
          </p:cNvPr>
          <p:cNvSpPr/>
          <p:nvPr/>
        </p:nvSpPr>
        <p:spPr>
          <a:xfrm>
            <a:off x="6740946" y="3199423"/>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Phase 4</a:t>
            </a:r>
          </a:p>
        </p:txBody>
      </p:sp>
      <p:sp>
        <p:nvSpPr>
          <p:cNvPr id="77" name="Text 2">
            <a:extLst>
              <a:ext uri="{FF2B5EF4-FFF2-40B4-BE49-F238E27FC236}">
                <a16:creationId xmlns:a16="http://schemas.microsoft.com/office/drawing/2014/main" id="{57775A8E-BD17-2284-2E97-DC72A9F63C4D}"/>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Serina Rodriguez</a:t>
            </a:r>
            <a:endParaRPr lang="en-US" sz="800" dirty="0"/>
          </a:p>
        </p:txBody>
      </p:sp>
      <p:sp>
        <p:nvSpPr>
          <p:cNvPr id="78" name="Text 3">
            <a:extLst>
              <a:ext uri="{FF2B5EF4-FFF2-40B4-BE49-F238E27FC236}">
                <a16:creationId xmlns:a16="http://schemas.microsoft.com/office/drawing/2014/main" id="{6EAFBBB2-5296-A534-2442-3E220C5226F3}"/>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PM | SCRUM Master</a:t>
            </a:r>
            <a:endParaRPr lang="en-US" sz="700" dirty="0"/>
          </a:p>
        </p:txBody>
      </p:sp>
      <p:sp>
        <p:nvSpPr>
          <p:cNvPr id="79" name="Text 2">
            <a:extLst>
              <a:ext uri="{FF2B5EF4-FFF2-40B4-BE49-F238E27FC236}">
                <a16:creationId xmlns:a16="http://schemas.microsoft.com/office/drawing/2014/main" id="{97E38EA9-5035-6828-9439-18AA09C3F2B5}"/>
              </a:ext>
            </a:extLst>
          </p:cNvPr>
          <p:cNvSpPr/>
          <p:nvPr/>
        </p:nvSpPr>
        <p:spPr>
          <a:xfrm>
            <a:off x="457200" y="1086611"/>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Iteratively built from the ground up</a:t>
            </a:r>
            <a:endParaRPr lang="en-US" sz="1100" dirty="0"/>
          </a:p>
        </p:txBody>
      </p:sp>
      <p:pic>
        <p:nvPicPr>
          <p:cNvPr id="81" name="Graphic 80" descr="Star with solid fill">
            <a:extLst>
              <a:ext uri="{FF2B5EF4-FFF2-40B4-BE49-F238E27FC236}">
                <a16:creationId xmlns:a16="http://schemas.microsoft.com/office/drawing/2014/main" id="{FB34FF6D-8A94-72F5-2F8C-C215EF4760F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63808" y="3218709"/>
            <a:ext cx="269632" cy="269632"/>
          </a:xfrm>
          <a:prstGeom prst="rect">
            <a:avLst/>
          </a:prstGeom>
        </p:spPr>
      </p:pic>
      <p:sp>
        <p:nvSpPr>
          <p:cNvPr id="82" name="Text 83">
            <a:extLst>
              <a:ext uri="{FF2B5EF4-FFF2-40B4-BE49-F238E27FC236}">
                <a16:creationId xmlns:a16="http://schemas.microsoft.com/office/drawing/2014/main" id="{D71B48C3-318D-5ADE-4EFB-637A5ECC5B02}"/>
              </a:ext>
            </a:extLst>
          </p:cNvPr>
          <p:cNvSpPr/>
          <p:nvPr/>
        </p:nvSpPr>
        <p:spPr>
          <a:xfrm>
            <a:off x="2121408"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14</a:t>
            </a:r>
            <a:endParaRPr lang="en-US" sz="2200" dirty="0">
              <a:solidFill>
                <a:schemeClr val="accent1"/>
              </a:solidFill>
            </a:endParaRPr>
          </a:p>
        </p:txBody>
      </p:sp>
      <p:sp>
        <p:nvSpPr>
          <p:cNvPr id="83" name="Text 84">
            <a:extLst>
              <a:ext uri="{FF2B5EF4-FFF2-40B4-BE49-F238E27FC236}">
                <a16:creationId xmlns:a16="http://schemas.microsoft.com/office/drawing/2014/main" id="{2D19C59F-729C-31D4-8C58-13A6548F93B2}"/>
              </a:ext>
            </a:extLst>
          </p:cNvPr>
          <p:cNvSpPr/>
          <p:nvPr/>
        </p:nvSpPr>
        <p:spPr>
          <a:xfrm>
            <a:off x="2121408" y="4426424"/>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Weeks</a:t>
            </a:r>
            <a:endParaRPr lang="en-US" sz="750" dirty="0"/>
          </a:p>
        </p:txBody>
      </p:sp>
      <p:sp>
        <p:nvSpPr>
          <p:cNvPr id="84" name="Text 85">
            <a:extLst>
              <a:ext uri="{FF2B5EF4-FFF2-40B4-BE49-F238E27FC236}">
                <a16:creationId xmlns:a16="http://schemas.microsoft.com/office/drawing/2014/main" id="{EFB5E5EE-F0F1-B14C-29FC-9F757B95D92C}"/>
              </a:ext>
            </a:extLst>
          </p:cNvPr>
          <p:cNvSpPr/>
          <p:nvPr/>
        </p:nvSpPr>
        <p:spPr>
          <a:xfrm>
            <a:off x="3465576"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5 </a:t>
            </a:r>
            <a:endParaRPr lang="en-US" sz="2200" dirty="0">
              <a:solidFill>
                <a:schemeClr val="accent1"/>
              </a:solidFill>
            </a:endParaRPr>
          </a:p>
        </p:txBody>
      </p:sp>
      <p:sp>
        <p:nvSpPr>
          <p:cNvPr id="85" name="Text 86">
            <a:extLst>
              <a:ext uri="{FF2B5EF4-FFF2-40B4-BE49-F238E27FC236}">
                <a16:creationId xmlns:a16="http://schemas.microsoft.com/office/drawing/2014/main" id="{1308E730-981E-F06C-6C5C-A67E56F5F287}"/>
              </a:ext>
            </a:extLst>
          </p:cNvPr>
          <p:cNvSpPr/>
          <p:nvPr/>
        </p:nvSpPr>
        <p:spPr>
          <a:xfrm>
            <a:off x="3460982" y="4422649"/>
            <a:ext cx="1051560" cy="164592"/>
          </a:xfrm>
          <a:prstGeom prst="rect">
            <a:avLst/>
          </a:prstGeom>
          <a:noFill/>
          <a:ln/>
        </p:spPr>
        <p:txBody>
          <a:bodyPr wrap="square" lIns="0" tIns="0" rIns="0" bIns="0" rtlCol="0" anchor="ctr"/>
          <a:lstStyle/>
          <a:p>
            <a:pPr algn="ctr"/>
            <a:r>
              <a:rPr lang="en-US" sz="750" dirty="0">
                <a:solidFill>
                  <a:srgbClr val="9DB4C0"/>
                </a:solidFill>
              </a:rPr>
              <a:t>Sprint Reviews</a:t>
            </a:r>
            <a:br>
              <a:rPr lang="en-US" sz="750" dirty="0">
                <a:solidFill>
                  <a:srgbClr val="9DB4C0"/>
                </a:solidFill>
              </a:rPr>
            </a:br>
            <a:r>
              <a:rPr lang="en-US" sz="750" dirty="0">
                <a:solidFill>
                  <a:srgbClr val="9DB4C0"/>
                </a:solidFill>
              </a:rPr>
              <a:t>&amp; Retrospectives</a:t>
            </a:r>
            <a:endParaRPr lang="en-US" sz="750" dirty="0"/>
          </a:p>
        </p:txBody>
      </p:sp>
      <p:sp>
        <p:nvSpPr>
          <p:cNvPr id="86" name="Text 87">
            <a:extLst>
              <a:ext uri="{FF2B5EF4-FFF2-40B4-BE49-F238E27FC236}">
                <a16:creationId xmlns:a16="http://schemas.microsoft.com/office/drawing/2014/main" id="{6D357E94-CB6E-A24E-67CA-91A61A2ABEA1}"/>
              </a:ext>
            </a:extLst>
          </p:cNvPr>
          <p:cNvSpPr/>
          <p:nvPr/>
        </p:nvSpPr>
        <p:spPr>
          <a:xfrm>
            <a:off x="4809744"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30+</a:t>
            </a:r>
            <a:endParaRPr lang="en-US" sz="2200" dirty="0">
              <a:solidFill>
                <a:schemeClr val="accent1"/>
              </a:solidFill>
            </a:endParaRPr>
          </a:p>
        </p:txBody>
      </p:sp>
      <p:sp>
        <p:nvSpPr>
          <p:cNvPr id="87" name="Text 88">
            <a:extLst>
              <a:ext uri="{FF2B5EF4-FFF2-40B4-BE49-F238E27FC236}">
                <a16:creationId xmlns:a16="http://schemas.microsoft.com/office/drawing/2014/main" id="{A3F640B9-BAA4-A7F8-BD79-9A8700F1A6C2}"/>
              </a:ext>
            </a:extLst>
          </p:cNvPr>
          <p:cNvSpPr/>
          <p:nvPr/>
        </p:nvSpPr>
        <p:spPr>
          <a:xfrm>
            <a:off x="4809744" y="4422649"/>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Team Meetings</a:t>
            </a:r>
            <a:br>
              <a:rPr lang="en-US" sz="750" dirty="0">
                <a:solidFill>
                  <a:srgbClr val="9DB4C0"/>
                </a:solidFill>
              </a:rPr>
            </a:br>
            <a:r>
              <a:rPr lang="en-US" sz="750" dirty="0">
                <a:solidFill>
                  <a:srgbClr val="9DB4C0"/>
                </a:solidFill>
              </a:rPr>
              <a:t>~60 Daily Standups</a:t>
            </a:r>
            <a:endParaRPr lang="en-US" sz="750" dirty="0"/>
          </a:p>
        </p:txBody>
      </p:sp>
      <p:sp>
        <p:nvSpPr>
          <p:cNvPr id="88" name="Text 89">
            <a:extLst>
              <a:ext uri="{FF2B5EF4-FFF2-40B4-BE49-F238E27FC236}">
                <a16:creationId xmlns:a16="http://schemas.microsoft.com/office/drawing/2014/main" id="{43055205-C65F-3FC6-50E1-0C1EB7AFDC42}"/>
              </a:ext>
            </a:extLst>
          </p:cNvPr>
          <p:cNvSpPr/>
          <p:nvPr/>
        </p:nvSpPr>
        <p:spPr>
          <a:xfrm>
            <a:off x="6153912"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2</a:t>
            </a:r>
            <a:endParaRPr lang="en-US" sz="2200" dirty="0">
              <a:solidFill>
                <a:schemeClr val="accent1"/>
              </a:solidFill>
            </a:endParaRPr>
          </a:p>
        </p:txBody>
      </p:sp>
      <p:sp>
        <p:nvSpPr>
          <p:cNvPr id="89" name="Text 90">
            <a:extLst>
              <a:ext uri="{FF2B5EF4-FFF2-40B4-BE49-F238E27FC236}">
                <a16:creationId xmlns:a16="http://schemas.microsoft.com/office/drawing/2014/main" id="{C124BA3B-1A1B-39F1-D80C-8604F7984630}"/>
              </a:ext>
            </a:extLst>
          </p:cNvPr>
          <p:cNvSpPr/>
          <p:nvPr/>
        </p:nvSpPr>
        <p:spPr>
          <a:xfrm>
            <a:off x="6153912"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Trello Boards</a:t>
            </a:r>
            <a:endParaRPr lang="en-US" sz="750" dirty="0"/>
          </a:p>
        </p:txBody>
      </p:sp>
      <p:sp>
        <p:nvSpPr>
          <p:cNvPr id="90" name="Text 91">
            <a:extLst>
              <a:ext uri="{FF2B5EF4-FFF2-40B4-BE49-F238E27FC236}">
                <a16:creationId xmlns:a16="http://schemas.microsoft.com/office/drawing/2014/main" id="{4258402A-124D-8EF3-2077-AD5AC63B72AE}"/>
              </a:ext>
            </a:extLst>
          </p:cNvPr>
          <p:cNvSpPr/>
          <p:nvPr/>
        </p:nvSpPr>
        <p:spPr>
          <a:xfrm>
            <a:off x="7498080"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1</a:t>
            </a:r>
            <a:endParaRPr lang="en-US" sz="2200" dirty="0">
              <a:solidFill>
                <a:schemeClr val="accent1"/>
              </a:solidFill>
            </a:endParaRPr>
          </a:p>
        </p:txBody>
      </p:sp>
      <p:sp>
        <p:nvSpPr>
          <p:cNvPr id="91" name="Text 92">
            <a:extLst>
              <a:ext uri="{FF2B5EF4-FFF2-40B4-BE49-F238E27FC236}">
                <a16:creationId xmlns:a16="http://schemas.microsoft.com/office/drawing/2014/main" id="{FD971F3D-60E2-4217-2B60-36F1A7264173}"/>
              </a:ext>
            </a:extLst>
          </p:cNvPr>
          <p:cNvSpPr/>
          <p:nvPr/>
        </p:nvSpPr>
        <p:spPr>
          <a:xfrm>
            <a:off x="749808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Product Development Plan</a:t>
            </a:r>
            <a:endParaRPr lang="en-US" sz="750" dirty="0"/>
          </a:p>
        </p:txBody>
      </p:sp>
      <p:sp>
        <p:nvSpPr>
          <p:cNvPr id="92" name="Text 91">
            <a:extLst>
              <a:ext uri="{FF2B5EF4-FFF2-40B4-BE49-F238E27FC236}">
                <a16:creationId xmlns:a16="http://schemas.microsoft.com/office/drawing/2014/main" id="{03E485CA-3A53-CB69-2D49-67F5DBD40AA7}"/>
              </a:ext>
            </a:extLst>
          </p:cNvPr>
          <p:cNvSpPr/>
          <p:nvPr/>
        </p:nvSpPr>
        <p:spPr>
          <a:xfrm>
            <a:off x="841248" y="406326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5</a:t>
            </a:r>
            <a:endParaRPr lang="en-US" sz="2200" dirty="0">
              <a:solidFill>
                <a:schemeClr val="accent1"/>
              </a:solidFill>
            </a:endParaRPr>
          </a:p>
        </p:txBody>
      </p:sp>
      <p:sp>
        <p:nvSpPr>
          <p:cNvPr id="93" name="Text 92">
            <a:extLst>
              <a:ext uri="{FF2B5EF4-FFF2-40B4-BE49-F238E27FC236}">
                <a16:creationId xmlns:a16="http://schemas.microsoft.com/office/drawing/2014/main" id="{B0265780-4740-F7E3-CA66-640F5E363AD1}"/>
              </a:ext>
            </a:extLst>
          </p:cNvPr>
          <p:cNvSpPr/>
          <p:nvPr/>
        </p:nvSpPr>
        <p:spPr>
          <a:xfrm>
            <a:off x="820430" y="4430650"/>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Sprints</a:t>
            </a:r>
            <a:endParaRPr lang="en-US" sz="750" dirty="0"/>
          </a:p>
        </p:txBody>
      </p:sp>
      <p:sp>
        <p:nvSpPr>
          <p:cNvPr id="94" name="TL_S5_date">
            <a:extLst>
              <a:ext uri="{FF2B5EF4-FFF2-40B4-BE49-F238E27FC236}">
                <a16:creationId xmlns:a16="http://schemas.microsoft.com/office/drawing/2014/main" id="{6F817826-8778-9F9A-311C-B25E600C1225}"/>
              </a:ext>
            </a:extLst>
          </p:cNvPr>
          <p:cNvSpPr/>
          <p:nvPr/>
        </p:nvSpPr>
        <p:spPr>
          <a:xfrm>
            <a:off x="6648780" y="3484505"/>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Apr 18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6">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KEY FEATURES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Orderly Delivers</a:t>
            </a:r>
            <a:endParaRPr lang="en-US" sz="3200" dirty="0"/>
          </a:p>
        </p:txBody>
      </p:sp>
      <p:sp>
        <p:nvSpPr>
          <p:cNvPr id="4" name="Shape 2"/>
          <p:cNvSpPr/>
          <p:nvPr/>
        </p:nvSpPr>
        <p:spPr>
          <a:xfrm>
            <a:off x="365760"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dirty="0"/>
          </a:p>
        </p:txBody>
      </p:sp>
      <p:sp>
        <p:nvSpPr>
          <p:cNvPr id="5" name="Shape 3"/>
          <p:cNvSpPr/>
          <p:nvPr/>
        </p:nvSpPr>
        <p:spPr>
          <a:xfrm>
            <a:off x="365760"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493776" y="1719072"/>
            <a:ext cx="347472" cy="347472"/>
          </a:xfrm>
          <a:prstGeom prst="rect">
            <a:avLst/>
          </a:prstGeom>
        </p:spPr>
      </p:pic>
      <p:sp>
        <p:nvSpPr>
          <p:cNvPr id="7" name="Text 4"/>
          <p:cNvSpPr/>
          <p:nvPr/>
        </p:nvSpPr>
        <p:spPr>
          <a:xfrm>
            <a:off x="914400"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Customer Ordering</a:t>
            </a:r>
            <a:endParaRPr lang="en-US" sz="1100" dirty="0"/>
          </a:p>
        </p:txBody>
      </p:sp>
      <p:sp>
        <p:nvSpPr>
          <p:cNvPr id="8" name="Text 5"/>
          <p:cNvSpPr/>
          <p:nvPr/>
        </p:nvSpPr>
        <p:spPr>
          <a:xfrm>
            <a:off x="493776" y="2121408"/>
            <a:ext cx="2377440" cy="201168"/>
          </a:xfrm>
          <a:prstGeom prst="rect">
            <a:avLst/>
          </a:prstGeom>
          <a:noFill/>
          <a:ln/>
        </p:spPr>
        <p:txBody>
          <a:bodyPr wrap="square" lIns="0" tIns="0" rIns="0" bIns="0" rtlCol="0" anchor="ctr"/>
          <a:lstStyle/>
          <a:p>
            <a:pPr marL="0" indent="0">
              <a:buNone/>
            </a:pPr>
            <a:r>
              <a:rPr lang="en-US" sz="800" b="1" dirty="0">
                <a:solidFill>
                  <a:srgbClr val="3BB77E"/>
                </a:solidFill>
                <a:latin typeface="Calibri" pitchFamily="34" charset="0"/>
                <a:cs typeface="Calibri" pitchFamily="34" charset="-120"/>
              </a:rPr>
              <a:t>Orders placed in seconds</a:t>
            </a:r>
            <a:endParaRPr lang="en-US" sz="800" dirty="0"/>
          </a:p>
        </p:txBody>
      </p:sp>
      <p:sp>
        <p:nvSpPr>
          <p:cNvPr id="9" name="Text 6"/>
          <p:cNvSpPr/>
          <p:nvPr/>
        </p:nvSpPr>
        <p:spPr>
          <a:xfrm>
            <a:off x="493776"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Self-service menu browsing  ·  Customize, Place &amp; cancel orders  ·  Real-time Order Status</a:t>
            </a:r>
            <a:endParaRPr lang="en-US" sz="900" dirty="0"/>
          </a:p>
        </p:txBody>
      </p:sp>
      <p:sp>
        <p:nvSpPr>
          <p:cNvPr id="10" name="Shape 7"/>
          <p:cNvSpPr/>
          <p:nvPr/>
        </p:nvSpPr>
        <p:spPr>
          <a:xfrm>
            <a:off x="3218688"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1" name="Shape 8"/>
          <p:cNvSpPr/>
          <p:nvPr/>
        </p:nvSpPr>
        <p:spPr>
          <a:xfrm>
            <a:off x="3218688"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3346704" y="1719072"/>
            <a:ext cx="347472" cy="347472"/>
          </a:xfrm>
          <a:prstGeom prst="rect">
            <a:avLst/>
          </a:prstGeom>
        </p:spPr>
      </p:pic>
      <p:sp>
        <p:nvSpPr>
          <p:cNvPr id="13" name="Text 9"/>
          <p:cNvSpPr/>
          <p:nvPr/>
        </p:nvSpPr>
        <p:spPr>
          <a:xfrm>
            <a:off x="3767328"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Admin Dashboard</a:t>
            </a:r>
            <a:endParaRPr lang="en-US" sz="1100" dirty="0"/>
          </a:p>
        </p:txBody>
      </p:sp>
      <p:sp>
        <p:nvSpPr>
          <p:cNvPr id="14" name="Text 10"/>
          <p:cNvSpPr/>
          <p:nvPr/>
        </p:nvSpPr>
        <p:spPr>
          <a:xfrm>
            <a:off x="3346704" y="212140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One hub for everything</a:t>
            </a:r>
            <a:endParaRPr lang="en-US" sz="800" dirty="0"/>
          </a:p>
        </p:txBody>
      </p:sp>
      <p:sp>
        <p:nvSpPr>
          <p:cNvPr id="15" name="Text 11"/>
          <p:cNvSpPr/>
          <p:nvPr/>
        </p:nvSpPr>
        <p:spPr>
          <a:xfrm>
            <a:off x="3346704"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Unified overview  ·  Quick access navigation  ·  Role-based Views</a:t>
            </a:r>
            <a:endParaRPr lang="en-US" sz="900" dirty="0"/>
          </a:p>
        </p:txBody>
      </p:sp>
      <p:sp>
        <p:nvSpPr>
          <p:cNvPr id="16" name="Shape 12"/>
          <p:cNvSpPr/>
          <p:nvPr/>
        </p:nvSpPr>
        <p:spPr>
          <a:xfrm>
            <a:off x="6071616"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7" name="Shape 13"/>
          <p:cNvSpPr/>
          <p:nvPr/>
        </p:nvSpPr>
        <p:spPr>
          <a:xfrm>
            <a:off x="6071616"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18" name="Image 2" descr="preencoded.png"/>
          <p:cNvPicPr>
            <a:picLocks noChangeAspect="1"/>
          </p:cNvPicPr>
          <p:nvPr/>
        </p:nvPicPr>
        <p:blipFill>
          <a:blip r:embed="rId5"/>
          <a:stretch>
            <a:fillRect/>
          </a:stretch>
        </p:blipFill>
        <p:spPr>
          <a:xfrm>
            <a:off x="6199632" y="1719072"/>
            <a:ext cx="347472" cy="347472"/>
          </a:xfrm>
          <a:prstGeom prst="rect">
            <a:avLst/>
          </a:prstGeom>
        </p:spPr>
      </p:pic>
      <p:sp>
        <p:nvSpPr>
          <p:cNvPr id="19" name="Text 14"/>
          <p:cNvSpPr/>
          <p:nvPr/>
        </p:nvSpPr>
        <p:spPr>
          <a:xfrm>
            <a:off x="6620256"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Product &amp; Inventory</a:t>
            </a:r>
            <a:endParaRPr lang="en-US" sz="1100" dirty="0"/>
          </a:p>
        </p:txBody>
      </p:sp>
      <p:sp>
        <p:nvSpPr>
          <p:cNvPr id="20" name="Text 15"/>
          <p:cNvSpPr/>
          <p:nvPr/>
        </p:nvSpPr>
        <p:spPr>
          <a:xfrm>
            <a:off x="6199632" y="212140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Full control, no guesswork</a:t>
            </a:r>
            <a:endParaRPr lang="en-US" sz="800" dirty="0"/>
          </a:p>
        </p:txBody>
      </p:sp>
      <p:sp>
        <p:nvSpPr>
          <p:cNvPr id="21" name="Text 16"/>
          <p:cNvSpPr/>
          <p:nvPr/>
        </p:nvSpPr>
        <p:spPr>
          <a:xfrm>
            <a:off x="6199632"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Full CRUD management ·  Stock alerts  ·  Category Organization</a:t>
            </a:r>
            <a:endParaRPr lang="en-US" sz="900" dirty="0"/>
          </a:p>
        </p:txBody>
      </p:sp>
      <p:sp>
        <p:nvSpPr>
          <p:cNvPr id="22" name="Shape 17"/>
          <p:cNvSpPr/>
          <p:nvPr/>
        </p:nvSpPr>
        <p:spPr>
          <a:xfrm>
            <a:off x="365760"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3" name="Shape 18"/>
          <p:cNvSpPr/>
          <p:nvPr/>
        </p:nvSpPr>
        <p:spPr>
          <a:xfrm>
            <a:off x="365760"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24" name="Image 3" descr="preencoded.png"/>
          <p:cNvPicPr>
            <a:picLocks noChangeAspect="1"/>
          </p:cNvPicPr>
          <p:nvPr/>
        </p:nvPicPr>
        <p:blipFill>
          <a:blip r:embed="rId6"/>
          <a:stretch>
            <a:fillRect/>
          </a:stretch>
        </p:blipFill>
        <p:spPr>
          <a:xfrm>
            <a:off x="493776" y="3502152"/>
            <a:ext cx="347472" cy="347472"/>
          </a:xfrm>
          <a:prstGeom prst="rect">
            <a:avLst/>
          </a:prstGeom>
        </p:spPr>
      </p:pic>
      <p:sp>
        <p:nvSpPr>
          <p:cNvPr id="25" name="Text 19"/>
          <p:cNvSpPr/>
          <p:nvPr/>
        </p:nvSpPr>
        <p:spPr>
          <a:xfrm>
            <a:off x="914400"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Sales Summary</a:t>
            </a:r>
            <a:endParaRPr lang="en-US" sz="1100" dirty="0"/>
          </a:p>
        </p:txBody>
      </p:sp>
      <p:sp>
        <p:nvSpPr>
          <p:cNvPr id="26" name="Text 20"/>
          <p:cNvSpPr/>
          <p:nvPr/>
        </p:nvSpPr>
        <p:spPr>
          <a:xfrm>
            <a:off x="493776"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Revenue clarity &amp; Best Sellers at a glance</a:t>
            </a:r>
            <a:endParaRPr lang="en-US" sz="800" dirty="0"/>
          </a:p>
        </p:txBody>
      </p:sp>
      <p:sp>
        <p:nvSpPr>
          <p:cNvPr id="27" name="Text 21"/>
          <p:cNvSpPr/>
          <p:nvPr/>
        </p:nvSpPr>
        <p:spPr>
          <a:xfrm>
            <a:off x="493776"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Revenue Trends ·  Order volume analytics  ·  Date range filtering</a:t>
            </a:r>
            <a:endParaRPr lang="en-US" sz="900" dirty="0"/>
          </a:p>
        </p:txBody>
      </p:sp>
      <p:sp>
        <p:nvSpPr>
          <p:cNvPr id="28" name="Shape 22"/>
          <p:cNvSpPr/>
          <p:nvPr/>
        </p:nvSpPr>
        <p:spPr>
          <a:xfrm>
            <a:off x="3218688"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9" name="Shape 23"/>
          <p:cNvSpPr/>
          <p:nvPr/>
        </p:nvSpPr>
        <p:spPr>
          <a:xfrm>
            <a:off x="3218688"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30" name="Image 4" descr="preencoded.png"/>
          <p:cNvPicPr>
            <a:picLocks noChangeAspect="1"/>
          </p:cNvPicPr>
          <p:nvPr/>
        </p:nvPicPr>
        <p:blipFill>
          <a:blip r:embed="rId7"/>
          <a:stretch>
            <a:fillRect/>
          </a:stretch>
        </p:blipFill>
        <p:spPr>
          <a:xfrm>
            <a:off x="3346704" y="3502152"/>
            <a:ext cx="347472" cy="347472"/>
          </a:xfrm>
          <a:prstGeom prst="rect">
            <a:avLst/>
          </a:prstGeom>
        </p:spPr>
      </p:pic>
      <p:sp>
        <p:nvSpPr>
          <p:cNvPr id="31" name="Text 24"/>
          <p:cNvSpPr/>
          <p:nvPr/>
        </p:nvSpPr>
        <p:spPr>
          <a:xfrm>
            <a:off x="3767328"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Admin Order Management</a:t>
            </a:r>
            <a:endParaRPr lang="en-US" sz="1100" dirty="0"/>
          </a:p>
        </p:txBody>
      </p:sp>
      <p:sp>
        <p:nvSpPr>
          <p:cNvPr id="32" name="Text 25"/>
          <p:cNvSpPr/>
          <p:nvPr/>
        </p:nvSpPr>
        <p:spPr>
          <a:xfrm>
            <a:off x="3346704"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Nothing falls through the cracks</a:t>
            </a:r>
            <a:endParaRPr lang="en-US" sz="800" dirty="0"/>
          </a:p>
        </p:txBody>
      </p:sp>
      <p:sp>
        <p:nvSpPr>
          <p:cNvPr id="33" name="Text 26"/>
          <p:cNvSpPr/>
          <p:nvPr/>
        </p:nvSpPr>
        <p:spPr>
          <a:xfrm>
            <a:off x="3346704"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Full order history ·  Status management  ·  Customer detail view</a:t>
            </a:r>
            <a:endParaRPr lang="en-US" sz="900" dirty="0"/>
          </a:p>
        </p:txBody>
      </p:sp>
      <p:sp>
        <p:nvSpPr>
          <p:cNvPr id="34" name="Shape 27"/>
          <p:cNvSpPr/>
          <p:nvPr/>
        </p:nvSpPr>
        <p:spPr>
          <a:xfrm>
            <a:off x="6071616"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5" name="Shape 28"/>
          <p:cNvSpPr/>
          <p:nvPr/>
        </p:nvSpPr>
        <p:spPr>
          <a:xfrm>
            <a:off x="6071616"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36" name="Image 5" descr="preencoded.png"/>
          <p:cNvPicPr>
            <a:picLocks noChangeAspect="1"/>
          </p:cNvPicPr>
          <p:nvPr/>
        </p:nvPicPr>
        <p:blipFill>
          <a:blip r:embed="rId8"/>
          <a:stretch>
            <a:fillRect/>
          </a:stretch>
        </p:blipFill>
        <p:spPr>
          <a:xfrm>
            <a:off x="6199632" y="3502152"/>
            <a:ext cx="347472" cy="347472"/>
          </a:xfrm>
          <a:prstGeom prst="rect">
            <a:avLst/>
          </a:prstGeom>
        </p:spPr>
      </p:pic>
      <p:sp>
        <p:nvSpPr>
          <p:cNvPr id="37" name="Text 29"/>
          <p:cNvSpPr/>
          <p:nvPr/>
        </p:nvSpPr>
        <p:spPr>
          <a:xfrm>
            <a:off x="6620256"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Settings</a:t>
            </a:r>
            <a:endParaRPr lang="en-US" sz="1100" dirty="0"/>
          </a:p>
        </p:txBody>
      </p:sp>
      <p:sp>
        <p:nvSpPr>
          <p:cNvPr id="38" name="Text 30"/>
          <p:cNvSpPr/>
          <p:nvPr/>
        </p:nvSpPr>
        <p:spPr>
          <a:xfrm>
            <a:off x="6199632"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Your business, your settings</a:t>
            </a:r>
            <a:endParaRPr lang="en-US" sz="800" dirty="0"/>
          </a:p>
        </p:txBody>
      </p:sp>
      <p:sp>
        <p:nvSpPr>
          <p:cNvPr id="39" name="Text 31"/>
          <p:cNvSpPr/>
          <p:nvPr/>
        </p:nvSpPr>
        <p:spPr>
          <a:xfrm>
            <a:off x="6199632"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Customer &amp; Business Profile Config ·  Preference Management  ·  Secure Updates</a:t>
            </a:r>
            <a:endParaRPr lang="en-US" sz="900" dirty="0"/>
          </a:p>
        </p:txBody>
      </p:sp>
      <p:sp>
        <p:nvSpPr>
          <p:cNvPr id="40" name="Text 2">
            <a:extLst>
              <a:ext uri="{FF2B5EF4-FFF2-40B4-BE49-F238E27FC236}">
                <a16:creationId xmlns:a16="http://schemas.microsoft.com/office/drawing/2014/main" id="{6857843F-CAC9-3855-5449-2D0ACDD7AEED}"/>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41" name="Text 3">
            <a:extLst>
              <a:ext uri="{FF2B5EF4-FFF2-40B4-BE49-F238E27FC236}">
                <a16:creationId xmlns:a16="http://schemas.microsoft.com/office/drawing/2014/main" id="{841CBF04-CF06-AEF9-A4DC-C0BED6C054C8}"/>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5359BEB2-9215-8B8D-E090-AD03FB545775}"/>
            </a:ext>
          </a:extLst>
        </p:cNvPr>
        <p:cNvGrpSpPr/>
        <p:nvPr/>
      </p:nvGrpSpPr>
      <p:grpSpPr>
        <a:xfrm>
          <a:off x="0" y="0"/>
          <a:ext cx="0" cy="0"/>
          <a:chOff x="0" y="0"/>
          <a:chExt cx="0" cy="0"/>
        </a:xfrm>
      </p:grpSpPr>
      <p:sp>
        <p:nvSpPr>
          <p:cNvPr id="125" name="Text 1">
            <a:extLst>
              <a:ext uri="{FF2B5EF4-FFF2-40B4-BE49-F238E27FC236}">
                <a16:creationId xmlns:a16="http://schemas.microsoft.com/office/drawing/2014/main" id="{5D9B83A8-9AA5-D393-2EB9-38485FE610FE}"/>
              </a:ext>
            </a:extLst>
          </p:cNvPr>
          <p:cNvSpPr/>
          <p:nvPr/>
        </p:nvSpPr>
        <p:spPr>
          <a:xfrm>
            <a:off x="502920" y="402336"/>
            <a:ext cx="6858000" cy="530352"/>
          </a:xfrm>
          <a:prstGeom prst="rect">
            <a:avLst/>
          </a:prstGeom>
          <a:noFill/>
          <a:ln/>
        </p:spPr>
        <p:txBody>
          <a:bodyPr wrap="square" lIns="0" tIns="0" rIns="0" bIns="0" rtlCol="0" anchor="ctr"/>
          <a:lstStyle/>
          <a:p>
            <a:pPr marL="0" indent="0" algn="l">
              <a:buNone/>
            </a:pPr>
            <a:r>
              <a:rPr lang="en-US" sz="3600" b="1" dirty="0">
                <a:solidFill>
                  <a:srgbClr val="0D1B3E"/>
                </a:solidFill>
                <a:latin typeface="Calibri" pitchFamily="34" charset="0"/>
                <a:ea typeface="Calibri" pitchFamily="34" charset="-122"/>
                <a:cs typeface="Calibri" pitchFamily="34" charset="-120"/>
              </a:rPr>
              <a:t>Epics &amp; Delivered Features</a:t>
            </a:r>
            <a:endParaRPr lang="en-US" sz="3600" dirty="0"/>
          </a:p>
        </p:txBody>
      </p:sp>
      <p:sp>
        <p:nvSpPr>
          <p:cNvPr id="128" name="Text 4">
            <a:extLst>
              <a:ext uri="{FF2B5EF4-FFF2-40B4-BE49-F238E27FC236}">
                <a16:creationId xmlns:a16="http://schemas.microsoft.com/office/drawing/2014/main" id="{74CD7ED8-074F-D1C5-07DA-60701ABC618B}"/>
              </a:ext>
            </a:extLst>
          </p:cNvPr>
          <p:cNvSpPr/>
          <p:nvPr/>
        </p:nvSpPr>
        <p:spPr>
          <a:xfrm>
            <a:off x="502920" y="996696"/>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What we set out to build — and what we delivered</a:t>
            </a:r>
            <a:endParaRPr lang="en-US" sz="1100" dirty="0"/>
          </a:p>
        </p:txBody>
      </p:sp>
      <p:sp>
        <p:nvSpPr>
          <p:cNvPr id="129" name="Shape 5">
            <a:extLst>
              <a:ext uri="{FF2B5EF4-FFF2-40B4-BE49-F238E27FC236}">
                <a16:creationId xmlns:a16="http://schemas.microsoft.com/office/drawing/2014/main" id="{B94622AA-7CA2-ACA2-FFB6-453DDDE40473}"/>
              </a:ext>
            </a:extLst>
          </p:cNvPr>
          <p:cNvSpPr/>
          <p:nvPr/>
        </p:nvSpPr>
        <p:spPr>
          <a:xfrm>
            <a:off x="502920"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30" name="Shape 6">
            <a:extLst>
              <a:ext uri="{FF2B5EF4-FFF2-40B4-BE49-F238E27FC236}">
                <a16:creationId xmlns:a16="http://schemas.microsoft.com/office/drawing/2014/main" id="{D89CF86D-8C01-4415-0701-C4A162BF4293}"/>
              </a:ext>
            </a:extLst>
          </p:cNvPr>
          <p:cNvSpPr/>
          <p:nvPr/>
        </p:nvSpPr>
        <p:spPr>
          <a:xfrm>
            <a:off x="502920" y="1261872"/>
            <a:ext cx="1965960" cy="274320"/>
          </a:xfrm>
          <a:prstGeom prst="rect">
            <a:avLst/>
          </a:prstGeom>
          <a:solidFill>
            <a:srgbClr val="1D9E75"/>
          </a:solidFill>
          <a:ln w="12700">
            <a:solidFill>
              <a:srgbClr val="1D9E75"/>
            </a:solidFill>
            <a:prstDash val="solid"/>
          </a:ln>
        </p:spPr>
        <p:txBody>
          <a:bodyPr/>
          <a:lstStyle/>
          <a:p>
            <a:endParaRPr lang="en-US"/>
          </a:p>
        </p:txBody>
      </p:sp>
      <p:sp>
        <p:nvSpPr>
          <p:cNvPr id="131" name="Shape 7">
            <a:extLst>
              <a:ext uri="{FF2B5EF4-FFF2-40B4-BE49-F238E27FC236}">
                <a16:creationId xmlns:a16="http://schemas.microsoft.com/office/drawing/2014/main" id="{B75DE203-D98B-78CE-D132-D43CD79FA389}"/>
              </a:ext>
            </a:extLst>
          </p:cNvPr>
          <p:cNvSpPr/>
          <p:nvPr/>
        </p:nvSpPr>
        <p:spPr>
          <a:xfrm>
            <a:off x="502920" y="1408176"/>
            <a:ext cx="1965960" cy="128016"/>
          </a:xfrm>
          <a:prstGeom prst="rect">
            <a:avLst/>
          </a:prstGeom>
          <a:solidFill>
            <a:srgbClr val="1D9E75"/>
          </a:solidFill>
          <a:ln w="12700">
            <a:solidFill>
              <a:srgbClr val="1D9E75"/>
            </a:solidFill>
            <a:prstDash val="solid"/>
          </a:ln>
        </p:spPr>
        <p:txBody>
          <a:bodyPr/>
          <a:lstStyle/>
          <a:p>
            <a:endParaRPr lang="en-US"/>
          </a:p>
        </p:txBody>
      </p:sp>
      <p:sp>
        <p:nvSpPr>
          <p:cNvPr id="132" name="Text 8">
            <a:extLst>
              <a:ext uri="{FF2B5EF4-FFF2-40B4-BE49-F238E27FC236}">
                <a16:creationId xmlns:a16="http://schemas.microsoft.com/office/drawing/2014/main" id="{A669917B-F79E-DA36-D6FF-86B59C9D3E93}"/>
              </a:ext>
            </a:extLst>
          </p:cNvPr>
          <p:cNvSpPr/>
          <p:nvPr/>
        </p:nvSpPr>
        <p:spPr>
          <a:xfrm>
            <a:off x="594360"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1 &amp; 2</a:t>
            </a:r>
            <a:endParaRPr lang="en-US" sz="1000" dirty="0"/>
          </a:p>
        </p:txBody>
      </p:sp>
      <p:sp>
        <p:nvSpPr>
          <p:cNvPr id="133" name="Text 9">
            <a:extLst>
              <a:ext uri="{FF2B5EF4-FFF2-40B4-BE49-F238E27FC236}">
                <a16:creationId xmlns:a16="http://schemas.microsoft.com/office/drawing/2014/main" id="{96DA91D7-5A0F-5627-774C-2EF11C13EC6E}"/>
              </a:ext>
            </a:extLst>
          </p:cNvPr>
          <p:cNvSpPr/>
          <p:nvPr/>
        </p:nvSpPr>
        <p:spPr>
          <a:xfrm>
            <a:off x="594360"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Sprints 1–2</a:t>
            </a:r>
            <a:endParaRPr lang="en-US" sz="700" dirty="0"/>
          </a:p>
        </p:txBody>
      </p:sp>
      <p:sp>
        <p:nvSpPr>
          <p:cNvPr id="134" name="Text 10">
            <a:extLst>
              <a:ext uri="{FF2B5EF4-FFF2-40B4-BE49-F238E27FC236}">
                <a16:creationId xmlns:a16="http://schemas.microsoft.com/office/drawing/2014/main" id="{DCB49040-51BF-4650-75F5-01CD1361E293}"/>
              </a:ext>
            </a:extLst>
          </p:cNvPr>
          <p:cNvSpPr/>
          <p:nvPr/>
        </p:nvSpPr>
        <p:spPr>
          <a:xfrm>
            <a:off x="594360"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Foundation &amp; Auth</a:t>
            </a:r>
            <a:endParaRPr lang="en-US" sz="900" dirty="0"/>
          </a:p>
        </p:txBody>
      </p:sp>
      <p:sp>
        <p:nvSpPr>
          <p:cNvPr id="135" name="Shape 11">
            <a:extLst>
              <a:ext uri="{FF2B5EF4-FFF2-40B4-BE49-F238E27FC236}">
                <a16:creationId xmlns:a16="http://schemas.microsoft.com/office/drawing/2014/main" id="{A904C5B5-398A-5419-8AB3-D4D51A7F0407}"/>
              </a:ext>
            </a:extLst>
          </p:cNvPr>
          <p:cNvSpPr/>
          <p:nvPr/>
        </p:nvSpPr>
        <p:spPr>
          <a:xfrm>
            <a:off x="594360"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36" name="Shape 12">
            <a:extLst>
              <a:ext uri="{FF2B5EF4-FFF2-40B4-BE49-F238E27FC236}">
                <a16:creationId xmlns:a16="http://schemas.microsoft.com/office/drawing/2014/main" id="{815FF3CA-A297-4F7E-57CE-AC9D6FA81F23}"/>
              </a:ext>
            </a:extLst>
          </p:cNvPr>
          <p:cNvSpPr/>
          <p:nvPr/>
        </p:nvSpPr>
        <p:spPr>
          <a:xfrm>
            <a:off x="594360" y="2185416"/>
            <a:ext cx="73152" cy="73152"/>
          </a:xfrm>
          <a:prstGeom prst="ellipse">
            <a:avLst/>
          </a:prstGeom>
          <a:solidFill>
            <a:srgbClr val="1D9E75"/>
          </a:solidFill>
          <a:ln w="12700">
            <a:solidFill>
              <a:srgbClr val="1D9E75"/>
            </a:solidFill>
            <a:prstDash val="solid"/>
          </a:ln>
        </p:spPr>
        <p:txBody>
          <a:bodyPr/>
          <a:lstStyle/>
          <a:p>
            <a:endParaRPr lang="en-US"/>
          </a:p>
        </p:txBody>
      </p:sp>
      <p:sp>
        <p:nvSpPr>
          <p:cNvPr id="137" name="Text 13">
            <a:extLst>
              <a:ext uri="{FF2B5EF4-FFF2-40B4-BE49-F238E27FC236}">
                <a16:creationId xmlns:a16="http://schemas.microsoft.com/office/drawing/2014/main" id="{74FEBBC0-B0A3-3D57-F45E-AF0042CC3D7C}"/>
              </a:ext>
            </a:extLst>
          </p:cNvPr>
          <p:cNvSpPr/>
          <p:nvPr/>
        </p:nvSpPr>
        <p:spPr>
          <a:xfrm>
            <a:off x="713232"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Development environment &amp; toolchain</a:t>
            </a:r>
            <a:endParaRPr lang="en-US" sz="750" dirty="0"/>
          </a:p>
        </p:txBody>
      </p:sp>
      <p:sp>
        <p:nvSpPr>
          <p:cNvPr id="138" name="Shape 14">
            <a:extLst>
              <a:ext uri="{FF2B5EF4-FFF2-40B4-BE49-F238E27FC236}">
                <a16:creationId xmlns:a16="http://schemas.microsoft.com/office/drawing/2014/main" id="{E4C2D347-BB0A-F7F6-3246-DE31B193EAFA}"/>
              </a:ext>
            </a:extLst>
          </p:cNvPr>
          <p:cNvSpPr/>
          <p:nvPr/>
        </p:nvSpPr>
        <p:spPr>
          <a:xfrm>
            <a:off x="594360" y="2606040"/>
            <a:ext cx="73152" cy="73152"/>
          </a:xfrm>
          <a:prstGeom prst="ellipse">
            <a:avLst/>
          </a:prstGeom>
          <a:solidFill>
            <a:srgbClr val="1D9E75"/>
          </a:solidFill>
          <a:ln w="12700">
            <a:solidFill>
              <a:srgbClr val="1D9E75"/>
            </a:solidFill>
            <a:prstDash val="solid"/>
          </a:ln>
        </p:spPr>
        <p:txBody>
          <a:bodyPr/>
          <a:lstStyle/>
          <a:p>
            <a:endParaRPr lang="en-US"/>
          </a:p>
        </p:txBody>
      </p:sp>
      <p:sp>
        <p:nvSpPr>
          <p:cNvPr id="139" name="Text 15">
            <a:extLst>
              <a:ext uri="{FF2B5EF4-FFF2-40B4-BE49-F238E27FC236}">
                <a16:creationId xmlns:a16="http://schemas.microsoft.com/office/drawing/2014/main" id="{96FD3FB7-396E-5256-FDFC-14ADAA04FA8D}"/>
              </a:ext>
            </a:extLst>
          </p:cNvPr>
          <p:cNvSpPr/>
          <p:nvPr/>
        </p:nvSpPr>
        <p:spPr>
          <a:xfrm>
            <a:off x="713232"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Database schema, seed data &amp; migrations</a:t>
            </a:r>
            <a:endParaRPr lang="en-US" sz="750" dirty="0"/>
          </a:p>
        </p:txBody>
      </p:sp>
      <p:sp>
        <p:nvSpPr>
          <p:cNvPr id="140" name="Shape 16">
            <a:extLst>
              <a:ext uri="{FF2B5EF4-FFF2-40B4-BE49-F238E27FC236}">
                <a16:creationId xmlns:a16="http://schemas.microsoft.com/office/drawing/2014/main" id="{C2837E19-955A-E98B-AEE5-14A9099CDD23}"/>
              </a:ext>
            </a:extLst>
          </p:cNvPr>
          <p:cNvSpPr/>
          <p:nvPr/>
        </p:nvSpPr>
        <p:spPr>
          <a:xfrm>
            <a:off x="594360" y="3026664"/>
            <a:ext cx="73152" cy="73152"/>
          </a:xfrm>
          <a:prstGeom prst="ellipse">
            <a:avLst/>
          </a:prstGeom>
          <a:solidFill>
            <a:srgbClr val="1D9E75"/>
          </a:solidFill>
          <a:ln w="12700">
            <a:solidFill>
              <a:srgbClr val="1D9E75"/>
            </a:solidFill>
            <a:prstDash val="solid"/>
          </a:ln>
        </p:spPr>
        <p:txBody>
          <a:bodyPr/>
          <a:lstStyle/>
          <a:p>
            <a:endParaRPr lang="en-US"/>
          </a:p>
        </p:txBody>
      </p:sp>
      <p:sp>
        <p:nvSpPr>
          <p:cNvPr id="141" name="Text 17">
            <a:extLst>
              <a:ext uri="{FF2B5EF4-FFF2-40B4-BE49-F238E27FC236}">
                <a16:creationId xmlns:a16="http://schemas.microsoft.com/office/drawing/2014/main" id="{3166F218-710D-6DDA-8C17-0BBFF345AA6E}"/>
              </a:ext>
            </a:extLst>
          </p:cNvPr>
          <p:cNvSpPr/>
          <p:nvPr/>
        </p:nvSpPr>
        <p:spPr>
          <a:xfrm>
            <a:off x="713232" y="2944367"/>
            <a:ext cx="1673352" cy="267005"/>
          </a:xfrm>
          <a:prstGeom prst="rect">
            <a:avLst/>
          </a:prstGeom>
          <a:noFill/>
          <a:ln/>
        </p:spPr>
        <p:txBody>
          <a:bodyPr wrap="square" lIns="0" tIns="0" rIns="0" bIns="0" rtlCol="0" anchor="ctr"/>
          <a:lstStyle/>
          <a:p>
            <a:pPr marL="0" indent="0">
              <a:buNone/>
            </a:pPr>
            <a:r>
              <a:rPr lang="en-US" sz="750" dirty="0">
                <a:solidFill>
                  <a:srgbClr val="4A5568"/>
                </a:solidFill>
              </a:rPr>
              <a:t>JWT auth — register, login, reset</a:t>
            </a:r>
            <a:endParaRPr lang="en-US" sz="750" dirty="0"/>
          </a:p>
        </p:txBody>
      </p:sp>
      <p:sp>
        <p:nvSpPr>
          <p:cNvPr id="142" name="Shape 18">
            <a:extLst>
              <a:ext uri="{FF2B5EF4-FFF2-40B4-BE49-F238E27FC236}">
                <a16:creationId xmlns:a16="http://schemas.microsoft.com/office/drawing/2014/main" id="{E627F251-50FE-C08E-D500-D577EEB5A490}"/>
              </a:ext>
            </a:extLst>
          </p:cNvPr>
          <p:cNvSpPr/>
          <p:nvPr/>
        </p:nvSpPr>
        <p:spPr>
          <a:xfrm>
            <a:off x="594360" y="3447288"/>
            <a:ext cx="73152" cy="73152"/>
          </a:xfrm>
          <a:prstGeom prst="ellipse">
            <a:avLst/>
          </a:prstGeom>
          <a:solidFill>
            <a:srgbClr val="1D9E75"/>
          </a:solidFill>
          <a:ln w="12700">
            <a:solidFill>
              <a:srgbClr val="1D9E75"/>
            </a:solidFill>
            <a:prstDash val="solid"/>
          </a:ln>
        </p:spPr>
        <p:txBody>
          <a:bodyPr/>
          <a:lstStyle/>
          <a:p>
            <a:endParaRPr lang="en-US"/>
          </a:p>
        </p:txBody>
      </p:sp>
      <p:sp>
        <p:nvSpPr>
          <p:cNvPr id="143" name="Text 19">
            <a:extLst>
              <a:ext uri="{FF2B5EF4-FFF2-40B4-BE49-F238E27FC236}">
                <a16:creationId xmlns:a16="http://schemas.microsoft.com/office/drawing/2014/main" id="{70B8EF72-65CE-E2F7-C566-6D4CEC0DB13C}"/>
              </a:ext>
            </a:extLst>
          </p:cNvPr>
          <p:cNvSpPr/>
          <p:nvPr/>
        </p:nvSpPr>
        <p:spPr>
          <a:xfrm>
            <a:off x="713232"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App shell, routing &amp; nav structure</a:t>
            </a:r>
            <a:endParaRPr lang="en-US" sz="750" dirty="0"/>
          </a:p>
        </p:txBody>
      </p:sp>
      <p:sp>
        <p:nvSpPr>
          <p:cNvPr id="144" name="Shape 20">
            <a:extLst>
              <a:ext uri="{FF2B5EF4-FFF2-40B4-BE49-F238E27FC236}">
                <a16:creationId xmlns:a16="http://schemas.microsoft.com/office/drawing/2014/main" id="{F7626A67-E606-2747-A127-36D605633133}"/>
              </a:ext>
            </a:extLst>
          </p:cNvPr>
          <p:cNvSpPr/>
          <p:nvPr/>
        </p:nvSpPr>
        <p:spPr>
          <a:xfrm>
            <a:off x="2539289"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45" name="Shape 21">
            <a:extLst>
              <a:ext uri="{FF2B5EF4-FFF2-40B4-BE49-F238E27FC236}">
                <a16:creationId xmlns:a16="http://schemas.microsoft.com/office/drawing/2014/main" id="{D5B6E9AC-D32E-8828-7CEA-8DAB8D7E3191}"/>
              </a:ext>
            </a:extLst>
          </p:cNvPr>
          <p:cNvSpPr/>
          <p:nvPr/>
        </p:nvSpPr>
        <p:spPr>
          <a:xfrm>
            <a:off x="2539289" y="1261872"/>
            <a:ext cx="1965960" cy="274320"/>
          </a:xfrm>
          <a:prstGeom prst="rect">
            <a:avLst/>
          </a:prstGeom>
          <a:solidFill>
            <a:srgbClr val="0F8A6E"/>
          </a:solidFill>
          <a:ln w="12700">
            <a:solidFill>
              <a:srgbClr val="0F8A6E"/>
            </a:solidFill>
            <a:prstDash val="solid"/>
          </a:ln>
        </p:spPr>
        <p:txBody>
          <a:bodyPr/>
          <a:lstStyle/>
          <a:p>
            <a:endParaRPr lang="en-US"/>
          </a:p>
        </p:txBody>
      </p:sp>
      <p:sp>
        <p:nvSpPr>
          <p:cNvPr id="146" name="Shape 22">
            <a:extLst>
              <a:ext uri="{FF2B5EF4-FFF2-40B4-BE49-F238E27FC236}">
                <a16:creationId xmlns:a16="http://schemas.microsoft.com/office/drawing/2014/main" id="{74CA4C4D-705A-7C02-DC43-36C608C4C139}"/>
              </a:ext>
            </a:extLst>
          </p:cNvPr>
          <p:cNvSpPr/>
          <p:nvPr/>
        </p:nvSpPr>
        <p:spPr>
          <a:xfrm>
            <a:off x="2539289" y="1408176"/>
            <a:ext cx="1965960" cy="128016"/>
          </a:xfrm>
          <a:prstGeom prst="rect">
            <a:avLst/>
          </a:prstGeom>
          <a:solidFill>
            <a:srgbClr val="0F8A6E"/>
          </a:solidFill>
          <a:ln w="12700">
            <a:solidFill>
              <a:srgbClr val="0F8A6E"/>
            </a:solidFill>
            <a:prstDash val="solid"/>
          </a:ln>
        </p:spPr>
        <p:txBody>
          <a:bodyPr/>
          <a:lstStyle/>
          <a:p>
            <a:endParaRPr lang="en-US"/>
          </a:p>
        </p:txBody>
      </p:sp>
      <p:sp>
        <p:nvSpPr>
          <p:cNvPr id="147" name="Text 23">
            <a:extLst>
              <a:ext uri="{FF2B5EF4-FFF2-40B4-BE49-F238E27FC236}">
                <a16:creationId xmlns:a16="http://schemas.microsoft.com/office/drawing/2014/main" id="{E42980F0-780D-91FE-3D74-DA566311DF02}"/>
              </a:ext>
            </a:extLst>
          </p:cNvPr>
          <p:cNvSpPr/>
          <p:nvPr/>
        </p:nvSpPr>
        <p:spPr>
          <a:xfrm>
            <a:off x="2630729"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3</a:t>
            </a:r>
            <a:endParaRPr lang="en-US" sz="1000" dirty="0"/>
          </a:p>
        </p:txBody>
      </p:sp>
      <p:sp>
        <p:nvSpPr>
          <p:cNvPr id="148" name="Text 24">
            <a:extLst>
              <a:ext uri="{FF2B5EF4-FFF2-40B4-BE49-F238E27FC236}">
                <a16:creationId xmlns:a16="http://schemas.microsoft.com/office/drawing/2014/main" id="{3E2F6499-F2DC-E0EE-743B-F674D266A762}"/>
              </a:ext>
            </a:extLst>
          </p:cNvPr>
          <p:cNvSpPr/>
          <p:nvPr/>
        </p:nvSpPr>
        <p:spPr>
          <a:xfrm>
            <a:off x="2630729"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3</a:t>
            </a:r>
            <a:endParaRPr lang="en-US" sz="700" dirty="0"/>
          </a:p>
        </p:txBody>
      </p:sp>
      <p:sp>
        <p:nvSpPr>
          <p:cNvPr id="149" name="Text 25">
            <a:extLst>
              <a:ext uri="{FF2B5EF4-FFF2-40B4-BE49-F238E27FC236}">
                <a16:creationId xmlns:a16="http://schemas.microsoft.com/office/drawing/2014/main" id="{4BE21B36-3648-39B5-F768-A8054422C4CA}"/>
              </a:ext>
            </a:extLst>
          </p:cNvPr>
          <p:cNvSpPr/>
          <p:nvPr/>
        </p:nvSpPr>
        <p:spPr>
          <a:xfrm>
            <a:off x="2630729"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Customer Ordering</a:t>
            </a:r>
            <a:endParaRPr lang="en-US" sz="900" dirty="0"/>
          </a:p>
        </p:txBody>
      </p:sp>
      <p:sp>
        <p:nvSpPr>
          <p:cNvPr id="150" name="Shape 26">
            <a:extLst>
              <a:ext uri="{FF2B5EF4-FFF2-40B4-BE49-F238E27FC236}">
                <a16:creationId xmlns:a16="http://schemas.microsoft.com/office/drawing/2014/main" id="{06711524-E119-D877-EB5D-448FC15AA1F4}"/>
              </a:ext>
            </a:extLst>
          </p:cNvPr>
          <p:cNvSpPr/>
          <p:nvPr/>
        </p:nvSpPr>
        <p:spPr>
          <a:xfrm>
            <a:off x="2630729"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51" name="Shape 27">
            <a:extLst>
              <a:ext uri="{FF2B5EF4-FFF2-40B4-BE49-F238E27FC236}">
                <a16:creationId xmlns:a16="http://schemas.microsoft.com/office/drawing/2014/main" id="{170C76BE-DA88-0CD9-62D1-86142BDC71B2}"/>
              </a:ext>
            </a:extLst>
          </p:cNvPr>
          <p:cNvSpPr/>
          <p:nvPr/>
        </p:nvSpPr>
        <p:spPr>
          <a:xfrm>
            <a:off x="2630729" y="2185416"/>
            <a:ext cx="73152" cy="73152"/>
          </a:xfrm>
          <a:prstGeom prst="ellipse">
            <a:avLst/>
          </a:prstGeom>
          <a:solidFill>
            <a:srgbClr val="0F8A6E"/>
          </a:solidFill>
          <a:ln w="12700">
            <a:solidFill>
              <a:srgbClr val="0F8A6E"/>
            </a:solidFill>
            <a:prstDash val="solid"/>
          </a:ln>
        </p:spPr>
        <p:txBody>
          <a:bodyPr/>
          <a:lstStyle/>
          <a:p>
            <a:endParaRPr lang="en-US"/>
          </a:p>
        </p:txBody>
      </p:sp>
      <p:sp>
        <p:nvSpPr>
          <p:cNvPr id="152" name="Text 28">
            <a:extLst>
              <a:ext uri="{FF2B5EF4-FFF2-40B4-BE49-F238E27FC236}">
                <a16:creationId xmlns:a16="http://schemas.microsoft.com/office/drawing/2014/main" id="{AE518E79-E3A7-E20F-62C3-ADABF6F997F1}"/>
              </a:ext>
            </a:extLst>
          </p:cNvPr>
          <p:cNvSpPr/>
          <p:nvPr/>
        </p:nvSpPr>
        <p:spPr>
          <a:xfrm>
            <a:off x="2749601"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Product browsing — categories &amp; variants</a:t>
            </a:r>
            <a:endParaRPr lang="en-US" sz="750" dirty="0"/>
          </a:p>
        </p:txBody>
      </p:sp>
      <p:sp>
        <p:nvSpPr>
          <p:cNvPr id="153" name="Shape 29">
            <a:extLst>
              <a:ext uri="{FF2B5EF4-FFF2-40B4-BE49-F238E27FC236}">
                <a16:creationId xmlns:a16="http://schemas.microsoft.com/office/drawing/2014/main" id="{0834E76F-AB59-8E0A-F027-5AF28A8C5628}"/>
              </a:ext>
            </a:extLst>
          </p:cNvPr>
          <p:cNvSpPr/>
          <p:nvPr/>
        </p:nvSpPr>
        <p:spPr>
          <a:xfrm>
            <a:off x="2630729" y="2606040"/>
            <a:ext cx="73152" cy="73152"/>
          </a:xfrm>
          <a:prstGeom prst="ellipse">
            <a:avLst/>
          </a:prstGeom>
          <a:solidFill>
            <a:srgbClr val="0F8A6E"/>
          </a:solidFill>
          <a:ln w="12700">
            <a:solidFill>
              <a:srgbClr val="0F8A6E"/>
            </a:solidFill>
            <a:prstDash val="solid"/>
          </a:ln>
        </p:spPr>
        <p:txBody>
          <a:bodyPr/>
          <a:lstStyle/>
          <a:p>
            <a:endParaRPr lang="en-US"/>
          </a:p>
        </p:txBody>
      </p:sp>
      <p:sp>
        <p:nvSpPr>
          <p:cNvPr id="154" name="Text 30">
            <a:extLst>
              <a:ext uri="{FF2B5EF4-FFF2-40B4-BE49-F238E27FC236}">
                <a16:creationId xmlns:a16="http://schemas.microsoft.com/office/drawing/2014/main" id="{CEA29647-6757-6775-C48C-FFFD86CA8B2F}"/>
              </a:ext>
            </a:extLst>
          </p:cNvPr>
          <p:cNvSpPr/>
          <p:nvPr/>
        </p:nvSpPr>
        <p:spPr>
          <a:xfrm>
            <a:off x="2749601"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Shopping cart — add, adjust, remove</a:t>
            </a:r>
            <a:endParaRPr lang="en-US" sz="750" dirty="0"/>
          </a:p>
        </p:txBody>
      </p:sp>
      <p:sp>
        <p:nvSpPr>
          <p:cNvPr id="155" name="Shape 31">
            <a:extLst>
              <a:ext uri="{FF2B5EF4-FFF2-40B4-BE49-F238E27FC236}">
                <a16:creationId xmlns:a16="http://schemas.microsoft.com/office/drawing/2014/main" id="{590DF124-78FE-F378-22F6-B1DC449393C6}"/>
              </a:ext>
            </a:extLst>
          </p:cNvPr>
          <p:cNvSpPr/>
          <p:nvPr/>
        </p:nvSpPr>
        <p:spPr>
          <a:xfrm>
            <a:off x="2630729" y="3026664"/>
            <a:ext cx="73152" cy="73152"/>
          </a:xfrm>
          <a:prstGeom prst="ellipse">
            <a:avLst/>
          </a:prstGeom>
          <a:solidFill>
            <a:srgbClr val="0F8A6E"/>
          </a:solidFill>
          <a:ln w="12700">
            <a:solidFill>
              <a:srgbClr val="0F8A6E"/>
            </a:solidFill>
            <a:prstDash val="solid"/>
          </a:ln>
        </p:spPr>
        <p:txBody>
          <a:bodyPr/>
          <a:lstStyle/>
          <a:p>
            <a:endParaRPr lang="en-US"/>
          </a:p>
        </p:txBody>
      </p:sp>
      <p:sp>
        <p:nvSpPr>
          <p:cNvPr id="156" name="Text 32">
            <a:extLst>
              <a:ext uri="{FF2B5EF4-FFF2-40B4-BE49-F238E27FC236}">
                <a16:creationId xmlns:a16="http://schemas.microsoft.com/office/drawing/2014/main" id="{4E10DF5A-8B35-FB6F-AC18-734B9B1FBB19}"/>
              </a:ext>
            </a:extLst>
          </p:cNvPr>
          <p:cNvSpPr/>
          <p:nvPr/>
        </p:nvSpPr>
        <p:spPr>
          <a:xfrm>
            <a:off x="2749601" y="2944368"/>
            <a:ext cx="1673352" cy="267005"/>
          </a:xfrm>
          <a:prstGeom prst="rect">
            <a:avLst/>
          </a:prstGeom>
          <a:noFill/>
          <a:ln/>
        </p:spPr>
        <p:txBody>
          <a:bodyPr wrap="square" lIns="0" tIns="0" rIns="0" bIns="0" rtlCol="0" anchor="ctr"/>
          <a:lstStyle/>
          <a:p>
            <a:pPr marL="0" indent="0">
              <a:buNone/>
            </a:pPr>
            <a:r>
              <a:rPr lang="en-US" sz="750" dirty="0">
                <a:solidFill>
                  <a:srgbClr val="4A5568"/>
                </a:solidFill>
              </a:rPr>
              <a:t>Checkout — guest email &amp; auth submit</a:t>
            </a:r>
            <a:endParaRPr lang="en-US" sz="750" dirty="0"/>
          </a:p>
        </p:txBody>
      </p:sp>
      <p:sp>
        <p:nvSpPr>
          <p:cNvPr id="157" name="Shape 33">
            <a:extLst>
              <a:ext uri="{FF2B5EF4-FFF2-40B4-BE49-F238E27FC236}">
                <a16:creationId xmlns:a16="http://schemas.microsoft.com/office/drawing/2014/main" id="{901A0539-34B4-A8BB-3387-356962B117CD}"/>
              </a:ext>
            </a:extLst>
          </p:cNvPr>
          <p:cNvSpPr/>
          <p:nvPr/>
        </p:nvSpPr>
        <p:spPr>
          <a:xfrm>
            <a:off x="2630729" y="3447288"/>
            <a:ext cx="73152" cy="73152"/>
          </a:xfrm>
          <a:prstGeom prst="ellipse">
            <a:avLst/>
          </a:prstGeom>
          <a:solidFill>
            <a:srgbClr val="0F8A6E"/>
          </a:solidFill>
          <a:ln w="12700">
            <a:solidFill>
              <a:srgbClr val="0F8A6E"/>
            </a:solidFill>
            <a:prstDash val="solid"/>
          </a:ln>
        </p:spPr>
        <p:txBody>
          <a:bodyPr/>
          <a:lstStyle/>
          <a:p>
            <a:endParaRPr lang="en-US"/>
          </a:p>
        </p:txBody>
      </p:sp>
      <p:sp>
        <p:nvSpPr>
          <p:cNvPr id="158" name="Text 34">
            <a:extLst>
              <a:ext uri="{FF2B5EF4-FFF2-40B4-BE49-F238E27FC236}">
                <a16:creationId xmlns:a16="http://schemas.microsoft.com/office/drawing/2014/main" id="{78A55CD7-991B-93E6-02D5-6D3200ABDFC8}"/>
              </a:ext>
            </a:extLst>
          </p:cNvPr>
          <p:cNvSpPr/>
          <p:nvPr/>
        </p:nvSpPr>
        <p:spPr>
          <a:xfrm>
            <a:off x="2749601"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Order confirmation &amp; status tracking</a:t>
            </a:r>
            <a:endParaRPr lang="en-US" sz="750" dirty="0"/>
          </a:p>
        </p:txBody>
      </p:sp>
      <p:sp>
        <p:nvSpPr>
          <p:cNvPr id="159" name="Shape 35">
            <a:extLst>
              <a:ext uri="{FF2B5EF4-FFF2-40B4-BE49-F238E27FC236}">
                <a16:creationId xmlns:a16="http://schemas.microsoft.com/office/drawing/2014/main" id="{2D7C468D-A21B-80D3-B042-F3387F262AB4}"/>
              </a:ext>
            </a:extLst>
          </p:cNvPr>
          <p:cNvSpPr/>
          <p:nvPr/>
        </p:nvSpPr>
        <p:spPr>
          <a:xfrm>
            <a:off x="4575658"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60" name="Shape 36">
            <a:extLst>
              <a:ext uri="{FF2B5EF4-FFF2-40B4-BE49-F238E27FC236}">
                <a16:creationId xmlns:a16="http://schemas.microsoft.com/office/drawing/2014/main" id="{B250F4AD-B497-1AB5-5DD6-C7FEB5A52255}"/>
              </a:ext>
            </a:extLst>
          </p:cNvPr>
          <p:cNvSpPr/>
          <p:nvPr/>
        </p:nvSpPr>
        <p:spPr>
          <a:xfrm>
            <a:off x="4575658" y="1261872"/>
            <a:ext cx="1965960" cy="274320"/>
          </a:xfrm>
          <a:prstGeom prst="rect">
            <a:avLst/>
          </a:prstGeom>
          <a:solidFill>
            <a:srgbClr val="0D7A60"/>
          </a:solidFill>
          <a:ln w="12700">
            <a:solidFill>
              <a:srgbClr val="0D7A60"/>
            </a:solidFill>
            <a:prstDash val="solid"/>
          </a:ln>
        </p:spPr>
        <p:txBody>
          <a:bodyPr/>
          <a:lstStyle/>
          <a:p>
            <a:endParaRPr lang="en-US"/>
          </a:p>
        </p:txBody>
      </p:sp>
      <p:sp>
        <p:nvSpPr>
          <p:cNvPr id="161" name="Shape 37">
            <a:extLst>
              <a:ext uri="{FF2B5EF4-FFF2-40B4-BE49-F238E27FC236}">
                <a16:creationId xmlns:a16="http://schemas.microsoft.com/office/drawing/2014/main" id="{BBAF1815-AFAB-7866-244B-DC35596269C4}"/>
              </a:ext>
            </a:extLst>
          </p:cNvPr>
          <p:cNvSpPr/>
          <p:nvPr/>
        </p:nvSpPr>
        <p:spPr>
          <a:xfrm>
            <a:off x="4575658" y="1408176"/>
            <a:ext cx="1965960" cy="128016"/>
          </a:xfrm>
          <a:prstGeom prst="rect">
            <a:avLst/>
          </a:prstGeom>
          <a:solidFill>
            <a:srgbClr val="0D7A60"/>
          </a:solidFill>
          <a:ln w="12700">
            <a:solidFill>
              <a:srgbClr val="0D7A60"/>
            </a:solidFill>
            <a:prstDash val="solid"/>
          </a:ln>
        </p:spPr>
        <p:txBody>
          <a:bodyPr/>
          <a:lstStyle/>
          <a:p>
            <a:endParaRPr lang="en-US"/>
          </a:p>
        </p:txBody>
      </p:sp>
      <p:sp>
        <p:nvSpPr>
          <p:cNvPr id="162" name="Text 38">
            <a:extLst>
              <a:ext uri="{FF2B5EF4-FFF2-40B4-BE49-F238E27FC236}">
                <a16:creationId xmlns:a16="http://schemas.microsoft.com/office/drawing/2014/main" id="{FE5A3A30-C35F-262B-10DE-CE920E0BB6AE}"/>
              </a:ext>
            </a:extLst>
          </p:cNvPr>
          <p:cNvSpPr/>
          <p:nvPr/>
        </p:nvSpPr>
        <p:spPr>
          <a:xfrm>
            <a:off x="4667098"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4 · Part 1</a:t>
            </a:r>
            <a:endParaRPr lang="en-US" sz="1000" dirty="0"/>
          </a:p>
        </p:txBody>
      </p:sp>
      <p:sp>
        <p:nvSpPr>
          <p:cNvPr id="163" name="Text 39">
            <a:extLst>
              <a:ext uri="{FF2B5EF4-FFF2-40B4-BE49-F238E27FC236}">
                <a16:creationId xmlns:a16="http://schemas.microsoft.com/office/drawing/2014/main" id="{AB78536F-D17E-8210-263E-CABE84A50AD5}"/>
              </a:ext>
            </a:extLst>
          </p:cNvPr>
          <p:cNvSpPr/>
          <p:nvPr/>
        </p:nvSpPr>
        <p:spPr>
          <a:xfrm>
            <a:off x="4667098"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4</a:t>
            </a:r>
            <a:endParaRPr lang="en-US" sz="700" dirty="0"/>
          </a:p>
        </p:txBody>
      </p:sp>
      <p:sp>
        <p:nvSpPr>
          <p:cNvPr id="164" name="Text 40">
            <a:extLst>
              <a:ext uri="{FF2B5EF4-FFF2-40B4-BE49-F238E27FC236}">
                <a16:creationId xmlns:a16="http://schemas.microsoft.com/office/drawing/2014/main" id="{072644E5-BCD2-4624-4060-B8B55ECA6823}"/>
              </a:ext>
            </a:extLst>
          </p:cNvPr>
          <p:cNvSpPr/>
          <p:nvPr/>
        </p:nvSpPr>
        <p:spPr>
          <a:xfrm>
            <a:off x="4667098"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Business Admin — Access &amp; Orders</a:t>
            </a:r>
            <a:endParaRPr lang="en-US" sz="900" dirty="0"/>
          </a:p>
        </p:txBody>
      </p:sp>
      <p:sp>
        <p:nvSpPr>
          <p:cNvPr id="165" name="Shape 41">
            <a:extLst>
              <a:ext uri="{FF2B5EF4-FFF2-40B4-BE49-F238E27FC236}">
                <a16:creationId xmlns:a16="http://schemas.microsoft.com/office/drawing/2014/main" id="{C869631E-B76E-7535-92A7-A255DE594646}"/>
              </a:ext>
            </a:extLst>
          </p:cNvPr>
          <p:cNvSpPr/>
          <p:nvPr/>
        </p:nvSpPr>
        <p:spPr>
          <a:xfrm>
            <a:off x="4667098"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66" name="Shape 42">
            <a:extLst>
              <a:ext uri="{FF2B5EF4-FFF2-40B4-BE49-F238E27FC236}">
                <a16:creationId xmlns:a16="http://schemas.microsoft.com/office/drawing/2014/main" id="{C9A17260-C9B7-C435-FEC0-1571941D4FE0}"/>
              </a:ext>
            </a:extLst>
          </p:cNvPr>
          <p:cNvSpPr/>
          <p:nvPr/>
        </p:nvSpPr>
        <p:spPr>
          <a:xfrm>
            <a:off x="4667098" y="2185416"/>
            <a:ext cx="73152" cy="73152"/>
          </a:xfrm>
          <a:prstGeom prst="ellipse">
            <a:avLst/>
          </a:prstGeom>
          <a:solidFill>
            <a:srgbClr val="0D7A60"/>
          </a:solidFill>
          <a:ln w="12700">
            <a:solidFill>
              <a:srgbClr val="0D7A60"/>
            </a:solidFill>
            <a:prstDash val="solid"/>
          </a:ln>
        </p:spPr>
        <p:txBody>
          <a:bodyPr/>
          <a:lstStyle/>
          <a:p>
            <a:endParaRPr lang="en-US"/>
          </a:p>
        </p:txBody>
      </p:sp>
      <p:sp>
        <p:nvSpPr>
          <p:cNvPr id="167" name="Text 43">
            <a:extLst>
              <a:ext uri="{FF2B5EF4-FFF2-40B4-BE49-F238E27FC236}">
                <a16:creationId xmlns:a16="http://schemas.microsoft.com/office/drawing/2014/main" id="{A76E8254-AC13-E473-1690-3601D6B5A9D0}"/>
              </a:ext>
            </a:extLst>
          </p:cNvPr>
          <p:cNvSpPr/>
          <p:nvPr/>
        </p:nvSpPr>
        <p:spPr>
          <a:xfrm>
            <a:off x="4785970"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Role-based access control (RBAC)</a:t>
            </a:r>
            <a:endParaRPr lang="en-US" sz="750" dirty="0"/>
          </a:p>
        </p:txBody>
      </p:sp>
      <p:sp>
        <p:nvSpPr>
          <p:cNvPr id="168" name="Shape 44">
            <a:extLst>
              <a:ext uri="{FF2B5EF4-FFF2-40B4-BE49-F238E27FC236}">
                <a16:creationId xmlns:a16="http://schemas.microsoft.com/office/drawing/2014/main" id="{4221B048-6017-68B4-D0E9-171B5A1BAAC9}"/>
              </a:ext>
            </a:extLst>
          </p:cNvPr>
          <p:cNvSpPr/>
          <p:nvPr/>
        </p:nvSpPr>
        <p:spPr>
          <a:xfrm>
            <a:off x="4667098" y="2606040"/>
            <a:ext cx="73152" cy="73152"/>
          </a:xfrm>
          <a:prstGeom prst="ellipse">
            <a:avLst/>
          </a:prstGeom>
          <a:solidFill>
            <a:srgbClr val="0D7A60"/>
          </a:solidFill>
          <a:ln w="12700">
            <a:solidFill>
              <a:srgbClr val="0D7A60"/>
            </a:solidFill>
            <a:prstDash val="solid"/>
          </a:ln>
        </p:spPr>
        <p:txBody>
          <a:bodyPr/>
          <a:lstStyle/>
          <a:p>
            <a:endParaRPr lang="en-US"/>
          </a:p>
        </p:txBody>
      </p:sp>
      <p:sp>
        <p:nvSpPr>
          <p:cNvPr id="169" name="Text 45">
            <a:extLst>
              <a:ext uri="{FF2B5EF4-FFF2-40B4-BE49-F238E27FC236}">
                <a16:creationId xmlns:a16="http://schemas.microsoft.com/office/drawing/2014/main" id="{5ECBE602-A8C3-8F23-E276-ECDC016E0B87}"/>
              </a:ext>
            </a:extLst>
          </p:cNvPr>
          <p:cNvSpPr/>
          <p:nvPr/>
        </p:nvSpPr>
        <p:spPr>
          <a:xfrm>
            <a:off x="4785970"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Admin layout — sidebar &amp; protected routing</a:t>
            </a:r>
            <a:endParaRPr lang="en-US" sz="750" dirty="0"/>
          </a:p>
        </p:txBody>
      </p:sp>
      <p:sp>
        <p:nvSpPr>
          <p:cNvPr id="170" name="Shape 46">
            <a:extLst>
              <a:ext uri="{FF2B5EF4-FFF2-40B4-BE49-F238E27FC236}">
                <a16:creationId xmlns:a16="http://schemas.microsoft.com/office/drawing/2014/main" id="{BF5B440C-B13F-EA52-E284-1A54F5DA0633}"/>
              </a:ext>
            </a:extLst>
          </p:cNvPr>
          <p:cNvSpPr/>
          <p:nvPr/>
        </p:nvSpPr>
        <p:spPr>
          <a:xfrm>
            <a:off x="4667098" y="3026664"/>
            <a:ext cx="73152" cy="73152"/>
          </a:xfrm>
          <a:prstGeom prst="ellipse">
            <a:avLst/>
          </a:prstGeom>
          <a:solidFill>
            <a:srgbClr val="0D7A60"/>
          </a:solidFill>
          <a:ln w="12700">
            <a:solidFill>
              <a:srgbClr val="0D7A60"/>
            </a:solidFill>
            <a:prstDash val="solid"/>
          </a:ln>
        </p:spPr>
        <p:txBody>
          <a:bodyPr/>
          <a:lstStyle/>
          <a:p>
            <a:endParaRPr lang="en-US"/>
          </a:p>
        </p:txBody>
      </p:sp>
      <p:sp>
        <p:nvSpPr>
          <p:cNvPr id="171" name="Text 47">
            <a:extLst>
              <a:ext uri="{FF2B5EF4-FFF2-40B4-BE49-F238E27FC236}">
                <a16:creationId xmlns:a16="http://schemas.microsoft.com/office/drawing/2014/main" id="{7E5BB808-D9B5-B8CA-01D0-FDF34B356786}"/>
              </a:ext>
            </a:extLst>
          </p:cNvPr>
          <p:cNvSpPr/>
          <p:nvPr/>
        </p:nvSpPr>
        <p:spPr>
          <a:xfrm>
            <a:off x="4785970" y="2944368"/>
            <a:ext cx="1673352" cy="267004"/>
          </a:xfrm>
          <a:prstGeom prst="rect">
            <a:avLst/>
          </a:prstGeom>
          <a:noFill/>
          <a:ln/>
        </p:spPr>
        <p:txBody>
          <a:bodyPr wrap="square" lIns="0" tIns="0" rIns="0" bIns="0" rtlCol="0" anchor="ctr"/>
          <a:lstStyle/>
          <a:p>
            <a:pPr marL="0" indent="0">
              <a:buNone/>
            </a:pPr>
            <a:r>
              <a:rPr lang="en-US" sz="750" dirty="0">
                <a:solidFill>
                  <a:srgbClr val="4A5568"/>
                </a:solidFill>
              </a:rPr>
              <a:t>Order management — history &amp; status</a:t>
            </a:r>
            <a:endParaRPr lang="en-US" sz="750" dirty="0"/>
          </a:p>
        </p:txBody>
      </p:sp>
      <p:sp>
        <p:nvSpPr>
          <p:cNvPr id="172" name="Shape 48">
            <a:extLst>
              <a:ext uri="{FF2B5EF4-FFF2-40B4-BE49-F238E27FC236}">
                <a16:creationId xmlns:a16="http://schemas.microsoft.com/office/drawing/2014/main" id="{1DF7D4E2-C1FA-72BC-35F0-ECD9FF5B89E6}"/>
              </a:ext>
            </a:extLst>
          </p:cNvPr>
          <p:cNvSpPr/>
          <p:nvPr/>
        </p:nvSpPr>
        <p:spPr>
          <a:xfrm>
            <a:off x="4667098" y="3447288"/>
            <a:ext cx="73152" cy="73152"/>
          </a:xfrm>
          <a:prstGeom prst="ellipse">
            <a:avLst/>
          </a:prstGeom>
          <a:solidFill>
            <a:srgbClr val="0D7A60"/>
          </a:solidFill>
          <a:ln w="12700">
            <a:solidFill>
              <a:srgbClr val="0D7A60"/>
            </a:solidFill>
            <a:prstDash val="solid"/>
          </a:ln>
        </p:spPr>
        <p:txBody>
          <a:bodyPr/>
          <a:lstStyle/>
          <a:p>
            <a:endParaRPr lang="en-US"/>
          </a:p>
        </p:txBody>
      </p:sp>
      <p:sp>
        <p:nvSpPr>
          <p:cNvPr id="173" name="Text 49">
            <a:extLst>
              <a:ext uri="{FF2B5EF4-FFF2-40B4-BE49-F238E27FC236}">
                <a16:creationId xmlns:a16="http://schemas.microsoft.com/office/drawing/2014/main" id="{4D3F422B-A282-D240-CFE8-D9C4741C4320}"/>
              </a:ext>
            </a:extLst>
          </p:cNvPr>
          <p:cNvSpPr/>
          <p:nvPr/>
        </p:nvSpPr>
        <p:spPr>
          <a:xfrm>
            <a:off x="4785970"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Mark Complete workflow</a:t>
            </a:r>
            <a:endParaRPr lang="en-US" sz="750" dirty="0"/>
          </a:p>
        </p:txBody>
      </p:sp>
      <p:sp>
        <p:nvSpPr>
          <p:cNvPr id="174" name="Shape 50">
            <a:extLst>
              <a:ext uri="{FF2B5EF4-FFF2-40B4-BE49-F238E27FC236}">
                <a16:creationId xmlns:a16="http://schemas.microsoft.com/office/drawing/2014/main" id="{327F177F-20B3-CF41-4E58-099F8F49863E}"/>
              </a:ext>
            </a:extLst>
          </p:cNvPr>
          <p:cNvSpPr/>
          <p:nvPr/>
        </p:nvSpPr>
        <p:spPr>
          <a:xfrm>
            <a:off x="6612026"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75" name="Shape 51">
            <a:extLst>
              <a:ext uri="{FF2B5EF4-FFF2-40B4-BE49-F238E27FC236}">
                <a16:creationId xmlns:a16="http://schemas.microsoft.com/office/drawing/2014/main" id="{8F5F9C3A-7A6C-300A-E03B-EA783696D2CC}"/>
              </a:ext>
            </a:extLst>
          </p:cNvPr>
          <p:cNvSpPr/>
          <p:nvPr/>
        </p:nvSpPr>
        <p:spPr>
          <a:xfrm>
            <a:off x="6612026" y="1261872"/>
            <a:ext cx="1965960" cy="274320"/>
          </a:xfrm>
          <a:prstGeom prst="rect">
            <a:avLst/>
          </a:prstGeom>
          <a:solidFill>
            <a:srgbClr val="0B6A52"/>
          </a:solidFill>
          <a:ln w="12700">
            <a:solidFill>
              <a:srgbClr val="0B6A52"/>
            </a:solidFill>
            <a:prstDash val="solid"/>
          </a:ln>
        </p:spPr>
        <p:txBody>
          <a:bodyPr/>
          <a:lstStyle/>
          <a:p>
            <a:endParaRPr lang="en-US"/>
          </a:p>
        </p:txBody>
      </p:sp>
      <p:sp>
        <p:nvSpPr>
          <p:cNvPr id="176" name="Shape 52">
            <a:extLst>
              <a:ext uri="{FF2B5EF4-FFF2-40B4-BE49-F238E27FC236}">
                <a16:creationId xmlns:a16="http://schemas.microsoft.com/office/drawing/2014/main" id="{B8425A90-C9A8-F37B-28F0-31D47650C1DA}"/>
              </a:ext>
            </a:extLst>
          </p:cNvPr>
          <p:cNvSpPr/>
          <p:nvPr/>
        </p:nvSpPr>
        <p:spPr>
          <a:xfrm>
            <a:off x="6612026" y="1408176"/>
            <a:ext cx="1965960" cy="128016"/>
          </a:xfrm>
          <a:prstGeom prst="rect">
            <a:avLst/>
          </a:prstGeom>
          <a:solidFill>
            <a:srgbClr val="0B6A52"/>
          </a:solidFill>
          <a:ln w="12700">
            <a:solidFill>
              <a:srgbClr val="0B6A52"/>
            </a:solidFill>
            <a:prstDash val="solid"/>
          </a:ln>
        </p:spPr>
        <p:txBody>
          <a:bodyPr/>
          <a:lstStyle/>
          <a:p>
            <a:endParaRPr lang="en-US"/>
          </a:p>
        </p:txBody>
      </p:sp>
      <p:sp>
        <p:nvSpPr>
          <p:cNvPr id="177" name="Text 53">
            <a:extLst>
              <a:ext uri="{FF2B5EF4-FFF2-40B4-BE49-F238E27FC236}">
                <a16:creationId xmlns:a16="http://schemas.microsoft.com/office/drawing/2014/main" id="{F91EF9E4-CDFC-0EC4-1775-D6D44D491401}"/>
              </a:ext>
            </a:extLst>
          </p:cNvPr>
          <p:cNvSpPr/>
          <p:nvPr/>
        </p:nvSpPr>
        <p:spPr>
          <a:xfrm>
            <a:off x="6703466"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4 · Part 2</a:t>
            </a:r>
            <a:endParaRPr lang="en-US" sz="1000" dirty="0"/>
          </a:p>
        </p:txBody>
      </p:sp>
      <p:sp>
        <p:nvSpPr>
          <p:cNvPr id="178" name="Text 54">
            <a:extLst>
              <a:ext uri="{FF2B5EF4-FFF2-40B4-BE49-F238E27FC236}">
                <a16:creationId xmlns:a16="http://schemas.microsoft.com/office/drawing/2014/main" id="{1C2C1D45-0FC6-595D-2957-7EABED1FB6D0}"/>
              </a:ext>
            </a:extLst>
          </p:cNvPr>
          <p:cNvSpPr/>
          <p:nvPr/>
        </p:nvSpPr>
        <p:spPr>
          <a:xfrm>
            <a:off x="6703466"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5</a:t>
            </a:r>
            <a:endParaRPr lang="en-US" sz="700" dirty="0"/>
          </a:p>
        </p:txBody>
      </p:sp>
      <p:sp>
        <p:nvSpPr>
          <p:cNvPr id="179" name="Text 55">
            <a:extLst>
              <a:ext uri="{FF2B5EF4-FFF2-40B4-BE49-F238E27FC236}">
                <a16:creationId xmlns:a16="http://schemas.microsoft.com/office/drawing/2014/main" id="{1BC8927A-93D0-C451-F3A8-3849C20D87A2}"/>
              </a:ext>
            </a:extLst>
          </p:cNvPr>
          <p:cNvSpPr/>
          <p:nvPr/>
        </p:nvSpPr>
        <p:spPr>
          <a:xfrm>
            <a:off x="6703466"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Admin — Products &amp; Reporting</a:t>
            </a:r>
            <a:endParaRPr lang="en-US" sz="900" dirty="0"/>
          </a:p>
        </p:txBody>
      </p:sp>
      <p:sp>
        <p:nvSpPr>
          <p:cNvPr id="180" name="Shape 56">
            <a:extLst>
              <a:ext uri="{FF2B5EF4-FFF2-40B4-BE49-F238E27FC236}">
                <a16:creationId xmlns:a16="http://schemas.microsoft.com/office/drawing/2014/main" id="{DB7DB27C-7FFC-978C-7915-E54D83B8C38E}"/>
              </a:ext>
            </a:extLst>
          </p:cNvPr>
          <p:cNvSpPr/>
          <p:nvPr/>
        </p:nvSpPr>
        <p:spPr>
          <a:xfrm>
            <a:off x="6703466"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81" name="Shape 57">
            <a:extLst>
              <a:ext uri="{FF2B5EF4-FFF2-40B4-BE49-F238E27FC236}">
                <a16:creationId xmlns:a16="http://schemas.microsoft.com/office/drawing/2014/main" id="{5B7F18A2-4C00-51B4-9ED4-7FE814F85821}"/>
              </a:ext>
            </a:extLst>
          </p:cNvPr>
          <p:cNvSpPr/>
          <p:nvPr/>
        </p:nvSpPr>
        <p:spPr>
          <a:xfrm>
            <a:off x="6703466" y="2185416"/>
            <a:ext cx="73152" cy="73152"/>
          </a:xfrm>
          <a:prstGeom prst="ellipse">
            <a:avLst/>
          </a:prstGeom>
          <a:solidFill>
            <a:srgbClr val="0B6A52"/>
          </a:solidFill>
          <a:ln w="12700">
            <a:solidFill>
              <a:srgbClr val="0B6A52"/>
            </a:solidFill>
            <a:prstDash val="solid"/>
          </a:ln>
        </p:spPr>
        <p:txBody>
          <a:bodyPr/>
          <a:lstStyle/>
          <a:p>
            <a:endParaRPr lang="en-US"/>
          </a:p>
        </p:txBody>
      </p:sp>
      <p:sp>
        <p:nvSpPr>
          <p:cNvPr id="182" name="Text 58">
            <a:extLst>
              <a:ext uri="{FF2B5EF4-FFF2-40B4-BE49-F238E27FC236}">
                <a16:creationId xmlns:a16="http://schemas.microsoft.com/office/drawing/2014/main" id="{4698617E-C17D-33DB-3C70-55B0C0364CDE}"/>
              </a:ext>
            </a:extLst>
          </p:cNvPr>
          <p:cNvSpPr/>
          <p:nvPr/>
        </p:nvSpPr>
        <p:spPr>
          <a:xfrm>
            <a:off x="6822338"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Product &amp; variant mgmt — full CRUD</a:t>
            </a:r>
            <a:endParaRPr lang="en-US" sz="750" dirty="0"/>
          </a:p>
        </p:txBody>
      </p:sp>
      <p:sp>
        <p:nvSpPr>
          <p:cNvPr id="183" name="Shape 59">
            <a:extLst>
              <a:ext uri="{FF2B5EF4-FFF2-40B4-BE49-F238E27FC236}">
                <a16:creationId xmlns:a16="http://schemas.microsoft.com/office/drawing/2014/main" id="{E2361B0A-C1F9-6C13-08E1-2DC46C68F793}"/>
              </a:ext>
            </a:extLst>
          </p:cNvPr>
          <p:cNvSpPr/>
          <p:nvPr/>
        </p:nvSpPr>
        <p:spPr>
          <a:xfrm>
            <a:off x="6703466" y="2606040"/>
            <a:ext cx="73152" cy="73152"/>
          </a:xfrm>
          <a:prstGeom prst="ellipse">
            <a:avLst/>
          </a:prstGeom>
          <a:solidFill>
            <a:srgbClr val="0B6A52"/>
          </a:solidFill>
          <a:ln w="12700">
            <a:solidFill>
              <a:srgbClr val="0B6A52"/>
            </a:solidFill>
            <a:prstDash val="solid"/>
          </a:ln>
        </p:spPr>
        <p:txBody>
          <a:bodyPr/>
          <a:lstStyle/>
          <a:p>
            <a:endParaRPr lang="en-US"/>
          </a:p>
        </p:txBody>
      </p:sp>
      <p:sp>
        <p:nvSpPr>
          <p:cNvPr id="184" name="Text 60">
            <a:extLst>
              <a:ext uri="{FF2B5EF4-FFF2-40B4-BE49-F238E27FC236}">
                <a16:creationId xmlns:a16="http://schemas.microsoft.com/office/drawing/2014/main" id="{C1C8514D-306D-39AE-275C-14BCAB5DF89D}"/>
              </a:ext>
            </a:extLst>
          </p:cNvPr>
          <p:cNvSpPr/>
          <p:nvPr/>
        </p:nvSpPr>
        <p:spPr>
          <a:xfrm>
            <a:off x="6822338"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Inventory — stock view, adjust, alerts</a:t>
            </a:r>
            <a:endParaRPr lang="en-US" sz="750" dirty="0"/>
          </a:p>
        </p:txBody>
      </p:sp>
      <p:sp>
        <p:nvSpPr>
          <p:cNvPr id="185" name="Shape 61">
            <a:extLst>
              <a:ext uri="{FF2B5EF4-FFF2-40B4-BE49-F238E27FC236}">
                <a16:creationId xmlns:a16="http://schemas.microsoft.com/office/drawing/2014/main" id="{C2C49FF4-6F04-5AE7-411C-6C594B79822B}"/>
              </a:ext>
            </a:extLst>
          </p:cNvPr>
          <p:cNvSpPr/>
          <p:nvPr/>
        </p:nvSpPr>
        <p:spPr>
          <a:xfrm>
            <a:off x="6703466" y="3026664"/>
            <a:ext cx="73152" cy="73152"/>
          </a:xfrm>
          <a:prstGeom prst="ellipse">
            <a:avLst/>
          </a:prstGeom>
          <a:solidFill>
            <a:srgbClr val="0B6A52"/>
          </a:solidFill>
          <a:ln w="12700">
            <a:solidFill>
              <a:srgbClr val="0B6A52"/>
            </a:solidFill>
            <a:prstDash val="solid"/>
          </a:ln>
        </p:spPr>
        <p:txBody>
          <a:bodyPr/>
          <a:lstStyle/>
          <a:p>
            <a:endParaRPr lang="en-US"/>
          </a:p>
        </p:txBody>
      </p:sp>
      <p:sp>
        <p:nvSpPr>
          <p:cNvPr id="186" name="Text 62">
            <a:extLst>
              <a:ext uri="{FF2B5EF4-FFF2-40B4-BE49-F238E27FC236}">
                <a16:creationId xmlns:a16="http://schemas.microsoft.com/office/drawing/2014/main" id="{023F28FD-A575-E70F-C648-84D38D7FF1EA}"/>
              </a:ext>
            </a:extLst>
          </p:cNvPr>
          <p:cNvSpPr/>
          <p:nvPr/>
        </p:nvSpPr>
        <p:spPr>
          <a:xfrm>
            <a:off x="6822338" y="2944368"/>
            <a:ext cx="1673352" cy="267004"/>
          </a:xfrm>
          <a:prstGeom prst="rect">
            <a:avLst/>
          </a:prstGeom>
          <a:noFill/>
          <a:ln/>
        </p:spPr>
        <p:txBody>
          <a:bodyPr wrap="square" lIns="0" tIns="0" rIns="0" bIns="0" rtlCol="0" anchor="ctr"/>
          <a:lstStyle/>
          <a:p>
            <a:pPr marL="0" indent="0">
              <a:buNone/>
            </a:pPr>
            <a:r>
              <a:rPr lang="en-US" sz="750" dirty="0">
                <a:solidFill>
                  <a:srgbClr val="4A5568"/>
                </a:solidFill>
              </a:rPr>
              <a:t>Sales dashboard — revenue &amp; best sellers</a:t>
            </a:r>
            <a:endParaRPr lang="en-US" sz="750" dirty="0"/>
          </a:p>
        </p:txBody>
      </p:sp>
      <p:sp>
        <p:nvSpPr>
          <p:cNvPr id="187" name="Shape 63">
            <a:extLst>
              <a:ext uri="{FF2B5EF4-FFF2-40B4-BE49-F238E27FC236}">
                <a16:creationId xmlns:a16="http://schemas.microsoft.com/office/drawing/2014/main" id="{294950B4-A2EF-111F-B8EC-B6FDE2CB87AD}"/>
              </a:ext>
            </a:extLst>
          </p:cNvPr>
          <p:cNvSpPr/>
          <p:nvPr/>
        </p:nvSpPr>
        <p:spPr>
          <a:xfrm>
            <a:off x="6703466" y="3447288"/>
            <a:ext cx="73152" cy="73152"/>
          </a:xfrm>
          <a:prstGeom prst="ellipse">
            <a:avLst/>
          </a:prstGeom>
          <a:solidFill>
            <a:srgbClr val="0B6A52"/>
          </a:solidFill>
          <a:ln w="12700">
            <a:solidFill>
              <a:srgbClr val="0B6A52"/>
            </a:solidFill>
            <a:prstDash val="solid"/>
          </a:ln>
        </p:spPr>
        <p:txBody>
          <a:bodyPr/>
          <a:lstStyle/>
          <a:p>
            <a:endParaRPr lang="en-US"/>
          </a:p>
        </p:txBody>
      </p:sp>
      <p:sp>
        <p:nvSpPr>
          <p:cNvPr id="188" name="Text 64">
            <a:extLst>
              <a:ext uri="{FF2B5EF4-FFF2-40B4-BE49-F238E27FC236}">
                <a16:creationId xmlns:a16="http://schemas.microsoft.com/office/drawing/2014/main" id="{9BB34032-66EA-D709-D7DD-320ACE0CC580}"/>
              </a:ext>
            </a:extLst>
          </p:cNvPr>
          <p:cNvSpPr/>
          <p:nvPr/>
        </p:nvSpPr>
        <p:spPr>
          <a:xfrm>
            <a:off x="6822338"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CI/CD pipeline — GitHub Actions Updated</a:t>
            </a:r>
            <a:endParaRPr lang="en-US" sz="750" dirty="0"/>
          </a:p>
        </p:txBody>
      </p:sp>
      <p:sp>
        <p:nvSpPr>
          <p:cNvPr id="189" name="Shape 65">
            <a:extLst>
              <a:ext uri="{FF2B5EF4-FFF2-40B4-BE49-F238E27FC236}">
                <a16:creationId xmlns:a16="http://schemas.microsoft.com/office/drawing/2014/main" id="{AD2DB3AA-ED7A-A790-DE6F-CDF744412480}"/>
              </a:ext>
            </a:extLst>
          </p:cNvPr>
          <p:cNvSpPr/>
          <p:nvPr/>
        </p:nvSpPr>
        <p:spPr>
          <a:xfrm>
            <a:off x="502920" y="3986784"/>
            <a:ext cx="8138160" cy="960120"/>
          </a:xfrm>
          <a:prstGeom prst="rect">
            <a:avLst/>
          </a:prstGeom>
          <a:solidFill>
            <a:srgbClr val="0D1B3E"/>
          </a:solidFill>
          <a:ln w="12700">
            <a:solidFill>
              <a:srgbClr val="0D1B3E"/>
            </a:solidFill>
            <a:prstDash val="solid"/>
          </a:ln>
        </p:spPr>
        <p:txBody>
          <a:bodyPr/>
          <a:lstStyle/>
          <a:p>
            <a:endParaRPr lang="en-US"/>
          </a:p>
        </p:txBody>
      </p:sp>
      <p:sp>
        <p:nvSpPr>
          <p:cNvPr id="190" name="Text 66">
            <a:extLst>
              <a:ext uri="{FF2B5EF4-FFF2-40B4-BE49-F238E27FC236}">
                <a16:creationId xmlns:a16="http://schemas.microsoft.com/office/drawing/2014/main" id="{DF5F4C35-022C-DF30-2F1B-065C9786B005}"/>
              </a:ext>
            </a:extLst>
          </p:cNvPr>
          <p:cNvSpPr/>
          <p:nvPr/>
        </p:nvSpPr>
        <p:spPr>
          <a:xfrm>
            <a:off x="777240"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4</a:t>
            </a:r>
            <a:endParaRPr lang="en-US" sz="2200" dirty="0"/>
          </a:p>
        </p:txBody>
      </p:sp>
      <p:sp>
        <p:nvSpPr>
          <p:cNvPr id="191" name="Text 67">
            <a:extLst>
              <a:ext uri="{FF2B5EF4-FFF2-40B4-BE49-F238E27FC236}">
                <a16:creationId xmlns:a16="http://schemas.microsoft.com/office/drawing/2014/main" id="{963B8FE8-8B97-ADD5-A454-A4CFC2902F0C}"/>
              </a:ext>
            </a:extLst>
          </p:cNvPr>
          <p:cNvSpPr/>
          <p:nvPr/>
        </p:nvSpPr>
        <p:spPr>
          <a:xfrm>
            <a:off x="77724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Epics</a:t>
            </a:r>
            <a:endParaRPr lang="en-US" sz="750" dirty="0"/>
          </a:p>
        </p:txBody>
      </p:sp>
      <p:sp>
        <p:nvSpPr>
          <p:cNvPr id="192" name="Text 68">
            <a:extLst>
              <a:ext uri="{FF2B5EF4-FFF2-40B4-BE49-F238E27FC236}">
                <a16:creationId xmlns:a16="http://schemas.microsoft.com/office/drawing/2014/main" id="{23414302-1EAD-0772-BF80-7D6EB4203622}"/>
              </a:ext>
            </a:extLst>
          </p:cNvPr>
          <p:cNvSpPr/>
          <p:nvPr/>
        </p:nvSpPr>
        <p:spPr>
          <a:xfrm>
            <a:off x="2121408"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25+</a:t>
            </a:r>
            <a:endParaRPr lang="en-US" sz="2200" dirty="0"/>
          </a:p>
        </p:txBody>
      </p:sp>
      <p:sp>
        <p:nvSpPr>
          <p:cNvPr id="193" name="Text 69">
            <a:extLst>
              <a:ext uri="{FF2B5EF4-FFF2-40B4-BE49-F238E27FC236}">
                <a16:creationId xmlns:a16="http://schemas.microsoft.com/office/drawing/2014/main" id="{0C23556E-72B9-E56C-6287-45D7E9523D34}"/>
              </a:ext>
            </a:extLst>
          </p:cNvPr>
          <p:cNvSpPr/>
          <p:nvPr/>
        </p:nvSpPr>
        <p:spPr>
          <a:xfrm>
            <a:off x="2121408"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User Stories</a:t>
            </a:r>
            <a:endParaRPr lang="en-US" sz="750" dirty="0"/>
          </a:p>
        </p:txBody>
      </p:sp>
      <p:sp>
        <p:nvSpPr>
          <p:cNvPr id="194" name="Text 70">
            <a:extLst>
              <a:ext uri="{FF2B5EF4-FFF2-40B4-BE49-F238E27FC236}">
                <a16:creationId xmlns:a16="http://schemas.microsoft.com/office/drawing/2014/main" id="{E00C0FB7-2FC6-7166-A5B6-EF94800191F2}"/>
              </a:ext>
            </a:extLst>
          </p:cNvPr>
          <p:cNvSpPr/>
          <p:nvPr/>
        </p:nvSpPr>
        <p:spPr>
          <a:xfrm>
            <a:off x="3465576"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800+</a:t>
            </a:r>
            <a:endParaRPr lang="en-US" sz="2200" dirty="0"/>
          </a:p>
        </p:txBody>
      </p:sp>
      <p:sp>
        <p:nvSpPr>
          <p:cNvPr id="195" name="Text 71">
            <a:extLst>
              <a:ext uri="{FF2B5EF4-FFF2-40B4-BE49-F238E27FC236}">
                <a16:creationId xmlns:a16="http://schemas.microsoft.com/office/drawing/2014/main" id="{66DF05D2-2AF7-BC30-0022-3D40745CCF01}"/>
              </a:ext>
            </a:extLst>
          </p:cNvPr>
          <p:cNvSpPr/>
          <p:nvPr/>
        </p:nvSpPr>
        <p:spPr>
          <a:xfrm>
            <a:off x="3465576"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Code Commits</a:t>
            </a:r>
            <a:endParaRPr lang="en-US" sz="750" dirty="0"/>
          </a:p>
        </p:txBody>
      </p:sp>
      <p:sp>
        <p:nvSpPr>
          <p:cNvPr id="196" name="Text 72">
            <a:extLst>
              <a:ext uri="{FF2B5EF4-FFF2-40B4-BE49-F238E27FC236}">
                <a16:creationId xmlns:a16="http://schemas.microsoft.com/office/drawing/2014/main" id="{0CB59596-7620-9B5E-EFB1-15A3E11265B1}"/>
              </a:ext>
            </a:extLst>
          </p:cNvPr>
          <p:cNvSpPr/>
          <p:nvPr/>
        </p:nvSpPr>
        <p:spPr>
          <a:xfrm>
            <a:off x="4809744"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50+</a:t>
            </a:r>
            <a:endParaRPr lang="en-US" sz="2200" dirty="0"/>
          </a:p>
        </p:txBody>
      </p:sp>
      <p:sp>
        <p:nvSpPr>
          <p:cNvPr id="197" name="Text 73">
            <a:extLst>
              <a:ext uri="{FF2B5EF4-FFF2-40B4-BE49-F238E27FC236}">
                <a16:creationId xmlns:a16="http://schemas.microsoft.com/office/drawing/2014/main" id="{4B0CC486-B741-16D1-7FC3-1FB8A2809863}"/>
              </a:ext>
            </a:extLst>
          </p:cNvPr>
          <p:cNvSpPr/>
          <p:nvPr/>
        </p:nvSpPr>
        <p:spPr>
          <a:xfrm>
            <a:off x="4809744"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Backend APIs</a:t>
            </a:r>
            <a:endParaRPr lang="en-US" sz="750" dirty="0"/>
          </a:p>
        </p:txBody>
      </p:sp>
      <p:sp>
        <p:nvSpPr>
          <p:cNvPr id="198" name="Text 74">
            <a:extLst>
              <a:ext uri="{FF2B5EF4-FFF2-40B4-BE49-F238E27FC236}">
                <a16:creationId xmlns:a16="http://schemas.microsoft.com/office/drawing/2014/main" id="{3694E759-4D6E-50EC-FADD-80EA8DA246AF}"/>
              </a:ext>
            </a:extLst>
          </p:cNvPr>
          <p:cNvSpPr/>
          <p:nvPr/>
        </p:nvSpPr>
        <p:spPr>
          <a:xfrm>
            <a:off x="6153912"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1,000+</a:t>
            </a:r>
            <a:endParaRPr lang="en-US" sz="2200" dirty="0"/>
          </a:p>
        </p:txBody>
      </p:sp>
      <p:sp>
        <p:nvSpPr>
          <p:cNvPr id="199" name="Text 75">
            <a:extLst>
              <a:ext uri="{FF2B5EF4-FFF2-40B4-BE49-F238E27FC236}">
                <a16:creationId xmlns:a16="http://schemas.microsoft.com/office/drawing/2014/main" id="{0864621D-40D4-BD28-4488-C927941CC3AE}"/>
              </a:ext>
            </a:extLst>
          </p:cNvPr>
          <p:cNvSpPr/>
          <p:nvPr/>
        </p:nvSpPr>
        <p:spPr>
          <a:xfrm>
            <a:off x="6153912"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Automated Tests</a:t>
            </a:r>
            <a:endParaRPr lang="en-US" sz="750" dirty="0"/>
          </a:p>
        </p:txBody>
      </p:sp>
      <p:sp>
        <p:nvSpPr>
          <p:cNvPr id="200" name="Text 76">
            <a:extLst>
              <a:ext uri="{FF2B5EF4-FFF2-40B4-BE49-F238E27FC236}">
                <a16:creationId xmlns:a16="http://schemas.microsoft.com/office/drawing/2014/main" id="{2804293E-548B-CA52-191E-48E3C6A725A6}"/>
              </a:ext>
            </a:extLst>
          </p:cNvPr>
          <p:cNvSpPr/>
          <p:nvPr/>
        </p:nvSpPr>
        <p:spPr>
          <a:xfrm>
            <a:off x="7498080"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1</a:t>
            </a:r>
            <a:endParaRPr lang="en-US" sz="2200" dirty="0"/>
          </a:p>
        </p:txBody>
      </p:sp>
      <p:sp>
        <p:nvSpPr>
          <p:cNvPr id="201" name="Text 77">
            <a:extLst>
              <a:ext uri="{FF2B5EF4-FFF2-40B4-BE49-F238E27FC236}">
                <a16:creationId xmlns:a16="http://schemas.microsoft.com/office/drawing/2014/main" id="{9B26C120-592B-CB75-A78A-1B86CC0D6AFC}"/>
              </a:ext>
            </a:extLst>
          </p:cNvPr>
          <p:cNvSpPr/>
          <p:nvPr/>
        </p:nvSpPr>
        <p:spPr>
          <a:xfrm>
            <a:off x="749808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Living Backlog</a:t>
            </a:r>
            <a:endParaRPr lang="en-US" sz="750" dirty="0"/>
          </a:p>
        </p:txBody>
      </p:sp>
      <p:sp>
        <p:nvSpPr>
          <p:cNvPr id="202" name="Text 0">
            <a:extLst>
              <a:ext uri="{FF2B5EF4-FFF2-40B4-BE49-F238E27FC236}">
                <a16:creationId xmlns:a16="http://schemas.microsoft.com/office/drawing/2014/main" id="{623EABEF-1EC8-5EAE-6E3F-90DFB4BAC730}"/>
              </a:ext>
            </a:extLst>
          </p:cNvPr>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PROJECT OVERVIEW</a:t>
            </a:r>
            <a:endParaRPr lang="en-US" sz="900" dirty="0"/>
          </a:p>
        </p:txBody>
      </p:sp>
      <p:sp>
        <p:nvSpPr>
          <p:cNvPr id="203" name="Text 2">
            <a:extLst>
              <a:ext uri="{FF2B5EF4-FFF2-40B4-BE49-F238E27FC236}">
                <a16:creationId xmlns:a16="http://schemas.microsoft.com/office/drawing/2014/main" id="{9CACA75B-4BB8-1603-074F-BF24916ED74E}"/>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204" name="Text 3">
            <a:extLst>
              <a:ext uri="{FF2B5EF4-FFF2-40B4-BE49-F238E27FC236}">
                <a16:creationId xmlns:a16="http://schemas.microsoft.com/office/drawing/2014/main" id="{EB25435F-73CE-E936-A6DD-BF7AF589AFDD}"/>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Tree>
    <p:extLst>
      <p:ext uri="{BB962C8B-B14F-4D97-AF65-F5344CB8AC3E}">
        <p14:creationId xmlns:p14="http://schemas.microsoft.com/office/powerpoint/2010/main" val="27248401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DD892FEC-689E-C197-FC36-20F23A9D2D3C}"/>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B81CC805-C946-1D95-F6FE-86173098A004}"/>
              </a:ext>
            </a:extLst>
          </p:cNvPr>
          <p:cNvSpPr/>
          <p:nvPr/>
        </p:nvSpPr>
        <p:spPr>
          <a:xfrm>
            <a:off x="502920" y="402336"/>
            <a:ext cx="6858000" cy="530352"/>
          </a:xfrm>
          <a:prstGeom prst="rect">
            <a:avLst/>
          </a:prstGeom>
          <a:noFill/>
          <a:ln/>
        </p:spPr>
        <p:txBody>
          <a:bodyPr wrap="square" lIns="0" tIns="0" rIns="0" bIns="0" rtlCol="0" anchor="ctr"/>
          <a:lstStyle/>
          <a:p>
            <a:pPr marL="0" indent="0" algn="l">
              <a:buNone/>
            </a:pPr>
            <a:r>
              <a:rPr lang="en-US" sz="3600" b="1" dirty="0">
                <a:solidFill>
                  <a:srgbClr val="0D1B3E"/>
                </a:solidFill>
                <a:latin typeface="Calibri" pitchFamily="34" charset="0"/>
                <a:ea typeface="Calibri" pitchFamily="34" charset="-122"/>
                <a:cs typeface="Calibri" pitchFamily="34" charset="-120"/>
              </a:rPr>
              <a:t>Scope &amp; Product Decisions</a:t>
            </a:r>
            <a:endParaRPr lang="en-US" sz="3600" dirty="0"/>
          </a:p>
        </p:txBody>
      </p:sp>
      <p:sp>
        <p:nvSpPr>
          <p:cNvPr id="4" name="Text 2">
            <a:extLst>
              <a:ext uri="{FF2B5EF4-FFF2-40B4-BE49-F238E27FC236}">
                <a16:creationId xmlns:a16="http://schemas.microsoft.com/office/drawing/2014/main" id="{B297E541-F9A3-BB1F-AB47-85416E219058}"/>
              </a:ext>
            </a:extLst>
          </p:cNvPr>
          <p:cNvSpPr/>
          <p:nvPr/>
        </p:nvSpPr>
        <p:spPr>
          <a:xfrm>
            <a:off x="502920" y="996696"/>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How we kept the product focused, deliverable, and built right</a:t>
            </a:r>
            <a:endParaRPr lang="en-US" sz="1100" dirty="0"/>
          </a:p>
        </p:txBody>
      </p:sp>
      <p:sp>
        <p:nvSpPr>
          <p:cNvPr id="7" name="Shape 5">
            <a:extLst>
              <a:ext uri="{FF2B5EF4-FFF2-40B4-BE49-F238E27FC236}">
                <a16:creationId xmlns:a16="http://schemas.microsoft.com/office/drawing/2014/main" id="{92DAB0AD-CCF4-51F6-D42E-5AC7A916641A}"/>
              </a:ext>
            </a:extLst>
          </p:cNvPr>
          <p:cNvSpPr/>
          <p:nvPr/>
        </p:nvSpPr>
        <p:spPr>
          <a:xfrm>
            <a:off x="502920"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8" name="Shape 6">
            <a:extLst>
              <a:ext uri="{FF2B5EF4-FFF2-40B4-BE49-F238E27FC236}">
                <a16:creationId xmlns:a16="http://schemas.microsoft.com/office/drawing/2014/main" id="{4A396896-D71B-32E4-7AD1-BD1F6BDF1455}"/>
              </a:ext>
            </a:extLst>
          </p:cNvPr>
          <p:cNvSpPr/>
          <p:nvPr/>
        </p:nvSpPr>
        <p:spPr>
          <a:xfrm>
            <a:off x="502920"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9" name="Shape 7">
            <a:extLst>
              <a:ext uri="{FF2B5EF4-FFF2-40B4-BE49-F238E27FC236}">
                <a16:creationId xmlns:a16="http://schemas.microsoft.com/office/drawing/2014/main" id="{4AA20850-6977-E177-F62A-07D259CB1C94}"/>
              </a:ext>
            </a:extLst>
          </p:cNvPr>
          <p:cNvSpPr/>
          <p:nvPr/>
        </p:nvSpPr>
        <p:spPr>
          <a:xfrm>
            <a:off x="612648"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10" name="Text 8">
            <a:extLst>
              <a:ext uri="{FF2B5EF4-FFF2-40B4-BE49-F238E27FC236}">
                <a16:creationId xmlns:a16="http://schemas.microsoft.com/office/drawing/2014/main" id="{2743EDA4-677E-1CF4-B580-9A21CCD5BE53}"/>
              </a:ext>
            </a:extLst>
          </p:cNvPr>
          <p:cNvSpPr/>
          <p:nvPr/>
        </p:nvSpPr>
        <p:spPr>
          <a:xfrm>
            <a:off x="612648"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11" name="Text 9">
            <a:extLst>
              <a:ext uri="{FF2B5EF4-FFF2-40B4-BE49-F238E27FC236}">
                <a16:creationId xmlns:a16="http://schemas.microsoft.com/office/drawing/2014/main" id="{68C53AC6-22C5-D0F3-2018-5F102F10A69B}"/>
              </a:ext>
            </a:extLst>
          </p:cNvPr>
          <p:cNvSpPr/>
          <p:nvPr/>
        </p:nvSpPr>
        <p:spPr>
          <a:xfrm>
            <a:off x="960120"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MoSCoW Prioritization</a:t>
            </a:r>
            <a:endParaRPr lang="en-US" sz="950" dirty="0"/>
          </a:p>
        </p:txBody>
      </p:sp>
      <p:sp>
        <p:nvSpPr>
          <p:cNvPr id="12" name="Text 10">
            <a:extLst>
              <a:ext uri="{FF2B5EF4-FFF2-40B4-BE49-F238E27FC236}">
                <a16:creationId xmlns:a16="http://schemas.microsoft.com/office/drawing/2014/main" id="{3B88AB70-82BE-B634-3BA7-27696F036A72}"/>
              </a:ext>
            </a:extLst>
          </p:cNvPr>
          <p:cNvSpPr/>
          <p:nvPr/>
        </p:nvSpPr>
        <p:spPr>
          <a:xfrm>
            <a:off x="960120"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Backlog discipline</a:t>
            </a:r>
            <a:endParaRPr lang="en-US" sz="750" dirty="0"/>
          </a:p>
        </p:txBody>
      </p:sp>
      <p:sp>
        <p:nvSpPr>
          <p:cNvPr id="13" name="Shape 11">
            <a:extLst>
              <a:ext uri="{FF2B5EF4-FFF2-40B4-BE49-F238E27FC236}">
                <a16:creationId xmlns:a16="http://schemas.microsoft.com/office/drawing/2014/main" id="{631048DE-A982-2341-C9F1-29927302D244}"/>
              </a:ext>
            </a:extLst>
          </p:cNvPr>
          <p:cNvSpPr/>
          <p:nvPr/>
        </p:nvSpPr>
        <p:spPr>
          <a:xfrm>
            <a:off x="594360"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14" name="Text 12">
            <a:extLst>
              <a:ext uri="{FF2B5EF4-FFF2-40B4-BE49-F238E27FC236}">
                <a16:creationId xmlns:a16="http://schemas.microsoft.com/office/drawing/2014/main" id="{FD58F8F2-F973-B218-A139-53397CB6083A}"/>
              </a:ext>
            </a:extLst>
          </p:cNvPr>
          <p:cNvSpPr/>
          <p:nvPr/>
        </p:nvSpPr>
        <p:spPr>
          <a:xfrm>
            <a:off x="594360"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Product backlog maintained with MoSCoW priorities from Sprint 1. </a:t>
            </a:r>
          </a:p>
          <a:p>
            <a:pPr marL="0" indent="0">
              <a:buNone/>
            </a:pPr>
            <a:endParaRPr lang="en-US" sz="750" dirty="0">
              <a:solidFill>
                <a:srgbClr val="4A5568"/>
              </a:solidFill>
            </a:endParaRPr>
          </a:p>
          <a:p>
            <a:pPr marL="0" indent="0">
              <a:buNone/>
            </a:pPr>
            <a:r>
              <a:rPr lang="en-US" sz="750" dirty="0">
                <a:solidFill>
                  <a:srgbClr val="4A5568"/>
                </a:solidFill>
              </a:rPr>
              <a:t>Must-have features were protected every sprint; stretch items required an explicit greenlight before work could begin.</a:t>
            </a:r>
            <a:endParaRPr lang="en-US" sz="750" dirty="0"/>
          </a:p>
        </p:txBody>
      </p:sp>
      <p:sp>
        <p:nvSpPr>
          <p:cNvPr id="15" name="Shape 13">
            <a:extLst>
              <a:ext uri="{FF2B5EF4-FFF2-40B4-BE49-F238E27FC236}">
                <a16:creationId xmlns:a16="http://schemas.microsoft.com/office/drawing/2014/main" id="{C041F106-0813-8946-E895-C42E565358F9}"/>
              </a:ext>
            </a:extLst>
          </p:cNvPr>
          <p:cNvSpPr/>
          <p:nvPr/>
        </p:nvSpPr>
        <p:spPr>
          <a:xfrm>
            <a:off x="3227832"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6" name="Shape 14">
            <a:extLst>
              <a:ext uri="{FF2B5EF4-FFF2-40B4-BE49-F238E27FC236}">
                <a16:creationId xmlns:a16="http://schemas.microsoft.com/office/drawing/2014/main" id="{A682DD0B-B322-0D1F-9446-E7BA0E5A77F9}"/>
              </a:ext>
            </a:extLst>
          </p:cNvPr>
          <p:cNvSpPr/>
          <p:nvPr/>
        </p:nvSpPr>
        <p:spPr>
          <a:xfrm>
            <a:off x="3227832"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17" name="Shape 15">
            <a:extLst>
              <a:ext uri="{FF2B5EF4-FFF2-40B4-BE49-F238E27FC236}">
                <a16:creationId xmlns:a16="http://schemas.microsoft.com/office/drawing/2014/main" id="{49E58423-E955-37B8-BAA8-1BD4C5E40A22}"/>
              </a:ext>
            </a:extLst>
          </p:cNvPr>
          <p:cNvSpPr/>
          <p:nvPr/>
        </p:nvSpPr>
        <p:spPr>
          <a:xfrm>
            <a:off x="3337560"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18" name="Text 16">
            <a:extLst>
              <a:ext uri="{FF2B5EF4-FFF2-40B4-BE49-F238E27FC236}">
                <a16:creationId xmlns:a16="http://schemas.microsoft.com/office/drawing/2014/main" id="{C35231D1-7979-BC25-DCF7-158EA7ED2311}"/>
              </a:ext>
            </a:extLst>
          </p:cNvPr>
          <p:cNvSpPr/>
          <p:nvPr/>
        </p:nvSpPr>
        <p:spPr>
          <a:xfrm>
            <a:off x="3337560"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19" name="Text 17">
            <a:extLst>
              <a:ext uri="{FF2B5EF4-FFF2-40B4-BE49-F238E27FC236}">
                <a16:creationId xmlns:a16="http://schemas.microsoft.com/office/drawing/2014/main" id="{4E7FFE86-0340-7916-9DA1-135B097D4871}"/>
              </a:ext>
            </a:extLst>
          </p:cNvPr>
          <p:cNvSpPr/>
          <p:nvPr/>
        </p:nvSpPr>
        <p:spPr>
          <a:xfrm>
            <a:off x="3685032"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Wave-Based Delivery</a:t>
            </a:r>
            <a:endParaRPr lang="en-US" sz="950" dirty="0"/>
          </a:p>
        </p:txBody>
      </p:sp>
      <p:sp>
        <p:nvSpPr>
          <p:cNvPr id="20" name="Text 18">
            <a:extLst>
              <a:ext uri="{FF2B5EF4-FFF2-40B4-BE49-F238E27FC236}">
                <a16:creationId xmlns:a16="http://schemas.microsoft.com/office/drawing/2014/main" id="{0C2D7106-B257-3BB1-D4A4-E780656A8353}"/>
              </a:ext>
            </a:extLst>
          </p:cNvPr>
          <p:cNvSpPr/>
          <p:nvPr/>
        </p:nvSpPr>
        <p:spPr>
          <a:xfrm>
            <a:off x="3685032"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Dependency-first planning</a:t>
            </a:r>
            <a:endParaRPr lang="en-US" sz="750" dirty="0"/>
          </a:p>
        </p:txBody>
      </p:sp>
      <p:sp>
        <p:nvSpPr>
          <p:cNvPr id="21" name="Shape 19">
            <a:extLst>
              <a:ext uri="{FF2B5EF4-FFF2-40B4-BE49-F238E27FC236}">
                <a16:creationId xmlns:a16="http://schemas.microsoft.com/office/drawing/2014/main" id="{5956F258-651D-E408-CEC1-9D30A24617D6}"/>
              </a:ext>
            </a:extLst>
          </p:cNvPr>
          <p:cNvSpPr/>
          <p:nvPr/>
        </p:nvSpPr>
        <p:spPr>
          <a:xfrm>
            <a:off x="3319272"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22" name="Text 20">
            <a:extLst>
              <a:ext uri="{FF2B5EF4-FFF2-40B4-BE49-F238E27FC236}">
                <a16:creationId xmlns:a16="http://schemas.microsoft.com/office/drawing/2014/main" id="{3AE1E325-598A-AC05-0ADE-D6785CB6A5B8}"/>
              </a:ext>
            </a:extLst>
          </p:cNvPr>
          <p:cNvSpPr/>
          <p:nvPr/>
        </p:nvSpPr>
        <p:spPr>
          <a:xfrm>
            <a:off x="3319272"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Sprint work split into waves with hard deadlines — Wave 1 backend APIs had to land before frontend work began.</a:t>
            </a:r>
          </a:p>
          <a:p>
            <a:pPr marL="0" indent="0">
              <a:buNone/>
            </a:pPr>
            <a:endParaRPr lang="en-US" sz="750" dirty="0">
              <a:solidFill>
                <a:srgbClr val="4A5568"/>
              </a:solidFill>
            </a:endParaRPr>
          </a:p>
          <a:p>
            <a:pPr marL="0" indent="0">
              <a:buNone/>
            </a:pPr>
            <a:r>
              <a:rPr lang="en-US" sz="750" dirty="0">
                <a:solidFill>
                  <a:srgbClr val="4A5568"/>
                </a:solidFill>
              </a:rPr>
              <a:t>Eliminated cascade failures seen in Sprint 3, from Sprint 4 forward.</a:t>
            </a:r>
            <a:endParaRPr lang="en-US" sz="750" dirty="0"/>
          </a:p>
        </p:txBody>
      </p:sp>
      <p:sp>
        <p:nvSpPr>
          <p:cNvPr id="23" name="Shape 21">
            <a:extLst>
              <a:ext uri="{FF2B5EF4-FFF2-40B4-BE49-F238E27FC236}">
                <a16:creationId xmlns:a16="http://schemas.microsoft.com/office/drawing/2014/main" id="{90F73A17-02AC-EB7F-6FA9-13B06337554C}"/>
              </a:ext>
            </a:extLst>
          </p:cNvPr>
          <p:cNvSpPr/>
          <p:nvPr/>
        </p:nvSpPr>
        <p:spPr>
          <a:xfrm>
            <a:off x="5952744"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24" name="Shape 22">
            <a:extLst>
              <a:ext uri="{FF2B5EF4-FFF2-40B4-BE49-F238E27FC236}">
                <a16:creationId xmlns:a16="http://schemas.microsoft.com/office/drawing/2014/main" id="{BE7B5291-AA13-CAC0-3AA0-4A0A2BD9D812}"/>
              </a:ext>
            </a:extLst>
          </p:cNvPr>
          <p:cNvSpPr/>
          <p:nvPr/>
        </p:nvSpPr>
        <p:spPr>
          <a:xfrm>
            <a:off x="5952744"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25" name="Shape 23">
            <a:extLst>
              <a:ext uri="{FF2B5EF4-FFF2-40B4-BE49-F238E27FC236}">
                <a16:creationId xmlns:a16="http://schemas.microsoft.com/office/drawing/2014/main" id="{885891E2-8498-B580-D51A-ADACF1677D5C}"/>
              </a:ext>
            </a:extLst>
          </p:cNvPr>
          <p:cNvSpPr/>
          <p:nvPr/>
        </p:nvSpPr>
        <p:spPr>
          <a:xfrm>
            <a:off x="6062472"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26" name="Text 24">
            <a:extLst>
              <a:ext uri="{FF2B5EF4-FFF2-40B4-BE49-F238E27FC236}">
                <a16:creationId xmlns:a16="http://schemas.microsoft.com/office/drawing/2014/main" id="{EC792228-101A-FAB6-F2CD-31C9D3BFE0CE}"/>
              </a:ext>
            </a:extLst>
          </p:cNvPr>
          <p:cNvSpPr/>
          <p:nvPr/>
        </p:nvSpPr>
        <p:spPr>
          <a:xfrm>
            <a:off x="6062472"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27" name="Text 25">
            <a:extLst>
              <a:ext uri="{FF2B5EF4-FFF2-40B4-BE49-F238E27FC236}">
                <a16:creationId xmlns:a16="http://schemas.microsoft.com/office/drawing/2014/main" id="{84E770CC-244D-2A9A-9FE3-CAE87590947C}"/>
              </a:ext>
            </a:extLst>
          </p:cNvPr>
          <p:cNvSpPr/>
          <p:nvPr/>
        </p:nvSpPr>
        <p:spPr>
          <a:xfrm>
            <a:off x="6409944"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Scope Gap Ownership</a:t>
            </a:r>
            <a:endParaRPr lang="en-US" sz="950" dirty="0"/>
          </a:p>
        </p:txBody>
      </p:sp>
      <p:sp>
        <p:nvSpPr>
          <p:cNvPr id="28" name="Text 26">
            <a:extLst>
              <a:ext uri="{FF2B5EF4-FFF2-40B4-BE49-F238E27FC236}">
                <a16:creationId xmlns:a16="http://schemas.microsoft.com/office/drawing/2014/main" id="{798C9EBC-1BD9-7CA3-B499-9FE165A3AEE9}"/>
              </a:ext>
            </a:extLst>
          </p:cNvPr>
          <p:cNvSpPr/>
          <p:nvPr/>
        </p:nvSpPr>
        <p:spPr>
          <a:xfrm>
            <a:off x="6409944"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Product Owner catch</a:t>
            </a:r>
            <a:endParaRPr lang="en-US" sz="750" dirty="0"/>
          </a:p>
        </p:txBody>
      </p:sp>
      <p:sp>
        <p:nvSpPr>
          <p:cNvPr id="29" name="Shape 27">
            <a:extLst>
              <a:ext uri="{FF2B5EF4-FFF2-40B4-BE49-F238E27FC236}">
                <a16:creationId xmlns:a16="http://schemas.microsoft.com/office/drawing/2014/main" id="{E1DCD672-A527-46CE-178C-3A4249BEECBD}"/>
              </a:ext>
            </a:extLst>
          </p:cNvPr>
          <p:cNvSpPr/>
          <p:nvPr/>
        </p:nvSpPr>
        <p:spPr>
          <a:xfrm>
            <a:off x="6044184"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30" name="Text 28">
            <a:extLst>
              <a:ext uri="{FF2B5EF4-FFF2-40B4-BE49-F238E27FC236}">
                <a16:creationId xmlns:a16="http://schemas.microsoft.com/office/drawing/2014/main" id="{19F8126C-634C-B1E8-027B-D924974192C8}"/>
              </a:ext>
            </a:extLst>
          </p:cNvPr>
          <p:cNvSpPr/>
          <p:nvPr/>
        </p:nvSpPr>
        <p:spPr>
          <a:xfrm>
            <a:off x="6044184"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Kim flagged critical scope gaps before they became blockers — most notably that Product Management had no variant interface. </a:t>
            </a:r>
          </a:p>
          <a:p>
            <a:pPr marL="0" indent="0">
              <a:buNone/>
            </a:pPr>
            <a:endParaRPr lang="en-US" sz="750" dirty="0">
              <a:solidFill>
                <a:srgbClr val="4A5568"/>
              </a:solidFill>
            </a:endParaRPr>
          </a:p>
          <a:p>
            <a:pPr marL="0" indent="0">
              <a:buNone/>
            </a:pPr>
            <a:r>
              <a:rPr lang="en-US" sz="750" dirty="0">
                <a:solidFill>
                  <a:srgbClr val="4A5568"/>
                </a:solidFill>
              </a:rPr>
              <a:t>Resolutions were drafted and merged into the sprint plan same day.</a:t>
            </a:r>
            <a:endParaRPr lang="en-US" sz="750" dirty="0"/>
          </a:p>
        </p:txBody>
      </p:sp>
      <p:sp>
        <p:nvSpPr>
          <p:cNvPr id="31" name="Shape 29">
            <a:extLst>
              <a:ext uri="{FF2B5EF4-FFF2-40B4-BE49-F238E27FC236}">
                <a16:creationId xmlns:a16="http://schemas.microsoft.com/office/drawing/2014/main" id="{B9817B98-4910-5FB3-6333-9EA1C607006B}"/>
              </a:ext>
            </a:extLst>
          </p:cNvPr>
          <p:cNvSpPr/>
          <p:nvPr/>
        </p:nvSpPr>
        <p:spPr>
          <a:xfrm>
            <a:off x="502920"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32" name="Shape 30">
            <a:extLst>
              <a:ext uri="{FF2B5EF4-FFF2-40B4-BE49-F238E27FC236}">
                <a16:creationId xmlns:a16="http://schemas.microsoft.com/office/drawing/2014/main" id="{B5776727-6F06-B4A5-A360-13C6A1968125}"/>
              </a:ext>
            </a:extLst>
          </p:cNvPr>
          <p:cNvSpPr/>
          <p:nvPr/>
        </p:nvSpPr>
        <p:spPr>
          <a:xfrm>
            <a:off x="502920"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33" name="Shape 31">
            <a:extLst>
              <a:ext uri="{FF2B5EF4-FFF2-40B4-BE49-F238E27FC236}">
                <a16:creationId xmlns:a16="http://schemas.microsoft.com/office/drawing/2014/main" id="{DE8622F9-A551-A658-E829-AB038ACC16E4}"/>
              </a:ext>
            </a:extLst>
          </p:cNvPr>
          <p:cNvSpPr/>
          <p:nvPr/>
        </p:nvSpPr>
        <p:spPr>
          <a:xfrm>
            <a:off x="612648"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34" name="Text 32">
            <a:extLst>
              <a:ext uri="{FF2B5EF4-FFF2-40B4-BE49-F238E27FC236}">
                <a16:creationId xmlns:a16="http://schemas.microsoft.com/office/drawing/2014/main" id="{D6038BAB-AA98-8327-9493-A063799F6E3B}"/>
              </a:ext>
            </a:extLst>
          </p:cNvPr>
          <p:cNvSpPr/>
          <p:nvPr/>
        </p:nvSpPr>
        <p:spPr>
          <a:xfrm>
            <a:off x="612648"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35" name="Text 33">
            <a:extLst>
              <a:ext uri="{FF2B5EF4-FFF2-40B4-BE49-F238E27FC236}">
                <a16:creationId xmlns:a16="http://schemas.microsoft.com/office/drawing/2014/main" id="{F5A291BC-7479-CFF6-B5E0-45C529467CB1}"/>
              </a:ext>
            </a:extLst>
          </p:cNvPr>
          <p:cNvSpPr/>
          <p:nvPr/>
        </p:nvSpPr>
        <p:spPr>
          <a:xfrm>
            <a:off x="960120"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Carry-Over Triage</a:t>
            </a:r>
            <a:endParaRPr lang="en-US" sz="950" dirty="0"/>
          </a:p>
        </p:txBody>
      </p:sp>
      <p:sp>
        <p:nvSpPr>
          <p:cNvPr id="36" name="Text 34">
            <a:extLst>
              <a:ext uri="{FF2B5EF4-FFF2-40B4-BE49-F238E27FC236}">
                <a16:creationId xmlns:a16="http://schemas.microsoft.com/office/drawing/2014/main" id="{28846A2F-2C01-C042-EAE3-72BE6793F327}"/>
              </a:ext>
            </a:extLst>
          </p:cNvPr>
          <p:cNvSpPr/>
          <p:nvPr/>
        </p:nvSpPr>
        <p:spPr>
          <a:xfrm>
            <a:off x="960120"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Sprint integrity</a:t>
            </a:r>
            <a:endParaRPr lang="en-US" sz="750" dirty="0"/>
          </a:p>
        </p:txBody>
      </p:sp>
      <p:sp>
        <p:nvSpPr>
          <p:cNvPr id="37" name="Shape 35">
            <a:extLst>
              <a:ext uri="{FF2B5EF4-FFF2-40B4-BE49-F238E27FC236}">
                <a16:creationId xmlns:a16="http://schemas.microsoft.com/office/drawing/2014/main" id="{16C6A7B4-C5C1-2EAB-CD98-3D2751572A62}"/>
              </a:ext>
            </a:extLst>
          </p:cNvPr>
          <p:cNvSpPr/>
          <p:nvPr/>
        </p:nvSpPr>
        <p:spPr>
          <a:xfrm>
            <a:off x="594360"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38" name="Text 36">
            <a:extLst>
              <a:ext uri="{FF2B5EF4-FFF2-40B4-BE49-F238E27FC236}">
                <a16:creationId xmlns:a16="http://schemas.microsoft.com/office/drawing/2014/main" id="{444EAA3F-08C3-F258-84C2-C66AE4F15116}"/>
              </a:ext>
            </a:extLst>
          </p:cNvPr>
          <p:cNvSpPr/>
          <p:nvPr/>
        </p:nvSpPr>
        <p:spPr>
          <a:xfrm>
            <a:off x="594360"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Every sprint opened with explicit carry-over triage. </a:t>
            </a:r>
          </a:p>
          <a:p>
            <a:pPr marL="0" indent="0">
              <a:buNone/>
            </a:pPr>
            <a:endParaRPr lang="en-US" sz="750" dirty="0">
              <a:solidFill>
                <a:srgbClr val="4A5568"/>
              </a:solidFill>
            </a:endParaRPr>
          </a:p>
          <a:p>
            <a:pPr marL="0" indent="0">
              <a:buNone/>
            </a:pPr>
            <a:r>
              <a:rPr lang="en-US" sz="750" dirty="0">
                <a:solidFill>
                  <a:srgbClr val="4A5568"/>
                </a:solidFill>
              </a:rPr>
              <a:t>Sprint 4 was the first to close with zero carry-overs — a milestone reflecting both planning improvements and strong team execution.</a:t>
            </a:r>
            <a:endParaRPr lang="en-US" sz="750" dirty="0"/>
          </a:p>
        </p:txBody>
      </p:sp>
      <p:sp>
        <p:nvSpPr>
          <p:cNvPr id="39" name="Shape 37">
            <a:extLst>
              <a:ext uri="{FF2B5EF4-FFF2-40B4-BE49-F238E27FC236}">
                <a16:creationId xmlns:a16="http://schemas.microsoft.com/office/drawing/2014/main" id="{F7B12629-BA07-B015-7EC5-5014317A7A8C}"/>
              </a:ext>
            </a:extLst>
          </p:cNvPr>
          <p:cNvSpPr/>
          <p:nvPr/>
        </p:nvSpPr>
        <p:spPr>
          <a:xfrm>
            <a:off x="3227832"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40" name="Shape 38">
            <a:extLst>
              <a:ext uri="{FF2B5EF4-FFF2-40B4-BE49-F238E27FC236}">
                <a16:creationId xmlns:a16="http://schemas.microsoft.com/office/drawing/2014/main" id="{6AB73279-573E-C1BE-FBEB-33AA8628C8C8}"/>
              </a:ext>
            </a:extLst>
          </p:cNvPr>
          <p:cNvSpPr/>
          <p:nvPr/>
        </p:nvSpPr>
        <p:spPr>
          <a:xfrm>
            <a:off x="3227832"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41" name="Shape 39">
            <a:extLst>
              <a:ext uri="{FF2B5EF4-FFF2-40B4-BE49-F238E27FC236}">
                <a16:creationId xmlns:a16="http://schemas.microsoft.com/office/drawing/2014/main" id="{969A7A4C-FB9C-8803-F01F-1D9E12004DC9}"/>
              </a:ext>
            </a:extLst>
          </p:cNvPr>
          <p:cNvSpPr/>
          <p:nvPr/>
        </p:nvSpPr>
        <p:spPr>
          <a:xfrm>
            <a:off x="3337560"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42" name="Text 40">
            <a:extLst>
              <a:ext uri="{FF2B5EF4-FFF2-40B4-BE49-F238E27FC236}">
                <a16:creationId xmlns:a16="http://schemas.microsoft.com/office/drawing/2014/main" id="{E9C8D5A8-5E80-3BC2-8C67-C7E8C6D5441D}"/>
              </a:ext>
            </a:extLst>
          </p:cNvPr>
          <p:cNvSpPr/>
          <p:nvPr/>
        </p:nvSpPr>
        <p:spPr>
          <a:xfrm>
            <a:off x="3337560"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43" name="Text 41">
            <a:extLst>
              <a:ext uri="{FF2B5EF4-FFF2-40B4-BE49-F238E27FC236}">
                <a16:creationId xmlns:a16="http://schemas.microsoft.com/office/drawing/2014/main" id="{51676E3C-4326-35E9-BB36-B23B959F455A}"/>
              </a:ext>
            </a:extLst>
          </p:cNvPr>
          <p:cNvSpPr/>
          <p:nvPr/>
        </p:nvSpPr>
        <p:spPr>
          <a:xfrm>
            <a:off x="3685032"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Acceptance Criteria First</a:t>
            </a:r>
            <a:endParaRPr lang="en-US" sz="950" dirty="0"/>
          </a:p>
        </p:txBody>
      </p:sp>
      <p:sp>
        <p:nvSpPr>
          <p:cNvPr id="44" name="Text 42">
            <a:extLst>
              <a:ext uri="{FF2B5EF4-FFF2-40B4-BE49-F238E27FC236}">
                <a16:creationId xmlns:a16="http://schemas.microsoft.com/office/drawing/2014/main" id="{127BE4A7-F68D-5CD2-7D24-E059842B55D7}"/>
              </a:ext>
            </a:extLst>
          </p:cNvPr>
          <p:cNvSpPr/>
          <p:nvPr/>
        </p:nvSpPr>
        <p:spPr>
          <a:xfrm>
            <a:off x="3685032"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Definition of Done</a:t>
            </a:r>
            <a:endParaRPr lang="en-US" sz="750" dirty="0"/>
          </a:p>
        </p:txBody>
      </p:sp>
      <p:sp>
        <p:nvSpPr>
          <p:cNvPr id="45" name="Shape 43">
            <a:extLst>
              <a:ext uri="{FF2B5EF4-FFF2-40B4-BE49-F238E27FC236}">
                <a16:creationId xmlns:a16="http://schemas.microsoft.com/office/drawing/2014/main" id="{287AD5AF-695D-EC50-8DA3-76912657F089}"/>
              </a:ext>
            </a:extLst>
          </p:cNvPr>
          <p:cNvSpPr/>
          <p:nvPr/>
        </p:nvSpPr>
        <p:spPr>
          <a:xfrm>
            <a:off x="3319272"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46" name="Text 44">
            <a:extLst>
              <a:ext uri="{FF2B5EF4-FFF2-40B4-BE49-F238E27FC236}">
                <a16:creationId xmlns:a16="http://schemas.microsoft.com/office/drawing/2014/main" id="{D1421BA4-674C-FC67-4E35-AE6D48CFAA67}"/>
              </a:ext>
            </a:extLst>
          </p:cNvPr>
          <p:cNvSpPr/>
          <p:nvPr/>
        </p:nvSpPr>
        <p:spPr>
          <a:xfrm>
            <a:off x="3319272"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Every user story included explicit acceptance criteria before development began. </a:t>
            </a:r>
          </a:p>
          <a:p>
            <a:pPr marL="0" indent="0">
              <a:buNone/>
            </a:pPr>
            <a:endParaRPr lang="en-US" sz="750" dirty="0">
              <a:solidFill>
                <a:srgbClr val="4A5568"/>
              </a:solidFill>
            </a:endParaRPr>
          </a:p>
          <a:p>
            <a:pPr marL="0" indent="0">
              <a:buNone/>
            </a:pPr>
            <a:r>
              <a:rPr lang="en-US" sz="750" dirty="0">
                <a:solidFill>
                  <a:srgbClr val="4A5568"/>
                </a:solidFill>
              </a:rPr>
              <a:t>No card moved to Done without a PR open, peer review complete, and all testing passed.</a:t>
            </a:r>
            <a:endParaRPr lang="en-US" sz="750" dirty="0"/>
          </a:p>
        </p:txBody>
      </p:sp>
      <p:sp>
        <p:nvSpPr>
          <p:cNvPr id="47" name="Shape 45">
            <a:extLst>
              <a:ext uri="{FF2B5EF4-FFF2-40B4-BE49-F238E27FC236}">
                <a16:creationId xmlns:a16="http://schemas.microsoft.com/office/drawing/2014/main" id="{C17B143D-3CAC-F00F-24B5-75BE1EFDB628}"/>
              </a:ext>
            </a:extLst>
          </p:cNvPr>
          <p:cNvSpPr/>
          <p:nvPr/>
        </p:nvSpPr>
        <p:spPr>
          <a:xfrm>
            <a:off x="5952744"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48" name="Shape 46">
            <a:extLst>
              <a:ext uri="{FF2B5EF4-FFF2-40B4-BE49-F238E27FC236}">
                <a16:creationId xmlns:a16="http://schemas.microsoft.com/office/drawing/2014/main" id="{2E895E17-FA79-2A3A-38B5-F2BB65DF7884}"/>
              </a:ext>
            </a:extLst>
          </p:cNvPr>
          <p:cNvSpPr/>
          <p:nvPr/>
        </p:nvSpPr>
        <p:spPr>
          <a:xfrm>
            <a:off x="5952744"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49" name="Shape 47">
            <a:extLst>
              <a:ext uri="{FF2B5EF4-FFF2-40B4-BE49-F238E27FC236}">
                <a16:creationId xmlns:a16="http://schemas.microsoft.com/office/drawing/2014/main" id="{41BB3FAF-CF0A-D61A-F34C-65DAD6EFDE4F}"/>
              </a:ext>
            </a:extLst>
          </p:cNvPr>
          <p:cNvSpPr/>
          <p:nvPr/>
        </p:nvSpPr>
        <p:spPr>
          <a:xfrm>
            <a:off x="6062472"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50" name="Text 48">
            <a:extLst>
              <a:ext uri="{FF2B5EF4-FFF2-40B4-BE49-F238E27FC236}">
                <a16:creationId xmlns:a16="http://schemas.microsoft.com/office/drawing/2014/main" id="{54C43B30-961A-A540-0521-88B8C253D200}"/>
              </a:ext>
            </a:extLst>
          </p:cNvPr>
          <p:cNvSpPr/>
          <p:nvPr/>
        </p:nvSpPr>
        <p:spPr>
          <a:xfrm>
            <a:off x="6062472"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51" name="Text 49">
            <a:extLst>
              <a:ext uri="{FF2B5EF4-FFF2-40B4-BE49-F238E27FC236}">
                <a16:creationId xmlns:a16="http://schemas.microsoft.com/office/drawing/2014/main" id="{172D6D35-567C-61DC-805D-684973505410}"/>
              </a:ext>
            </a:extLst>
          </p:cNvPr>
          <p:cNvSpPr/>
          <p:nvPr/>
        </p:nvSpPr>
        <p:spPr>
          <a:xfrm>
            <a:off x="6409944"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Living Backlog</a:t>
            </a:r>
            <a:endParaRPr lang="en-US" sz="950" dirty="0"/>
          </a:p>
        </p:txBody>
      </p:sp>
      <p:sp>
        <p:nvSpPr>
          <p:cNvPr id="52" name="Text 50">
            <a:extLst>
              <a:ext uri="{FF2B5EF4-FFF2-40B4-BE49-F238E27FC236}">
                <a16:creationId xmlns:a16="http://schemas.microsoft.com/office/drawing/2014/main" id="{22DEB7A3-2570-89E1-C6D2-7AA51C7D8C7C}"/>
              </a:ext>
            </a:extLst>
          </p:cNvPr>
          <p:cNvSpPr/>
          <p:nvPr/>
        </p:nvSpPr>
        <p:spPr>
          <a:xfrm>
            <a:off x="6409944"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Continuous refinement</a:t>
            </a:r>
            <a:endParaRPr lang="en-US" sz="750" dirty="0"/>
          </a:p>
        </p:txBody>
      </p:sp>
      <p:sp>
        <p:nvSpPr>
          <p:cNvPr id="53" name="Shape 51">
            <a:extLst>
              <a:ext uri="{FF2B5EF4-FFF2-40B4-BE49-F238E27FC236}">
                <a16:creationId xmlns:a16="http://schemas.microsoft.com/office/drawing/2014/main" id="{9B64BA5F-9B31-D84C-29B2-8A9B22993ACF}"/>
              </a:ext>
            </a:extLst>
          </p:cNvPr>
          <p:cNvSpPr/>
          <p:nvPr/>
        </p:nvSpPr>
        <p:spPr>
          <a:xfrm>
            <a:off x="6044184"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54" name="Text 52">
            <a:extLst>
              <a:ext uri="{FF2B5EF4-FFF2-40B4-BE49-F238E27FC236}">
                <a16:creationId xmlns:a16="http://schemas.microsoft.com/office/drawing/2014/main" id="{18F2C1F0-2578-0F91-B418-5D96353A26EA}"/>
              </a:ext>
            </a:extLst>
          </p:cNvPr>
          <p:cNvSpPr/>
          <p:nvPr/>
        </p:nvSpPr>
        <p:spPr>
          <a:xfrm>
            <a:off x="6044184"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Product backlog treated as a living document throughout all five sprints. </a:t>
            </a:r>
          </a:p>
          <a:p>
            <a:pPr marL="0" indent="0">
              <a:buNone/>
            </a:pPr>
            <a:endParaRPr lang="en-US" sz="750" dirty="0">
              <a:solidFill>
                <a:srgbClr val="4A5568"/>
              </a:solidFill>
            </a:endParaRPr>
          </a:p>
          <a:p>
            <a:pPr marL="0" indent="0">
              <a:buNone/>
            </a:pPr>
            <a:r>
              <a:rPr lang="en-US" sz="750" dirty="0">
                <a:solidFill>
                  <a:srgbClr val="4A5568"/>
                </a:solidFill>
              </a:rPr>
              <a:t>User stories were refined, split, and re-scoped as the team learned — every change logged in the sprint plan.</a:t>
            </a:r>
            <a:endParaRPr lang="en-US" sz="750" dirty="0"/>
          </a:p>
        </p:txBody>
      </p:sp>
      <p:sp>
        <p:nvSpPr>
          <p:cNvPr id="55" name="Text 2">
            <a:extLst>
              <a:ext uri="{FF2B5EF4-FFF2-40B4-BE49-F238E27FC236}">
                <a16:creationId xmlns:a16="http://schemas.microsoft.com/office/drawing/2014/main" id="{1D02E7D3-8D27-B201-B75A-C2915FCC9C0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56" name="Text 3">
            <a:extLst>
              <a:ext uri="{FF2B5EF4-FFF2-40B4-BE49-F238E27FC236}">
                <a16:creationId xmlns:a16="http://schemas.microsoft.com/office/drawing/2014/main" id="{089490A6-DC41-632B-F292-71C57D4188BE}"/>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
        <p:nvSpPr>
          <p:cNvPr id="57" name="Text 0">
            <a:extLst>
              <a:ext uri="{FF2B5EF4-FFF2-40B4-BE49-F238E27FC236}">
                <a16:creationId xmlns:a16="http://schemas.microsoft.com/office/drawing/2014/main" id="{D58F6D26-673C-679B-7FB9-71762F4C97ED}"/>
              </a:ext>
            </a:extLst>
          </p:cNvPr>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PROJECT OVERVIEW</a:t>
            </a:r>
            <a:endParaRPr lang="en-US" sz="900" dirty="0"/>
          </a:p>
        </p:txBody>
      </p:sp>
    </p:spTree>
    <p:extLst>
      <p:ext uri="{BB962C8B-B14F-4D97-AF65-F5344CB8AC3E}">
        <p14:creationId xmlns:p14="http://schemas.microsoft.com/office/powerpoint/2010/main" val="14649612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DEVELOPMENT HIGHLIGHTS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We're Proud Of</a:t>
            </a:r>
            <a:endParaRPr lang="en-US" sz="3200" dirty="0"/>
          </a:p>
        </p:txBody>
      </p:sp>
      <p:sp>
        <p:nvSpPr>
          <p:cNvPr id="4" name="Shape 2"/>
          <p:cNvSpPr/>
          <p:nvPr/>
        </p:nvSpPr>
        <p:spPr>
          <a:xfrm>
            <a:off x="365760" y="135331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5" name="Image 0" descr="preencoded.png"/>
          <p:cNvPicPr>
            <a:picLocks noChangeAspect="1"/>
          </p:cNvPicPr>
          <p:nvPr/>
        </p:nvPicPr>
        <p:blipFill>
          <a:blip r:embed="rId3"/>
          <a:stretch>
            <a:fillRect/>
          </a:stretch>
        </p:blipFill>
        <p:spPr>
          <a:xfrm>
            <a:off x="530352" y="1655064"/>
            <a:ext cx="365760" cy="365760"/>
          </a:xfrm>
          <a:prstGeom prst="rect">
            <a:avLst/>
          </a:prstGeom>
        </p:spPr>
      </p:pic>
      <p:sp>
        <p:nvSpPr>
          <p:cNvPr id="6" name="Text 3"/>
          <p:cNvSpPr/>
          <p:nvPr/>
        </p:nvSpPr>
        <p:spPr>
          <a:xfrm>
            <a:off x="1024128" y="146304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API Contract discipline</a:t>
            </a:r>
            <a:endParaRPr lang="en-US" sz="1200" dirty="0"/>
          </a:p>
        </p:txBody>
      </p:sp>
      <p:sp>
        <p:nvSpPr>
          <p:cNvPr id="7" name="Text 4"/>
          <p:cNvSpPr/>
          <p:nvPr/>
        </p:nvSpPr>
        <p:spPr>
          <a:xfrm>
            <a:off x="1024128" y="1810512"/>
            <a:ext cx="324612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Tristin owned and maintained a living API contract throughout the project. Every endpoint was documented and kept both frontend and backend in sync across all five sprints.</a:t>
            </a:r>
            <a:endParaRPr lang="en-US" sz="950" dirty="0"/>
          </a:p>
        </p:txBody>
      </p:sp>
      <p:sp>
        <p:nvSpPr>
          <p:cNvPr id="8" name="Shape 5"/>
          <p:cNvSpPr/>
          <p:nvPr/>
        </p:nvSpPr>
        <p:spPr>
          <a:xfrm>
            <a:off x="4663440" y="135331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9" name="Image 1" descr="preencoded.png"/>
          <p:cNvPicPr>
            <a:picLocks noChangeAspect="1"/>
          </p:cNvPicPr>
          <p:nvPr/>
        </p:nvPicPr>
        <p:blipFill>
          <a:blip r:embed="rId4"/>
          <a:stretch>
            <a:fillRect/>
          </a:stretch>
        </p:blipFill>
        <p:spPr>
          <a:xfrm>
            <a:off x="4828032" y="1655064"/>
            <a:ext cx="365760" cy="365760"/>
          </a:xfrm>
          <a:prstGeom prst="rect">
            <a:avLst/>
          </a:prstGeom>
        </p:spPr>
      </p:pic>
      <p:sp>
        <p:nvSpPr>
          <p:cNvPr id="10" name="Text 6"/>
          <p:cNvSpPr/>
          <p:nvPr/>
        </p:nvSpPr>
        <p:spPr>
          <a:xfrm>
            <a:off x="5321808" y="146304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cs typeface="Calibri" pitchFamily="34" charset="-120"/>
              </a:rPr>
              <a:t>Contribution Standards</a:t>
            </a:r>
            <a:endParaRPr lang="en-US" sz="1200" dirty="0"/>
          </a:p>
        </p:txBody>
      </p:sp>
      <p:sp>
        <p:nvSpPr>
          <p:cNvPr id="11" name="Text 7"/>
          <p:cNvSpPr/>
          <p:nvPr/>
        </p:nvSpPr>
        <p:spPr>
          <a:xfrm>
            <a:off x="5321808" y="1810512"/>
            <a:ext cx="329184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From Sprint 1, the team operated with a defined branching strategy, PR checklist, and code review standards. No code merged to main without a completed review and testing, every sprint.</a:t>
            </a:r>
            <a:endParaRPr lang="en-US" sz="950" dirty="0"/>
          </a:p>
        </p:txBody>
      </p:sp>
      <p:sp>
        <p:nvSpPr>
          <p:cNvPr id="12" name="Shape 8"/>
          <p:cNvSpPr/>
          <p:nvPr/>
        </p:nvSpPr>
        <p:spPr>
          <a:xfrm>
            <a:off x="365760" y="258775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13" name="Image 2" descr="preencoded.png"/>
          <p:cNvPicPr>
            <a:picLocks noChangeAspect="1"/>
          </p:cNvPicPr>
          <p:nvPr/>
        </p:nvPicPr>
        <p:blipFill>
          <a:blip r:embed="rId5"/>
          <a:stretch>
            <a:fillRect/>
          </a:stretch>
        </p:blipFill>
        <p:spPr>
          <a:xfrm>
            <a:off x="530352" y="2889504"/>
            <a:ext cx="365760" cy="365760"/>
          </a:xfrm>
          <a:prstGeom prst="rect">
            <a:avLst/>
          </a:prstGeom>
        </p:spPr>
      </p:pic>
      <p:sp>
        <p:nvSpPr>
          <p:cNvPr id="14" name="Text 9"/>
          <p:cNvSpPr/>
          <p:nvPr/>
        </p:nvSpPr>
        <p:spPr>
          <a:xfrm>
            <a:off x="1024128" y="269748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Team Support</a:t>
            </a:r>
            <a:endParaRPr lang="en-US" sz="1200" dirty="0"/>
          </a:p>
        </p:txBody>
      </p:sp>
      <p:sp>
        <p:nvSpPr>
          <p:cNvPr id="15" name="Text 10"/>
          <p:cNvSpPr/>
          <p:nvPr/>
        </p:nvSpPr>
        <p:spPr>
          <a:xfrm>
            <a:off x="1024128" y="2953593"/>
            <a:ext cx="3246120" cy="639999"/>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ea typeface="Calibri" pitchFamily="34" charset="-122"/>
                <a:cs typeface="Calibri" pitchFamily="34" charset="-120"/>
              </a:rPr>
              <a:t>When team members needed to step back, support was advanced without hesitation. Ownership shifted seamlessly and the team finished stronger than it started.  </a:t>
            </a:r>
            <a:endParaRPr lang="en-US" sz="950" dirty="0"/>
          </a:p>
        </p:txBody>
      </p:sp>
      <p:sp>
        <p:nvSpPr>
          <p:cNvPr id="16" name="Shape 11"/>
          <p:cNvSpPr/>
          <p:nvPr/>
        </p:nvSpPr>
        <p:spPr>
          <a:xfrm>
            <a:off x="4663440" y="258775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17" name="Image 3" descr="preencoded.png"/>
          <p:cNvPicPr>
            <a:picLocks noChangeAspect="1"/>
          </p:cNvPicPr>
          <p:nvPr/>
        </p:nvPicPr>
        <p:blipFill>
          <a:blip r:embed="rId6"/>
          <a:stretch>
            <a:fillRect/>
          </a:stretch>
        </p:blipFill>
        <p:spPr>
          <a:xfrm>
            <a:off x="4828032" y="2889504"/>
            <a:ext cx="365760" cy="365760"/>
          </a:xfrm>
          <a:prstGeom prst="rect">
            <a:avLst/>
          </a:prstGeom>
        </p:spPr>
      </p:pic>
      <p:sp>
        <p:nvSpPr>
          <p:cNvPr id="18" name="Text 12"/>
          <p:cNvSpPr/>
          <p:nvPr/>
        </p:nvSpPr>
        <p:spPr>
          <a:xfrm>
            <a:off x="5321808" y="269748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Testing and CI Integration</a:t>
            </a:r>
            <a:endParaRPr lang="en-US" sz="1200" dirty="0"/>
          </a:p>
        </p:txBody>
      </p:sp>
      <p:sp>
        <p:nvSpPr>
          <p:cNvPr id="19" name="Text 13"/>
          <p:cNvSpPr/>
          <p:nvPr/>
        </p:nvSpPr>
        <p:spPr>
          <a:xfrm>
            <a:off x="5321808" y="3044952"/>
            <a:ext cx="3246120" cy="548640"/>
          </a:xfrm>
          <a:prstGeom prst="rect">
            <a:avLst/>
          </a:prstGeom>
          <a:noFill/>
          <a:ln/>
        </p:spPr>
        <p:txBody>
          <a:bodyPr wrap="square" lIns="0" tIns="0" rIns="0" bIns="0" rtlCol="0" anchor="ctr"/>
          <a:lstStyle/>
          <a:p>
            <a:r>
              <a:rPr lang="en-US" sz="950" dirty="0">
                <a:solidFill>
                  <a:srgbClr val="4A5568"/>
                </a:solidFill>
              </a:rPr>
              <a:t>Kenny delivered 1,000+ automated tests and maintained 90%+ coverage across both backend and frontend, with a GitHub Actions CI/CD pipeline validating every pull request.</a:t>
            </a:r>
            <a:endParaRPr lang="en-US" sz="950" dirty="0"/>
          </a:p>
        </p:txBody>
      </p:sp>
      <p:sp>
        <p:nvSpPr>
          <p:cNvPr id="20" name="Shape 14"/>
          <p:cNvSpPr/>
          <p:nvPr/>
        </p:nvSpPr>
        <p:spPr>
          <a:xfrm>
            <a:off x="365760" y="3854358"/>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21" name="Image 4" descr="Star with solid fill"/>
          <p:cNvPicPr>
            <a:picLocks noChangeAspect="1"/>
          </p:cNvPicPr>
          <p:nvPr/>
        </p:nvPicPr>
        <p:blipFill>
          <a:blip>
            <a:extLst>
              <a:ext uri="{96DAC541-7B7A-43D3-8B79-37D633B846F1}">
                <asvg:svgBlip xmlns:asvg="http://schemas.microsoft.com/office/drawing/2016/SVG/main" r:embed="rId7"/>
              </a:ext>
            </a:extLst>
          </a:blip>
          <a:srcRect/>
          <a:stretch/>
        </p:blipFill>
        <p:spPr>
          <a:xfrm>
            <a:off x="530352" y="4123944"/>
            <a:ext cx="365760" cy="365760"/>
          </a:xfrm>
          <a:prstGeom prst="rect">
            <a:avLst/>
          </a:prstGeom>
        </p:spPr>
      </p:pic>
      <p:sp>
        <p:nvSpPr>
          <p:cNvPr id="22" name="Text 15"/>
          <p:cNvSpPr/>
          <p:nvPr/>
        </p:nvSpPr>
        <p:spPr>
          <a:xfrm>
            <a:off x="1024128" y="393192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Kim Mayo – Product Owner</a:t>
            </a:r>
            <a:endParaRPr lang="en-US" sz="1200" dirty="0"/>
          </a:p>
        </p:txBody>
      </p:sp>
      <p:sp>
        <p:nvSpPr>
          <p:cNvPr id="23" name="Text 16"/>
          <p:cNvSpPr/>
          <p:nvPr/>
        </p:nvSpPr>
        <p:spPr>
          <a:xfrm>
            <a:off x="1024128" y="4279392"/>
            <a:ext cx="3246120" cy="548640"/>
          </a:xfrm>
          <a:prstGeom prst="rect">
            <a:avLst/>
          </a:prstGeom>
          <a:noFill/>
          <a:ln/>
        </p:spPr>
        <p:txBody>
          <a:bodyPr wrap="square" lIns="0" tIns="0" rIns="0" bIns="0" rtlCol="0" anchor="ctr"/>
          <a:lstStyle/>
          <a:p>
            <a:r>
              <a:rPr lang="en-US" sz="950" dirty="0">
                <a:solidFill>
                  <a:srgbClr val="6B7280"/>
                </a:solidFill>
                <a:latin typeface="Calibri" pitchFamily="34" charset="0"/>
                <a:ea typeface="Calibri" pitchFamily="34" charset="-122"/>
                <a:cs typeface="Calibri" pitchFamily="34" charset="-120"/>
              </a:rPr>
              <a:t>Submitted team’s 1</a:t>
            </a:r>
            <a:r>
              <a:rPr lang="en-US" sz="950" baseline="30000" dirty="0">
                <a:solidFill>
                  <a:srgbClr val="6B7280"/>
                </a:solidFill>
                <a:latin typeface="Calibri" pitchFamily="34" charset="0"/>
                <a:ea typeface="Calibri" pitchFamily="34" charset="-122"/>
                <a:cs typeface="Calibri" pitchFamily="34" charset="-120"/>
              </a:rPr>
              <a:t>st</a:t>
            </a:r>
            <a:r>
              <a:rPr lang="en-US" sz="950" dirty="0">
                <a:solidFill>
                  <a:srgbClr val="6B7280"/>
                </a:solidFill>
                <a:latin typeface="Calibri" pitchFamily="34" charset="0"/>
                <a:ea typeface="Calibri" pitchFamily="34" charset="-122"/>
                <a:cs typeface="Calibri" pitchFamily="34" charset="-120"/>
              </a:rPr>
              <a:t> PR! Stepped up as active PM when Serina was sick. Most active contributor by PR volume in Sprint 4. Flagged scope gaps before they became blockers. Delivered backend APIs, frontend pages, and code reviews every sprint.</a:t>
            </a:r>
            <a:endParaRPr lang="en-US" sz="950" dirty="0"/>
          </a:p>
        </p:txBody>
      </p:sp>
      <p:sp>
        <p:nvSpPr>
          <p:cNvPr id="24" name="Shape 17"/>
          <p:cNvSpPr/>
          <p:nvPr/>
        </p:nvSpPr>
        <p:spPr>
          <a:xfrm>
            <a:off x="4663440" y="382219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25" name="Image 5" descr="Palette with solid fill"/>
          <p:cNvPicPr>
            <a:picLocks noChangeAspect="1"/>
          </p:cNvPicPr>
          <p:nvPr/>
        </p:nvPicPr>
        <p:blipFill>
          <a:blip>
            <a:extLst>
              <a:ext uri="{96DAC541-7B7A-43D3-8B79-37D633B846F1}">
                <asvg:svgBlip xmlns:asvg="http://schemas.microsoft.com/office/drawing/2016/SVG/main" r:embed="rId8"/>
              </a:ext>
            </a:extLst>
          </a:blip>
          <a:srcRect/>
          <a:stretch/>
        </p:blipFill>
        <p:spPr>
          <a:xfrm>
            <a:off x="4828032" y="4123944"/>
            <a:ext cx="365760" cy="365760"/>
          </a:xfrm>
          <a:prstGeom prst="rect">
            <a:avLst/>
          </a:prstGeom>
        </p:spPr>
      </p:pic>
      <p:sp>
        <p:nvSpPr>
          <p:cNvPr id="26" name="Text 18"/>
          <p:cNvSpPr/>
          <p:nvPr/>
        </p:nvSpPr>
        <p:spPr>
          <a:xfrm>
            <a:off x="5321808" y="393192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A Product That Actually Feels Like One</a:t>
            </a:r>
            <a:endParaRPr lang="en-US" sz="1200" dirty="0"/>
          </a:p>
        </p:txBody>
      </p:sp>
      <p:sp>
        <p:nvSpPr>
          <p:cNvPr id="27" name="Text 19"/>
          <p:cNvSpPr/>
          <p:nvPr/>
        </p:nvSpPr>
        <p:spPr>
          <a:xfrm>
            <a:off x="5321808" y="4279392"/>
            <a:ext cx="324612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Getting here took redesigns, dependency chains, a lot of iteration. The result is a two-side SPA – customer storefront + admin portal – where every screen is consistent, responsive, and role aware. The UI didn’t just get built; it got finished.</a:t>
            </a:r>
            <a:endParaRPr lang="en-US" sz="950" dirty="0"/>
          </a:p>
        </p:txBody>
      </p:sp>
      <p:sp>
        <p:nvSpPr>
          <p:cNvPr id="28" name="Text 2">
            <a:extLst>
              <a:ext uri="{FF2B5EF4-FFF2-40B4-BE49-F238E27FC236}">
                <a16:creationId xmlns:a16="http://schemas.microsoft.com/office/drawing/2014/main" id="{11358DD4-01EA-CD08-0C6E-34E23D792650}"/>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29" name="Text 3">
            <a:extLst>
              <a:ext uri="{FF2B5EF4-FFF2-40B4-BE49-F238E27FC236}">
                <a16:creationId xmlns:a16="http://schemas.microsoft.com/office/drawing/2014/main" id="{9625966F-8827-31AD-D507-76AFD42443B5}"/>
              </a:ext>
            </a:extLst>
          </p:cNvPr>
          <p:cNvSpPr/>
          <p:nvPr/>
        </p:nvSpPr>
        <p:spPr>
          <a:xfrm>
            <a:off x="6959150" y="658368"/>
            <a:ext cx="1727650" cy="128016"/>
          </a:xfrm>
          <a:prstGeom prst="rect">
            <a:avLst/>
          </a:prstGeom>
          <a:noFill/>
          <a:ln/>
        </p:spPr>
        <p:txBody>
          <a:bodyPr wrap="square" lIns="0" tIns="0" rIns="0" bIns="0" rtlCol="0" anchor="ctr"/>
          <a:lstStyle/>
          <a:p>
            <a:pPr marL="0" indent="0" algn="r">
              <a:buNone/>
            </a:pPr>
            <a:r>
              <a:rPr lang="en-US" sz="700" b="1" dirty="0">
                <a:solidFill>
                  <a:srgbClr val="1D9E75"/>
                </a:solidFill>
              </a:rPr>
              <a:t>Product Owner | Full Stack Developer</a:t>
            </a:r>
            <a:endParaRPr lang="en-US" sz="700" dirty="0"/>
          </a:p>
        </p:txBody>
      </p:sp>
      <p:sp>
        <p:nvSpPr>
          <p:cNvPr id="31" name="TextBox 30">
            <a:extLst>
              <a:ext uri="{FF2B5EF4-FFF2-40B4-BE49-F238E27FC236}">
                <a16:creationId xmlns:a16="http://schemas.microsoft.com/office/drawing/2014/main" id="{8BA40139-08A2-8778-6CF4-52655BD543AC}"/>
              </a:ext>
            </a:extLst>
          </p:cNvPr>
          <p:cNvSpPr txBox="1"/>
          <p:nvPr/>
        </p:nvSpPr>
        <p:spPr>
          <a:xfrm>
            <a:off x="4673434" y="887306"/>
            <a:ext cx="3904488" cy="430887"/>
          </a:xfrm>
          <a:prstGeom prst="rect">
            <a:avLst/>
          </a:prstGeom>
          <a:noFill/>
        </p:spPr>
        <p:txBody>
          <a:bodyPr wrap="square">
            <a:spAutoFit/>
          </a:bodyPr>
          <a:lstStyle/>
          <a:p>
            <a:r>
              <a:rPr lang="en-US" sz="1100" dirty="0">
                <a:solidFill>
                  <a:schemeClr val="accent3"/>
                </a:solidFill>
              </a:rPr>
              <a:t>"</a:t>
            </a:r>
            <a:r>
              <a:rPr lang="en-US" sz="1100" i="1" dirty="0">
                <a:solidFill>
                  <a:schemeClr val="accent3"/>
                </a:solidFill>
              </a:rPr>
              <a:t>I'm most proud of seeing all the components come together into a polished final product." – Kenny B.</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2F5DE653-E3CE-0946-53CC-AF340F9B7B7A}"/>
            </a:ext>
          </a:extLst>
        </p:cNvPr>
        <p:cNvGrpSpPr/>
        <p:nvPr/>
      </p:nvGrpSpPr>
      <p:grpSpPr>
        <a:xfrm>
          <a:off x="0" y="0"/>
          <a:ext cx="0" cy="0"/>
          <a:chOff x="0" y="0"/>
          <a:chExt cx="0" cy="0"/>
        </a:xfrm>
      </p:grpSpPr>
      <p:sp>
        <p:nvSpPr>
          <p:cNvPr id="30" name="Text 0">
            <a:extLst>
              <a:ext uri="{FF2B5EF4-FFF2-40B4-BE49-F238E27FC236}">
                <a16:creationId xmlns:a16="http://schemas.microsoft.com/office/drawing/2014/main" id="{CEED2F2A-9AB3-23DC-D084-A4E72AA094F9}"/>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1" name="Text 1">
            <a:extLst>
              <a:ext uri="{FF2B5EF4-FFF2-40B4-BE49-F238E27FC236}">
                <a16:creationId xmlns:a16="http://schemas.microsoft.com/office/drawing/2014/main" id="{27A00AFE-BDC2-A1A4-76EF-BD9B11975630}"/>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User Experience</a:t>
            </a:r>
            <a:endParaRPr lang="en-US" sz="3400" dirty="0"/>
          </a:p>
        </p:txBody>
      </p:sp>
      <p:sp>
        <p:nvSpPr>
          <p:cNvPr id="32" name="Text 2">
            <a:extLst>
              <a:ext uri="{FF2B5EF4-FFF2-40B4-BE49-F238E27FC236}">
                <a16:creationId xmlns:a16="http://schemas.microsoft.com/office/drawing/2014/main" id="{5E6FB545-F4B9-A9EE-3CEC-3D35CB9538E1}"/>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33" name="Text 3">
            <a:extLst>
              <a:ext uri="{FF2B5EF4-FFF2-40B4-BE49-F238E27FC236}">
                <a16:creationId xmlns:a16="http://schemas.microsoft.com/office/drawing/2014/main" id="{E2046BDC-FC6E-E7F7-0917-F28D17991A2A}"/>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34" name="Shape 4">
            <a:extLst>
              <a:ext uri="{FF2B5EF4-FFF2-40B4-BE49-F238E27FC236}">
                <a16:creationId xmlns:a16="http://schemas.microsoft.com/office/drawing/2014/main" id="{CCA85DF9-C68F-88DB-B5BE-16FF42635262}"/>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35" name="Shape 5">
            <a:extLst>
              <a:ext uri="{FF2B5EF4-FFF2-40B4-BE49-F238E27FC236}">
                <a16:creationId xmlns:a16="http://schemas.microsoft.com/office/drawing/2014/main" id="{C861AA46-5396-0B79-B35B-E53F105FBB80}"/>
              </a:ext>
            </a:extLst>
          </p:cNvPr>
          <p:cNvSpPr/>
          <p:nvPr/>
        </p:nvSpPr>
        <p:spPr>
          <a:xfrm>
            <a:off x="457200" y="1097280"/>
            <a:ext cx="3886200" cy="347472"/>
          </a:xfrm>
          <a:prstGeom prst="rect">
            <a:avLst/>
          </a:prstGeom>
          <a:solidFill>
            <a:srgbClr val="00AEEF"/>
          </a:solidFill>
          <a:ln w="12700">
            <a:solidFill>
              <a:srgbClr val="00AEEF"/>
            </a:solidFill>
            <a:prstDash val="solid"/>
          </a:ln>
        </p:spPr>
        <p:txBody>
          <a:bodyPr/>
          <a:lstStyle/>
          <a:p>
            <a:endParaRPr lang="en-US"/>
          </a:p>
        </p:txBody>
      </p:sp>
      <p:sp>
        <p:nvSpPr>
          <p:cNvPr id="36" name="Text 6">
            <a:extLst>
              <a:ext uri="{FF2B5EF4-FFF2-40B4-BE49-F238E27FC236}">
                <a16:creationId xmlns:a16="http://schemas.microsoft.com/office/drawing/2014/main" id="{99AE72F1-05B9-4B07-FC89-EBA27042DC6D}"/>
              </a:ext>
            </a:extLst>
          </p:cNvPr>
          <p:cNvSpPr/>
          <p:nvPr/>
        </p:nvSpPr>
        <p:spPr>
          <a:xfrm>
            <a:off x="566928" y="1097280"/>
            <a:ext cx="3657600" cy="347472"/>
          </a:xfrm>
          <a:prstGeom prst="rect">
            <a:avLst/>
          </a:prstGeom>
          <a:noFill/>
          <a:ln/>
        </p:spPr>
        <p:txBody>
          <a:bodyPr wrap="square" lIns="0" tIns="0" rIns="0" bIns="0" rtlCol="0" anchor="ctr"/>
          <a:lstStyle/>
          <a:p>
            <a:pPr marL="0" indent="0">
              <a:buNone/>
            </a:pPr>
            <a:r>
              <a:rPr lang="en-US" sz="1300" b="1" dirty="0">
                <a:solidFill>
                  <a:srgbClr val="FFFFFF"/>
                </a:solidFill>
              </a:rPr>
              <a:t>🛍  Customer Experience</a:t>
            </a:r>
            <a:endParaRPr lang="en-US" sz="1300" dirty="0"/>
          </a:p>
        </p:txBody>
      </p:sp>
      <p:sp>
        <p:nvSpPr>
          <p:cNvPr id="37" name="Shape 7">
            <a:extLst>
              <a:ext uri="{FF2B5EF4-FFF2-40B4-BE49-F238E27FC236}">
                <a16:creationId xmlns:a16="http://schemas.microsoft.com/office/drawing/2014/main" id="{CA05324D-6A92-08C7-4A9E-09B0A739A7A9}"/>
              </a:ext>
            </a:extLst>
          </p:cNvPr>
          <p:cNvSpPr/>
          <p:nvPr/>
        </p:nvSpPr>
        <p:spPr>
          <a:xfrm>
            <a:off x="4800600" y="1097280"/>
            <a:ext cx="3886200" cy="347472"/>
          </a:xfrm>
          <a:prstGeom prst="rect">
            <a:avLst/>
          </a:prstGeom>
          <a:solidFill>
            <a:srgbClr val="1B2A4A"/>
          </a:solidFill>
          <a:ln w="12700">
            <a:solidFill>
              <a:srgbClr val="1B2A4A"/>
            </a:solidFill>
            <a:prstDash val="solid"/>
          </a:ln>
        </p:spPr>
        <p:txBody>
          <a:bodyPr/>
          <a:lstStyle/>
          <a:p>
            <a:endParaRPr lang="en-US"/>
          </a:p>
        </p:txBody>
      </p:sp>
      <p:sp>
        <p:nvSpPr>
          <p:cNvPr id="38" name="Text 8">
            <a:extLst>
              <a:ext uri="{FF2B5EF4-FFF2-40B4-BE49-F238E27FC236}">
                <a16:creationId xmlns:a16="http://schemas.microsoft.com/office/drawing/2014/main" id="{84D9B58D-7DE9-C36B-0F12-EB6B62390C7A}"/>
              </a:ext>
            </a:extLst>
          </p:cNvPr>
          <p:cNvSpPr/>
          <p:nvPr/>
        </p:nvSpPr>
        <p:spPr>
          <a:xfrm>
            <a:off x="4910328" y="1097280"/>
            <a:ext cx="3657600" cy="347472"/>
          </a:xfrm>
          <a:prstGeom prst="rect">
            <a:avLst/>
          </a:prstGeom>
          <a:noFill/>
          <a:ln/>
        </p:spPr>
        <p:txBody>
          <a:bodyPr wrap="square" lIns="0" tIns="0" rIns="0" bIns="0" rtlCol="0" anchor="ctr"/>
          <a:lstStyle/>
          <a:p>
            <a:pPr marL="0" indent="0">
              <a:buNone/>
            </a:pPr>
            <a:r>
              <a:rPr lang="en-US" sz="1300" b="1" dirty="0">
                <a:solidFill>
                  <a:srgbClr val="FFFFFF"/>
                </a:solidFill>
              </a:rPr>
              <a:t>⚙  Admin Experience</a:t>
            </a:r>
            <a:endParaRPr lang="en-US" sz="1300" dirty="0"/>
          </a:p>
        </p:txBody>
      </p:sp>
      <p:sp>
        <p:nvSpPr>
          <p:cNvPr id="39" name="Shape 9">
            <a:extLst>
              <a:ext uri="{FF2B5EF4-FFF2-40B4-BE49-F238E27FC236}">
                <a16:creationId xmlns:a16="http://schemas.microsoft.com/office/drawing/2014/main" id="{0E9B5951-7467-39DC-9B82-89F0BA43F3D9}"/>
              </a:ext>
            </a:extLst>
          </p:cNvPr>
          <p:cNvSpPr/>
          <p:nvPr/>
        </p:nvSpPr>
        <p:spPr>
          <a:xfrm>
            <a:off x="457200" y="1536192"/>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0" name="Shape 10">
            <a:extLst>
              <a:ext uri="{FF2B5EF4-FFF2-40B4-BE49-F238E27FC236}">
                <a16:creationId xmlns:a16="http://schemas.microsoft.com/office/drawing/2014/main" id="{41B6D6C3-9520-CC18-2222-77D9387ABE51}"/>
              </a:ext>
            </a:extLst>
          </p:cNvPr>
          <p:cNvSpPr/>
          <p:nvPr/>
        </p:nvSpPr>
        <p:spPr>
          <a:xfrm>
            <a:off x="457200" y="1536192"/>
            <a:ext cx="45720" cy="731520"/>
          </a:xfrm>
          <a:prstGeom prst="rect">
            <a:avLst/>
          </a:prstGeom>
          <a:solidFill>
            <a:srgbClr val="00AEEF"/>
          </a:solidFill>
          <a:ln w="12700">
            <a:solidFill>
              <a:srgbClr val="00AEEF"/>
            </a:solidFill>
            <a:prstDash val="solid"/>
          </a:ln>
        </p:spPr>
        <p:txBody>
          <a:bodyPr/>
          <a:lstStyle/>
          <a:p>
            <a:endParaRPr lang="en-US"/>
          </a:p>
        </p:txBody>
      </p:sp>
      <p:sp>
        <p:nvSpPr>
          <p:cNvPr id="41" name="Text 11">
            <a:extLst>
              <a:ext uri="{FF2B5EF4-FFF2-40B4-BE49-F238E27FC236}">
                <a16:creationId xmlns:a16="http://schemas.microsoft.com/office/drawing/2014/main" id="{698E9135-FA65-13A1-A1BE-702903AFB346}"/>
              </a:ext>
            </a:extLst>
          </p:cNvPr>
          <p:cNvSpPr/>
          <p:nvPr/>
        </p:nvSpPr>
        <p:spPr>
          <a:xfrm>
            <a:off x="594360" y="1618488"/>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Product Browsing</a:t>
            </a:r>
            <a:endParaRPr lang="en-US" sz="1000" dirty="0"/>
          </a:p>
        </p:txBody>
      </p:sp>
      <p:sp>
        <p:nvSpPr>
          <p:cNvPr id="42" name="Text 12">
            <a:extLst>
              <a:ext uri="{FF2B5EF4-FFF2-40B4-BE49-F238E27FC236}">
                <a16:creationId xmlns:a16="http://schemas.microsoft.com/office/drawing/2014/main" id="{B4228FC7-08F3-348E-25B4-013327880010}"/>
              </a:ext>
            </a:extLst>
          </p:cNvPr>
          <p:cNvSpPr/>
          <p:nvPr/>
        </p:nvSpPr>
        <p:spPr>
          <a:xfrm>
            <a:off x="594360" y="1819656"/>
            <a:ext cx="3611880" cy="365760"/>
          </a:xfrm>
          <a:prstGeom prst="rect">
            <a:avLst/>
          </a:prstGeom>
          <a:noFill/>
          <a:ln/>
        </p:spPr>
        <p:txBody>
          <a:bodyPr wrap="square" lIns="0" tIns="0" rIns="0" bIns="0" rtlCol="0" anchor="ctr"/>
          <a:lstStyle/>
          <a:p>
            <a:pPr marL="0" indent="0">
              <a:buNone/>
            </a:pPr>
            <a:r>
              <a:rPr lang="en-US" sz="800" dirty="0">
                <a:solidFill>
                  <a:srgbClr val="475569"/>
                </a:solidFill>
              </a:rPr>
              <a:t>Category filtering · variant selection · availability display · image support · add-to-cart from list view</a:t>
            </a:r>
            <a:endParaRPr lang="en-US" sz="800" dirty="0"/>
          </a:p>
        </p:txBody>
      </p:sp>
      <p:sp>
        <p:nvSpPr>
          <p:cNvPr id="43" name="Shape 13">
            <a:extLst>
              <a:ext uri="{FF2B5EF4-FFF2-40B4-BE49-F238E27FC236}">
                <a16:creationId xmlns:a16="http://schemas.microsoft.com/office/drawing/2014/main" id="{EFA38E5C-F93A-E1C5-11C8-2501B421D22A}"/>
              </a:ext>
            </a:extLst>
          </p:cNvPr>
          <p:cNvSpPr/>
          <p:nvPr/>
        </p:nvSpPr>
        <p:spPr>
          <a:xfrm>
            <a:off x="457200" y="2331720"/>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4" name="Shape 14">
            <a:extLst>
              <a:ext uri="{FF2B5EF4-FFF2-40B4-BE49-F238E27FC236}">
                <a16:creationId xmlns:a16="http://schemas.microsoft.com/office/drawing/2014/main" id="{F660C42E-74B3-DE1D-464B-9FA40AD04C30}"/>
              </a:ext>
            </a:extLst>
          </p:cNvPr>
          <p:cNvSpPr/>
          <p:nvPr/>
        </p:nvSpPr>
        <p:spPr>
          <a:xfrm>
            <a:off x="457200" y="2331720"/>
            <a:ext cx="45720" cy="731520"/>
          </a:xfrm>
          <a:prstGeom prst="rect">
            <a:avLst/>
          </a:prstGeom>
          <a:solidFill>
            <a:srgbClr val="00AEEF"/>
          </a:solidFill>
          <a:ln w="12700">
            <a:solidFill>
              <a:srgbClr val="00AEEF"/>
            </a:solidFill>
            <a:prstDash val="solid"/>
          </a:ln>
        </p:spPr>
        <p:txBody>
          <a:bodyPr/>
          <a:lstStyle/>
          <a:p>
            <a:endParaRPr lang="en-US"/>
          </a:p>
        </p:txBody>
      </p:sp>
      <p:sp>
        <p:nvSpPr>
          <p:cNvPr id="45" name="Text 15">
            <a:extLst>
              <a:ext uri="{FF2B5EF4-FFF2-40B4-BE49-F238E27FC236}">
                <a16:creationId xmlns:a16="http://schemas.microsoft.com/office/drawing/2014/main" id="{EB317247-EA9E-1FC4-9A76-71D0D441632D}"/>
              </a:ext>
            </a:extLst>
          </p:cNvPr>
          <p:cNvSpPr/>
          <p:nvPr/>
        </p:nvSpPr>
        <p:spPr>
          <a:xfrm>
            <a:off x="594360" y="2414016"/>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Shopping Cart</a:t>
            </a:r>
            <a:endParaRPr lang="en-US" sz="1000" dirty="0"/>
          </a:p>
        </p:txBody>
      </p:sp>
      <p:sp>
        <p:nvSpPr>
          <p:cNvPr id="46" name="Text 16">
            <a:extLst>
              <a:ext uri="{FF2B5EF4-FFF2-40B4-BE49-F238E27FC236}">
                <a16:creationId xmlns:a16="http://schemas.microsoft.com/office/drawing/2014/main" id="{E87C2405-1368-185E-DC55-100ABB7B8E60}"/>
              </a:ext>
            </a:extLst>
          </p:cNvPr>
          <p:cNvSpPr/>
          <p:nvPr/>
        </p:nvSpPr>
        <p:spPr>
          <a:xfrm>
            <a:off x="594360" y="2615184"/>
            <a:ext cx="3611880" cy="365760"/>
          </a:xfrm>
          <a:prstGeom prst="rect">
            <a:avLst/>
          </a:prstGeom>
          <a:noFill/>
          <a:ln/>
        </p:spPr>
        <p:txBody>
          <a:bodyPr wrap="square" lIns="0" tIns="0" rIns="0" bIns="0" rtlCol="0" anchor="ctr"/>
          <a:lstStyle/>
          <a:p>
            <a:pPr marL="0" indent="0">
              <a:buNone/>
            </a:pPr>
            <a:r>
              <a:rPr lang="en-US" sz="800" dirty="0">
                <a:solidFill>
                  <a:srgbClr val="475569"/>
                </a:solidFill>
              </a:rPr>
              <a:t>Persistent draft order · quantity adjustment · item removal · order total with tax · guest &amp; authenticated checkout</a:t>
            </a:r>
            <a:endParaRPr lang="en-US" sz="800" dirty="0"/>
          </a:p>
        </p:txBody>
      </p:sp>
      <p:sp>
        <p:nvSpPr>
          <p:cNvPr id="47" name="Shape 17">
            <a:extLst>
              <a:ext uri="{FF2B5EF4-FFF2-40B4-BE49-F238E27FC236}">
                <a16:creationId xmlns:a16="http://schemas.microsoft.com/office/drawing/2014/main" id="{079135C0-DE9C-CFD4-0A3F-5F7732EBD74D}"/>
              </a:ext>
            </a:extLst>
          </p:cNvPr>
          <p:cNvSpPr/>
          <p:nvPr/>
        </p:nvSpPr>
        <p:spPr>
          <a:xfrm>
            <a:off x="457200" y="3127248"/>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8" name="Shape 18">
            <a:extLst>
              <a:ext uri="{FF2B5EF4-FFF2-40B4-BE49-F238E27FC236}">
                <a16:creationId xmlns:a16="http://schemas.microsoft.com/office/drawing/2014/main" id="{BC97539B-47BD-2E4E-6592-61CD307A2BCA}"/>
              </a:ext>
            </a:extLst>
          </p:cNvPr>
          <p:cNvSpPr/>
          <p:nvPr/>
        </p:nvSpPr>
        <p:spPr>
          <a:xfrm>
            <a:off x="457200" y="3127248"/>
            <a:ext cx="45720" cy="731520"/>
          </a:xfrm>
          <a:prstGeom prst="rect">
            <a:avLst/>
          </a:prstGeom>
          <a:solidFill>
            <a:srgbClr val="00AEEF"/>
          </a:solidFill>
          <a:ln w="12700">
            <a:solidFill>
              <a:srgbClr val="00AEEF"/>
            </a:solidFill>
            <a:prstDash val="solid"/>
          </a:ln>
        </p:spPr>
        <p:txBody>
          <a:bodyPr/>
          <a:lstStyle/>
          <a:p>
            <a:endParaRPr lang="en-US"/>
          </a:p>
        </p:txBody>
      </p:sp>
      <p:sp>
        <p:nvSpPr>
          <p:cNvPr id="49" name="Text 19">
            <a:extLst>
              <a:ext uri="{FF2B5EF4-FFF2-40B4-BE49-F238E27FC236}">
                <a16:creationId xmlns:a16="http://schemas.microsoft.com/office/drawing/2014/main" id="{81C30B13-475B-3D25-9FAD-D6511F6588B7}"/>
              </a:ext>
            </a:extLst>
          </p:cNvPr>
          <p:cNvSpPr/>
          <p:nvPr/>
        </p:nvSpPr>
        <p:spPr>
          <a:xfrm>
            <a:off x="594360" y="3209544"/>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Checkout &amp; Ordering</a:t>
            </a:r>
            <a:endParaRPr lang="en-US" sz="1000" dirty="0"/>
          </a:p>
        </p:txBody>
      </p:sp>
      <p:sp>
        <p:nvSpPr>
          <p:cNvPr id="50" name="Text 20">
            <a:extLst>
              <a:ext uri="{FF2B5EF4-FFF2-40B4-BE49-F238E27FC236}">
                <a16:creationId xmlns:a16="http://schemas.microsoft.com/office/drawing/2014/main" id="{5DE66EF9-5D7F-7A6A-EDD4-57F0C6C3A0CD}"/>
              </a:ext>
            </a:extLst>
          </p:cNvPr>
          <p:cNvSpPr/>
          <p:nvPr/>
        </p:nvSpPr>
        <p:spPr>
          <a:xfrm>
            <a:off x="594360" y="3410712"/>
            <a:ext cx="3611880" cy="365760"/>
          </a:xfrm>
          <a:prstGeom prst="rect">
            <a:avLst/>
          </a:prstGeom>
          <a:noFill/>
          <a:ln/>
        </p:spPr>
        <p:txBody>
          <a:bodyPr wrap="square" lIns="0" tIns="0" rIns="0" bIns="0" rtlCol="0" anchor="ctr"/>
          <a:lstStyle/>
          <a:p>
            <a:pPr marL="0" indent="0">
              <a:buNone/>
            </a:pPr>
            <a:r>
              <a:rPr lang="en-US" sz="800" dirty="0">
                <a:solidFill>
                  <a:srgbClr val="475569"/>
                </a:solidFill>
              </a:rPr>
              <a:t>Guest email flow · authenticated one-tap submit · order confirmation · order status tracking</a:t>
            </a:r>
            <a:endParaRPr lang="en-US" sz="800" dirty="0"/>
          </a:p>
        </p:txBody>
      </p:sp>
      <p:sp>
        <p:nvSpPr>
          <p:cNvPr id="51" name="Shape 21">
            <a:extLst>
              <a:ext uri="{FF2B5EF4-FFF2-40B4-BE49-F238E27FC236}">
                <a16:creationId xmlns:a16="http://schemas.microsoft.com/office/drawing/2014/main" id="{A96C496D-CCF7-436D-7AAE-BE73659D45D9}"/>
              </a:ext>
            </a:extLst>
          </p:cNvPr>
          <p:cNvSpPr/>
          <p:nvPr/>
        </p:nvSpPr>
        <p:spPr>
          <a:xfrm>
            <a:off x="457200" y="3922776"/>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2" name="Shape 22">
            <a:extLst>
              <a:ext uri="{FF2B5EF4-FFF2-40B4-BE49-F238E27FC236}">
                <a16:creationId xmlns:a16="http://schemas.microsoft.com/office/drawing/2014/main" id="{3F77ACAC-CED3-506C-F467-7A293CE81B89}"/>
              </a:ext>
            </a:extLst>
          </p:cNvPr>
          <p:cNvSpPr/>
          <p:nvPr/>
        </p:nvSpPr>
        <p:spPr>
          <a:xfrm>
            <a:off x="457200" y="3922776"/>
            <a:ext cx="45720" cy="731520"/>
          </a:xfrm>
          <a:prstGeom prst="rect">
            <a:avLst/>
          </a:prstGeom>
          <a:solidFill>
            <a:srgbClr val="00AEEF"/>
          </a:solidFill>
          <a:ln w="12700">
            <a:solidFill>
              <a:srgbClr val="00AEEF"/>
            </a:solidFill>
            <a:prstDash val="solid"/>
          </a:ln>
        </p:spPr>
        <p:txBody>
          <a:bodyPr/>
          <a:lstStyle/>
          <a:p>
            <a:endParaRPr lang="en-US"/>
          </a:p>
        </p:txBody>
      </p:sp>
      <p:sp>
        <p:nvSpPr>
          <p:cNvPr id="53" name="Text 23">
            <a:extLst>
              <a:ext uri="{FF2B5EF4-FFF2-40B4-BE49-F238E27FC236}">
                <a16:creationId xmlns:a16="http://schemas.microsoft.com/office/drawing/2014/main" id="{5E4B91AF-FCD9-6E6D-0662-2E7CB99A256F}"/>
              </a:ext>
            </a:extLst>
          </p:cNvPr>
          <p:cNvSpPr/>
          <p:nvPr/>
        </p:nvSpPr>
        <p:spPr>
          <a:xfrm>
            <a:off x="594360" y="4005072"/>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Customer Profile</a:t>
            </a:r>
            <a:endParaRPr lang="en-US" sz="1000" dirty="0"/>
          </a:p>
        </p:txBody>
      </p:sp>
      <p:sp>
        <p:nvSpPr>
          <p:cNvPr id="54" name="Text 24">
            <a:extLst>
              <a:ext uri="{FF2B5EF4-FFF2-40B4-BE49-F238E27FC236}">
                <a16:creationId xmlns:a16="http://schemas.microsoft.com/office/drawing/2014/main" id="{3F3E1DFC-BF36-78F2-BCEF-2605276E466D}"/>
              </a:ext>
            </a:extLst>
          </p:cNvPr>
          <p:cNvSpPr/>
          <p:nvPr/>
        </p:nvSpPr>
        <p:spPr>
          <a:xfrm>
            <a:off x="594360" y="4206240"/>
            <a:ext cx="3611880" cy="365760"/>
          </a:xfrm>
          <a:prstGeom prst="rect">
            <a:avLst/>
          </a:prstGeom>
          <a:noFill/>
          <a:ln/>
        </p:spPr>
        <p:txBody>
          <a:bodyPr wrap="square" lIns="0" tIns="0" rIns="0" bIns="0" rtlCol="0" anchor="ctr"/>
          <a:lstStyle/>
          <a:p>
            <a:pPr marL="0" indent="0">
              <a:buNone/>
            </a:pPr>
            <a:r>
              <a:rPr lang="en-US" sz="800" dirty="0">
                <a:solidFill>
                  <a:srgbClr val="475569"/>
                </a:solidFill>
              </a:rPr>
              <a:t>Account registration · login &amp; logout · password reset · profile management · order history view</a:t>
            </a:r>
            <a:endParaRPr lang="en-US" sz="800" dirty="0"/>
          </a:p>
        </p:txBody>
      </p:sp>
      <p:sp>
        <p:nvSpPr>
          <p:cNvPr id="55" name="Shape 25">
            <a:extLst>
              <a:ext uri="{FF2B5EF4-FFF2-40B4-BE49-F238E27FC236}">
                <a16:creationId xmlns:a16="http://schemas.microsoft.com/office/drawing/2014/main" id="{800EE4A0-F001-D163-AA3C-7F4C7B725965}"/>
              </a:ext>
            </a:extLst>
          </p:cNvPr>
          <p:cNvSpPr/>
          <p:nvPr/>
        </p:nvSpPr>
        <p:spPr>
          <a:xfrm>
            <a:off x="4800600" y="1536192"/>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6" name="Shape 26">
            <a:extLst>
              <a:ext uri="{FF2B5EF4-FFF2-40B4-BE49-F238E27FC236}">
                <a16:creationId xmlns:a16="http://schemas.microsoft.com/office/drawing/2014/main" id="{41A771C1-1D6B-7707-7779-87BEA4F39D8F}"/>
              </a:ext>
            </a:extLst>
          </p:cNvPr>
          <p:cNvSpPr/>
          <p:nvPr/>
        </p:nvSpPr>
        <p:spPr>
          <a:xfrm>
            <a:off x="4800600" y="1536192"/>
            <a:ext cx="45720" cy="731520"/>
          </a:xfrm>
          <a:prstGeom prst="rect">
            <a:avLst/>
          </a:prstGeom>
          <a:solidFill>
            <a:srgbClr val="1B2A4A"/>
          </a:solidFill>
          <a:ln w="12700">
            <a:solidFill>
              <a:srgbClr val="1B2A4A"/>
            </a:solidFill>
            <a:prstDash val="solid"/>
          </a:ln>
        </p:spPr>
        <p:txBody>
          <a:bodyPr/>
          <a:lstStyle/>
          <a:p>
            <a:endParaRPr lang="en-US"/>
          </a:p>
        </p:txBody>
      </p:sp>
      <p:sp>
        <p:nvSpPr>
          <p:cNvPr id="57" name="Text 27">
            <a:extLst>
              <a:ext uri="{FF2B5EF4-FFF2-40B4-BE49-F238E27FC236}">
                <a16:creationId xmlns:a16="http://schemas.microsoft.com/office/drawing/2014/main" id="{4E20D376-E86B-5D73-0EBD-C46EC91656B7}"/>
              </a:ext>
            </a:extLst>
          </p:cNvPr>
          <p:cNvSpPr/>
          <p:nvPr/>
        </p:nvSpPr>
        <p:spPr>
          <a:xfrm>
            <a:off x="4937760" y="1618488"/>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Admin Dashboard &amp; Navigation</a:t>
            </a:r>
            <a:endParaRPr lang="en-US" sz="1000" dirty="0"/>
          </a:p>
        </p:txBody>
      </p:sp>
      <p:sp>
        <p:nvSpPr>
          <p:cNvPr id="58" name="Text 28">
            <a:extLst>
              <a:ext uri="{FF2B5EF4-FFF2-40B4-BE49-F238E27FC236}">
                <a16:creationId xmlns:a16="http://schemas.microsoft.com/office/drawing/2014/main" id="{83279FAD-BCA3-2A7C-3FDC-300E07CB28FC}"/>
              </a:ext>
            </a:extLst>
          </p:cNvPr>
          <p:cNvSpPr/>
          <p:nvPr/>
        </p:nvSpPr>
        <p:spPr>
          <a:xfrm>
            <a:off x="4937760" y="1819656"/>
            <a:ext cx="3611880" cy="365760"/>
          </a:xfrm>
          <a:prstGeom prst="rect">
            <a:avLst/>
          </a:prstGeom>
          <a:noFill/>
          <a:ln/>
        </p:spPr>
        <p:txBody>
          <a:bodyPr wrap="square" lIns="0" tIns="0" rIns="0" bIns="0" rtlCol="0" anchor="ctr"/>
          <a:lstStyle/>
          <a:p>
            <a:pPr marL="0" indent="0">
              <a:buNone/>
            </a:pPr>
            <a:r>
              <a:rPr lang="en-US" sz="800" dirty="0">
                <a:solidFill>
                  <a:srgbClr val="475569"/>
                </a:solidFill>
              </a:rPr>
              <a:t>Role-restricted SPA routing · persistent sidebar nav · active link states · responsive layout wrapper · unauthorized redirect</a:t>
            </a:r>
            <a:endParaRPr lang="en-US" sz="800" dirty="0"/>
          </a:p>
        </p:txBody>
      </p:sp>
      <p:sp>
        <p:nvSpPr>
          <p:cNvPr id="59" name="Shape 29">
            <a:extLst>
              <a:ext uri="{FF2B5EF4-FFF2-40B4-BE49-F238E27FC236}">
                <a16:creationId xmlns:a16="http://schemas.microsoft.com/office/drawing/2014/main" id="{B8A20FCD-F8B7-CFFE-1A75-E4194EABA27A}"/>
              </a:ext>
            </a:extLst>
          </p:cNvPr>
          <p:cNvSpPr/>
          <p:nvPr/>
        </p:nvSpPr>
        <p:spPr>
          <a:xfrm>
            <a:off x="4800600" y="2331720"/>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0" name="Shape 30">
            <a:extLst>
              <a:ext uri="{FF2B5EF4-FFF2-40B4-BE49-F238E27FC236}">
                <a16:creationId xmlns:a16="http://schemas.microsoft.com/office/drawing/2014/main" id="{8C4C2310-3903-31A4-B83F-A55379CED0C9}"/>
              </a:ext>
            </a:extLst>
          </p:cNvPr>
          <p:cNvSpPr/>
          <p:nvPr/>
        </p:nvSpPr>
        <p:spPr>
          <a:xfrm>
            <a:off x="4800600" y="2331720"/>
            <a:ext cx="45720" cy="731520"/>
          </a:xfrm>
          <a:prstGeom prst="rect">
            <a:avLst/>
          </a:prstGeom>
          <a:solidFill>
            <a:srgbClr val="1B2A4A"/>
          </a:solidFill>
          <a:ln w="12700">
            <a:solidFill>
              <a:srgbClr val="1B2A4A"/>
            </a:solidFill>
            <a:prstDash val="solid"/>
          </a:ln>
        </p:spPr>
        <p:txBody>
          <a:bodyPr/>
          <a:lstStyle/>
          <a:p>
            <a:endParaRPr lang="en-US"/>
          </a:p>
        </p:txBody>
      </p:sp>
      <p:sp>
        <p:nvSpPr>
          <p:cNvPr id="61" name="Text 31">
            <a:extLst>
              <a:ext uri="{FF2B5EF4-FFF2-40B4-BE49-F238E27FC236}">
                <a16:creationId xmlns:a16="http://schemas.microsoft.com/office/drawing/2014/main" id="{1F368AE5-45DE-10D6-63AF-9EE847CEBE2A}"/>
              </a:ext>
            </a:extLst>
          </p:cNvPr>
          <p:cNvSpPr/>
          <p:nvPr/>
        </p:nvSpPr>
        <p:spPr>
          <a:xfrm>
            <a:off x="4937760" y="2414016"/>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Product Management</a:t>
            </a:r>
            <a:endParaRPr lang="en-US" sz="1000" dirty="0"/>
          </a:p>
        </p:txBody>
      </p:sp>
      <p:sp>
        <p:nvSpPr>
          <p:cNvPr id="62" name="Text 32">
            <a:extLst>
              <a:ext uri="{FF2B5EF4-FFF2-40B4-BE49-F238E27FC236}">
                <a16:creationId xmlns:a16="http://schemas.microsoft.com/office/drawing/2014/main" id="{1964AC51-933D-94F1-D1F2-3B56CB284FB7}"/>
              </a:ext>
            </a:extLst>
          </p:cNvPr>
          <p:cNvSpPr/>
          <p:nvPr/>
        </p:nvSpPr>
        <p:spPr>
          <a:xfrm>
            <a:off x="4937760" y="2615184"/>
            <a:ext cx="3611880" cy="365760"/>
          </a:xfrm>
          <a:prstGeom prst="rect">
            <a:avLst/>
          </a:prstGeom>
          <a:noFill/>
          <a:ln/>
        </p:spPr>
        <p:txBody>
          <a:bodyPr wrap="square" lIns="0" tIns="0" rIns="0" bIns="0" rtlCol="0" anchor="ctr"/>
          <a:lstStyle/>
          <a:p>
            <a:pPr marL="0" indent="0">
              <a:buNone/>
            </a:pPr>
            <a:r>
              <a:rPr lang="en-US" sz="800" dirty="0">
                <a:solidFill>
                  <a:srgbClr val="475569"/>
                </a:solidFill>
              </a:rPr>
              <a:t>Full CRUD for products &amp; variants · inline validation · delete confirmation · image upload · modifier display (read-only)</a:t>
            </a:r>
            <a:endParaRPr lang="en-US" sz="800" dirty="0"/>
          </a:p>
        </p:txBody>
      </p:sp>
      <p:sp>
        <p:nvSpPr>
          <p:cNvPr id="63" name="Shape 33">
            <a:extLst>
              <a:ext uri="{FF2B5EF4-FFF2-40B4-BE49-F238E27FC236}">
                <a16:creationId xmlns:a16="http://schemas.microsoft.com/office/drawing/2014/main" id="{F9E9E496-1C10-D9E4-582F-AF4927D61533}"/>
              </a:ext>
            </a:extLst>
          </p:cNvPr>
          <p:cNvSpPr/>
          <p:nvPr/>
        </p:nvSpPr>
        <p:spPr>
          <a:xfrm>
            <a:off x="4800600" y="3127248"/>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4" name="Shape 34">
            <a:extLst>
              <a:ext uri="{FF2B5EF4-FFF2-40B4-BE49-F238E27FC236}">
                <a16:creationId xmlns:a16="http://schemas.microsoft.com/office/drawing/2014/main" id="{1F959ED7-3B8D-3D30-2165-7842D629644D}"/>
              </a:ext>
            </a:extLst>
          </p:cNvPr>
          <p:cNvSpPr/>
          <p:nvPr/>
        </p:nvSpPr>
        <p:spPr>
          <a:xfrm>
            <a:off x="4800600" y="3127248"/>
            <a:ext cx="45720" cy="731520"/>
          </a:xfrm>
          <a:prstGeom prst="rect">
            <a:avLst/>
          </a:prstGeom>
          <a:solidFill>
            <a:srgbClr val="1B2A4A"/>
          </a:solidFill>
          <a:ln w="12700">
            <a:solidFill>
              <a:srgbClr val="1B2A4A"/>
            </a:solidFill>
            <a:prstDash val="solid"/>
          </a:ln>
        </p:spPr>
        <p:txBody>
          <a:bodyPr/>
          <a:lstStyle/>
          <a:p>
            <a:endParaRPr lang="en-US"/>
          </a:p>
        </p:txBody>
      </p:sp>
      <p:sp>
        <p:nvSpPr>
          <p:cNvPr id="65" name="Text 35">
            <a:extLst>
              <a:ext uri="{FF2B5EF4-FFF2-40B4-BE49-F238E27FC236}">
                <a16:creationId xmlns:a16="http://schemas.microsoft.com/office/drawing/2014/main" id="{0F1DB284-3720-D067-E038-AE1F486EA9D9}"/>
              </a:ext>
            </a:extLst>
          </p:cNvPr>
          <p:cNvSpPr/>
          <p:nvPr/>
        </p:nvSpPr>
        <p:spPr>
          <a:xfrm>
            <a:off x="4937760" y="3209544"/>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Inventory Management</a:t>
            </a:r>
            <a:endParaRPr lang="en-US" sz="1000" dirty="0"/>
          </a:p>
        </p:txBody>
      </p:sp>
      <p:sp>
        <p:nvSpPr>
          <p:cNvPr id="66" name="Text 36">
            <a:extLst>
              <a:ext uri="{FF2B5EF4-FFF2-40B4-BE49-F238E27FC236}">
                <a16:creationId xmlns:a16="http://schemas.microsoft.com/office/drawing/2014/main" id="{BA56C409-7668-C879-0063-74E0F12DD6B1}"/>
              </a:ext>
            </a:extLst>
          </p:cNvPr>
          <p:cNvSpPr/>
          <p:nvPr/>
        </p:nvSpPr>
        <p:spPr>
          <a:xfrm>
            <a:off x="4937760" y="3410712"/>
            <a:ext cx="3611880" cy="365760"/>
          </a:xfrm>
          <a:prstGeom prst="rect">
            <a:avLst/>
          </a:prstGeom>
          <a:noFill/>
          <a:ln/>
        </p:spPr>
        <p:txBody>
          <a:bodyPr wrap="square" lIns="0" tIns="0" rIns="0" bIns="0" rtlCol="0" anchor="ctr"/>
          <a:lstStyle/>
          <a:p>
            <a:pPr marL="0" indent="0">
              <a:buNone/>
            </a:pPr>
            <a:r>
              <a:rPr lang="en-US" sz="800" dirty="0">
                <a:solidFill>
                  <a:srgbClr val="475569"/>
                </a:solidFill>
              </a:rPr>
              <a:t>Stock level view · quantity adjustment · low-stock indicators · item detail editing · empty &amp; error state handling</a:t>
            </a:r>
            <a:endParaRPr lang="en-US" sz="800" dirty="0"/>
          </a:p>
        </p:txBody>
      </p:sp>
      <p:sp>
        <p:nvSpPr>
          <p:cNvPr id="67" name="Shape 37">
            <a:extLst>
              <a:ext uri="{FF2B5EF4-FFF2-40B4-BE49-F238E27FC236}">
                <a16:creationId xmlns:a16="http://schemas.microsoft.com/office/drawing/2014/main" id="{68070C5F-1B01-31B6-EE08-125CCA192C3A}"/>
              </a:ext>
            </a:extLst>
          </p:cNvPr>
          <p:cNvSpPr/>
          <p:nvPr/>
        </p:nvSpPr>
        <p:spPr>
          <a:xfrm>
            <a:off x="4800600" y="3922776"/>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8" name="Shape 38">
            <a:extLst>
              <a:ext uri="{FF2B5EF4-FFF2-40B4-BE49-F238E27FC236}">
                <a16:creationId xmlns:a16="http://schemas.microsoft.com/office/drawing/2014/main" id="{61026FD6-ED4C-B9A4-9677-3C9A2115F6BD}"/>
              </a:ext>
            </a:extLst>
          </p:cNvPr>
          <p:cNvSpPr/>
          <p:nvPr/>
        </p:nvSpPr>
        <p:spPr>
          <a:xfrm>
            <a:off x="4800600" y="3922776"/>
            <a:ext cx="45720" cy="731520"/>
          </a:xfrm>
          <a:prstGeom prst="rect">
            <a:avLst/>
          </a:prstGeom>
          <a:solidFill>
            <a:srgbClr val="1B2A4A"/>
          </a:solidFill>
          <a:ln w="12700">
            <a:solidFill>
              <a:srgbClr val="1B2A4A"/>
            </a:solidFill>
            <a:prstDash val="solid"/>
          </a:ln>
        </p:spPr>
        <p:txBody>
          <a:bodyPr/>
          <a:lstStyle/>
          <a:p>
            <a:endParaRPr lang="en-US"/>
          </a:p>
        </p:txBody>
      </p:sp>
      <p:sp>
        <p:nvSpPr>
          <p:cNvPr id="69" name="Text 39">
            <a:extLst>
              <a:ext uri="{FF2B5EF4-FFF2-40B4-BE49-F238E27FC236}">
                <a16:creationId xmlns:a16="http://schemas.microsoft.com/office/drawing/2014/main" id="{A868BB30-60D4-7D15-1F18-8B828A5172B5}"/>
              </a:ext>
            </a:extLst>
          </p:cNvPr>
          <p:cNvSpPr/>
          <p:nvPr/>
        </p:nvSpPr>
        <p:spPr>
          <a:xfrm>
            <a:off x="4937760" y="4005072"/>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Sales Dashboard &amp; Orders</a:t>
            </a:r>
            <a:endParaRPr lang="en-US" sz="1000" dirty="0"/>
          </a:p>
        </p:txBody>
      </p:sp>
      <p:sp>
        <p:nvSpPr>
          <p:cNvPr id="70" name="Text 40">
            <a:extLst>
              <a:ext uri="{FF2B5EF4-FFF2-40B4-BE49-F238E27FC236}">
                <a16:creationId xmlns:a16="http://schemas.microsoft.com/office/drawing/2014/main" id="{51850835-9CC0-0DE7-89F2-3D1CB6EF1045}"/>
              </a:ext>
            </a:extLst>
          </p:cNvPr>
          <p:cNvSpPr/>
          <p:nvPr/>
        </p:nvSpPr>
        <p:spPr>
          <a:xfrm>
            <a:off x="4937760" y="4206240"/>
            <a:ext cx="3611880" cy="365760"/>
          </a:xfrm>
          <a:prstGeom prst="rect">
            <a:avLst/>
          </a:prstGeom>
          <a:noFill/>
          <a:ln/>
        </p:spPr>
        <p:txBody>
          <a:bodyPr wrap="square" lIns="0" tIns="0" rIns="0" bIns="0" rtlCol="0" anchor="ctr"/>
          <a:lstStyle/>
          <a:p>
            <a:pPr marL="0" indent="0">
              <a:buNone/>
            </a:pPr>
            <a:r>
              <a:rPr lang="en-US" sz="800" dirty="0">
                <a:solidFill>
                  <a:srgbClr val="475569"/>
                </a:solidFill>
              </a:rPr>
              <a:t>Revenue summary · best sellers · order list with status · Mark Complete workflow · date-filterable reporting view</a:t>
            </a:r>
            <a:endParaRPr lang="en-US" sz="800" dirty="0"/>
          </a:p>
        </p:txBody>
      </p:sp>
      <p:sp>
        <p:nvSpPr>
          <p:cNvPr id="71" name="Shape 41">
            <a:extLst>
              <a:ext uri="{FF2B5EF4-FFF2-40B4-BE49-F238E27FC236}">
                <a16:creationId xmlns:a16="http://schemas.microsoft.com/office/drawing/2014/main" id="{92270F2A-4CDA-9065-E7F9-1322AA5BB0AB}"/>
              </a:ext>
            </a:extLst>
          </p:cNvPr>
          <p:cNvSpPr/>
          <p:nvPr/>
        </p:nvSpPr>
        <p:spPr>
          <a:xfrm>
            <a:off x="457200" y="4645152"/>
            <a:ext cx="8229600" cy="384048"/>
          </a:xfrm>
          <a:prstGeom prst="rect">
            <a:avLst/>
          </a:prstGeom>
          <a:solidFill>
            <a:srgbClr val="0D1B3E"/>
          </a:solidFill>
          <a:ln w="12700">
            <a:solidFill>
              <a:srgbClr val="0D1B3E"/>
            </a:solidFill>
            <a:prstDash val="solid"/>
          </a:ln>
        </p:spPr>
        <p:txBody>
          <a:bodyPr/>
          <a:lstStyle/>
          <a:p>
            <a:endParaRPr lang="en-US"/>
          </a:p>
        </p:txBody>
      </p:sp>
      <p:sp>
        <p:nvSpPr>
          <p:cNvPr id="72" name="Text 42">
            <a:extLst>
              <a:ext uri="{FF2B5EF4-FFF2-40B4-BE49-F238E27FC236}">
                <a16:creationId xmlns:a16="http://schemas.microsoft.com/office/drawing/2014/main" id="{E5BE1204-8654-E499-8EBC-DDF73D408B5C}"/>
              </a:ext>
            </a:extLst>
          </p:cNvPr>
          <p:cNvSpPr/>
          <p:nvPr/>
        </p:nvSpPr>
        <p:spPr>
          <a:xfrm>
            <a:off x="658368"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Consistent Branding</a:t>
            </a:r>
            <a:endParaRPr lang="en-US" sz="800" dirty="0"/>
          </a:p>
        </p:txBody>
      </p:sp>
      <p:sp>
        <p:nvSpPr>
          <p:cNvPr id="73" name="Text 43">
            <a:extLst>
              <a:ext uri="{FF2B5EF4-FFF2-40B4-BE49-F238E27FC236}">
                <a16:creationId xmlns:a16="http://schemas.microsoft.com/office/drawing/2014/main" id="{EC633D3B-73E8-BF4B-8EEA-989E72CD7864}"/>
              </a:ext>
            </a:extLst>
          </p:cNvPr>
          <p:cNvSpPr/>
          <p:nvPr/>
        </p:nvSpPr>
        <p:spPr>
          <a:xfrm>
            <a:off x="658368"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Colors, typography &amp; components unified across all views</a:t>
            </a:r>
            <a:endParaRPr lang="en-US" sz="650" dirty="0"/>
          </a:p>
        </p:txBody>
      </p:sp>
      <p:sp>
        <p:nvSpPr>
          <p:cNvPr id="74" name="Text 44">
            <a:extLst>
              <a:ext uri="{FF2B5EF4-FFF2-40B4-BE49-F238E27FC236}">
                <a16:creationId xmlns:a16="http://schemas.microsoft.com/office/drawing/2014/main" id="{C4ABB8FE-2687-75AD-F3B1-FC8B99C4FF69}"/>
              </a:ext>
            </a:extLst>
          </p:cNvPr>
          <p:cNvSpPr/>
          <p:nvPr/>
        </p:nvSpPr>
        <p:spPr>
          <a:xfrm>
            <a:off x="2706624"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Responsive Design</a:t>
            </a:r>
            <a:endParaRPr lang="en-US" sz="800" dirty="0"/>
          </a:p>
        </p:txBody>
      </p:sp>
      <p:sp>
        <p:nvSpPr>
          <p:cNvPr id="75" name="Text 45">
            <a:extLst>
              <a:ext uri="{FF2B5EF4-FFF2-40B4-BE49-F238E27FC236}">
                <a16:creationId xmlns:a16="http://schemas.microsoft.com/office/drawing/2014/main" id="{3535C6FA-833A-AB79-5213-DAE25E209FD4}"/>
              </a:ext>
            </a:extLst>
          </p:cNvPr>
          <p:cNvSpPr/>
          <p:nvPr/>
        </p:nvSpPr>
        <p:spPr>
          <a:xfrm>
            <a:off x="2706624"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Layouts adapt across desktop and mobile breakpoints</a:t>
            </a:r>
            <a:endParaRPr lang="en-US" sz="650" dirty="0"/>
          </a:p>
        </p:txBody>
      </p:sp>
      <p:sp>
        <p:nvSpPr>
          <p:cNvPr id="76" name="Text 46">
            <a:extLst>
              <a:ext uri="{FF2B5EF4-FFF2-40B4-BE49-F238E27FC236}">
                <a16:creationId xmlns:a16="http://schemas.microsoft.com/office/drawing/2014/main" id="{837CE29A-3EEF-4D8A-88BF-666FC65DBDC3}"/>
              </a:ext>
            </a:extLst>
          </p:cNvPr>
          <p:cNvSpPr/>
          <p:nvPr/>
        </p:nvSpPr>
        <p:spPr>
          <a:xfrm>
            <a:off x="4754880"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Role-Based UI</a:t>
            </a:r>
            <a:endParaRPr lang="en-US" sz="800" dirty="0"/>
          </a:p>
        </p:txBody>
      </p:sp>
      <p:sp>
        <p:nvSpPr>
          <p:cNvPr id="77" name="Text 47">
            <a:extLst>
              <a:ext uri="{FF2B5EF4-FFF2-40B4-BE49-F238E27FC236}">
                <a16:creationId xmlns:a16="http://schemas.microsoft.com/office/drawing/2014/main" id="{9AD0FFCA-2B77-EA08-B098-F49134144E69}"/>
              </a:ext>
            </a:extLst>
          </p:cNvPr>
          <p:cNvSpPr/>
          <p:nvPr/>
        </p:nvSpPr>
        <p:spPr>
          <a:xfrm>
            <a:off x="4754880"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Admin views restricted; customers see only their flows</a:t>
            </a:r>
            <a:endParaRPr lang="en-US" sz="650" dirty="0"/>
          </a:p>
        </p:txBody>
      </p:sp>
      <p:sp>
        <p:nvSpPr>
          <p:cNvPr id="78" name="Text 48">
            <a:extLst>
              <a:ext uri="{FF2B5EF4-FFF2-40B4-BE49-F238E27FC236}">
                <a16:creationId xmlns:a16="http://schemas.microsoft.com/office/drawing/2014/main" id="{A0C00045-1AD6-987F-3773-9FB5BDE6A2AD}"/>
              </a:ext>
            </a:extLst>
          </p:cNvPr>
          <p:cNvSpPr/>
          <p:nvPr/>
        </p:nvSpPr>
        <p:spPr>
          <a:xfrm>
            <a:off x="6803136"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State Management</a:t>
            </a:r>
            <a:endParaRPr lang="en-US" sz="800" dirty="0"/>
          </a:p>
        </p:txBody>
      </p:sp>
      <p:sp>
        <p:nvSpPr>
          <p:cNvPr id="79" name="Text 49">
            <a:extLst>
              <a:ext uri="{FF2B5EF4-FFF2-40B4-BE49-F238E27FC236}">
                <a16:creationId xmlns:a16="http://schemas.microsoft.com/office/drawing/2014/main" id="{95AC6EFD-D09B-01FE-FEC2-90F8FD8F8661}"/>
              </a:ext>
            </a:extLst>
          </p:cNvPr>
          <p:cNvSpPr/>
          <p:nvPr/>
        </p:nvSpPr>
        <p:spPr>
          <a:xfrm>
            <a:off x="6803136"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Loading, empty, error &amp; success states on every view</a:t>
            </a:r>
            <a:endParaRPr lang="en-US" sz="650" dirty="0"/>
          </a:p>
        </p:txBody>
      </p:sp>
    </p:spTree>
    <p:extLst>
      <p:ext uri="{BB962C8B-B14F-4D97-AF65-F5344CB8AC3E}">
        <p14:creationId xmlns:p14="http://schemas.microsoft.com/office/powerpoint/2010/main" val="18432368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C78CB47F-8D70-0381-08E3-BC912EE20E6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C50509C-14BC-71D6-0205-203A60195B9A}"/>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 name="Text 1">
            <a:extLst>
              <a:ext uri="{FF2B5EF4-FFF2-40B4-BE49-F238E27FC236}">
                <a16:creationId xmlns:a16="http://schemas.microsoft.com/office/drawing/2014/main" id="{72477F2A-9A91-DF02-ECA3-856BF2B56D9D}"/>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In Action</a:t>
            </a:r>
            <a:endParaRPr lang="en-US" sz="3400" dirty="0"/>
          </a:p>
        </p:txBody>
      </p:sp>
      <p:sp>
        <p:nvSpPr>
          <p:cNvPr id="4" name="Text 2">
            <a:extLst>
              <a:ext uri="{FF2B5EF4-FFF2-40B4-BE49-F238E27FC236}">
                <a16:creationId xmlns:a16="http://schemas.microsoft.com/office/drawing/2014/main" id="{ED845693-C0A8-64FA-BDBC-DDBAFE2EED6F}"/>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5" name="Text 3">
            <a:extLst>
              <a:ext uri="{FF2B5EF4-FFF2-40B4-BE49-F238E27FC236}">
                <a16:creationId xmlns:a16="http://schemas.microsoft.com/office/drawing/2014/main" id="{C1FFC6B1-0702-0D9E-C770-64B80A4F3810}"/>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6" name="Shape 4">
            <a:extLst>
              <a:ext uri="{FF2B5EF4-FFF2-40B4-BE49-F238E27FC236}">
                <a16:creationId xmlns:a16="http://schemas.microsoft.com/office/drawing/2014/main" id="{5E9ED67E-F45A-8B1D-7770-63BD7DCCC72F}"/>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7" name="Shape 5">
            <a:extLst>
              <a:ext uri="{FF2B5EF4-FFF2-40B4-BE49-F238E27FC236}">
                <a16:creationId xmlns:a16="http://schemas.microsoft.com/office/drawing/2014/main" id="{B23F636C-F194-B1B2-5248-CCA191C36108}"/>
              </a:ext>
            </a:extLst>
          </p:cNvPr>
          <p:cNvSpPr/>
          <p:nvPr/>
        </p:nvSpPr>
        <p:spPr>
          <a:xfrm>
            <a:off x="457200" y="1115568"/>
            <a:ext cx="4023360" cy="310896"/>
          </a:xfrm>
          <a:prstGeom prst="rect">
            <a:avLst/>
          </a:prstGeom>
          <a:solidFill>
            <a:srgbClr val="00AEEF"/>
          </a:solidFill>
          <a:ln w="12700">
            <a:solidFill>
              <a:srgbClr val="00AEEF"/>
            </a:solidFill>
            <a:prstDash val="solid"/>
          </a:ln>
        </p:spPr>
        <p:txBody>
          <a:bodyPr/>
          <a:lstStyle/>
          <a:p>
            <a:endParaRPr lang="en-US"/>
          </a:p>
        </p:txBody>
      </p:sp>
      <p:sp>
        <p:nvSpPr>
          <p:cNvPr id="8" name="Text 6">
            <a:extLst>
              <a:ext uri="{FF2B5EF4-FFF2-40B4-BE49-F238E27FC236}">
                <a16:creationId xmlns:a16="http://schemas.microsoft.com/office/drawing/2014/main" id="{56B45CEA-7587-5151-C26A-D31600DFCEC6}"/>
              </a:ext>
            </a:extLst>
          </p:cNvPr>
          <p:cNvSpPr/>
          <p:nvPr/>
        </p:nvSpPr>
        <p:spPr>
          <a:xfrm>
            <a:off x="56692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Customer Storefront</a:t>
            </a:r>
            <a:endParaRPr lang="en-US" sz="1200" dirty="0"/>
          </a:p>
        </p:txBody>
      </p:sp>
      <p:sp>
        <p:nvSpPr>
          <p:cNvPr id="9" name="Text 7">
            <a:extLst>
              <a:ext uri="{FF2B5EF4-FFF2-40B4-BE49-F238E27FC236}">
                <a16:creationId xmlns:a16="http://schemas.microsoft.com/office/drawing/2014/main" id="{EA765D42-820A-09FA-DF64-848172D63AC2}"/>
              </a:ext>
            </a:extLst>
          </p:cNvPr>
          <p:cNvSpPr/>
          <p:nvPr/>
        </p:nvSpPr>
        <p:spPr>
          <a:xfrm>
            <a:off x="56692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Product browsing · Cart · Checkout flow</a:t>
            </a:r>
            <a:endParaRPr lang="en-US" sz="750" dirty="0"/>
          </a:p>
        </p:txBody>
      </p:sp>
      <p:sp>
        <p:nvSpPr>
          <p:cNvPr id="10" name="Shape 8">
            <a:extLst>
              <a:ext uri="{FF2B5EF4-FFF2-40B4-BE49-F238E27FC236}">
                <a16:creationId xmlns:a16="http://schemas.microsoft.com/office/drawing/2014/main" id="{8C917F27-14DA-8C83-B1A5-E78AA36A60B7}"/>
              </a:ext>
            </a:extLst>
          </p:cNvPr>
          <p:cNvSpPr/>
          <p:nvPr/>
        </p:nvSpPr>
        <p:spPr>
          <a:xfrm>
            <a:off x="45720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1" name="Shape 9">
            <a:extLst>
              <a:ext uri="{FF2B5EF4-FFF2-40B4-BE49-F238E27FC236}">
                <a16:creationId xmlns:a16="http://schemas.microsoft.com/office/drawing/2014/main" id="{3FEBC012-4308-97DD-5009-8BF9C19E27C6}"/>
              </a:ext>
            </a:extLst>
          </p:cNvPr>
          <p:cNvSpPr/>
          <p:nvPr/>
        </p:nvSpPr>
        <p:spPr>
          <a:xfrm>
            <a:off x="594360" y="1600200"/>
            <a:ext cx="3749040" cy="3017520"/>
          </a:xfrm>
          <a:prstGeom prst="rect">
            <a:avLst/>
          </a:prstGeom>
          <a:solidFill>
            <a:srgbClr val="E8EAF0"/>
          </a:solidFill>
          <a:ln w="6350">
            <a:solidFill>
              <a:srgbClr val="C8CDD8"/>
            </a:solidFill>
            <a:prstDash val="dash"/>
          </a:ln>
        </p:spPr>
        <p:txBody>
          <a:bodyPr/>
          <a:lstStyle/>
          <a:p>
            <a:endParaRPr lang="en-US" dirty="0"/>
          </a:p>
        </p:txBody>
      </p:sp>
      <p:sp>
        <p:nvSpPr>
          <p:cNvPr id="12" name="Text 10">
            <a:extLst>
              <a:ext uri="{FF2B5EF4-FFF2-40B4-BE49-F238E27FC236}">
                <a16:creationId xmlns:a16="http://schemas.microsoft.com/office/drawing/2014/main" id="{2E5D196A-7700-476E-E796-63DE69745D2F}"/>
              </a:ext>
            </a:extLst>
          </p:cNvPr>
          <p:cNvSpPr/>
          <p:nvPr/>
        </p:nvSpPr>
        <p:spPr>
          <a:xfrm>
            <a:off x="64008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storefront screenshot ]</a:t>
            </a:r>
            <a:endParaRPr lang="en-US" sz="900" dirty="0"/>
          </a:p>
        </p:txBody>
      </p:sp>
      <p:sp>
        <p:nvSpPr>
          <p:cNvPr id="15" name="Shape 13">
            <a:extLst>
              <a:ext uri="{FF2B5EF4-FFF2-40B4-BE49-F238E27FC236}">
                <a16:creationId xmlns:a16="http://schemas.microsoft.com/office/drawing/2014/main" id="{9084282C-6F12-24E5-FF4E-5192AA414B44}"/>
              </a:ext>
            </a:extLst>
          </p:cNvPr>
          <p:cNvSpPr/>
          <p:nvPr/>
        </p:nvSpPr>
        <p:spPr>
          <a:xfrm>
            <a:off x="4617720" y="1115568"/>
            <a:ext cx="4023360" cy="310896"/>
          </a:xfrm>
          <a:prstGeom prst="rect">
            <a:avLst/>
          </a:prstGeom>
          <a:solidFill>
            <a:srgbClr val="1B2A4A"/>
          </a:solidFill>
          <a:ln w="12700">
            <a:solidFill>
              <a:srgbClr val="1B2A4A"/>
            </a:solidFill>
            <a:prstDash val="solid"/>
          </a:ln>
        </p:spPr>
        <p:txBody>
          <a:bodyPr/>
          <a:lstStyle/>
          <a:p>
            <a:endParaRPr lang="en-US"/>
          </a:p>
        </p:txBody>
      </p:sp>
      <p:sp>
        <p:nvSpPr>
          <p:cNvPr id="16" name="Text 14">
            <a:extLst>
              <a:ext uri="{FF2B5EF4-FFF2-40B4-BE49-F238E27FC236}">
                <a16:creationId xmlns:a16="http://schemas.microsoft.com/office/drawing/2014/main" id="{30A772D7-CD43-7F75-F9BC-DE7CEF34071E}"/>
              </a:ext>
            </a:extLst>
          </p:cNvPr>
          <p:cNvSpPr/>
          <p:nvPr/>
        </p:nvSpPr>
        <p:spPr>
          <a:xfrm>
            <a:off x="472744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Admin Dashboard</a:t>
            </a:r>
            <a:endParaRPr lang="en-US" sz="1200" dirty="0"/>
          </a:p>
        </p:txBody>
      </p:sp>
      <p:sp>
        <p:nvSpPr>
          <p:cNvPr id="17" name="Text 15">
            <a:extLst>
              <a:ext uri="{FF2B5EF4-FFF2-40B4-BE49-F238E27FC236}">
                <a16:creationId xmlns:a16="http://schemas.microsoft.com/office/drawing/2014/main" id="{A48C89B8-9DEF-7118-AC62-22B947264B8C}"/>
              </a:ext>
            </a:extLst>
          </p:cNvPr>
          <p:cNvSpPr/>
          <p:nvPr/>
        </p:nvSpPr>
        <p:spPr>
          <a:xfrm>
            <a:off x="472744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Navigation · Role-restricted Views · Admin Layout</a:t>
            </a:r>
            <a:endParaRPr lang="en-US" sz="750" dirty="0"/>
          </a:p>
        </p:txBody>
      </p:sp>
      <p:sp>
        <p:nvSpPr>
          <p:cNvPr id="18" name="Shape 16">
            <a:extLst>
              <a:ext uri="{FF2B5EF4-FFF2-40B4-BE49-F238E27FC236}">
                <a16:creationId xmlns:a16="http://schemas.microsoft.com/office/drawing/2014/main" id="{FBB93498-50D6-DAEE-4104-E70F6EC952C6}"/>
              </a:ext>
            </a:extLst>
          </p:cNvPr>
          <p:cNvSpPr/>
          <p:nvPr/>
        </p:nvSpPr>
        <p:spPr>
          <a:xfrm>
            <a:off x="461772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20" name="Text 18">
            <a:extLst>
              <a:ext uri="{FF2B5EF4-FFF2-40B4-BE49-F238E27FC236}">
                <a16:creationId xmlns:a16="http://schemas.microsoft.com/office/drawing/2014/main" id="{63063F1F-B93E-FB4D-A89B-E5C82E0F0364}"/>
              </a:ext>
            </a:extLst>
          </p:cNvPr>
          <p:cNvSpPr/>
          <p:nvPr/>
        </p:nvSpPr>
        <p:spPr>
          <a:xfrm>
            <a:off x="480060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admin dashboard screenshot ]</a:t>
            </a:r>
            <a:endParaRPr lang="en-US" sz="900" dirty="0"/>
          </a:p>
        </p:txBody>
      </p:sp>
      <p:pic>
        <p:nvPicPr>
          <p:cNvPr id="25" name="Picture 24">
            <a:extLst>
              <a:ext uri="{FF2B5EF4-FFF2-40B4-BE49-F238E27FC236}">
                <a16:creationId xmlns:a16="http://schemas.microsoft.com/office/drawing/2014/main" id="{5F90F470-48CB-8F75-4DDB-A47A7FD48DAB}"/>
              </a:ext>
            </a:extLst>
          </p:cNvPr>
          <p:cNvPicPr>
            <a:picLocks noChangeAspect="1"/>
          </p:cNvPicPr>
          <p:nvPr/>
        </p:nvPicPr>
        <p:blipFill>
          <a:blip r:embed="rId3"/>
          <a:srcRect l="4358" t="477" r="3369" b="-477"/>
          <a:stretch>
            <a:fillRect/>
          </a:stretch>
        </p:blipFill>
        <p:spPr>
          <a:xfrm>
            <a:off x="594360" y="1600200"/>
            <a:ext cx="3755970" cy="3028090"/>
          </a:xfrm>
          <a:prstGeom prst="rect">
            <a:avLst/>
          </a:prstGeom>
        </p:spPr>
      </p:pic>
      <p:sp>
        <p:nvSpPr>
          <p:cNvPr id="23" name="Shape 21">
            <a:extLst>
              <a:ext uri="{FF2B5EF4-FFF2-40B4-BE49-F238E27FC236}">
                <a16:creationId xmlns:a16="http://schemas.microsoft.com/office/drawing/2014/main" id="{FCCCEEE9-7BE8-F449-BE69-5C3CBEA17F51}"/>
              </a:ext>
            </a:extLst>
          </p:cNvPr>
          <p:cNvSpPr/>
          <p:nvPr/>
        </p:nvSpPr>
        <p:spPr>
          <a:xfrm>
            <a:off x="457200" y="4828032"/>
            <a:ext cx="8229600" cy="201168"/>
          </a:xfrm>
          <a:prstGeom prst="rect">
            <a:avLst/>
          </a:prstGeom>
          <a:solidFill>
            <a:srgbClr val="F8FAFC"/>
          </a:solidFill>
          <a:ln w="6350">
            <a:solidFill>
              <a:srgbClr val="D8DCE5"/>
            </a:solidFill>
            <a:prstDash val="solid"/>
          </a:ln>
        </p:spPr>
        <p:txBody>
          <a:bodyPr/>
          <a:lstStyle/>
          <a:p>
            <a:endParaRPr lang="en-US"/>
          </a:p>
        </p:txBody>
      </p:sp>
      <p:sp>
        <p:nvSpPr>
          <p:cNvPr id="24" name="Text 22">
            <a:extLst>
              <a:ext uri="{FF2B5EF4-FFF2-40B4-BE49-F238E27FC236}">
                <a16:creationId xmlns:a16="http://schemas.microsoft.com/office/drawing/2014/main" id="{9CEA55B8-302A-302A-86F4-5D9F250A11EB}"/>
              </a:ext>
            </a:extLst>
          </p:cNvPr>
          <p:cNvSpPr/>
          <p:nvPr/>
        </p:nvSpPr>
        <p:spPr>
          <a:xfrm>
            <a:off x="566928" y="4828032"/>
            <a:ext cx="8010144" cy="201168"/>
          </a:xfrm>
          <a:prstGeom prst="rect">
            <a:avLst/>
          </a:prstGeom>
          <a:noFill/>
          <a:ln/>
        </p:spPr>
        <p:txBody>
          <a:bodyPr wrap="square" lIns="0" tIns="0" rIns="0" bIns="0" rtlCol="0" anchor="ctr"/>
          <a:lstStyle/>
          <a:p>
            <a:pPr marL="0" indent="0" algn="ctr">
              <a:buNone/>
            </a:pPr>
            <a:r>
              <a:rPr lang="en-US" sz="750" dirty="0">
                <a:solidFill>
                  <a:srgbClr val="475569"/>
                </a:solidFill>
              </a:rPr>
              <a:t>React SPA  ·  SimpleJWT authentication  ·  Role-enforced routing  ·  Component-based architecture</a:t>
            </a:r>
            <a:endParaRPr lang="en-US" sz="750" dirty="0"/>
          </a:p>
        </p:txBody>
      </p:sp>
      <p:sp>
        <p:nvSpPr>
          <p:cNvPr id="13" name="Shape 11">
            <a:extLst>
              <a:ext uri="{FF2B5EF4-FFF2-40B4-BE49-F238E27FC236}">
                <a16:creationId xmlns:a16="http://schemas.microsoft.com/office/drawing/2014/main" id="{340814F4-496C-EAA8-4B0F-7BDA8947CF45}"/>
              </a:ext>
            </a:extLst>
          </p:cNvPr>
          <p:cNvSpPr/>
          <p:nvPr/>
        </p:nvSpPr>
        <p:spPr>
          <a:xfrm>
            <a:off x="3814155" y="1511430"/>
            <a:ext cx="594360" cy="201168"/>
          </a:xfrm>
          <a:prstGeom prst="rect">
            <a:avLst/>
          </a:prstGeom>
          <a:solidFill>
            <a:srgbClr val="00AEEF"/>
          </a:solidFill>
          <a:ln w="12700">
            <a:solidFill>
              <a:srgbClr val="00AEEF"/>
            </a:solidFill>
            <a:prstDash val="solid"/>
          </a:ln>
        </p:spPr>
        <p:txBody>
          <a:bodyPr/>
          <a:lstStyle/>
          <a:p>
            <a:endParaRPr lang="en-US"/>
          </a:p>
        </p:txBody>
      </p:sp>
      <p:sp>
        <p:nvSpPr>
          <p:cNvPr id="14" name="Text 12">
            <a:extLst>
              <a:ext uri="{FF2B5EF4-FFF2-40B4-BE49-F238E27FC236}">
                <a16:creationId xmlns:a16="http://schemas.microsoft.com/office/drawing/2014/main" id="{865BE1E0-8588-870B-9933-4749E70EB23D}"/>
              </a:ext>
            </a:extLst>
          </p:cNvPr>
          <p:cNvSpPr/>
          <p:nvPr/>
        </p:nvSpPr>
        <p:spPr>
          <a:xfrm>
            <a:off x="3840480" y="1508760"/>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pic>
        <p:nvPicPr>
          <p:cNvPr id="26" name="Picture 25">
            <a:extLst>
              <a:ext uri="{FF2B5EF4-FFF2-40B4-BE49-F238E27FC236}">
                <a16:creationId xmlns:a16="http://schemas.microsoft.com/office/drawing/2014/main" id="{4ADC6104-CFE4-A3CA-6DF7-0677907B74EE}"/>
              </a:ext>
            </a:extLst>
          </p:cNvPr>
          <p:cNvPicPr>
            <a:picLocks noChangeAspect="1"/>
          </p:cNvPicPr>
          <p:nvPr/>
        </p:nvPicPr>
        <p:blipFill>
          <a:blip r:embed="rId4"/>
          <a:srcRect l="19000" t="266" r="491" b="-266"/>
          <a:stretch>
            <a:fillRect/>
          </a:stretch>
        </p:blipFill>
        <p:spPr>
          <a:xfrm>
            <a:off x="4777740" y="1600200"/>
            <a:ext cx="3749040" cy="3076956"/>
          </a:xfrm>
          <a:prstGeom prst="rect">
            <a:avLst/>
          </a:prstGeom>
        </p:spPr>
      </p:pic>
      <p:sp>
        <p:nvSpPr>
          <p:cNvPr id="21" name="Shape 19">
            <a:extLst>
              <a:ext uri="{FF2B5EF4-FFF2-40B4-BE49-F238E27FC236}">
                <a16:creationId xmlns:a16="http://schemas.microsoft.com/office/drawing/2014/main" id="{218ECAA6-03F3-57E4-E01C-50B74917703E}"/>
              </a:ext>
            </a:extLst>
          </p:cNvPr>
          <p:cNvSpPr/>
          <p:nvPr/>
        </p:nvSpPr>
        <p:spPr>
          <a:xfrm>
            <a:off x="7989671" y="1517904"/>
            <a:ext cx="594360" cy="201168"/>
          </a:xfrm>
          <a:prstGeom prst="rect">
            <a:avLst/>
          </a:prstGeom>
          <a:solidFill>
            <a:srgbClr val="1B2A4A"/>
          </a:solidFill>
          <a:ln w="12700">
            <a:solidFill>
              <a:srgbClr val="1B2A4A"/>
            </a:solidFill>
            <a:prstDash val="solid"/>
          </a:ln>
        </p:spPr>
        <p:txBody>
          <a:bodyPr/>
          <a:lstStyle/>
          <a:p>
            <a:endParaRPr lang="en-US"/>
          </a:p>
        </p:txBody>
      </p:sp>
      <p:sp>
        <p:nvSpPr>
          <p:cNvPr id="22" name="Text 20">
            <a:extLst>
              <a:ext uri="{FF2B5EF4-FFF2-40B4-BE49-F238E27FC236}">
                <a16:creationId xmlns:a16="http://schemas.microsoft.com/office/drawing/2014/main" id="{BF22A46F-730B-7A46-5FC8-065F292800DB}"/>
              </a:ext>
            </a:extLst>
          </p:cNvPr>
          <p:cNvSpPr/>
          <p:nvPr/>
        </p:nvSpPr>
        <p:spPr>
          <a:xfrm>
            <a:off x="7989671" y="1517904"/>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spTree>
    <p:extLst>
      <p:ext uri="{BB962C8B-B14F-4D97-AF65-F5344CB8AC3E}">
        <p14:creationId xmlns:p14="http://schemas.microsoft.com/office/powerpoint/2010/main" val="33816491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D457BC8D-BFBA-CCF8-24BD-47EF05531F3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46EC5CC-763D-01E7-C0C4-064543FD66B8}"/>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 name="Text 1">
            <a:extLst>
              <a:ext uri="{FF2B5EF4-FFF2-40B4-BE49-F238E27FC236}">
                <a16:creationId xmlns:a16="http://schemas.microsoft.com/office/drawing/2014/main" id="{9C905C9F-C73E-C869-E79F-756CBD393CAA}"/>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In Action</a:t>
            </a:r>
            <a:endParaRPr lang="en-US" sz="3400" dirty="0"/>
          </a:p>
        </p:txBody>
      </p:sp>
      <p:sp>
        <p:nvSpPr>
          <p:cNvPr id="4" name="Text 2">
            <a:extLst>
              <a:ext uri="{FF2B5EF4-FFF2-40B4-BE49-F238E27FC236}">
                <a16:creationId xmlns:a16="http://schemas.microsoft.com/office/drawing/2014/main" id="{BC428D9C-7277-C59B-9075-E55F8DC87A9F}"/>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5" name="Text 3">
            <a:extLst>
              <a:ext uri="{FF2B5EF4-FFF2-40B4-BE49-F238E27FC236}">
                <a16:creationId xmlns:a16="http://schemas.microsoft.com/office/drawing/2014/main" id="{E5959F35-87FB-6DB4-717A-438CD9105E79}"/>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6" name="Shape 4">
            <a:extLst>
              <a:ext uri="{FF2B5EF4-FFF2-40B4-BE49-F238E27FC236}">
                <a16:creationId xmlns:a16="http://schemas.microsoft.com/office/drawing/2014/main" id="{CA98978A-6AEE-11F9-36B0-36CD29514E22}"/>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7" name="Shape 5">
            <a:extLst>
              <a:ext uri="{FF2B5EF4-FFF2-40B4-BE49-F238E27FC236}">
                <a16:creationId xmlns:a16="http://schemas.microsoft.com/office/drawing/2014/main" id="{E6F04FCE-5078-FE1D-61C2-CE148AB9F06B}"/>
              </a:ext>
            </a:extLst>
          </p:cNvPr>
          <p:cNvSpPr/>
          <p:nvPr/>
        </p:nvSpPr>
        <p:spPr>
          <a:xfrm>
            <a:off x="457200" y="1115568"/>
            <a:ext cx="4023360" cy="310896"/>
          </a:xfrm>
          <a:prstGeom prst="rect">
            <a:avLst/>
          </a:prstGeom>
          <a:solidFill>
            <a:srgbClr val="00AEEF"/>
          </a:solidFill>
          <a:ln w="12700">
            <a:solidFill>
              <a:srgbClr val="00AEEF"/>
            </a:solidFill>
            <a:prstDash val="solid"/>
          </a:ln>
        </p:spPr>
        <p:txBody>
          <a:bodyPr/>
          <a:lstStyle/>
          <a:p>
            <a:endParaRPr lang="en-US"/>
          </a:p>
        </p:txBody>
      </p:sp>
      <p:sp>
        <p:nvSpPr>
          <p:cNvPr id="8" name="Text 6">
            <a:extLst>
              <a:ext uri="{FF2B5EF4-FFF2-40B4-BE49-F238E27FC236}">
                <a16:creationId xmlns:a16="http://schemas.microsoft.com/office/drawing/2014/main" id="{1EAFD97D-9CE5-261C-E95A-7F1F11EF29AC}"/>
              </a:ext>
            </a:extLst>
          </p:cNvPr>
          <p:cNvSpPr/>
          <p:nvPr/>
        </p:nvSpPr>
        <p:spPr>
          <a:xfrm>
            <a:off x="56692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Customer Profile</a:t>
            </a:r>
            <a:endParaRPr lang="en-US" sz="1200" dirty="0"/>
          </a:p>
        </p:txBody>
      </p:sp>
      <p:sp>
        <p:nvSpPr>
          <p:cNvPr id="9" name="Text 7">
            <a:extLst>
              <a:ext uri="{FF2B5EF4-FFF2-40B4-BE49-F238E27FC236}">
                <a16:creationId xmlns:a16="http://schemas.microsoft.com/office/drawing/2014/main" id="{54876047-AC9D-617B-8BF7-8E37EC4C737B}"/>
              </a:ext>
            </a:extLst>
          </p:cNvPr>
          <p:cNvSpPr/>
          <p:nvPr/>
        </p:nvSpPr>
        <p:spPr>
          <a:xfrm>
            <a:off x="56692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Account Management · Order History · Profile Editing</a:t>
            </a:r>
            <a:endParaRPr lang="en-US" sz="750" dirty="0"/>
          </a:p>
        </p:txBody>
      </p:sp>
      <p:sp>
        <p:nvSpPr>
          <p:cNvPr id="10" name="Shape 8">
            <a:extLst>
              <a:ext uri="{FF2B5EF4-FFF2-40B4-BE49-F238E27FC236}">
                <a16:creationId xmlns:a16="http://schemas.microsoft.com/office/drawing/2014/main" id="{9576614E-FABB-25E3-41EE-F3210F876B1C}"/>
              </a:ext>
            </a:extLst>
          </p:cNvPr>
          <p:cNvSpPr/>
          <p:nvPr/>
        </p:nvSpPr>
        <p:spPr>
          <a:xfrm>
            <a:off x="45720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1" name="Shape 9">
            <a:extLst>
              <a:ext uri="{FF2B5EF4-FFF2-40B4-BE49-F238E27FC236}">
                <a16:creationId xmlns:a16="http://schemas.microsoft.com/office/drawing/2014/main" id="{917259BF-657C-8EE6-96BA-05357B738E0D}"/>
              </a:ext>
            </a:extLst>
          </p:cNvPr>
          <p:cNvSpPr/>
          <p:nvPr/>
        </p:nvSpPr>
        <p:spPr>
          <a:xfrm>
            <a:off x="594360" y="1600200"/>
            <a:ext cx="3749040" cy="3017520"/>
          </a:xfrm>
          <a:prstGeom prst="rect">
            <a:avLst/>
          </a:prstGeom>
          <a:solidFill>
            <a:srgbClr val="E8EAF0"/>
          </a:solidFill>
          <a:ln w="6350">
            <a:solidFill>
              <a:srgbClr val="C8CDD8"/>
            </a:solidFill>
            <a:prstDash val="dash"/>
          </a:ln>
        </p:spPr>
        <p:txBody>
          <a:bodyPr/>
          <a:lstStyle/>
          <a:p>
            <a:endParaRPr lang="en-US"/>
          </a:p>
        </p:txBody>
      </p:sp>
      <p:sp>
        <p:nvSpPr>
          <p:cNvPr id="12" name="Text 10">
            <a:extLst>
              <a:ext uri="{FF2B5EF4-FFF2-40B4-BE49-F238E27FC236}">
                <a16:creationId xmlns:a16="http://schemas.microsoft.com/office/drawing/2014/main" id="{13282C6B-E67A-03AC-345A-AE28AD86EC5A}"/>
              </a:ext>
            </a:extLst>
          </p:cNvPr>
          <p:cNvSpPr/>
          <p:nvPr/>
        </p:nvSpPr>
        <p:spPr>
          <a:xfrm>
            <a:off x="64008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customer profile screenshot ]</a:t>
            </a:r>
            <a:endParaRPr lang="en-US" sz="900" dirty="0"/>
          </a:p>
        </p:txBody>
      </p:sp>
      <p:sp>
        <p:nvSpPr>
          <p:cNvPr id="15" name="Shape 13">
            <a:extLst>
              <a:ext uri="{FF2B5EF4-FFF2-40B4-BE49-F238E27FC236}">
                <a16:creationId xmlns:a16="http://schemas.microsoft.com/office/drawing/2014/main" id="{C33899B5-0D41-059C-FAC1-16B8F779C19B}"/>
              </a:ext>
            </a:extLst>
          </p:cNvPr>
          <p:cNvSpPr/>
          <p:nvPr/>
        </p:nvSpPr>
        <p:spPr>
          <a:xfrm>
            <a:off x="4617720" y="1115568"/>
            <a:ext cx="4023360" cy="310896"/>
          </a:xfrm>
          <a:prstGeom prst="rect">
            <a:avLst/>
          </a:prstGeom>
          <a:solidFill>
            <a:srgbClr val="1D9E75"/>
          </a:solidFill>
          <a:ln w="12700">
            <a:solidFill>
              <a:srgbClr val="1D9E75"/>
            </a:solidFill>
            <a:prstDash val="solid"/>
          </a:ln>
        </p:spPr>
        <p:txBody>
          <a:bodyPr/>
          <a:lstStyle/>
          <a:p>
            <a:endParaRPr lang="en-US"/>
          </a:p>
        </p:txBody>
      </p:sp>
      <p:sp>
        <p:nvSpPr>
          <p:cNvPr id="16" name="Text 14">
            <a:extLst>
              <a:ext uri="{FF2B5EF4-FFF2-40B4-BE49-F238E27FC236}">
                <a16:creationId xmlns:a16="http://schemas.microsoft.com/office/drawing/2014/main" id="{CEC263B7-12AC-A817-26B6-F018BD8AD547}"/>
              </a:ext>
            </a:extLst>
          </p:cNvPr>
          <p:cNvSpPr/>
          <p:nvPr/>
        </p:nvSpPr>
        <p:spPr>
          <a:xfrm>
            <a:off x="472744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Business Tools</a:t>
            </a:r>
            <a:endParaRPr lang="en-US" sz="1200" dirty="0"/>
          </a:p>
        </p:txBody>
      </p:sp>
      <p:sp>
        <p:nvSpPr>
          <p:cNvPr id="17" name="Text 15">
            <a:extLst>
              <a:ext uri="{FF2B5EF4-FFF2-40B4-BE49-F238E27FC236}">
                <a16:creationId xmlns:a16="http://schemas.microsoft.com/office/drawing/2014/main" id="{C939F9CF-AEF4-E267-602B-6AA72F5165C8}"/>
              </a:ext>
            </a:extLst>
          </p:cNvPr>
          <p:cNvSpPr/>
          <p:nvPr/>
        </p:nvSpPr>
        <p:spPr>
          <a:xfrm>
            <a:off x="4727448" y="1280160"/>
            <a:ext cx="3749040" cy="128016"/>
          </a:xfrm>
          <a:prstGeom prst="rect">
            <a:avLst/>
          </a:prstGeom>
          <a:noFill/>
          <a:ln/>
        </p:spPr>
        <p:txBody>
          <a:bodyPr wrap="square" lIns="0" tIns="0" rIns="0" bIns="0" rtlCol="0" anchor="ctr"/>
          <a:lstStyle/>
          <a:p>
            <a:r>
              <a:rPr lang="en-US" sz="750" dirty="0">
                <a:solidFill>
                  <a:srgbClr val="CADCFC"/>
                </a:solidFill>
              </a:rPr>
              <a:t>Product &amp; Inventory Management · Sales Dashboard · Settings</a:t>
            </a:r>
            <a:endParaRPr lang="en-US" sz="750" dirty="0"/>
          </a:p>
        </p:txBody>
      </p:sp>
      <p:sp>
        <p:nvSpPr>
          <p:cNvPr id="18" name="Shape 16">
            <a:extLst>
              <a:ext uri="{FF2B5EF4-FFF2-40B4-BE49-F238E27FC236}">
                <a16:creationId xmlns:a16="http://schemas.microsoft.com/office/drawing/2014/main" id="{04068518-4647-49A4-BC81-4DFC9E23F16B}"/>
              </a:ext>
            </a:extLst>
          </p:cNvPr>
          <p:cNvSpPr/>
          <p:nvPr/>
        </p:nvSpPr>
        <p:spPr>
          <a:xfrm>
            <a:off x="461772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9" name="Shape 17">
            <a:extLst>
              <a:ext uri="{FF2B5EF4-FFF2-40B4-BE49-F238E27FC236}">
                <a16:creationId xmlns:a16="http://schemas.microsoft.com/office/drawing/2014/main" id="{FDAA8B83-4B30-DE7B-9135-F58F382796CE}"/>
              </a:ext>
            </a:extLst>
          </p:cNvPr>
          <p:cNvSpPr/>
          <p:nvPr/>
        </p:nvSpPr>
        <p:spPr>
          <a:xfrm>
            <a:off x="4754880" y="1600200"/>
            <a:ext cx="3749040" cy="3017520"/>
          </a:xfrm>
          <a:prstGeom prst="rect">
            <a:avLst/>
          </a:prstGeom>
          <a:solidFill>
            <a:srgbClr val="E8EAF0"/>
          </a:solidFill>
          <a:ln w="6350">
            <a:solidFill>
              <a:srgbClr val="C8CDD8"/>
            </a:solidFill>
            <a:prstDash val="dash"/>
          </a:ln>
        </p:spPr>
        <p:txBody>
          <a:bodyPr/>
          <a:lstStyle/>
          <a:p>
            <a:endParaRPr lang="en-US"/>
          </a:p>
        </p:txBody>
      </p:sp>
      <p:sp>
        <p:nvSpPr>
          <p:cNvPr id="20" name="Text 18">
            <a:extLst>
              <a:ext uri="{FF2B5EF4-FFF2-40B4-BE49-F238E27FC236}">
                <a16:creationId xmlns:a16="http://schemas.microsoft.com/office/drawing/2014/main" id="{2941B7A8-4096-F865-7C9F-5213710FACFF}"/>
              </a:ext>
            </a:extLst>
          </p:cNvPr>
          <p:cNvSpPr/>
          <p:nvPr/>
        </p:nvSpPr>
        <p:spPr>
          <a:xfrm>
            <a:off x="480060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business settings screenshot ]</a:t>
            </a:r>
            <a:endParaRPr lang="en-US" sz="900" dirty="0"/>
          </a:p>
        </p:txBody>
      </p:sp>
      <p:sp>
        <p:nvSpPr>
          <p:cNvPr id="23" name="Shape 21">
            <a:extLst>
              <a:ext uri="{FF2B5EF4-FFF2-40B4-BE49-F238E27FC236}">
                <a16:creationId xmlns:a16="http://schemas.microsoft.com/office/drawing/2014/main" id="{E16DF484-6009-023B-41D1-CCA84D58930C}"/>
              </a:ext>
            </a:extLst>
          </p:cNvPr>
          <p:cNvSpPr/>
          <p:nvPr/>
        </p:nvSpPr>
        <p:spPr>
          <a:xfrm>
            <a:off x="457200" y="4828032"/>
            <a:ext cx="8229600" cy="201168"/>
          </a:xfrm>
          <a:prstGeom prst="rect">
            <a:avLst/>
          </a:prstGeom>
          <a:solidFill>
            <a:srgbClr val="F8FAFC"/>
          </a:solidFill>
          <a:ln w="6350">
            <a:solidFill>
              <a:srgbClr val="D8DCE5"/>
            </a:solidFill>
            <a:prstDash val="solid"/>
          </a:ln>
        </p:spPr>
        <p:txBody>
          <a:bodyPr/>
          <a:lstStyle/>
          <a:p>
            <a:endParaRPr lang="en-US"/>
          </a:p>
        </p:txBody>
      </p:sp>
      <p:sp>
        <p:nvSpPr>
          <p:cNvPr id="24" name="Text 22">
            <a:extLst>
              <a:ext uri="{FF2B5EF4-FFF2-40B4-BE49-F238E27FC236}">
                <a16:creationId xmlns:a16="http://schemas.microsoft.com/office/drawing/2014/main" id="{950FDA77-E641-ED75-F586-4D39E349E52F}"/>
              </a:ext>
            </a:extLst>
          </p:cNvPr>
          <p:cNvSpPr/>
          <p:nvPr/>
        </p:nvSpPr>
        <p:spPr>
          <a:xfrm>
            <a:off x="566928" y="4828032"/>
            <a:ext cx="8010144" cy="201168"/>
          </a:xfrm>
          <a:prstGeom prst="rect">
            <a:avLst/>
          </a:prstGeom>
          <a:noFill/>
          <a:ln/>
        </p:spPr>
        <p:txBody>
          <a:bodyPr wrap="square" lIns="0" tIns="0" rIns="0" bIns="0" rtlCol="0" anchor="ctr"/>
          <a:lstStyle/>
          <a:p>
            <a:pPr marL="0" indent="0" algn="ctr">
              <a:buNone/>
            </a:pPr>
            <a:r>
              <a:rPr lang="en-US" sz="750" dirty="0">
                <a:solidFill>
                  <a:srgbClr val="475569"/>
                </a:solidFill>
              </a:rPr>
              <a:t>Branding consistent across all views  ·  Loading, error &amp; empty states on every page  ·  77+ automated tests passing</a:t>
            </a:r>
            <a:endParaRPr lang="en-US" sz="750" dirty="0"/>
          </a:p>
        </p:txBody>
      </p:sp>
      <p:pic>
        <p:nvPicPr>
          <p:cNvPr id="26" name="Picture 25">
            <a:extLst>
              <a:ext uri="{FF2B5EF4-FFF2-40B4-BE49-F238E27FC236}">
                <a16:creationId xmlns:a16="http://schemas.microsoft.com/office/drawing/2014/main" id="{C1C1036D-E155-826E-DF2C-3B8B1294D965}"/>
              </a:ext>
            </a:extLst>
          </p:cNvPr>
          <p:cNvPicPr>
            <a:picLocks noChangeAspect="1"/>
          </p:cNvPicPr>
          <p:nvPr/>
        </p:nvPicPr>
        <p:blipFill>
          <a:blip r:embed="rId3"/>
          <a:srcRect l="26469" t="15269" r="23530" b="12751"/>
          <a:stretch>
            <a:fillRect/>
          </a:stretch>
        </p:blipFill>
        <p:spPr>
          <a:xfrm>
            <a:off x="594360" y="1600199"/>
            <a:ext cx="3886200" cy="3017521"/>
          </a:xfrm>
          <a:prstGeom prst="rect">
            <a:avLst/>
          </a:prstGeom>
        </p:spPr>
      </p:pic>
      <p:sp>
        <p:nvSpPr>
          <p:cNvPr id="13" name="Shape 11">
            <a:extLst>
              <a:ext uri="{FF2B5EF4-FFF2-40B4-BE49-F238E27FC236}">
                <a16:creationId xmlns:a16="http://schemas.microsoft.com/office/drawing/2014/main" id="{E806DC52-004B-0DC6-C0F7-08DEB3CAC32F}"/>
              </a:ext>
            </a:extLst>
          </p:cNvPr>
          <p:cNvSpPr/>
          <p:nvPr/>
        </p:nvSpPr>
        <p:spPr>
          <a:xfrm>
            <a:off x="3840480" y="1503904"/>
            <a:ext cx="594360" cy="201168"/>
          </a:xfrm>
          <a:prstGeom prst="rect">
            <a:avLst/>
          </a:prstGeom>
          <a:solidFill>
            <a:srgbClr val="00AEEF"/>
          </a:solidFill>
          <a:ln w="12700">
            <a:solidFill>
              <a:srgbClr val="00AEEF"/>
            </a:solidFill>
            <a:prstDash val="solid"/>
          </a:ln>
        </p:spPr>
        <p:txBody>
          <a:bodyPr/>
          <a:lstStyle/>
          <a:p>
            <a:endParaRPr lang="en-US"/>
          </a:p>
        </p:txBody>
      </p:sp>
      <p:sp>
        <p:nvSpPr>
          <p:cNvPr id="14" name="Text 12">
            <a:extLst>
              <a:ext uri="{FF2B5EF4-FFF2-40B4-BE49-F238E27FC236}">
                <a16:creationId xmlns:a16="http://schemas.microsoft.com/office/drawing/2014/main" id="{52AAD1CF-74BB-B14C-3E05-6517FA0E2688}"/>
              </a:ext>
            </a:extLst>
          </p:cNvPr>
          <p:cNvSpPr/>
          <p:nvPr/>
        </p:nvSpPr>
        <p:spPr>
          <a:xfrm>
            <a:off x="3840480" y="1503904"/>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pic>
        <p:nvPicPr>
          <p:cNvPr id="27" name="Picture 26">
            <a:extLst>
              <a:ext uri="{FF2B5EF4-FFF2-40B4-BE49-F238E27FC236}">
                <a16:creationId xmlns:a16="http://schemas.microsoft.com/office/drawing/2014/main" id="{7D652E62-78B7-5835-91BC-E407DA124A2F}"/>
              </a:ext>
            </a:extLst>
          </p:cNvPr>
          <p:cNvPicPr>
            <a:picLocks noChangeAspect="1"/>
          </p:cNvPicPr>
          <p:nvPr/>
        </p:nvPicPr>
        <p:blipFill>
          <a:blip r:embed="rId4"/>
          <a:srcRect l="1920" r="32007"/>
          <a:stretch>
            <a:fillRect/>
          </a:stretch>
        </p:blipFill>
        <p:spPr>
          <a:xfrm>
            <a:off x="4727449" y="1600199"/>
            <a:ext cx="3776472" cy="3035409"/>
          </a:xfrm>
          <a:prstGeom prst="rect">
            <a:avLst/>
          </a:prstGeom>
        </p:spPr>
      </p:pic>
      <p:sp>
        <p:nvSpPr>
          <p:cNvPr id="21" name="Shape 19">
            <a:extLst>
              <a:ext uri="{FF2B5EF4-FFF2-40B4-BE49-F238E27FC236}">
                <a16:creationId xmlns:a16="http://schemas.microsoft.com/office/drawing/2014/main" id="{D9828094-89E8-272E-D765-C5F1878062D7}"/>
              </a:ext>
            </a:extLst>
          </p:cNvPr>
          <p:cNvSpPr/>
          <p:nvPr/>
        </p:nvSpPr>
        <p:spPr>
          <a:xfrm>
            <a:off x="7986515" y="1506931"/>
            <a:ext cx="594360" cy="201168"/>
          </a:xfrm>
          <a:prstGeom prst="rect">
            <a:avLst/>
          </a:prstGeom>
          <a:solidFill>
            <a:srgbClr val="1D9E75"/>
          </a:solidFill>
          <a:ln w="12700">
            <a:solidFill>
              <a:srgbClr val="1D9E75"/>
            </a:solidFill>
            <a:prstDash val="solid"/>
          </a:ln>
        </p:spPr>
        <p:txBody>
          <a:bodyPr/>
          <a:lstStyle/>
          <a:p>
            <a:endParaRPr lang="en-US"/>
          </a:p>
        </p:txBody>
      </p:sp>
      <p:sp>
        <p:nvSpPr>
          <p:cNvPr id="22" name="Text 20">
            <a:extLst>
              <a:ext uri="{FF2B5EF4-FFF2-40B4-BE49-F238E27FC236}">
                <a16:creationId xmlns:a16="http://schemas.microsoft.com/office/drawing/2014/main" id="{32A83AD3-6F18-7300-924A-DBCB92CD26E8}"/>
              </a:ext>
            </a:extLst>
          </p:cNvPr>
          <p:cNvSpPr/>
          <p:nvPr/>
        </p:nvSpPr>
        <p:spPr>
          <a:xfrm>
            <a:off x="7986515" y="1506931"/>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spTree>
    <p:extLst>
      <p:ext uri="{BB962C8B-B14F-4D97-AF65-F5344CB8AC3E}">
        <p14:creationId xmlns:p14="http://schemas.microsoft.com/office/powerpoint/2010/main" val="18317378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4F6FB"/>
        </a:solidFill>
        <a:effectLst/>
      </p:bgPr>
    </p:bg>
    <p:spTree>
      <p:nvGrpSpPr>
        <p:cNvPr id="1" name=""/>
        <p:cNvGrpSpPr/>
        <p:nvPr/>
      </p:nvGrpSpPr>
      <p:grpSpPr>
        <a:xfrm>
          <a:off x="0" y="0"/>
          <a:ext cx="0" cy="0"/>
          <a:chOff x="0" y="0"/>
          <a:chExt cx="0" cy="0"/>
        </a:xfrm>
      </p:grpSpPr>
      <p:sp>
        <p:nvSpPr>
          <p:cNvPr id="54" name="Text 0">
            <a:extLst>
              <a:ext uri="{FF2B5EF4-FFF2-40B4-BE49-F238E27FC236}">
                <a16:creationId xmlns:a16="http://schemas.microsoft.com/office/drawing/2014/main" id="{0ED63F8C-5F5E-FC7F-D090-7DF1629F19BE}"/>
              </a:ext>
            </a:extLst>
          </p:cNvPr>
          <p:cNvSpPr/>
          <p:nvPr/>
        </p:nvSpPr>
        <p:spPr>
          <a:xfrm>
            <a:off x="457200" y="256032"/>
            <a:ext cx="36576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ARCHITECTURE &amp; DESIGN</a:t>
            </a:r>
            <a:endParaRPr lang="en-US" sz="850" dirty="0"/>
          </a:p>
        </p:txBody>
      </p:sp>
      <p:sp>
        <p:nvSpPr>
          <p:cNvPr id="55" name="Text 1">
            <a:extLst>
              <a:ext uri="{FF2B5EF4-FFF2-40B4-BE49-F238E27FC236}">
                <a16:creationId xmlns:a16="http://schemas.microsoft.com/office/drawing/2014/main" id="{F5146563-6AAF-81EF-4D27-79F771B994A8}"/>
              </a:ext>
            </a:extLst>
          </p:cNvPr>
          <p:cNvSpPr/>
          <p:nvPr/>
        </p:nvSpPr>
        <p:spPr>
          <a:xfrm>
            <a:off x="457200" y="475488"/>
            <a:ext cx="82296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Software Architecture</a:t>
            </a:r>
            <a:endParaRPr lang="en-US" sz="3400" dirty="0"/>
          </a:p>
        </p:txBody>
      </p:sp>
      <p:sp>
        <p:nvSpPr>
          <p:cNvPr id="56" name="Shape 2">
            <a:extLst>
              <a:ext uri="{FF2B5EF4-FFF2-40B4-BE49-F238E27FC236}">
                <a16:creationId xmlns:a16="http://schemas.microsoft.com/office/drawing/2014/main" id="{676B14F0-D263-0BA7-854F-20FFC222ABB2}"/>
              </a:ext>
            </a:extLst>
          </p:cNvPr>
          <p:cNvSpPr/>
          <p:nvPr/>
        </p:nvSpPr>
        <p:spPr>
          <a:xfrm>
            <a:off x="457200" y="1097280"/>
            <a:ext cx="2606040" cy="502920"/>
          </a:xfrm>
          <a:prstGeom prst="rect">
            <a:avLst/>
          </a:prstGeom>
          <a:solidFill>
            <a:srgbClr val="00AEEF"/>
          </a:solidFill>
          <a:ln w="12700">
            <a:solidFill>
              <a:srgbClr val="00AEEF"/>
            </a:solidFill>
            <a:prstDash val="solid"/>
          </a:ln>
        </p:spPr>
        <p:txBody>
          <a:bodyPr/>
          <a:lstStyle/>
          <a:p>
            <a:endParaRPr lang="en-US" dirty="0"/>
          </a:p>
        </p:txBody>
      </p:sp>
      <p:sp>
        <p:nvSpPr>
          <p:cNvPr id="58" name="Shape 4">
            <a:extLst>
              <a:ext uri="{FF2B5EF4-FFF2-40B4-BE49-F238E27FC236}">
                <a16:creationId xmlns:a16="http://schemas.microsoft.com/office/drawing/2014/main" id="{EBC3BFA7-7A66-EB99-3554-A9064C3302A6}"/>
              </a:ext>
            </a:extLst>
          </p:cNvPr>
          <p:cNvSpPr/>
          <p:nvPr/>
        </p:nvSpPr>
        <p:spPr>
          <a:xfrm>
            <a:off x="45720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9" name="Text 5">
            <a:extLst>
              <a:ext uri="{FF2B5EF4-FFF2-40B4-BE49-F238E27FC236}">
                <a16:creationId xmlns:a16="http://schemas.microsoft.com/office/drawing/2014/main" id="{B4D11A6C-CBFD-D6B4-7588-08295B98BCAF}"/>
              </a:ext>
            </a:extLst>
          </p:cNvPr>
          <p:cNvSpPr/>
          <p:nvPr/>
        </p:nvSpPr>
        <p:spPr>
          <a:xfrm>
            <a:off x="56692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React</a:t>
            </a:r>
            <a:endParaRPr lang="en-US" sz="1100" dirty="0"/>
          </a:p>
        </p:txBody>
      </p:sp>
      <p:sp>
        <p:nvSpPr>
          <p:cNvPr id="60" name="Text 6">
            <a:extLst>
              <a:ext uri="{FF2B5EF4-FFF2-40B4-BE49-F238E27FC236}">
                <a16:creationId xmlns:a16="http://schemas.microsoft.com/office/drawing/2014/main" id="{83598DC0-ED9D-E0C1-BFA7-5CBF331A01FB}"/>
              </a:ext>
            </a:extLst>
          </p:cNvPr>
          <p:cNvSpPr/>
          <p:nvPr/>
        </p:nvSpPr>
        <p:spPr>
          <a:xfrm>
            <a:off x="56692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SPA – Component Based – SimpleJWT auth</a:t>
            </a:r>
            <a:endParaRPr lang="en-US" sz="800" dirty="0"/>
          </a:p>
        </p:txBody>
      </p:sp>
      <p:sp>
        <p:nvSpPr>
          <p:cNvPr id="61" name="Shape 7">
            <a:extLst>
              <a:ext uri="{FF2B5EF4-FFF2-40B4-BE49-F238E27FC236}">
                <a16:creationId xmlns:a16="http://schemas.microsoft.com/office/drawing/2014/main" id="{B2D9734B-5957-F413-0BB4-460C53BEB4B3}"/>
              </a:ext>
            </a:extLst>
          </p:cNvPr>
          <p:cNvSpPr/>
          <p:nvPr/>
        </p:nvSpPr>
        <p:spPr>
          <a:xfrm>
            <a:off x="3291840" y="1097280"/>
            <a:ext cx="2606040" cy="502920"/>
          </a:xfrm>
          <a:prstGeom prst="rect">
            <a:avLst/>
          </a:prstGeom>
          <a:solidFill>
            <a:srgbClr val="1B2A4A"/>
          </a:solidFill>
          <a:ln w="12700">
            <a:solidFill>
              <a:srgbClr val="1B2A4A"/>
            </a:solidFill>
            <a:prstDash val="solid"/>
          </a:ln>
        </p:spPr>
        <p:txBody>
          <a:bodyPr/>
          <a:lstStyle/>
          <a:p>
            <a:endParaRPr lang="en-US"/>
          </a:p>
        </p:txBody>
      </p:sp>
      <p:sp>
        <p:nvSpPr>
          <p:cNvPr id="63" name="Shape 9">
            <a:extLst>
              <a:ext uri="{FF2B5EF4-FFF2-40B4-BE49-F238E27FC236}">
                <a16:creationId xmlns:a16="http://schemas.microsoft.com/office/drawing/2014/main" id="{7EFB7336-A024-C2C3-7990-8EBA54522DA2}"/>
              </a:ext>
            </a:extLst>
          </p:cNvPr>
          <p:cNvSpPr/>
          <p:nvPr/>
        </p:nvSpPr>
        <p:spPr>
          <a:xfrm>
            <a:off x="329184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4" name="Text 10">
            <a:extLst>
              <a:ext uri="{FF2B5EF4-FFF2-40B4-BE49-F238E27FC236}">
                <a16:creationId xmlns:a16="http://schemas.microsoft.com/office/drawing/2014/main" id="{35D68F9F-F816-370D-5CD8-10DD0513BD7D}"/>
              </a:ext>
            </a:extLst>
          </p:cNvPr>
          <p:cNvSpPr/>
          <p:nvPr/>
        </p:nvSpPr>
        <p:spPr>
          <a:xfrm>
            <a:off x="340156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Django + DRF</a:t>
            </a:r>
            <a:endParaRPr lang="en-US" sz="1100" dirty="0"/>
          </a:p>
        </p:txBody>
      </p:sp>
      <p:sp>
        <p:nvSpPr>
          <p:cNvPr id="65" name="Text 11">
            <a:extLst>
              <a:ext uri="{FF2B5EF4-FFF2-40B4-BE49-F238E27FC236}">
                <a16:creationId xmlns:a16="http://schemas.microsoft.com/office/drawing/2014/main" id="{F7F26A5F-C45C-A579-586A-1FAF380072BC}"/>
              </a:ext>
            </a:extLst>
          </p:cNvPr>
          <p:cNvSpPr/>
          <p:nvPr/>
        </p:nvSpPr>
        <p:spPr>
          <a:xfrm>
            <a:off x="340156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REST API – JWT auth – Business Logic</a:t>
            </a:r>
            <a:endParaRPr lang="en-US" sz="800" dirty="0"/>
          </a:p>
        </p:txBody>
      </p:sp>
      <p:sp>
        <p:nvSpPr>
          <p:cNvPr id="66" name="Shape 12">
            <a:extLst>
              <a:ext uri="{FF2B5EF4-FFF2-40B4-BE49-F238E27FC236}">
                <a16:creationId xmlns:a16="http://schemas.microsoft.com/office/drawing/2014/main" id="{8D96B1B9-9506-3AA8-66FD-91E72E83773B}"/>
              </a:ext>
            </a:extLst>
          </p:cNvPr>
          <p:cNvSpPr/>
          <p:nvPr/>
        </p:nvSpPr>
        <p:spPr>
          <a:xfrm>
            <a:off x="6126480" y="1097280"/>
            <a:ext cx="2606040" cy="502920"/>
          </a:xfrm>
          <a:prstGeom prst="rect">
            <a:avLst/>
          </a:prstGeom>
          <a:solidFill>
            <a:srgbClr val="1D9E75"/>
          </a:solidFill>
          <a:ln w="12700">
            <a:solidFill>
              <a:srgbClr val="1D9E75"/>
            </a:solidFill>
            <a:prstDash val="solid"/>
          </a:ln>
        </p:spPr>
        <p:txBody>
          <a:bodyPr/>
          <a:lstStyle/>
          <a:p>
            <a:endParaRPr lang="en-US"/>
          </a:p>
        </p:txBody>
      </p:sp>
      <p:sp>
        <p:nvSpPr>
          <p:cNvPr id="68" name="Shape 14">
            <a:extLst>
              <a:ext uri="{FF2B5EF4-FFF2-40B4-BE49-F238E27FC236}">
                <a16:creationId xmlns:a16="http://schemas.microsoft.com/office/drawing/2014/main" id="{F6DD4974-74DD-D34A-E0AD-6233A1EF3569}"/>
              </a:ext>
            </a:extLst>
          </p:cNvPr>
          <p:cNvSpPr/>
          <p:nvPr/>
        </p:nvSpPr>
        <p:spPr>
          <a:xfrm>
            <a:off x="612648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9" name="Text 15">
            <a:extLst>
              <a:ext uri="{FF2B5EF4-FFF2-40B4-BE49-F238E27FC236}">
                <a16:creationId xmlns:a16="http://schemas.microsoft.com/office/drawing/2014/main" id="{71EC4547-6D91-B66C-6231-30A49961B632}"/>
              </a:ext>
            </a:extLst>
          </p:cNvPr>
          <p:cNvSpPr/>
          <p:nvPr/>
        </p:nvSpPr>
        <p:spPr>
          <a:xfrm>
            <a:off x="623620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MySQL 8.0</a:t>
            </a:r>
            <a:endParaRPr lang="en-US" sz="1100" dirty="0"/>
          </a:p>
        </p:txBody>
      </p:sp>
      <p:sp>
        <p:nvSpPr>
          <p:cNvPr id="70" name="Text 16">
            <a:extLst>
              <a:ext uri="{FF2B5EF4-FFF2-40B4-BE49-F238E27FC236}">
                <a16:creationId xmlns:a16="http://schemas.microsoft.com/office/drawing/2014/main" id="{441060B9-6EFC-7328-9A6E-8BF0C70E0791}"/>
              </a:ext>
            </a:extLst>
          </p:cNvPr>
          <p:cNvSpPr/>
          <p:nvPr/>
        </p:nvSpPr>
        <p:spPr>
          <a:xfrm>
            <a:off x="623620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Relational Schema – Seed Data – Migrations</a:t>
            </a:r>
            <a:endParaRPr lang="en-US" sz="800" dirty="0"/>
          </a:p>
        </p:txBody>
      </p:sp>
      <p:sp>
        <p:nvSpPr>
          <p:cNvPr id="71" name="Text 17">
            <a:extLst>
              <a:ext uri="{FF2B5EF4-FFF2-40B4-BE49-F238E27FC236}">
                <a16:creationId xmlns:a16="http://schemas.microsoft.com/office/drawing/2014/main" id="{C930D2EA-1438-FFF9-94B7-8764BD7E9D8A}"/>
              </a:ext>
            </a:extLst>
          </p:cNvPr>
          <p:cNvSpPr/>
          <p:nvPr/>
        </p:nvSpPr>
        <p:spPr>
          <a:xfrm>
            <a:off x="457200" y="2395728"/>
            <a:ext cx="2743200" cy="228600"/>
          </a:xfrm>
          <a:prstGeom prst="rect">
            <a:avLst/>
          </a:prstGeom>
          <a:noFill/>
          <a:ln/>
        </p:spPr>
        <p:txBody>
          <a:bodyPr wrap="square" lIns="0" tIns="0" rIns="0" bIns="0" rtlCol="0" anchor="ctr"/>
          <a:lstStyle/>
          <a:p>
            <a:pPr marL="0" indent="0">
              <a:buNone/>
            </a:pPr>
            <a:r>
              <a:rPr lang="en-US" sz="1100" b="1" dirty="0">
                <a:solidFill>
                  <a:srgbClr val="0D1B3E"/>
                </a:solidFill>
              </a:rPr>
              <a:t>Tools &amp; Stack</a:t>
            </a:r>
            <a:endParaRPr lang="en-US" sz="1100" dirty="0"/>
          </a:p>
        </p:txBody>
      </p:sp>
      <p:sp>
        <p:nvSpPr>
          <p:cNvPr id="72" name="Shape 18">
            <a:extLst>
              <a:ext uri="{FF2B5EF4-FFF2-40B4-BE49-F238E27FC236}">
                <a16:creationId xmlns:a16="http://schemas.microsoft.com/office/drawing/2014/main" id="{A2F16956-9D71-9F2F-72BB-534626206FC4}"/>
              </a:ext>
            </a:extLst>
          </p:cNvPr>
          <p:cNvSpPr/>
          <p:nvPr/>
        </p:nvSpPr>
        <p:spPr>
          <a:xfrm>
            <a:off x="457200" y="2651760"/>
            <a:ext cx="1316736" cy="274320"/>
          </a:xfrm>
          <a:prstGeom prst="rect">
            <a:avLst/>
          </a:prstGeom>
          <a:solidFill>
            <a:srgbClr val="0EA5E9"/>
          </a:solidFill>
          <a:ln w="12700">
            <a:solidFill>
              <a:srgbClr val="0EA5E9"/>
            </a:solidFill>
            <a:prstDash val="solid"/>
          </a:ln>
        </p:spPr>
        <p:txBody>
          <a:bodyPr/>
          <a:lstStyle/>
          <a:p>
            <a:endParaRPr lang="en-US"/>
          </a:p>
        </p:txBody>
      </p:sp>
      <p:sp>
        <p:nvSpPr>
          <p:cNvPr id="73" name="Text 19">
            <a:extLst>
              <a:ext uri="{FF2B5EF4-FFF2-40B4-BE49-F238E27FC236}">
                <a16:creationId xmlns:a16="http://schemas.microsoft.com/office/drawing/2014/main" id="{5809C058-CA4E-6880-0C64-9E8B95F9AC7E}"/>
              </a:ext>
            </a:extLst>
          </p:cNvPr>
          <p:cNvSpPr/>
          <p:nvPr/>
        </p:nvSpPr>
        <p:spPr>
          <a:xfrm>
            <a:off x="457200"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React</a:t>
            </a:r>
            <a:endParaRPr lang="en-US" sz="850" dirty="0"/>
          </a:p>
        </p:txBody>
      </p:sp>
      <p:sp>
        <p:nvSpPr>
          <p:cNvPr id="74" name="Shape 20">
            <a:extLst>
              <a:ext uri="{FF2B5EF4-FFF2-40B4-BE49-F238E27FC236}">
                <a16:creationId xmlns:a16="http://schemas.microsoft.com/office/drawing/2014/main" id="{AB515E14-E6BD-894E-9427-7587661A43DC}"/>
              </a:ext>
            </a:extLst>
          </p:cNvPr>
          <p:cNvSpPr/>
          <p:nvPr/>
        </p:nvSpPr>
        <p:spPr>
          <a:xfrm>
            <a:off x="1865376" y="2651760"/>
            <a:ext cx="1316736" cy="274320"/>
          </a:xfrm>
          <a:prstGeom prst="rect">
            <a:avLst/>
          </a:prstGeom>
          <a:solidFill>
            <a:srgbClr val="4F46E5"/>
          </a:solidFill>
          <a:ln w="12700">
            <a:solidFill>
              <a:srgbClr val="4F46E5"/>
            </a:solidFill>
            <a:prstDash val="solid"/>
          </a:ln>
        </p:spPr>
        <p:txBody>
          <a:bodyPr/>
          <a:lstStyle/>
          <a:p>
            <a:endParaRPr lang="en-US"/>
          </a:p>
        </p:txBody>
      </p:sp>
      <p:sp>
        <p:nvSpPr>
          <p:cNvPr id="75" name="Text 21">
            <a:extLst>
              <a:ext uri="{FF2B5EF4-FFF2-40B4-BE49-F238E27FC236}">
                <a16:creationId xmlns:a16="http://schemas.microsoft.com/office/drawing/2014/main" id="{DE64E97A-3B1A-C421-8846-31A10A560D78}"/>
              </a:ext>
            </a:extLst>
          </p:cNvPr>
          <p:cNvSpPr/>
          <p:nvPr/>
        </p:nvSpPr>
        <p:spPr>
          <a:xfrm>
            <a:off x="1865376"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Django + DRF</a:t>
            </a:r>
            <a:endParaRPr lang="en-US" sz="850" dirty="0"/>
          </a:p>
        </p:txBody>
      </p:sp>
      <p:sp>
        <p:nvSpPr>
          <p:cNvPr id="76" name="Shape 22">
            <a:extLst>
              <a:ext uri="{FF2B5EF4-FFF2-40B4-BE49-F238E27FC236}">
                <a16:creationId xmlns:a16="http://schemas.microsoft.com/office/drawing/2014/main" id="{232CA1A5-0633-5BA2-7FFE-C5F1C2A1DC9D}"/>
              </a:ext>
            </a:extLst>
          </p:cNvPr>
          <p:cNvSpPr/>
          <p:nvPr/>
        </p:nvSpPr>
        <p:spPr>
          <a:xfrm>
            <a:off x="3273552" y="2651760"/>
            <a:ext cx="1316736" cy="274320"/>
          </a:xfrm>
          <a:prstGeom prst="rect">
            <a:avLst/>
          </a:prstGeom>
          <a:solidFill>
            <a:srgbClr val="F59E0B"/>
          </a:solidFill>
          <a:ln w="12700">
            <a:solidFill>
              <a:srgbClr val="F59E0B"/>
            </a:solidFill>
            <a:prstDash val="solid"/>
          </a:ln>
        </p:spPr>
        <p:txBody>
          <a:bodyPr/>
          <a:lstStyle/>
          <a:p>
            <a:endParaRPr lang="en-US"/>
          </a:p>
        </p:txBody>
      </p:sp>
      <p:sp>
        <p:nvSpPr>
          <p:cNvPr id="77" name="Text 23">
            <a:extLst>
              <a:ext uri="{FF2B5EF4-FFF2-40B4-BE49-F238E27FC236}">
                <a16:creationId xmlns:a16="http://schemas.microsoft.com/office/drawing/2014/main" id="{9AA33D6C-B668-2A76-4517-0A27156C2070}"/>
              </a:ext>
            </a:extLst>
          </p:cNvPr>
          <p:cNvSpPr/>
          <p:nvPr/>
        </p:nvSpPr>
        <p:spPr>
          <a:xfrm>
            <a:off x="3273552"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MySQL 8.0</a:t>
            </a:r>
            <a:endParaRPr lang="en-US" sz="850" dirty="0"/>
          </a:p>
        </p:txBody>
      </p:sp>
      <p:sp>
        <p:nvSpPr>
          <p:cNvPr id="78" name="Shape 24">
            <a:extLst>
              <a:ext uri="{FF2B5EF4-FFF2-40B4-BE49-F238E27FC236}">
                <a16:creationId xmlns:a16="http://schemas.microsoft.com/office/drawing/2014/main" id="{FE726050-0B2D-8B00-DAA5-753D9739BCF7}"/>
              </a:ext>
            </a:extLst>
          </p:cNvPr>
          <p:cNvSpPr/>
          <p:nvPr/>
        </p:nvSpPr>
        <p:spPr>
          <a:xfrm>
            <a:off x="4681728" y="2651760"/>
            <a:ext cx="1316736" cy="274320"/>
          </a:xfrm>
          <a:prstGeom prst="rect">
            <a:avLst/>
          </a:prstGeom>
          <a:solidFill>
            <a:srgbClr val="10B981"/>
          </a:solidFill>
          <a:ln w="12700">
            <a:solidFill>
              <a:srgbClr val="10B981"/>
            </a:solidFill>
            <a:prstDash val="solid"/>
          </a:ln>
        </p:spPr>
        <p:txBody>
          <a:bodyPr/>
          <a:lstStyle/>
          <a:p>
            <a:endParaRPr lang="en-US"/>
          </a:p>
        </p:txBody>
      </p:sp>
      <p:sp>
        <p:nvSpPr>
          <p:cNvPr id="79" name="Text 25">
            <a:extLst>
              <a:ext uri="{FF2B5EF4-FFF2-40B4-BE49-F238E27FC236}">
                <a16:creationId xmlns:a16="http://schemas.microsoft.com/office/drawing/2014/main" id="{B37CC9EC-31A3-57C9-7CF6-4BE4D268AA31}"/>
              </a:ext>
            </a:extLst>
          </p:cNvPr>
          <p:cNvSpPr/>
          <p:nvPr/>
        </p:nvSpPr>
        <p:spPr>
          <a:xfrm>
            <a:off x="4681728"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SimpleJWT</a:t>
            </a:r>
            <a:endParaRPr lang="en-US" sz="850" dirty="0"/>
          </a:p>
        </p:txBody>
      </p:sp>
      <p:sp>
        <p:nvSpPr>
          <p:cNvPr id="80" name="Shape 26">
            <a:extLst>
              <a:ext uri="{FF2B5EF4-FFF2-40B4-BE49-F238E27FC236}">
                <a16:creationId xmlns:a16="http://schemas.microsoft.com/office/drawing/2014/main" id="{6D7A9168-37FC-EA77-327D-BE88EC86FCAA}"/>
              </a:ext>
            </a:extLst>
          </p:cNvPr>
          <p:cNvSpPr/>
          <p:nvPr/>
        </p:nvSpPr>
        <p:spPr>
          <a:xfrm>
            <a:off x="6089904" y="2651760"/>
            <a:ext cx="1316736" cy="274320"/>
          </a:xfrm>
          <a:prstGeom prst="rect">
            <a:avLst/>
          </a:prstGeom>
          <a:solidFill>
            <a:srgbClr val="EF4444"/>
          </a:solidFill>
          <a:ln w="12700">
            <a:solidFill>
              <a:srgbClr val="EF4444"/>
            </a:solidFill>
            <a:prstDash val="solid"/>
          </a:ln>
        </p:spPr>
        <p:txBody>
          <a:bodyPr/>
          <a:lstStyle/>
          <a:p>
            <a:endParaRPr lang="en-US"/>
          </a:p>
        </p:txBody>
      </p:sp>
      <p:sp>
        <p:nvSpPr>
          <p:cNvPr id="81" name="Text 27">
            <a:extLst>
              <a:ext uri="{FF2B5EF4-FFF2-40B4-BE49-F238E27FC236}">
                <a16:creationId xmlns:a16="http://schemas.microsoft.com/office/drawing/2014/main" id="{A3E45DE9-E8C8-829F-7A0B-BDBC1E949230}"/>
              </a:ext>
            </a:extLst>
          </p:cNvPr>
          <p:cNvSpPr/>
          <p:nvPr/>
        </p:nvSpPr>
        <p:spPr>
          <a:xfrm>
            <a:off x="6089904"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Robot Framework</a:t>
            </a:r>
            <a:endParaRPr lang="en-US" sz="850" dirty="0"/>
          </a:p>
        </p:txBody>
      </p:sp>
      <p:sp>
        <p:nvSpPr>
          <p:cNvPr id="82" name="Shape 28">
            <a:extLst>
              <a:ext uri="{FF2B5EF4-FFF2-40B4-BE49-F238E27FC236}">
                <a16:creationId xmlns:a16="http://schemas.microsoft.com/office/drawing/2014/main" id="{1321C424-7357-A9D2-CA22-789D59CCA104}"/>
              </a:ext>
            </a:extLst>
          </p:cNvPr>
          <p:cNvSpPr/>
          <p:nvPr/>
        </p:nvSpPr>
        <p:spPr>
          <a:xfrm>
            <a:off x="7498080" y="2651760"/>
            <a:ext cx="1316736" cy="274320"/>
          </a:xfrm>
          <a:prstGeom prst="rect">
            <a:avLst/>
          </a:prstGeom>
          <a:solidFill>
            <a:srgbClr val="1E293B"/>
          </a:solidFill>
          <a:ln w="12700">
            <a:solidFill>
              <a:srgbClr val="1E293B"/>
            </a:solidFill>
            <a:prstDash val="solid"/>
          </a:ln>
        </p:spPr>
        <p:txBody>
          <a:bodyPr/>
          <a:lstStyle/>
          <a:p>
            <a:endParaRPr lang="en-US"/>
          </a:p>
        </p:txBody>
      </p:sp>
      <p:sp>
        <p:nvSpPr>
          <p:cNvPr id="83" name="Text 29">
            <a:extLst>
              <a:ext uri="{FF2B5EF4-FFF2-40B4-BE49-F238E27FC236}">
                <a16:creationId xmlns:a16="http://schemas.microsoft.com/office/drawing/2014/main" id="{903AA382-269C-750A-186D-FB57A216325F}"/>
              </a:ext>
            </a:extLst>
          </p:cNvPr>
          <p:cNvSpPr/>
          <p:nvPr/>
        </p:nvSpPr>
        <p:spPr>
          <a:xfrm>
            <a:off x="7498080"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GitHub Actions</a:t>
            </a:r>
            <a:endParaRPr lang="en-US" sz="850" dirty="0"/>
          </a:p>
        </p:txBody>
      </p:sp>
      <p:sp>
        <p:nvSpPr>
          <p:cNvPr id="84" name="Shape 30">
            <a:extLst>
              <a:ext uri="{FF2B5EF4-FFF2-40B4-BE49-F238E27FC236}">
                <a16:creationId xmlns:a16="http://schemas.microsoft.com/office/drawing/2014/main" id="{F0AD0DFC-0761-9914-A2F1-85A08A290C2D}"/>
              </a:ext>
            </a:extLst>
          </p:cNvPr>
          <p:cNvSpPr/>
          <p:nvPr/>
        </p:nvSpPr>
        <p:spPr>
          <a:xfrm>
            <a:off x="457200" y="3044952"/>
            <a:ext cx="8229600" cy="1810512"/>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85" name="Text 31">
            <a:extLst>
              <a:ext uri="{FF2B5EF4-FFF2-40B4-BE49-F238E27FC236}">
                <a16:creationId xmlns:a16="http://schemas.microsoft.com/office/drawing/2014/main" id="{BA8F7C36-9577-AF90-1C6E-97E95FD719E9}"/>
              </a:ext>
            </a:extLst>
          </p:cNvPr>
          <p:cNvSpPr/>
          <p:nvPr/>
        </p:nvSpPr>
        <p:spPr>
          <a:xfrm>
            <a:off x="566928" y="3127248"/>
            <a:ext cx="914400" cy="201168"/>
          </a:xfrm>
          <a:prstGeom prst="rect">
            <a:avLst/>
          </a:prstGeom>
          <a:noFill/>
          <a:ln/>
        </p:spPr>
        <p:txBody>
          <a:bodyPr wrap="square" lIns="0" tIns="0" rIns="0" bIns="0" rtlCol="0" anchor="ctr"/>
          <a:lstStyle/>
          <a:p>
            <a:pPr marL="0" indent="0">
              <a:buNone/>
            </a:pPr>
            <a:r>
              <a:rPr lang="en-US" sz="1100" b="1" dirty="0">
                <a:solidFill>
                  <a:srgbClr val="0D1B3E"/>
                </a:solidFill>
              </a:rPr>
              <a:t>APIs</a:t>
            </a:r>
            <a:endParaRPr lang="en-US" sz="1100" dirty="0"/>
          </a:p>
        </p:txBody>
      </p:sp>
      <p:sp>
        <p:nvSpPr>
          <p:cNvPr id="86" name="Text 32">
            <a:extLst>
              <a:ext uri="{FF2B5EF4-FFF2-40B4-BE49-F238E27FC236}">
                <a16:creationId xmlns:a16="http://schemas.microsoft.com/office/drawing/2014/main" id="{19457A24-0BD9-A653-DD2B-3DBAA8B5EABC}"/>
              </a:ext>
            </a:extLst>
          </p:cNvPr>
          <p:cNvSpPr/>
          <p:nvPr/>
        </p:nvSpPr>
        <p:spPr>
          <a:xfrm>
            <a:off x="566928" y="3319272"/>
            <a:ext cx="7863840" cy="164592"/>
          </a:xfrm>
          <a:prstGeom prst="rect">
            <a:avLst/>
          </a:prstGeom>
          <a:noFill/>
          <a:ln/>
        </p:spPr>
        <p:txBody>
          <a:bodyPr wrap="square" lIns="0" tIns="0" rIns="0" bIns="0" rtlCol="0" anchor="ctr"/>
          <a:lstStyle/>
          <a:p>
            <a:pPr marL="0" indent="0">
              <a:buNone/>
            </a:pPr>
            <a:r>
              <a:rPr lang="en-US" sz="750" dirty="0">
                <a:solidFill>
                  <a:srgbClr val="475569"/>
                </a:solidFill>
              </a:rPr>
              <a:t>REST  ·  versioned at /api/v1/  ·  JWT-authenticated  ·  role-enforced (Customer / Business / Guest)</a:t>
            </a:r>
            <a:endParaRPr lang="en-US" sz="750" dirty="0"/>
          </a:p>
        </p:txBody>
      </p:sp>
      <p:sp>
        <p:nvSpPr>
          <p:cNvPr id="87" name="Shape 33">
            <a:extLst>
              <a:ext uri="{FF2B5EF4-FFF2-40B4-BE49-F238E27FC236}">
                <a16:creationId xmlns:a16="http://schemas.microsoft.com/office/drawing/2014/main" id="{94A3EAB6-F583-6B6C-C67E-292FB36551E2}"/>
              </a:ext>
            </a:extLst>
          </p:cNvPr>
          <p:cNvSpPr/>
          <p:nvPr/>
        </p:nvSpPr>
        <p:spPr>
          <a:xfrm>
            <a:off x="566928" y="3493008"/>
            <a:ext cx="7644384" cy="9144"/>
          </a:xfrm>
          <a:prstGeom prst="rect">
            <a:avLst/>
          </a:prstGeom>
          <a:solidFill>
            <a:srgbClr val="D8DCE5"/>
          </a:solidFill>
          <a:ln w="12700">
            <a:solidFill>
              <a:srgbClr val="D8DCE5"/>
            </a:solidFill>
            <a:prstDash val="solid"/>
          </a:ln>
        </p:spPr>
        <p:txBody>
          <a:bodyPr/>
          <a:lstStyle/>
          <a:p>
            <a:endParaRPr lang="en-US"/>
          </a:p>
        </p:txBody>
      </p:sp>
      <p:sp>
        <p:nvSpPr>
          <p:cNvPr id="88" name="Shape 34">
            <a:extLst>
              <a:ext uri="{FF2B5EF4-FFF2-40B4-BE49-F238E27FC236}">
                <a16:creationId xmlns:a16="http://schemas.microsoft.com/office/drawing/2014/main" id="{0A1B6897-7E10-F9EA-0335-858DD3322E26}"/>
              </a:ext>
            </a:extLst>
          </p:cNvPr>
          <p:cNvSpPr/>
          <p:nvPr/>
        </p:nvSpPr>
        <p:spPr>
          <a:xfrm>
            <a:off x="594360" y="3566160"/>
            <a:ext cx="384048" cy="155448"/>
          </a:xfrm>
          <a:prstGeom prst="rect">
            <a:avLst/>
          </a:prstGeom>
          <a:solidFill>
            <a:srgbClr val="DCFCE7"/>
          </a:solidFill>
          <a:ln w="12700">
            <a:solidFill>
              <a:srgbClr val="DCFCE7"/>
            </a:solidFill>
            <a:prstDash val="solid"/>
          </a:ln>
        </p:spPr>
        <p:txBody>
          <a:bodyPr/>
          <a:lstStyle/>
          <a:p>
            <a:endParaRPr lang="en-US"/>
          </a:p>
        </p:txBody>
      </p:sp>
      <p:sp>
        <p:nvSpPr>
          <p:cNvPr id="89" name="Text 35">
            <a:extLst>
              <a:ext uri="{FF2B5EF4-FFF2-40B4-BE49-F238E27FC236}">
                <a16:creationId xmlns:a16="http://schemas.microsoft.com/office/drawing/2014/main" id="{04AC7289-1E1F-64DB-AAFA-0DC6A3097DB8}"/>
              </a:ext>
            </a:extLst>
          </p:cNvPr>
          <p:cNvSpPr/>
          <p:nvPr/>
        </p:nvSpPr>
        <p:spPr>
          <a:xfrm>
            <a:off x="594360" y="35661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90" name="Text 36">
            <a:extLst>
              <a:ext uri="{FF2B5EF4-FFF2-40B4-BE49-F238E27FC236}">
                <a16:creationId xmlns:a16="http://schemas.microsoft.com/office/drawing/2014/main" id="{B609767F-9EF2-6E18-50C8-78A460291F32}"/>
              </a:ext>
            </a:extLst>
          </p:cNvPr>
          <p:cNvSpPr/>
          <p:nvPr/>
        </p:nvSpPr>
        <p:spPr>
          <a:xfrm>
            <a:off x="2377440" y="35570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/api/v1/auth/login/</a:t>
            </a:r>
            <a:endParaRPr lang="en-US" sz="800" dirty="0"/>
          </a:p>
        </p:txBody>
      </p:sp>
      <p:sp>
        <p:nvSpPr>
          <p:cNvPr id="91" name="Text 37">
            <a:extLst>
              <a:ext uri="{FF2B5EF4-FFF2-40B4-BE49-F238E27FC236}">
                <a16:creationId xmlns:a16="http://schemas.microsoft.com/office/drawing/2014/main" id="{3163E7E2-025C-33CE-5F81-D1CCB79C01B9}"/>
              </a:ext>
            </a:extLst>
          </p:cNvPr>
          <p:cNvSpPr/>
          <p:nvPr/>
        </p:nvSpPr>
        <p:spPr>
          <a:xfrm>
            <a:off x="5486400" y="3557016"/>
            <a:ext cx="2103120" cy="164592"/>
          </a:xfrm>
          <a:prstGeom prst="rect">
            <a:avLst/>
          </a:prstGeom>
          <a:noFill/>
          <a:ln/>
        </p:spPr>
        <p:txBody>
          <a:bodyPr wrap="square" lIns="0" tIns="0" rIns="0" bIns="0" rtlCol="0" anchor="ctr"/>
          <a:lstStyle/>
          <a:p>
            <a:pPr marL="0" indent="0">
              <a:buNone/>
            </a:pPr>
            <a:r>
              <a:rPr lang="en-US" sz="750" dirty="0">
                <a:solidFill>
                  <a:srgbClr val="475569"/>
                </a:solidFill>
              </a:rPr>
              <a:t>Issues JWT access + refresh tokens</a:t>
            </a:r>
            <a:endParaRPr lang="en-US" sz="750" dirty="0"/>
          </a:p>
        </p:txBody>
      </p:sp>
      <p:sp>
        <p:nvSpPr>
          <p:cNvPr id="92" name="Shape 38">
            <a:extLst>
              <a:ext uri="{FF2B5EF4-FFF2-40B4-BE49-F238E27FC236}">
                <a16:creationId xmlns:a16="http://schemas.microsoft.com/office/drawing/2014/main" id="{8F6E5A85-6DF8-E9CF-CEA9-C97B4201CAAD}"/>
              </a:ext>
            </a:extLst>
          </p:cNvPr>
          <p:cNvSpPr/>
          <p:nvPr/>
        </p:nvSpPr>
        <p:spPr>
          <a:xfrm>
            <a:off x="7616952" y="3566160"/>
            <a:ext cx="566928" cy="146304"/>
          </a:xfrm>
          <a:prstGeom prst="rect">
            <a:avLst/>
          </a:prstGeom>
          <a:solidFill>
            <a:srgbClr val="EDE9FE"/>
          </a:solidFill>
          <a:ln w="12700">
            <a:solidFill>
              <a:srgbClr val="EDE9FE"/>
            </a:solidFill>
            <a:prstDash val="solid"/>
          </a:ln>
        </p:spPr>
        <p:txBody>
          <a:bodyPr/>
          <a:lstStyle/>
          <a:p>
            <a:endParaRPr lang="en-US"/>
          </a:p>
        </p:txBody>
      </p:sp>
      <p:sp>
        <p:nvSpPr>
          <p:cNvPr id="93" name="Text 39">
            <a:extLst>
              <a:ext uri="{FF2B5EF4-FFF2-40B4-BE49-F238E27FC236}">
                <a16:creationId xmlns:a16="http://schemas.microsoft.com/office/drawing/2014/main" id="{FDC525ED-3C98-CF09-8CF1-FFF9FADB4C5F}"/>
              </a:ext>
            </a:extLst>
          </p:cNvPr>
          <p:cNvSpPr/>
          <p:nvPr/>
        </p:nvSpPr>
        <p:spPr>
          <a:xfrm>
            <a:off x="7616952" y="3566160"/>
            <a:ext cx="566928" cy="146304"/>
          </a:xfrm>
          <a:prstGeom prst="rect">
            <a:avLst/>
          </a:prstGeom>
          <a:noFill/>
          <a:ln/>
        </p:spPr>
        <p:txBody>
          <a:bodyPr wrap="square" lIns="0" tIns="0" rIns="0" bIns="0" rtlCol="0" anchor="ctr"/>
          <a:lstStyle/>
          <a:p>
            <a:pPr marL="0" indent="0" algn="ctr">
              <a:buNone/>
            </a:pPr>
            <a:r>
              <a:rPr lang="en-US" sz="650" b="1" dirty="0">
                <a:solidFill>
                  <a:srgbClr val="5B21B6"/>
                </a:solidFill>
              </a:rPr>
              <a:t>JWT</a:t>
            </a:r>
            <a:endParaRPr lang="en-US" sz="650" dirty="0"/>
          </a:p>
        </p:txBody>
      </p:sp>
      <p:sp>
        <p:nvSpPr>
          <p:cNvPr id="94" name="Shape 40">
            <a:extLst>
              <a:ext uri="{FF2B5EF4-FFF2-40B4-BE49-F238E27FC236}">
                <a16:creationId xmlns:a16="http://schemas.microsoft.com/office/drawing/2014/main" id="{ECDEEEB3-CD4F-5442-1EC6-7495E12F5701}"/>
              </a:ext>
            </a:extLst>
          </p:cNvPr>
          <p:cNvSpPr/>
          <p:nvPr/>
        </p:nvSpPr>
        <p:spPr>
          <a:xfrm>
            <a:off x="566928" y="3758184"/>
            <a:ext cx="7644384" cy="4572"/>
          </a:xfrm>
          <a:prstGeom prst="rect">
            <a:avLst/>
          </a:prstGeom>
          <a:solidFill>
            <a:srgbClr val="D8DCE5"/>
          </a:solidFill>
          <a:ln w="12700">
            <a:solidFill>
              <a:srgbClr val="D8DCE5"/>
            </a:solidFill>
            <a:prstDash val="solid"/>
          </a:ln>
        </p:spPr>
        <p:txBody>
          <a:bodyPr/>
          <a:lstStyle/>
          <a:p>
            <a:endParaRPr lang="en-US"/>
          </a:p>
        </p:txBody>
      </p:sp>
      <p:sp>
        <p:nvSpPr>
          <p:cNvPr id="95" name="Shape 41">
            <a:extLst>
              <a:ext uri="{FF2B5EF4-FFF2-40B4-BE49-F238E27FC236}">
                <a16:creationId xmlns:a16="http://schemas.microsoft.com/office/drawing/2014/main" id="{22A799A9-D15F-6154-4638-E3A4A4281F03}"/>
              </a:ext>
            </a:extLst>
          </p:cNvPr>
          <p:cNvSpPr/>
          <p:nvPr/>
        </p:nvSpPr>
        <p:spPr>
          <a:xfrm>
            <a:off x="594360" y="3794760"/>
            <a:ext cx="384048" cy="155448"/>
          </a:xfrm>
          <a:prstGeom prst="rect">
            <a:avLst/>
          </a:prstGeom>
          <a:solidFill>
            <a:srgbClr val="DBEAFE"/>
          </a:solidFill>
          <a:ln w="12700">
            <a:solidFill>
              <a:srgbClr val="DBEAFE"/>
            </a:solidFill>
            <a:prstDash val="solid"/>
          </a:ln>
        </p:spPr>
        <p:txBody>
          <a:bodyPr/>
          <a:lstStyle/>
          <a:p>
            <a:endParaRPr lang="en-US"/>
          </a:p>
        </p:txBody>
      </p:sp>
      <p:sp>
        <p:nvSpPr>
          <p:cNvPr id="96" name="Text 42">
            <a:extLst>
              <a:ext uri="{FF2B5EF4-FFF2-40B4-BE49-F238E27FC236}">
                <a16:creationId xmlns:a16="http://schemas.microsoft.com/office/drawing/2014/main" id="{66E6E10B-2BBD-9283-61C9-D4158D7270EF}"/>
              </a:ext>
            </a:extLst>
          </p:cNvPr>
          <p:cNvSpPr/>
          <p:nvPr/>
        </p:nvSpPr>
        <p:spPr>
          <a:xfrm>
            <a:off x="594360" y="37947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97" name="Shape 43">
            <a:extLst>
              <a:ext uri="{FF2B5EF4-FFF2-40B4-BE49-F238E27FC236}">
                <a16:creationId xmlns:a16="http://schemas.microsoft.com/office/drawing/2014/main" id="{09CBDFFA-6A6D-9BAA-3F0F-22C32C36EC03}"/>
              </a:ext>
            </a:extLst>
          </p:cNvPr>
          <p:cNvSpPr/>
          <p:nvPr/>
        </p:nvSpPr>
        <p:spPr>
          <a:xfrm>
            <a:off x="1014984" y="3794760"/>
            <a:ext cx="384048" cy="155448"/>
          </a:xfrm>
          <a:prstGeom prst="rect">
            <a:avLst/>
          </a:prstGeom>
          <a:solidFill>
            <a:srgbClr val="DCFCE7"/>
          </a:solidFill>
          <a:ln w="12700">
            <a:solidFill>
              <a:srgbClr val="DCFCE7"/>
            </a:solidFill>
            <a:prstDash val="solid"/>
          </a:ln>
        </p:spPr>
        <p:txBody>
          <a:bodyPr/>
          <a:lstStyle/>
          <a:p>
            <a:endParaRPr lang="en-US"/>
          </a:p>
        </p:txBody>
      </p:sp>
      <p:sp>
        <p:nvSpPr>
          <p:cNvPr id="98" name="Text 44">
            <a:extLst>
              <a:ext uri="{FF2B5EF4-FFF2-40B4-BE49-F238E27FC236}">
                <a16:creationId xmlns:a16="http://schemas.microsoft.com/office/drawing/2014/main" id="{F9151A57-E1AF-98AF-0931-D263620294D5}"/>
              </a:ext>
            </a:extLst>
          </p:cNvPr>
          <p:cNvSpPr/>
          <p:nvPr/>
        </p:nvSpPr>
        <p:spPr>
          <a:xfrm>
            <a:off x="1014984" y="37947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99" name="Shape 45">
            <a:extLst>
              <a:ext uri="{FF2B5EF4-FFF2-40B4-BE49-F238E27FC236}">
                <a16:creationId xmlns:a16="http://schemas.microsoft.com/office/drawing/2014/main" id="{49E3D096-EB13-6C08-86BC-3A7AF54BA255}"/>
              </a:ext>
            </a:extLst>
          </p:cNvPr>
          <p:cNvSpPr/>
          <p:nvPr/>
        </p:nvSpPr>
        <p:spPr>
          <a:xfrm>
            <a:off x="1435608" y="3794760"/>
            <a:ext cx="384048" cy="155448"/>
          </a:xfrm>
          <a:prstGeom prst="rect">
            <a:avLst/>
          </a:prstGeom>
          <a:solidFill>
            <a:srgbClr val="FEF9C3"/>
          </a:solidFill>
          <a:ln w="12700">
            <a:solidFill>
              <a:srgbClr val="FEF9C3"/>
            </a:solidFill>
            <a:prstDash val="solid"/>
          </a:ln>
        </p:spPr>
        <p:txBody>
          <a:bodyPr/>
          <a:lstStyle/>
          <a:p>
            <a:endParaRPr lang="en-US"/>
          </a:p>
        </p:txBody>
      </p:sp>
      <p:sp>
        <p:nvSpPr>
          <p:cNvPr id="100" name="Text 46">
            <a:extLst>
              <a:ext uri="{FF2B5EF4-FFF2-40B4-BE49-F238E27FC236}">
                <a16:creationId xmlns:a16="http://schemas.microsoft.com/office/drawing/2014/main" id="{01FE61E5-280C-FBE2-4A05-2A825D9527A5}"/>
              </a:ext>
            </a:extLst>
          </p:cNvPr>
          <p:cNvSpPr/>
          <p:nvPr/>
        </p:nvSpPr>
        <p:spPr>
          <a:xfrm>
            <a:off x="1435608" y="37947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01" name="Shape 47">
            <a:extLst>
              <a:ext uri="{FF2B5EF4-FFF2-40B4-BE49-F238E27FC236}">
                <a16:creationId xmlns:a16="http://schemas.microsoft.com/office/drawing/2014/main" id="{B5EDC3E9-9224-68C9-95B6-9AEDC291C570}"/>
              </a:ext>
            </a:extLst>
          </p:cNvPr>
          <p:cNvSpPr/>
          <p:nvPr/>
        </p:nvSpPr>
        <p:spPr>
          <a:xfrm>
            <a:off x="1856232" y="3794760"/>
            <a:ext cx="384048" cy="155448"/>
          </a:xfrm>
          <a:prstGeom prst="rect">
            <a:avLst/>
          </a:prstGeom>
          <a:solidFill>
            <a:srgbClr val="FEE2E2"/>
          </a:solidFill>
          <a:ln w="12700">
            <a:solidFill>
              <a:srgbClr val="FEE2E2"/>
            </a:solidFill>
            <a:prstDash val="solid"/>
          </a:ln>
        </p:spPr>
        <p:txBody>
          <a:bodyPr/>
          <a:lstStyle/>
          <a:p>
            <a:endParaRPr lang="en-US"/>
          </a:p>
        </p:txBody>
      </p:sp>
      <p:sp>
        <p:nvSpPr>
          <p:cNvPr id="102" name="Text 48">
            <a:extLst>
              <a:ext uri="{FF2B5EF4-FFF2-40B4-BE49-F238E27FC236}">
                <a16:creationId xmlns:a16="http://schemas.microsoft.com/office/drawing/2014/main" id="{9702F993-6D87-3782-D4D9-F7D89CB7074A}"/>
              </a:ext>
            </a:extLst>
          </p:cNvPr>
          <p:cNvSpPr/>
          <p:nvPr/>
        </p:nvSpPr>
        <p:spPr>
          <a:xfrm>
            <a:off x="1856232" y="3794760"/>
            <a:ext cx="384048" cy="155448"/>
          </a:xfrm>
          <a:prstGeom prst="rect">
            <a:avLst/>
          </a:prstGeom>
          <a:noFill/>
          <a:ln/>
        </p:spPr>
        <p:txBody>
          <a:bodyPr wrap="square" lIns="0" tIns="0" rIns="0" bIns="0" rtlCol="0" anchor="ctr"/>
          <a:lstStyle/>
          <a:p>
            <a:pPr marL="0" indent="0" algn="ctr">
              <a:buNone/>
            </a:pPr>
            <a:r>
              <a:rPr lang="en-US" sz="600" b="1" dirty="0">
                <a:solidFill>
                  <a:srgbClr val="991B1B"/>
                </a:solidFill>
              </a:rPr>
              <a:t>DELETE</a:t>
            </a:r>
            <a:endParaRPr lang="en-US" sz="600" dirty="0"/>
          </a:p>
        </p:txBody>
      </p:sp>
      <p:sp>
        <p:nvSpPr>
          <p:cNvPr id="103" name="Text 49">
            <a:extLst>
              <a:ext uri="{FF2B5EF4-FFF2-40B4-BE49-F238E27FC236}">
                <a16:creationId xmlns:a16="http://schemas.microsoft.com/office/drawing/2014/main" id="{1A0E1397-DD3D-7F2A-71B7-004B91A2AD50}"/>
              </a:ext>
            </a:extLst>
          </p:cNvPr>
          <p:cNvSpPr/>
          <p:nvPr/>
        </p:nvSpPr>
        <p:spPr>
          <a:xfrm>
            <a:off x="2377440" y="37856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/api/v1/products</a:t>
            </a:r>
            <a:endParaRPr lang="en-US" sz="800" dirty="0"/>
          </a:p>
        </p:txBody>
      </p:sp>
      <p:sp>
        <p:nvSpPr>
          <p:cNvPr id="104" name="Text 50">
            <a:extLst>
              <a:ext uri="{FF2B5EF4-FFF2-40B4-BE49-F238E27FC236}">
                <a16:creationId xmlns:a16="http://schemas.microsoft.com/office/drawing/2014/main" id="{F7330509-530D-37DA-B38D-0BED5212275E}"/>
              </a:ext>
            </a:extLst>
          </p:cNvPr>
          <p:cNvSpPr/>
          <p:nvPr/>
        </p:nvSpPr>
        <p:spPr>
          <a:xfrm>
            <a:off x="5486400" y="3785616"/>
            <a:ext cx="2103120" cy="164592"/>
          </a:xfrm>
          <a:prstGeom prst="rect">
            <a:avLst/>
          </a:prstGeom>
          <a:noFill/>
          <a:ln/>
        </p:spPr>
        <p:txBody>
          <a:bodyPr wrap="square" lIns="0" tIns="0" rIns="0" bIns="0" rtlCol="0" anchor="ctr"/>
          <a:lstStyle/>
          <a:p>
            <a:pPr marL="0" indent="0">
              <a:buNone/>
            </a:pPr>
            <a:r>
              <a:rPr lang="en-US" sz="750" dirty="0">
                <a:solidFill>
                  <a:srgbClr val="475569"/>
                </a:solidFill>
              </a:rPr>
              <a:t>Product catalog CRUD</a:t>
            </a:r>
            <a:endParaRPr lang="en-US" sz="750" dirty="0"/>
          </a:p>
        </p:txBody>
      </p:sp>
      <p:sp>
        <p:nvSpPr>
          <p:cNvPr id="105" name="Shape 51">
            <a:extLst>
              <a:ext uri="{FF2B5EF4-FFF2-40B4-BE49-F238E27FC236}">
                <a16:creationId xmlns:a16="http://schemas.microsoft.com/office/drawing/2014/main" id="{55102050-6551-B591-E6FE-F9A79E59B1FA}"/>
              </a:ext>
            </a:extLst>
          </p:cNvPr>
          <p:cNvSpPr/>
          <p:nvPr/>
        </p:nvSpPr>
        <p:spPr>
          <a:xfrm>
            <a:off x="7616952" y="3794760"/>
            <a:ext cx="566928" cy="146304"/>
          </a:xfrm>
          <a:prstGeom prst="rect">
            <a:avLst/>
          </a:prstGeom>
          <a:solidFill>
            <a:srgbClr val="FCE7F3"/>
          </a:solidFill>
          <a:ln w="12700">
            <a:solidFill>
              <a:srgbClr val="FCE7F3"/>
            </a:solidFill>
            <a:prstDash val="solid"/>
          </a:ln>
        </p:spPr>
        <p:txBody>
          <a:bodyPr/>
          <a:lstStyle/>
          <a:p>
            <a:endParaRPr lang="en-US"/>
          </a:p>
        </p:txBody>
      </p:sp>
      <p:sp>
        <p:nvSpPr>
          <p:cNvPr id="106" name="Text 52">
            <a:extLst>
              <a:ext uri="{FF2B5EF4-FFF2-40B4-BE49-F238E27FC236}">
                <a16:creationId xmlns:a16="http://schemas.microsoft.com/office/drawing/2014/main" id="{53ED20F4-45FA-D7C0-18B4-CF34067C40F2}"/>
              </a:ext>
            </a:extLst>
          </p:cNvPr>
          <p:cNvSpPr/>
          <p:nvPr/>
        </p:nvSpPr>
        <p:spPr>
          <a:xfrm>
            <a:off x="7616952" y="37947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07" name="Shape 53">
            <a:extLst>
              <a:ext uri="{FF2B5EF4-FFF2-40B4-BE49-F238E27FC236}">
                <a16:creationId xmlns:a16="http://schemas.microsoft.com/office/drawing/2014/main" id="{22BEFB21-BDB9-D420-B134-07A41A0B5C56}"/>
              </a:ext>
            </a:extLst>
          </p:cNvPr>
          <p:cNvSpPr/>
          <p:nvPr/>
        </p:nvSpPr>
        <p:spPr>
          <a:xfrm>
            <a:off x="566928" y="3986784"/>
            <a:ext cx="7644384" cy="4572"/>
          </a:xfrm>
          <a:prstGeom prst="rect">
            <a:avLst/>
          </a:prstGeom>
          <a:solidFill>
            <a:srgbClr val="D8DCE5"/>
          </a:solidFill>
          <a:ln w="12700">
            <a:solidFill>
              <a:srgbClr val="D8DCE5"/>
            </a:solidFill>
            <a:prstDash val="solid"/>
          </a:ln>
        </p:spPr>
        <p:txBody>
          <a:bodyPr/>
          <a:lstStyle/>
          <a:p>
            <a:endParaRPr lang="en-US"/>
          </a:p>
        </p:txBody>
      </p:sp>
      <p:sp>
        <p:nvSpPr>
          <p:cNvPr id="108" name="Shape 54">
            <a:extLst>
              <a:ext uri="{FF2B5EF4-FFF2-40B4-BE49-F238E27FC236}">
                <a16:creationId xmlns:a16="http://schemas.microsoft.com/office/drawing/2014/main" id="{2AD27C57-55CF-4D4A-5F60-1A4C14161599}"/>
              </a:ext>
            </a:extLst>
          </p:cNvPr>
          <p:cNvSpPr/>
          <p:nvPr/>
        </p:nvSpPr>
        <p:spPr>
          <a:xfrm>
            <a:off x="594360" y="4023360"/>
            <a:ext cx="384048" cy="155448"/>
          </a:xfrm>
          <a:prstGeom prst="rect">
            <a:avLst/>
          </a:prstGeom>
          <a:solidFill>
            <a:srgbClr val="DCFCE7"/>
          </a:solidFill>
          <a:ln w="12700">
            <a:solidFill>
              <a:srgbClr val="DCFCE7"/>
            </a:solidFill>
            <a:prstDash val="solid"/>
          </a:ln>
        </p:spPr>
        <p:txBody>
          <a:bodyPr/>
          <a:lstStyle/>
          <a:p>
            <a:endParaRPr lang="en-US"/>
          </a:p>
        </p:txBody>
      </p:sp>
      <p:sp>
        <p:nvSpPr>
          <p:cNvPr id="109" name="Text 55">
            <a:extLst>
              <a:ext uri="{FF2B5EF4-FFF2-40B4-BE49-F238E27FC236}">
                <a16:creationId xmlns:a16="http://schemas.microsoft.com/office/drawing/2014/main" id="{83A63171-8F3A-B36D-10E0-FEECEEF0DA36}"/>
              </a:ext>
            </a:extLst>
          </p:cNvPr>
          <p:cNvSpPr/>
          <p:nvPr/>
        </p:nvSpPr>
        <p:spPr>
          <a:xfrm>
            <a:off x="594360" y="40233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110" name="Shape 56">
            <a:extLst>
              <a:ext uri="{FF2B5EF4-FFF2-40B4-BE49-F238E27FC236}">
                <a16:creationId xmlns:a16="http://schemas.microsoft.com/office/drawing/2014/main" id="{34088CE7-1B7B-FCA6-8415-FFF852D63C79}"/>
              </a:ext>
            </a:extLst>
          </p:cNvPr>
          <p:cNvSpPr/>
          <p:nvPr/>
        </p:nvSpPr>
        <p:spPr>
          <a:xfrm>
            <a:off x="1014984" y="4023360"/>
            <a:ext cx="384048" cy="155448"/>
          </a:xfrm>
          <a:prstGeom prst="rect">
            <a:avLst/>
          </a:prstGeom>
          <a:solidFill>
            <a:srgbClr val="FEF9C3"/>
          </a:solidFill>
          <a:ln w="12700">
            <a:solidFill>
              <a:srgbClr val="FEF9C3"/>
            </a:solidFill>
            <a:prstDash val="solid"/>
          </a:ln>
        </p:spPr>
        <p:txBody>
          <a:bodyPr/>
          <a:lstStyle/>
          <a:p>
            <a:endParaRPr lang="en-US"/>
          </a:p>
        </p:txBody>
      </p:sp>
      <p:sp>
        <p:nvSpPr>
          <p:cNvPr id="111" name="Text 57">
            <a:extLst>
              <a:ext uri="{FF2B5EF4-FFF2-40B4-BE49-F238E27FC236}">
                <a16:creationId xmlns:a16="http://schemas.microsoft.com/office/drawing/2014/main" id="{796D6AAB-0A35-DB23-900B-6B5C6A8094BC}"/>
              </a:ext>
            </a:extLst>
          </p:cNvPr>
          <p:cNvSpPr/>
          <p:nvPr/>
        </p:nvSpPr>
        <p:spPr>
          <a:xfrm>
            <a:off x="1014984" y="40233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12" name="Text 58">
            <a:extLst>
              <a:ext uri="{FF2B5EF4-FFF2-40B4-BE49-F238E27FC236}">
                <a16:creationId xmlns:a16="http://schemas.microsoft.com/office/drawing/2014/main" id="{22406778-BE24-CBC7-9499-129184F0B620}"/>
              </a:ext>
            </a:extLst>
          </p:cNvPr>
          <p:cNvSpPr/>
          <p:nvPr/>
        </p:nvSpPr>
        <p:spPr>
          <a:xfrm>
            <a:off x="2377440" y="40142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/api/v1/orders / orders/{id}/submit</a:t>
            </a:r>
            <a:endParaRPr lang="en-US" sz="800" dirty="0"/>
          </a:p>
        </p:txBody>
      </p:sp>
      <p:sp>
        <p:nvSpPr>
          <p:cNvPr id="113" name="Text 59">
            <a:extLst>
              <a:ext uri="{FF2B5EF4-FFF2-40B4-BE49-F238E27FC236}">
                <a16:creationId xmlns:a16="http://schemas.microsoft.com/office/drawing/2014/main" id="{84E0BC9E-1DD7-83E3-0380-FB3D045BA6F5}"/>
              </a:ext>
            </a:extLst>
          </p:cNvPr>
          <p:cNvSpPr/>
          <p:nvPr/>
        </p:nvSpPr>
        <p:spPr>
          <a:xfrm>
            <a:off x="5486400" y="4014216"/>
            <a:ext cx="2103120" cy="164592"/>
          </a:xfrm>
          <a:prstGeom prst="rect">
            <a:avLst/>
          </a:prstGeom>
          <a:noFill/>
          <a:ln/>
        </p:spPr>
        <p:txBody>
          <a:bodyPr wrap="square" lIns="0" tIns="0" rIns="0" bIns="0" rtlCol="0" anchor="ctr"/>
          <a:lstStyle/>
          <a:p>
            <a:pPr marL="0" indent="0">
              <a:buNone/>
            </a:pPr>
            <a:r>
              <a:rPr lang="en-US" sz="750" dirty="0">
                <a:solidFill>
                  <a:srgbClr val="475569"/>
                </a:solidFill>
              </a:rPr>
              <a:t>Create &amp; submit customer orders</a:t>
            </a:r>
            <a:endParaRPr lang="en-US" sz="750" dirty="0"/>
          </a:p>
        </p:txBody>
      </p:sp>
      <p:sp>
        <p:nvSpPr>
          <p:cNvPr id="114" name="Shape 60">
            <a:extLst>
              <a:ext uri="{FF2B5EF4-FFF2-40B4-BE49-F238E27FC236}">
                <a16:creationId xmlns:a16="http://schemas.microsoft.com/office/drawing/2014/main" id="{82F255E5-95AC-EF2F-6BC2-D8E07200E946}"/>
              </a:ext>
            </a:extLst>
          </p:cNvPr>
          <p:cNvSpPr/>
          <p:nvPr/>
        </p:nvSpPr>
        <p:spPr>
          <a:xfrm>
            <a:off x="7616952" y="4023360"/>
            <a:ext cx="566928" cy="146304"/>
          </a:xfrm>
          <a:prstGeom prst="rect">
            <a:avLst/>
          </a:prstGeom>
          <a:solidFill>
            <a:srgbClr val="E0F2FE"/>
          </a:solidFill>
          <a:ln w="12700">
            <a:solidFill>
              <a:srgbClr val="E0F2FE"/>
            </a:solidFill>
            <a:prstDash val="solid"/>
          </a:ln>
        </p:spPr>
        <p:txBody>
          <a:bodyPr/>
          <a:lstStyle/>
          <a:p>
            <a:endParaRPr lang="en-US"/>
          </a:p>
        </p:txBody>
      </p:sp>
      <p:sp>
        <p:nvSpPr>
          <p:cNvPr id="115" name="Text 61">
            <a:extLst>
              <a:ext uri="{FF2B5EF4-FFF2-40B4-BE49-F238E27FC236}">
                <a16:creationId xmlns:a16="http://schemas.microsoft.com/office/drawing/2014/main" id="{A1786989-BAF8-992E-8BAC-8C5D2C45BE3D}"/>
              </a:ext>
            </a:extLst>
          </p:cNvPr>
          <p:cNvSpPr/>
          <p:nvPr/>
        </p:nvSpPr>
        <p:spPr>
          <a:xfrm>
            <a:off x="7616952" y="4023360"/>
            <a:ext cx="566928" cy="146304"/>
          </a:xfrm>
          <a:prstGeom prst="rect">
            <a:avLst/>
          </a:prstGeom>
          <a:noFill/>
          <a:ln/>
        </p:spPr>
        <p:txBody>
          <a:bodyPr wrap="square" lIns="0" tIns="0" rIns="0" bIns="0" rtlCol="0" anchor="ctr"/>
          <a:lstStyle/>
          <a:p>
            <a:pPr marL="0" indent="0" algn="ctr">
              <a:buNone/>
            </a:pPr>
            <a:r>
              <a:rPr lang="en-US" sz="650" b="1" dirty="0">
                <a:solidFill>
                  <a:srgbClr val="0369A1"/>
                </a:solidFill>
              </a:rPr>
              <a:t>Customer</a:t>
            </a:r>
            <a:endParaRPr lang="en-US" sz="650" dirty="0"/>
          </a:p>
        </p:txBody>
      </p:sp>
      <p:sp>
        <p:nvSpPr>
          <p:cNvPr id="116" name="Shape 62">
            <a:extLst>
              <a:ext uri="{FF2B5EF4-FFF2-40B4-BE49-F238E27FC236}">
                <a16:creationId xmlns:a16="http://schemas.microsoft.com/office/drawing/2014/main" id="{6C755F24-346E-66E1-DCAA-3F847CE21DAB}"/>
              </a:ext>
            </a:extLst>
          </p:cNvPr>
          <p:cNvSpPr/>
          <p:nvPr/>
        </p:nvSpPr>
        <p:spPr>
          <a:xfrm>
            <a:off x="566928" y="4215384"/>
            <a:ext cx="7644384" cy="4572"/>
          </a:xfrm>
          <a:prstGeom prst="rect">
            <a:avLst/>
          </a:prstGeom>
          <a:solidFill>
            <a:srgbClr val="D8DCE5"/>
          </a:solidFill>
          <a:ln w="12700">
            <a:solidFill>
              <a:srgbClr val="D8DCE5"/>
            </a:solidFill>
            <a:prstDash val="solid"/>
          </a:ln>
        </p:spPr>
        <p:txBody>
          <a:bodyPr/>
          <a:lstStyle/>
          <a:p>
            <a:endParaRPr lang="en-US"/>
          </a:p>
        </p:txBody>
      </p:sp>
      <p:sp>
        <p:nvSpPr>
          <p:cNvPr id="117" name="Shape 63">
            <a:extLst>
              <a:ext uri="{FF2B5EF4-FFF2-40B4-BE49-F238E27FC236}">
                <a16:creationId xmlns:a16="http://schemas.microsoft.com/office/drawing/2014/main" id="{5809A4CB-4E70-10AD-3D2D-8B2EF7F16552}"/>
              </a:ext>
            </a:extLst>
          </p:cNvPr>
          <p:cNvSpPr/>
          <p:nvPr/>
        </p:nvSpPr>
        <p:spPr>
          <a:xfrm>
            <a:off x="594360" y="4251960"/>
            <a:ext cx="384048" cy="155448"/>
          </a:xfrm>
          <a:prstGeom prst="rect">
            <a:avLst/>
          </a:prstGeom>
          <a:solidFill>
            <a:srgbClr val="DBEAFE"/>
          </a:solidFill>
          <a:ln w="12700">
            <a:solidFill>
              <a:srgbClr val="DBEAFE"/>
            </a:solidFill>
            <a:prstDash val="solid"/>
          </a:ln>
        </p:spPr>
        <p:txBody>
          <a:bodyPr/>
          <a:lstStyle/>
          <a:p>
            <a:endParaRPr lang="en-US"/>
          </a:p>
        </p:txBody>
      </p:sp>
      <p:sp>
        <p:nvSpPr>
          <p:cNvPr id="118" name="Text 64">
            <a:extLst>
              <a:ext uri="{FF2B5EF4-FFF2-40B4-BE49-F238E27FC236}">
                <a16:creationId xmlns:a16="http://schemas.microsoft.com/office/drawing/2014/main" id="{36050456-8F91-047A-0B91-3247737479CB}"/>
              </a:ext>
            </a:extLst>
          </p:cNvPr>
          <p:cNvSpPr/>
          <p:nvPr/>
        </p:nvSpPr>
        <p:spPr>
          <a:xfrm>
            <a:off x="594360" y="42519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119" name="Text 65">
            <a:extLst>
              <a:ext uri="{FF2B5EF4-FFF2-40B4-BE49-F238E27FC236}">
                <a16:creationId xmlns:a16="http://schemas.microsoft.com/office/drawing/2014/main" id="{613754F3-CE12-F1B4-E18F-A874546F7BCB}"/>
              </a:ext>
            </a:extLst>
          </p:cNvPr>
          <p:cNvSpPr/>
          <p:nvPr/>
        </p:nvSpPr>
        <p:spPr>
          <a:xfrm>
            <a:off x="2377440" y="42428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/api/v1/reports/sales · /low-stock</a:t>
            </a:r>
            <a:endParaRPr lang="en-US" sz="800" dirty="0"/>
          </a:p>
        </p:txBody>
      </p:sp>
      <p:sp>
        <p:nvSpPr>
          <p:cNvPr id="120" name="Text 66">
            <a:extLst>
              <a:ext uri="{FF2B5EF4-FFF2-40B4-BE49-F238E27FC236}">
                <a16:creationId xmlns:a16="http://schemas.microsoft.com/office/drawing/2014/main" id="{37FD6A23-CAC1-3A13-7191-B6EC0462E2ED}"/>
              </a:ext>
            </a:extLst>
          </p:cNvPr>
          <p:cNvSpPr/>
          <p:nvPr/>
        </p:nvSpPr>
        <p:spPr>
          <a:xfrm>
            <a:off x="5486400" y="4242816"/>
            <a:ext cx="2103120" cy="164592"/>
          </a:xfrm>
          <a:prstGeom prst="rect">
            <a:avLst/>
          </a:prstGeom>
          <a:noFill/>
          <a:ln/>
        </p:spPr>
        <p:txBody>
          <a:bodyPr wrap="square" lIns="0" tIns="0" rIns="0" bIns="0" rtlCol="0" anchor="ctr"/>
          <a:lstStyle/>
          <a:p>
            <a:pPr marL="0" indent="0">
              <a:buNone/>
            </a:pPr>
            <a:r>
              <a:rPr lang="en-US" sz="750" dirty="0">
                <a:solidFill>
                  <a:srgbClr val="475569"/>
                </a:solidFill>
              </a:rPr>
              <a:t>Sales summary &amp; low-stock report</a:t>
            </a:r>
            <a:endParaRPr lang="en-US" sz="750" dirty="0"/>
          </a:p>
        </p:txBody>
      </p:sp>
      <p:sp>
        <p:nvSpPr>
          <p:cNvPr id="121" name="Shape 67">
            <a:extLst>
              <a:ext uri="{FF2B5EF4-FFF2-40B4-BE49-F238E27FC236}">
                <a16:creationId xmlns:a16="http://schemas.microsoft.com/office/drawing/2014/main" id="{A8E36612-C5A2-7B1C-651C-5D99284C8336}"/>
              </a:ext>
            </a:extLst>
          </p:cNvPr>
          <p:cNvSpPr/>
          <p:nvPr/>
        </p:nvSpPr>
        <p:spPr>
          <a:xfrm>
            <a:off x="7616952" y="4251960"/>
            <a:ext cx="566928" cy="146304"/>
          </a:xfrm>
          <a:prstGeom prst="rect">
            <a:avLst/>
          </a:prstGeom>
          <a:solidFill>
            <a:srgbClr val="FCE7F3"/>
          </a:solidFill>
          <a:ln w="12700">
            <a:solidFill>
              <a:srgbClr val="FCE7F3"/>
            </a:solidFill>
            <a:prstDash val="solid"/>
          </a:ln>
        </p:spPr>
        <p:txBody>
          <a:bodyPr/>
          <a:lstStyle/>
          <a:p>
            <a:endParaRPr lang="en-US"/>
          </a:p>
        </p:txBody>
      </p:sp>
      <p:sp>
        <p:nvSpPr>
          <p:cNvPr id="122" name="Text 68">
            <a:extLst>
              <a:ext uri="{FF2B5EF4-FFF2-40B4-BE49-F238E27FC236}">
                <a16:creationId xmlns:a16="http://schemas.microsoft.com/office/drawing/2014/main" id="{CCAE7DCB-9FDA-78B6-4BD5-5CF09AFCC3AD}"/>
              </a:ext>
            </a:extLst>
          </p:cNvPr>
          <p:cNvSpPr/>
          <p:nvPr/>
        </p:nvSpPr>
        <p:spPr>
          <a:xfrm>
            <a:off x="7616952" y="42519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23" name="Shape 69">
            <a:extLst>
              <a:ext uri="{FF2B5EF4-FFF2-40B4-BE49-F238E27FC236}">
                <a16:creationId xmlns:a16="http://schemas.microsoft.com/office/drawing/2014/main" id="{9EEC8C0A-526A-D655-6CF6-6B349AE30FF8}"/>
              </a:ext>
            </a:extLst>
          </p:cNvPr>
          <p:cNvSpPr/>
          <p:nvPr/>
        </p:nvSpPr>
        <p:spPr>
          <a:xfrm>
            <a:off x="566928" y="4443984"/>
            <a:ext cx="7644384" cy="4572"/>
          </a:xfrm>
          <a:prstGeom prst="rect">
            <a:avLst/>
          </a:prstGeom>
          <a:solidFill>
            <a:srgbClr val="D8DCE5"/>
          </a:solidFill>
          <a:ln w="12700">
            <a:solidFill>
              <a:srgbClr val="D8DCE5"/>
            </a:solidFill>
            <a:prstDash val="solid"/>
          </a:ln>
        </p:spPr>
        <p:txBody>
          <a:bodyPr/>
          <a:lstStyle/>
          <a:p>
            <a:endParaRPr lang="en-US"/>
          </a:p>
        </p:txBody>
      </p:sp>
      <p:sp>
        <p:nvSpPr>
          <p:cNvPr id="124" name="Shape 70">
            <a:extLst>
              <a:ext uri="{FF2B5EF4-FFF2-40B4-BE49-F238E27FC236}">
                <a16:creationId xmlns:a16="http://schemas.microsoft.com/office/drawing/2014/main" id="{535D7817-7D64-D97A-6AAD-705C0722798A}"/>
              </a:ext>
            </a:extLst>
          </p:cNvPr>
          <p:cNvSpPr/>
          <p:nvPr/>
        </p:nvSpPr>
        <p:spPr>
          <a:xfrm>
            <a:off x="594360" y="4480560"/>
            <a:ext cx="384048" cy="155448"/>
          </a:xfrm>
          <a:prstGeom prst="rect">
            <a:avLst/>
          </a:prstGeom>
          <a:solidFill>
            <a:srgbClr val="DBEAFE"/>
          </a:solidFill>
          <a:ln w="12700">
            <a:solidFill>
              <a:srgbClr val="DBEAFE"/>
            </a:solidFill>
            <a:prstDash val="solid"/>
          </a:ln>
        </p:spPr>
        <p:txBody>
          <a:bodyPr/>
          <a:lstStyle/>
          <a:p>
            <a:endParaRPr lang="en-US"/>
          </a:p>
        </p:txBody>
      </p:sp>
      <p:sp>
        <p:nvSpPr>
          <p:cNvPr id="125" name="Text 71">
            <a:extLst>
              <a:ext uri="{FF2B5EF4-FFF2-40B4-BE49-F238E27FC236}">
                <a16:creationId xmlns:a16="http://schemas.microsoft.com/office/drawing/2014/main" id="{B954FC77-8A2C-6F9D-4739-F92CA1848B36}"/>
              </a:ext>
            </a:extLst>
          </p:cNvPr>
          <p:cNvSpPr/>
          <p:nvPr/>
        </p:nvSpPr>
        <p:spPr>
          <a:xfrm>
            <a:off x="594360" y="44805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126" name="Shape 72">
            <a:extLst>
              <a:ext uri="{FF2B5EF4-FFF2-40B4-BE49-F238E27FC236}">
                <a16:creationId xmlns:a16="http://schemas.microsoft.com/office/drawing/2014/main" id="{B8A23C5C-5655-7697-0B84-3B08AD56D60D}"/>
              </a:ext>
            </a:extLst>
          </p:cNvPr>
          <p:cNvSpPr/>
          <p:nvPr/>
        </p:nvSpPr>
        <p:spPr>
          <a:xfrm>
            <a:off x="1014984" y="4480560"/>
            <a:ext cx="384048" cy="155448"/>
          </a:xfrm>
          <a:prstGeom prst="rect">
            <a:avLst/>
          </a:prstGeom>
          <a:solidFill>
            <a:srgbClr val="FEF9C3"/>
          </a:solidFill>
          <a:ln w="12700">
            <a:solidFill>
              <a:srgbClr val="FEF9C3"/>
            </a:solidFill>
            <a:prstDash val="solid"/>
          </a:ln>
        </p:spPr>
        <p:txBody>
          <a:bodyPr/>
          <a:lstStyle/>
          <a:p>
            <a:endParaRPr lang="en-US"/>
          </a:p>
        </p:txBody>
      </p:sp>
      <p:sp>
        <p:nvSpPr>
          <p:cNvPr id="127" name="Text 73">
            <a:extLst>
              <a:ext uri="{FF2B5EF4-FFF2-40B4-BE49-F238E27FC236}">
                <a16:creationId xmlns:a16="http://schemas.microsoft.com/office/drawing/2014/main" id="{1BC303F5-C5C9-87FD-FCC1-79C831A73428}"/>
              </a:ext>
            </a:extLst>
          </p:cNvPr>
          <p:cNvSpPr/>
          <p:nvPr/>
        </p:nvSpPr>
        <p:spPr>
          <a:xfrm>
            <a:off x="1014984" y="44805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28" name="Text 74">
            <a:extLst>
              <a:ext uri="{FF2B5EF4-FFF2-40B4-BE49-F238E27FC236}">
                <a16:creationId xmlns:a16="http://schemas.microsoft.com/office/drawing/2014/main" id="{D40BAF5E-D2D0-61B3-F45F-BACB19BF6F75}"/>
              </a:ext>
            </a:extLst>
          </p:cNvPr>
          <p:cNvSpPr/>
          <p:nvPr/>
        </p:nvSpPr>
        <p:spPr>
          <a:xfrm>
            <a:off x="2377440" y="44714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/api/v1/inventory</a:t>
            </a:r>
            <a:endParaRPr lang="en-US" sz="800" dirty="0"/>
          </a:p>
        </p:txBody>
      </p:sp>
      <p:sp>
        <p:nvSpPr>
          <p:cNvPr id="129" name="Text 75">
            <a:extLst>
              <a:ext uri="{FF2B5EF4-FFF2-40B4-BE49-F238E27FC236}">
                <a16:creationId xmlns:a16="http://schemas.microsoft.com/office/drawing/2014/main" id="{751945C9-FDB8-AC24-9108-0B3C1AB42352}"/>
              </a:ext>
            </a:extLst>
          </p:cNvPr>
          <p:cNvSpPr/>
          <p:nvPr/>
        </p:nvSpPr>
        <p:spPr>
          <a:xfrm>
            <a:off x="5486400" y="4471416"/>
            <a:ext cx="2103120" cy="164592"/>
          </a:xfrm>
          <a:prstGeom prst="rect">
            <a:avLst/>
          </a:prstGeom>
          <a:noFill/>
          <a:ln/>
        </p:spPr>
        <p:txBody>
          <a:bodyPr wrap="square" lIns="0" tIns="0" rIns="0" bIns="0" rtlCol="0" anchor="ctr"/>
          <a:lstStyle/>
          <a:p>
            <a:pPr marL="0" indent="0">
              <a:buNone/>
            </a:pPr>
            <a:r>
              <a:rPr lang="en-US" sz="750" dirty="0">
                <a:solidFill>
                  <a:srgbClr val="475569"/>
                </a:solidFill>
              </a:rPr>
              <a:t>Stock view &amp; update</a:t>
            </a:r>
            <a:endParaRPr lang="en-US" sz="750" dirty="0"/>
          </a:p>
        </p:txBody>
      </p:sp>
      <p:sp>
        <p:nvSpPr>
          <p:cNvPr id="130" name="Shape 76">
            <a:extLst>
              <a:ext uri="{FF2B5EF4-FFF2-40B4-BE49-F238E27FC236}">
                <a16:creationId xmlns:a16="http://schemas.microsoft.com/office/drawing/2014/main" id="{79294ED0-1490-BAB6-EB7D-AAB272CBF309}"/>
              </a:ext>
            </a:extLst>
          </p:cNvPr>
          <p:cNvSpPr/>
          <p:nvPr/>
        </p:nvSpPr>
        <p:spPr>
          <a:xfrm>
            <a:off x="7616952" y="4480560"/>
            <a:ext cx="566928" cy="146304"/>
          </a:xfrm>
          <a:prstGeom prst="rect">
            <a:avLst/>
          </a:prstGeom>
          <a:solidFill>
            <a:srgbClr val="FCE7F3"/>
          </a:solidFill>
          <a:ln w="12700">
            <a:solidFill>
              <a:srgbClr val="FCE7F3"/>
            </a:solidFill>
            <a:prstDash val="solid"/>
          </a:ln>
        </p:spPr>
        <p:txBody>
          <a:bodyPr/>
          <a:lstStyle/>
          <a:p>
            <a:endParaRPr lang="en-US"/>
          </a:p>
        </p:txBody>
      </p:sp>
      <p:sp>
        <p:nvSpPr>
          <p:cNvPr id="131" name="Text 77">
            <a:extLst>
              <a:ext uri="{FF2B5EF4-FFF2-40B4-BE49-F238E27FC236}">
                <a16:creationId xmlns:a16="http://schemas.microsoft.com/office/drawing/2014/main" id="{F42900C4-AB74-841B-A461-F22695D84B63}"/>
              </a:ext>
            </a:extLst>
          </p:cNvPr>
          <p:cNvSpPr/>
          <p:nvPr/>
        </p:nvSpPr>
        <p:spPr>
          <a:xfrm>
            <a:off x="7616952" y="44805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32" name="Shape 78">
            <a:extLst>
              <a:ext uri="{FF2B5EF4-FFF2-40B4-BE49-F238E27FC236}">
                <a16:creationId xmlns:a16="http://schemas.microsoft.com/office/drawing/2014/main" id="{D5385CB1-DA2C-D9EA-1AF8-269A37AEDD4E}"/>
              </a:ext>
            </a:extLst>
          </p:cNvPr>
          <p:cNvSpPr/>
          <p:nvPr/>
        </p:nvSpPr>
        <p:spPr>
          <a:xfrm>
            <a:off x="457200" y="4718304"/>
            <a:ext cx="8229600" cy="228600"/>
          </a:xfrm>
          <a:prstGeom prst="rect">
            <a:avLst/>
          </a:prstGeom>
          <a:solidFill>
            <a:srgbClr val="1E293B"/>
          </a:solidFill>
          <a:ln w="12700">
            <a:solidFill>
              <a:srgbClr val="1E293B"/>
            </a:solidFill>
            <a:prstDash val="solid"/>
          </a:ln>
        </p:spPr>
        <p:txBody>
          <a:bodyPr/>
          <a:lstStyle/>
          <a:p>
            <a:endParaRPr lang="en-US"/>
          </a:p>
        </p:txBody>
      </p:sp>
      <p:sp>
        <p:nvSpPr>
          <p:cNvPr id="133" name="Text 79">
            <a:extLst>
              <a:ext uri="{FF2B5EF4-FFF2-40B4-BE49-F238E27FC236}">
                <a16:creationId xmlns:a16="http://schemas.microsoft.com/office/drawing/2014/main" id="{00EA5CE6-2BC6-830B-FB71-9CDF206C8D7A}"/>
              </a:ext>
            </a:extLst>
          </p:cNvPr>
          <p:cNvSpPr/>
          <p:nvPr/>
        </p:nvSpPr>
        <p:spPr>
          <a:xfrm>
            <a:off x="594360" y="4718304"/>
            <a:ext cx="7955280" cy="228600"/>
          </a:xfrm>
          <a:prstGeom prst="rect">
            <a:avLst/>
          </a:prstGeom>
          <a:noFill/>
          <a:ln/>
        </p:spPr>
        <p:txBody>
          <a:bodyPr wrap="square" lIns="0" tIns="0" rIns="0" bIns="0" rtlCol="0" anchor="ctr"/>
          <a:lstStyle/>
          <a:p>
            <a:pPr marL="0" indent="0">
              <a:buNone/>
            </a:pPr>
            <a:r>
              <a:rPr lang="en-US" sz="750" dirty="0">
                <a:solidFill>
                  <a:srgbClr val="94A3B8"/>
                </a:solidFill>
                <a:latin typeface="Courier New" pitchFamily="34" charset="0"/>
                <a:ea typeface="Courier New" pitchFamily="34" charset="-122"/>
                <a:cs typeface="Courier New" pitchFamily="34" charset="-120"/>
              </a:rPr>
              <a:t>Consistent error format across all endpoints:  { "error": "ERROR_TYPE",  "message": "Human readable message" }</a:t>
            </a:r>
            <a:endParaRPr lang="en-US" sz="750" dirty="0"/>
          </a:p>
        </p:txBody>
      </p:sp>
      <p:pic>
        <p:nvPicPr>
          <p:cNvPr id="134" name="Image 0" descr="preencoded.png">
            <a:extLst>
              <a:ext uri="{FF2B5EF4-FFF2-40B4-BE49-F238E27FC236}">
                <a16:creationId xmlns:a16="http://schemas.microsoft.com/office/drawing/2014/main" id="{38837380-42F9-96A3-E8FD-18F5F89CC834}"/>
              </a:ext>
            </a:extLst>
          </p:cNvPr>
          <p:cNvPicPr>
            <a:picLocks noChangeAspect="1"/>
          </p:cNvPicPr>
          <p:nvPr/>
        </p:nvPicPr>
        <p:blipFill>
          <a:blip r:embed="rId3"/>
          <a:stretch>
            <a:fillRect/>
          </a:stretch>
        </p:blipFill>
        <p:spPr>
          <a:xfrm>
            <a:off x="566928" y="1161288"/>
            <a:ext cx="411480" cy="411480"/>
          </a:xfrm>
          <a:prstGeom prst="rect">
            <a:avLst/>
          </a:prstGeom>
        </p:spPr>
      </p:pic>
      <p:sp>
        <p:nvSpPr>
          <p:cNvPr id="136" name="TextBox 135">
            <a:extLst>
              <a:ext uri="{FF2B5EF4-FFF2-40B4-BE49-F238E27FC236}">
                <a16:creationId xmlns:a16="http://schemas.microsoft.com/office/drawing/2014/main" id="{11EC5FDD-B0D9-EAD4-BDF4-4E2CD71479C6}"/>
              </a:ext>
            </a:extLst>
          </p:cNvPr>
          <p:cNvSpPr txBox="1"/>
          <p:nvPr/>
        </p:nvSpPr>
        <p:spPr>
          <a:xfrm>
            <a:off x="978408" y="1174218"/>
            <a:ext cx="1889490"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Frontend</a:t>
            </a:r>
            <a:endParaRPr lang="en-US" sz="1800" dirty="0"/>
          </a:p>
        </p:txBody>
      </p:sp>
      <p:pic>
        <p:nvPicPr>
          <p:cNvPr id="137" name="Image 1" descr="preencoded.png">
            <a:extLst>
              <a:ext uri="{FF2B5EF4-FFF2-40B4-BE49-F238E27FC236}">
                <a16:creationId xmlns:a16="http://schemas.microsoft.com/office/drawing/2014/main" id="{057A1AF1-7F29-47B7-3658-D06CBF7CF0F8}"/>
              </a:ext>
            </a:extLst>
          </p:cNvPr>
          <p:cNvPicPr>
            <a:picLocks noChangeAspect="1"/>
          </p:cNvPicPr>
          <p:nvPr/>
        </p:nvPicPr>
        <p:blipFill>
          <a:blip r:embed="rId4"/>
          <a:stretch>
            <a:fillRect/>
          </a:stretch>
        </p:blipFill>
        <p:spPr>
          <a:xfrm>
            <a:off x="3401568" y="1138428"/>
            <a:ext cx="411480" cy="411480"/>
          </a:xfrm>
          <a:prstGeom prst="rect">
            <a:avLst/>
          </a:prstGeom>
        </p:spPr>
      </p:pic>
      <p:sp>
        <p:nvSpPr>
          <p:cNvPr id="139" name="TextBox 138">
            <a:extLst>
              <a:ext uri="{FF2B5EF4-FFF2-40B4-BE49-F238E27FC236}">
                <a16:creationId xmlns:a16="http://schemas.microsoft.com/office/drawing/2014/main" id="{1EFB3F96-2788-182F-B032-629103756E21}"/>
              </a:ext>
            </a:extLst>
          </p:cNvPr>
          <p:cNvSpPr txBox="1"/>
          <p:nvPr/>
        </p:nvSpPr>
        <p:spPr>
          <a:xfrm>
            <a:off x="3796864" y="1159502"/>
            <a:ext cx="1403968"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Backend</a:t>
            </a:r>
            <a:endParaRPr lang="en-US" sz="1800" dirty="0"/>
          </a:p>
        </p:txBody>
      </p:sp>
      <p:pic>
        <p:nvPicPr>
          <p:cNvPr id="140" name="Image 2" descr="preencoded.png">
            <a:extLst>
              <a:ext uri="{FF2B5EF4-FFF2-40B4-BE49-F238E27FC236}">
                <a16:creationId xmlns:a16="http://schemas.microsoft.com/office/drawing/2014/main" id="{3A3278C3-39A8-3709-EF2D-8202190E5340}"/>
              </a:ext>
            </a:extLst>
          </p:cNvPr>
          <p:cNvPicPr>
            <a:picLocks noChangeAspect="1"/>
          </p:cNvPicPr>
          <p:nvPr/>
        </p:nvPicPr>
        <p:blipFill>
          <a:blip r:embed="rId5"/>
          <a:stretch>
            <a:fillRect/>
          </a:stretch>
        </p:blipFill>
        <p:spPr>
          <a:xfrm>
            <a:off x="6236208" y="1138428"/>
            <a:ext cx="411480" cy="411480"/>
          </a:xfrm>
          <a:prstGeom prst="rect">
            <a:avLst/>
          </a:prstGeom>
        </p:spPr>
      </p:pic>
      <p:sp>
        <p:nvSpPr>
          <p:cNvPr id="142" name="TextBox 141">
            <a:extLst>
              <a:ext uri="{FF2B5EF4-FFF2-40B4-BE49-F238E27FC236}">
                <a16:creationId xmlns:a16="http://schemas.microsoft.com/office/drawing/2014/main" id="{CB338483-EAD8-9A1F-4488-80B03E769FEB}"/>
              </a:ext>
            </a:extLst>
          </p:cNvPr>
          <p:cNvSpPr txBox="1"/>
          <p:nvPr/>
        </p:nvSpPr>
        <p:spPr>
          <a:xfrm>
            <a:off x="6639515" y="1166360"/>
            <a:ext cx="1420152"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Database</a:t>
            </a:r>
            <a:endParaRPr lang="en-US" sz="1800" dirty="0"/>
          </a:p>
        </p:txBody>
      </p:sp>
      <p:sp>
        <p:nvSpPr>
          <p:cNvPr id="143" name="Text 2">
            <a:extLst>
              <a:ext uri="{FF2B5EF4-FFF2-40B4-BE49-F238E27FC236}">
                <a16:creationId xmlns:a16="http://schemas.microsoft.com/office/drawing/2014/main" id="{517FD148-BD51-1447-C7ED-4CD224F9CAC3}"/>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Tristin Gatt</a:t>
            </a:r>
            <a:endParaRPr lang="en-US" sz="800" dirty="0"/>
          </a:p>
        </p:txBody>
      </p:sp>
      <p:sp>
        <p:nvSpPr>
          <p:cNvPr id="144" name="Text 3">
            <a:extLst>
              <a:ext uri="{FF2B5EF4-FFF2-40B4-BE49-F238E27FC236}">
                <a16:creationId xmlns:a16="http://schemas.microsoft.com/office/drawing/2014/main" id="{1CB87F4C-0575-1924-1BEB-A2E4C21045B7}"/>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Software Architecture  &amp; Backend Lead</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DEPLOYMENT</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Deployment – Docker &amp; AWS</a:t>
            </a:r>
            <a:endParaRPr lang="en-US" sz="3200" dirty="0"/>
          </a:p>
        </p:txBody>
      </p:sp>
      <p:sp>
        <p:nvSpPr>
          <p:cNvPr id="4" name="Shape 2"/>
          <p:cNvSpPr/>
          <p:nvPr/>
        </p:nvSpPr>
        <p:spPr>
          <a:xfrm>
            <a:off x="347472" y="1417320"/>
            <a:ext cx="1298448" cy="658368"/>
          </a:xfrm>
          <a:prstGeom prst="rect">
            <a:avLst/>
          </a:prstGeom>
          <a:solidFill>
            <a:srgbClr val="64748B"/>
          </a:solidFill>
          <a:ln w="12700">
            <a:solidFill>
              <a:srgbClr val="64748B"/>
            </a:solidFill>
            <a:prstDash val="solid"/>
          </a:ln>
        </p:spPr>
        <p:txBody>
          <a:bodyPr/>
          <a:lstStyle/>
          <a:p>
            <a:endParaRPr lang="en-US"/>
          </a:p>
        </p:txBody>
      </p:sp>
      <p:sp>
        <p:nvSpPr>
          <p:cNvPr id="5" name="Text 3"/>
          <p:cNvSpPr/>
          <p:nvPr/>
        </p:nvSpPr>
        <p:spPr>
          <a:xfrm>
            <a:off x="347472"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Containerize</a:t>
            </a:r>
            <a:endParaRPr lang="en-US" sz="950" dirty="0"/>
          </a:p>
        </p:txBody>
      </p:sp>
      <p:sp>
        <p:nvSpPr>
          <p:cNvPr id="6" name="Text 4"/>
          <p:cNvSpPr/>
          <p:nvPr/>
        </p:nvSpPr>
        <p:spPr>
          <a:xfrm>
            <a:off x="347472"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Docker bundles frontend &amp; backend</a:t>
            </a:r>
            <a:endParaRPr lang="en-US" sz="750" dirty="0"/>
          </a:p>
        </p:txBody>
      </p:sp>
      <p:sp>
        <p:nvSpPr>
          <p:cNvPr id="7" name="Shape 5"/>
          <p:cNvSpPr/>
          <p:nvPr/>
        </p:nvSpPr>
        <p:spPr>
          <a:xfrm>
            <a:off x="1645920"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8" name="Shape 6"/>
          <p:cNvSpPr/>
          <p:nvPr/>
        </p:nvSpPr>
        <p:spPr>
          <a:xfrm>
            <a:off x="1783080" y="1417320"/>
            <a:ext cx="1298448" cy="658368"/>
          </a:xfrm>
          <a:prstGeom prst="rect">
            <a:avLst/>
          </a:prstGeom>
          <a:solidFill>
            <a:srgbClr val="1B2B5E"/>
          </a:solidFill>
          <a:ln w="12700">
            <a:solidFill>
              <a:srgbClr val="1B2B5E"/>
            </a:solidFill>
            <a:prstDash val="solid"/>
          </a:ln>
        </p:spPr>
        <p:txBody>
          <a:bodyPr/>
          <a:lstStyle/>
          <a:p>
            <a:endParaRPr lang="en-US"/>
          </a:p>
        </p:txBody>
      </p:sp>
      <p:sp>
        <p:nvSpPr>
          <p:cNvPr id="9" name="Text 7"/>
          <p:cNvSpPr/>
          <p:nvPr/>
        </p:nvSpPr>
        <p:spPr>
          <a:xfrm>
            <a:off x="1783080"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Push to GitHub</a:t>
            </a:r>
            <a:endParaRPr lang="en-US" sz="950" dirty="0"/>
          </a:p>
        </p:txBody>
      </p:sp>
      <p:sp>
        <p:nvSpPr>
          <p:cNvPr id="10" name="Text 8"/>
          <p:cNvSpPr/>
          <p:nvPr/>
        </p:nvSpPr>
        <p:spPr>
          <a:xfrm>
            <a:off x="1783080"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GitHub Actions triggers on push to main</a:t>
            </a:r>
            <a:endParaRPr lang="en-US" sz="750" dirty="0"/>
          </a:p>
        </p:txBody>
      </p:sp>
      <p:sp>
        <p:nvSpPr>
          <p:cNvPr id="11" name="Shape 9"/>
          <p:cNvSpPr/>
          <p:nvPr/>
        </p:nvSpPr>
        <p:spPr>
          <a:xfrm>
            <a:off x="3081528"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12" name="Shape 10"/>
          <p:cNvSpPr/>
          <p:nvPr/>
        </p:nvSpPr>
        <p:spPr>
          <a:xfrm>
            <a:off x="3218688" y="1417320"/>
            <a:ext cx="1298448" cy="658368"/>
          </a:xfrm>
          <a:prstGeom prst="rect">
            <a:avLst/>
          </a:prstGeom>
          <a:solidFill>
            <a:srgbClr val="7C3AED"/>
          </a:solidFill>
          <a:ln w="12700">
            <a:solidFill>
              <a:srgbClr val="7C3AED"/>
            </a:solidFill>
            <a:prstDash val="solid"/>
          </a:ln>
        </p:spPr>
        <p:txBody>
          <a:bodyPr/>
          <a:lstStyle/>
          <a:p>
            <a:endParaRPr lang="en-US"/>
          </a:p>
        </p:txBody>
      </p:sp>
      <p:sp>
        <p:nvSpPr>
          <p:cNvPr id="13" name="Text 11"/>
          <p:cNvSpPr/>
          <p:nvPr/>
        </p:nvSpPr>
        <p:spPr>
          <a:xfrm>
            <a:off x="3218688"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CI Passes</a:t>
            </a:r>
            <a:endParaRPr lang="en-US" sz="950" dirty="0"/>
          </a:p>
        </p:txBody>
      </p:sp>
      <p:sp>
        <p:nvSpPr>
          <p:cNvPr id="14" name="Text 12"/>
          <p:cNvSpPr/>
          <p:nvPr/>
        </p:nvSpPr>
        <p:spPr>
          <a:xfrm>
            <a:off x="3218688"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PyTest, NPM, Robot Framework all green</a:t>
            </a:r>
            <a:endParaRPr lang="en-US" sz="750" dirty="0"/>
          </a:p>
        </p:txBody>
      </p:sp>
      <p:sp>
        <p:nvSpPr>
          <p:cNvPr id="15" name="Shape 13"/>
          <p:cNvSpPr/>
          <p:nvPr/>
        </p:nvSpPr>
        <p:spPr>
          <a:xfrm>
            <a:off x="4517136"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16" name="Shape 14"/>
          <p:cNvSpPr/>
          <p:nvPr/>
        </p:nvSpPr>
        <p:spPr>
          <a:xfrm>
            <a:off x="4654296" y="1417320"/>
            <a:ext cx="1298448" cy="658368"/>
          </a:xfrm>
          <a:prstGeom prst="rect">
            <a:avLst/>
          </a:prstGeom>
          <a:solidFill>
            <a:srgbClr val="0EA5E9"/>
          </a:solidFill>
          <a:ln w="12700">
            <a:solidFill>
              <a:srgbClr val="0EA5E9"/>
            </a:solidFill>
            <a:prstDash val="solid"/>
          </a:ln>
        </p:spPr>
        <p:txBody>
          <a:bodyPr/>
          <a:lstStyle/>
          <a:p>
            <a:endParaRPr lang="en-US"/>
          </a:p>
        </p:txBody>
      </p:sp>
      <p:sp>
        <p:nvSpPr>
          <p:cNvPr id="17" name="Text 15"/>
          <p:cNvSpPr/>
          <p:nvPr/>
        </p:nvSpPr>
        <p:spPr>
          <a:xfrm>
            <a:off x="4654296"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Deploy to EC2</a:t>
            </a:r>
            <a:endParaRPr lang="en-US" sz="950" dirty="0"/>
          </a:p>
        </p:txBody>
      </p:sp>
      <p:sp>
        <p:nvSpPr>
          <p:cNvPr id="18" name="Text 16"/>
          <p:cNvSpPr/>
          <p:nvPr/>
        </p:nvSpPr>
        <p:spPr>
          <a:xfrm>
            <a:off x="4654296"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Docker containers run on AWS EC2 Instance</a:t>
            </a:r>
            <a:endParaRPr lang="en-US" sz="750" dirty="0"/>
          </a:p>
        </p:txBody>
      </p:sp>
      <p:sp>
        <p:nvSpPr>
          <p:cNvPr id="19" name="Shape 17"/>
          <p:cNvSpPr/>
          <p:nvPr/>
        </p:nvSpPr>
        <p:spPr>
          <a:xfrm>
            <a:off x="5952744"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20" name="Shape 18"/>
          <p:cNvSpPr/>
          <p:nvPr/>
        </p:nvSpPr>
        <p:spPr>
          <a:xfrm>
            <a:off x="6089904" y="1417320"/>
            <a:ext cx="1298448" cy="658368"/>
          </a:xfrm>
          <a:prstGeom prst="rect">
            <a:avLst/>
          </a:prstGeom>
          <a:solidFill>
            <a:srgbClr val="10B981"/>
          </a:solidFill>
          <a:ln w="12700">
            <a:solidFill>
              <a:srgbClr val="10B981"/>
            </a:solidFill>
            <a:prstDash val="solid"/>
          </a:ln>
        </p:spPr>
        <p:txBody>
          <a:bodyPr/>
          <a:lstStyle/>
          <a:p>
            <a:endParaRPr lang="en-US"/>
          </a:p>
        </p:txBody>
      </p:sp>
      <p:sp>
        <p:nvSpPr>
          <p:cNvPr id="21" name="Text 19"/>
          <p:cNvSpPr/>
          <p:nvPr/>
        </p:nvSpPr>
        <p:spPr>
          <a:xfrm>
            <a:off x="6089904"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Connect RDS</a:t>
            </a:r>
            <a:endParaRPr lang="en-US" sz="950" dirty="0"/>
          </a:p>
        </p:txBody>
      </p:sp>
      <p:sp>
        <p:nvSpPr>
          <p:cNvPr id="22" name="Text 20"/>
          <p:cNvSpPr/>
          <p:nvPr/>
        </p:nvSpPr>
        <p:spPr>
          <a:xfrm>
            <a:off x="6089904"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MySQL 8.0 database on AWS RDS</a:t>
            </a:r>
            <a:endParaRPr lang="en-US" sz="750" dirty="0"/>
          </a:p>
        </p:txBody>
      </p:sp>
      <p:sp>
        <p:nvSpPr>
          <p:cNvPr id="23" name="Shape 21"/>
          <p:cNvSpPr/>
          <p:nvPr/>
        </p:nvSpPr>
        <p:spPr>
          <a:xfrm>
            <a:off x="7388352"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24" name="Shape 22"/>
          <p:cNvSpPr/>
          <p:nvPr/>
        </p:nvSpPr>
        <p:spPr>
          <a:xfrm>
            <a:off x="7525512" y="1417320"/>
            <a:ext cx="1298448" cy="658368"/>
          </a:xfrm>
          <a:prstGeom prst="rect">
            <a:avLst/>
          </a:prstGeom>
          <a:solidFill>
            <a:srgbClr val="3BB77E"/>
          </a:solidFill>
          <a:ln w="12700">
            <a:solidFill>
              <a:srgbClr val="3BB77E"/>
            </a:solidFill>
            <a:prstDash val="solid"/>
          </a:ln>
        </p:spPr>
        <p:txBody>
          <a:bodyPr/>
          <a:lstStyle/>
          <a:p>
            <a:endParaRPr lang="en-US" dirty="0"/>
          </a:p>
        </p:txBody>
      </p:sp>
      <p:sp>
        <p:nvSpPr>
          <p:cNvPr id="25" name="Text 23"/>
          <p:cNvSpPr/>
          <p:nvPr/>
        </p:nvSpPr>
        <p:spPr>
          <a:xfrm>
            <a:off x="7525512"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Live on AWS</a:t>
            </a:r>
            <a:endParaRPr lang="en-US" sz="950" dirty="0"/>
          </a:p>
        </p:txBody>
      </p:sp>
      <p:sp>
        <p:nvSpPr>
          <p:cNvPr id="26" name="Text 24"/>
          <p:cNvSpPr/>
          <p:nvPr/>
        </p:nvSpPr>
        <p:spPr>
          <a:xfrm>
            <a:off x="7525512"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App live at:</a:t>
            </a:r>
            <a:br>
              <a:rPr lang="en-US" sz="750" dirty="0">
                <a:solidFill>
                  <a:srgbClr val="CBD5E1"/>
                </a:solidFill>
                <a:latin typeface="Calibri" pitchFamily="34" charset="0"/>
                <a:ea typeface="Calibri" pitchFamily="34" charset="-122"/>
                <a:cs typeface="Calibri" pitchFamily="34" charset="-120"/>
              </a:rPr>
            </a:br>
            <a:r>
              <a:rPr lang="en-US" sz="750" dirty="0">
                <a:solidFill>
                  <a:srgbClr val="CBD5E1"/>
                </a:solidFill>
                <a:latin typeface="Calibri" pitchFamily="34" charset="0"/>
                <a:ea typeface="Calibri" pitchFamily="34" charset="-122"/>
                <a:cs typeface="Calibri" pitchFamily="34" charset="-120"/>
              </a:rPr>
              <a:t>http://54.145.84.28:3000</a:t>
            </a:r>
            <a:endParaRPr lang="en-US" sz="750" dirty="0"/>
          </a:p>
        </p:txBody>
      </p:sp>
      <p:sp>
        <p:nvSpPr>
          <p:cNvPr id="27" name="Shape 25"/>
          <p:cNvSpPr/>
          <p:nvPr/>
        </p:nvSpPr>
        <p:spPr>
          <a:xfrm>
            <a:off x="365760" y="2331720"/>
            <a:ext cx="4114800" cy="1170432"/>
          </a:xfrm>
          <a:prstGeom prst="rect">
            <a:avLst/>
          </a:prstGeom>
          <a:solidFill>
            <a:srgbClr val="EFF6FF"/>
          </a:solidFill>
          <a:ln w="12700">
            <a:solidFill>
              <a:srgbClr val="BFDBFE"/>
            </a:solidFill>
            <a:prstDash val="solid"/>
          </a:ln>
          <a:effectLst>
            <a:outerShdw blurRad="101600" dist="25400" dir="8100000" algn="bl" rotWithShape="0">
              <a:srgbClr val="000000">
                <a:alpha val="7000"/>
              </a:srgbClr>
            </a:outerShdw>
          </a:effectLst>
        </p:spPr>
        <p:txBody>
          <a:bodyPr/>
          <a:lstStyle/>
          <a:p>
            <a:endParaRPr lang="en-US"/>
          </a:p>
        </p:txBody>
      </p:sp>
      <p:sp>
        <p:nvSpPr>
          <p:cNvPr id="28" name="Text 26"/>
          <p:cNvSpPr/>
          <p:nvPr/>
        </p:nvSpPr>
        <p:spPr>
          <a:xfrm>
            <a:off x="548639" y="2423160"/>
            <a:ext cx="1982419" cy="274320"/>
          </a:xfrm>
          <a:prstGeom prst="rect">
            <a:avLst/>
          </a:prstGeom>
          <a:noFill/>
          <a:ln/>
        </p:spPr>
        <p:txBody>
          <a:bodyPr wrap="square" lIns="0" tIns="0" rIns="0" bIns="0" rtlCol="0" anchor="ctr"/>
          <a:lstStyle/>
          <a:p>
            <a:r>
              <a:rPr lang="en-US" sz="1200" b="1" dirty="0">
                <a:solidFill>
                  <a:srgbClr val="1B2B5E"/>
                </a:solidFill>
                <a:latin typeface="Calibri" pitchFamily="34" charset="0"/>
                <a:ea typeface="Calibri" pitchFamily="34" charset="-122"/>
                <a:cs typeface="Calibri" pitchFamily="34" charset="-120"/>
              </a:rPr>
              <a:t>Run It Yourself:</a:t>
            </a:r>
            <a:endParaRPr lang="en-US" sz="1200" dirty="0"/>
          </a:p>
        </p:txBody>
      </p:sp>
      <p:sp>
        <p:nvSpPr>
          <p:cNvPr id="29" name="Text 27"/>
          <p:cNvSpPr/>
          <p:nvPr/>
        </p:nvSpPr>
        <p:spPr>
          <a:xfrm>
            <a:off x="548640" y="2743200"/>
            <a:ext cx="3749040" cy="274320"/>
          </a:xfrm>
          <a:prstGeom prst="rect">
            <a:avLst/>
          </a:prstGeom>
          <a:noFill/>
          <a:ln/>
        </p:spPr>
        <p:txBody>
          <a:bodyPr wrap="square" lIns="0" tIns="0" rIns="0" bIns="0" rtlCol="0" anchor="ctr"/>
          <a:lstStyle/>
          <a:p>
            <a:r>
              <a:rPr lang="en-US" sz="1100" dirty="0">
                <a:solidFill>
                  <a:srgbClr val="7C3AED"/>
                </a:solidFill>
                <a:latin typeface="Consolas" pitchFamily="34" charset="0"/>
                <a:ea typeface="Consolas" pitchFamily="34" charset="-122"/>
                <a:cs typeface="Consolas" pitchFamily="34" charset="-120"/>
              </a:rPr>
              <a:t>git clone + docker-compose up</a:t>
            </a:r>
            <a:endParaRPr lang="en-US" sz="1100" dirty="0"/>
          </a:p>
        </p:txBody>
      </p:sp>
      <p:sp>
        <p:nvSpPr>
          <p:cNvPr id="30" name="Text 28"/>
          <p:cNvSpPr/>
          <p:nvPr/>
        </p:nvSpPr>
        <p:spPr>
          <a:xfrm>
            <a:off x="548640" y="3054096"/>
            <a:ext cx="3749040" cy="320040"/>
          </a:xfrm>
          <a:prstGeom prst="rect">
            <a:avLst/>
          </a:prstGeom>
          <a:noFill/>
          <a:ln/>
        </p:spPr>
        <p:txBody>
          <a:bodyPr wrap="square" lIns="0" tIns="0" rIns="0" bIns="0" rtlCol="0" anchor="ctr"/>
          <a:lstStyle/>
          <a:p>
            <a:r>
              <a:rPr lang="en-US" sz="950" dirty="0">
                <a:solidFill>
                  <a:srgbClr val="6B7280"/>
                </a:solidFill>
                <a:latin typeface="Calibri" pitchFamily="34" charset="0"/>
                <a:ea typeface="Calibri" pitchFamily="34" charset="-122"/>
                <a:cs typeface="Calibri" pitchFamily="34" charset="-120"/>
              </a:rPr>
              <a:t>The full application runs locally in minutes. Clone the repo, run Docker Compose, and the stack is live.</a:t>
            </a:r>
            <a:endParaRPr lang="en-US" sz="950" dirty="0"/>
          </a:p>
        </p:txBody>
      </p:sp>
      <p:sp>
        <p:nvSpPr>
          <p:cNvPr id="31" name="Shape 29"/>
          <p:cNvSpPr/>
          <p:nvPr/>
        </p:nvSpPr>
        <p:spPr>
          <a:xfrm>
            <a:off x="4709160" y="2331720"/>
            <a:ext cx="4069080" cy="1170432"/>
          </a:xfrm>
          <a:prstGeom prst="rect">
            <a:avLst/>
          </a:prstGeom>
          <a:solidFill>
            <a:srgbClr val="F0FDF4"/>
          </a:solidFill>
          <a:ln w="12700">
            <a:solidFill>
              <a:srgbClr val="86EFAC"/>
            </a:solidFill>
            <a:prstDash val="solid"/>
          </a:ln>
          <a:effectLst>
            <a:outerShdw blurRad="101600" dist="25400" dir="8100000" algn="bl" rotWithShape="0">
              <a:srgbClr val="000000">
                <a:alpha val="7000"/>
              </a:srgbClr>
            </a:outerShdw>
          </a:effectLst>
        </p:spPr>
        <p:txBody>
          <a:bodyPr/>
          <a:lstStyle/>
          <a:p>
            <a:endParaRPr lang="en-US"/>
          </a:p>
        </p:txBody>
      </p:sp>
      <p:sp>
        <p:nvSpPr>
          <p:cNvPr id="32" name="Text 30"/>
          <p:cNvSpPr/>
          <p:nvPr/>
        </p:nvSpPr>
        <p:spPr>
          <a:xfrm>
            <a:off x="4892040" y="2423160"/>
            <a:ext cx="3200400" cy="27432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Deployment Target</a:t>
            </a:r>
            <a:endParaRPr lang="en-US" sz="1200" dirty="0"/>
          </a:p>
        </p:txBody>
      </p:sp>
      <p:sp>
        <p:nvSpPr>
          <p:cNvPr id="33" name="Text 31"/>
          <p:cNvSpPr/>
          <p:nvPr/>
        </p:nvSpPr>
        <p:spPr>
          <a:xfrm>
            <a:off x="4892040" y="2743200"/>
            <a:ext cx="3749040" cy="64008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AWS EC2 (app) + AWS RDS (MySQL)</a:t>
            </a:r>
            <a:endParaRPr lang="en-US" sz="1000" dirty="0"/>
          </a:p>
          <a:p>
            <a:pPr marL="0" indent="0">
              <a:buNone/>
            </a:pPr>
            <a:r>
              <a:rPr lang="en-US" sz="1000" dirty="0">
                <a:solidFill>
                  <a:srgbClr val="374151"/>
                </a:solidFill>
                <a:latin typeface="Calibri" pitchFamily="34" charset="0"/>
                <a:cs typeface="Calibri" pitchFamily="34" charset="-120"/>
              </a:rPr>
              <a:t>Dockerized frontend &amp; backend</a:t>
            </a:r>
            <a:endParaRPr lang="en-US" sz="1000" dirty="0"/>
          </a:p>
          <a:p>
            <a:pPr marL="0" indent="0">
              <a:buNone/>
            </a:pPr>
            <a:r>
              <a:rPr lang="en-US" sz="1000" dirty="0">
                <a:solidFill>
                  <a:srgbClr val="374151"/>
                </a:solidFill>
                <a:latin typeface="Calibri" pitchFamily="34" charset="0"/>
                <a:cs typeface="Calibri" pitchFamily="34" charset="-120"/>
              </a:rPr>
              <a:t>Environment Variables for secrets</a:t>
            </a:r>
            <a:endParaRPr lang="en-US" sz="1000" dirty="0"/>
          </a:p>
        </p:txBody>
      </p:sp>
      <p:sp>
        <p:nvSpPr>
          <p:cNvPr id="34" name="Shape 32"/>
          <p:cNvSpPr/>
          <p:nvPr/>
        </p:nvSpPr>
        <p:spPr>
          <a:xfrm>
            <a:off x="365760" y="3657600"/>
            <a:ext cx="8412480" cy="11704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5" name="Text 33"/>
          <p:cNvSpPr/>
          <p:nvPr/>
        </p:nvSpPr>
        <p:spPr>
          <a:xfrm>
            <a:off x="548639" y="3749040"/>
            <a:ext cx="2839453" cy="274320"/>
          </a:xfrm>
          <a:prstGeom prst="rect">
            <a:avLst/>
          </a:prstGeom>
          <a:noFill/>
          <a:ln/>
        </p:spPr>
        <p:txBody>
          <a:bodyPr wrap="square" lIns="0" tIns="0" rIns="0" bIns="0" rtlCol="0" anchor="ctr"/>
          <a:lstStyle/>
          <a:p>
            <a:r>
              <a:rPr lang="en-US" sz="1100" b="1" dirty="0">
                <a:solidFill>
                  <a:srgbClr val="1B2B5E"/>
                </a:solidFill>
                <a:latin typeface="Calibri" pitchFamily="34" charset="0"/>
                <a:ea typeface="Calibri" pitchFamily="34" charset="-122"/>
                <a:cs typeface="Calibri" pitchFamily="34" charset="-120"/>
              </a:rPr>
              <a:t>Link to Orderly: http://54.145.84.28:3000/</a:t>
            </a:r>
            <a:endParaRPr lang="en-US" sz="1100" dirty="0"/>
          </a:p>
        </p:txBody>
      </p:sp>
      <p:sp>
        <p:nvSpPr>
          <p:cNvPr id="36" name="Text 34"/>
          <p:cNvSpPr/>
          <p:nvPr/>
        </p:nvSpPr>
        <p:spPr>
          <a:xfrm>
            <a:off x="548640" y="4059936"/>
            <a:ext cx="8046720" cy="640080"/>
          </a:xfrm>
          <a:prstGeom prst="rect">
            <a:avLst/>
          </a:prstGeom>
          <a:noFill/>
          <a:ln/>
        </p:spPr>
        <p:txBody>
          <a:bodyPr wrap="square" lIns="0" tIns="0" rIns="0" bIns="0" rtlCol="0" anchor="ctr"/>
          <a:lstStyle/>
          <a:p>
            <a:r>
              <a:rPr lang="en-US" sz="1000" dirty="0">
                <a:solidFill>
                  <a:srgbClr val="374151"/>
                </a:solidFill>
                <a:latin typeface="Calibri" pitchFamily="34" charset="0"/>
                <a:cs typeface="Calibri" pitchFamily="34" charset="-120"/>
              </a:rPr>
              <a:t>Deployed April 25, 2026.</a:t>
            </a:r>
            <a:br>
              <a:rPr lang="en-US" sz="1000" dirty="0">
                <a:solidFill>
                  <a:srgbClr val="374151"/>
                </a:solidFill>
                <a:latin typeface="Calibri" pitchFamily="34" charset="0"/>
                <a:cs typeface="Calibri" pitchFamily="34" charset="-120"/>
              </a:rPr>
            </a:br>
            <a:r>
              <a:rPr lang="en-US" sz="1000" dirty="0">
                <a:solidFill>
                  <a:srgbClr val="374151"/>
                </a:solidFill>
                <a:latin typeface="Calibri" pitchFamily="34" charset="0"/>
                <a:cs typeface="Calibri" pitchFamily="34" charset="-120"/>
              </a:rPr>
              <a:t>AWS deployment is live and functional. Image rendering requires a final polish pass -- the local build is the recommended demo environment and reflects the full, complete experience.</a:t>
            </a:r>
            <a:endParaRPr lang="en-US" sz="1000" dirty="0"/>
          </a:p>
          <a:p>
            <a:pPr marL="0" indent="0">
              <a:buNone/>
            </a:pPr>
            <a:r>
              <a:rPr lang="en-US" sz="1000" dirty="0">
                <a:solidFill>
                  <a:srgbClr val="374151"/>
                </a:solidFill>
                <a:latin typeface="Calibri" pitchFamily="34" charset="0"/>
                <a:cs typeface="Calibri" pitchFamily="34" charset="-120"/>
              </a:rPr>
              <a:t> </a:t>
            </a:r>
            <a:endParaRPr lang="en-US" sz="1000" dirty="0"/>
          </a:p>
        </p:txBody>
      </p:sp>
      <p:sp>
        <p:nvSpPr>
          <p:cNvPr id="37" name="Text 2">
            <a:extLst>
              <a:ext uri="{FF2B5EF4-FFF2-40B4-BE49-F238E27FC236}">
                <a16:creationId xmlns:a16="http://schemas.microsoft.com/office/drawing/2014/main" id="{2CBB9275-92C1-853E-58CD-65D15166657B}"/>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Tristin Gatt</a:t>
            </a:r>
            <a:endParaRPr lang="en-US" sz="800" dirty="0"/>
          </a:p>
        </p:txBody>
      </p:sp>
      <p:sp>
        <p:nvSpPr>
          <p:cNvPr id="38" name="Text 3">
            <a:extLst>
              <a:ext uri="{FF2B5EF4-FFF2-40B4-BE49-F238E27FC236}">
                <a16:creationId xmlns:a16="http://schemas.microsoft.com/office/drawing/2014/main" id="{14EC1E94-0157-691C-546A-38B9A186586C}"/>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Software Architecture  &amp; Backend Lead</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TESTING &amp; QUALITY ASSURANCE</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Our QA Strategy</a:t>
            </a:r>
            <a:endParaRPr lang="en-US" sz="3200" dirty="0"/>
          </a:p>
        </p:txBody>
      </p:sp>
      <p:sp>
        <p:nvSpPr>
          <p:cNvPr id="4" name="Shape 2"/>
          <p:cNvSpPr/>
          <p:nvPr/>
        </p:nvSpPr>
        <p:spPr>
          <a:xfrm>
            <a:off x="365760" y="1353312"/>
            <a:ext cx="2606040" cy="502920"/>
          </a:xfrm>
          <a:prstGeom prst="rect">
            <a:avLst/>
          </a:prstGeom>
          <a:solidFill>
            <a:srgbClr val="7C3AED"/>
          </a:solidFill>
          <a:ln w="12700">
            <a:solidFill>
              <a:srgbClr val="7C3AED"/>
            </a:solidFill>
            <a:prstDash val="solid"/>
          </a:ln>
        </p:spPr>
        <p:txBody>
          <a:bodyPr/>
          <a:lstStyle/>
          <a:p>
            <a:endParaRPr lang="en-US" dirty="0"/>
          </a:p>
        </p:txBody>
      </p:sp>
      <p:pic>
        <p:nvPicPr>
          <p:cNvPr id="5" name="Image 0" descr="preencoded.png"/>
          <p:cNvPicPr>
            <a:picLocks noChangeAspect="1"/>
          </p:cNvPicPr>
          <p:nvPr/>
        </p:nvPicPr>
        <p:blipFill>
          <a:blip r:embed="rId3"/>
          <a:stretch>
            <a:fillRect/>
          </a:stretch>
        </p:blipFill>
        <p:spPr>
          <a:xfrm>
            <a:off x="502920" y="1426464"/>
            <a:ext cx="347472" cy="347472"/>
          </a:xfrm>
          <a:prstGeom prst="rect">
            <a:avLst/>
          </a:prstGeom>
        </p:spPr>
      </p:pic>
      <p:sp>
        <p:nvSpPr>
          <p:cNvPr id="6" name="Text 3"/>
          <p:cNvSpPr/>
          <p:nvPr/>
        </p:nvSpPr>
        <p:spPr>
          <a:xfrm>
            <a:off x="93268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cs typeface="Calibri" pitchFamily="34" charset="-120"/>
              </a:rPr>
              <a:t>Frontend Component Testing</a:t>
            </a:r>
            <a:endParaRPr lang="en-US" sz="1400" dirty="0"/>
          </a:p>
        </p:txBody>
      </p:sp>
      <p:sp>
        <p:nvSpPr>
          <p:cNvPr id="7" name="Shape 4"/>
          <p:cNvSpPr/>
          <p:nvPr/>
        </p:nvSpPr>
        <p:spPr>
          <a:xfrm>
            <a:off x="36576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8" name="Text 5"/>
          <p:cNvSpPr/>
          <p:nvPr/>
        </p:nvSpPr>
        <p:spPr>
          <a:xfrm>
            <a:off x="502920" y="2011680"/>
            <a:ext cx="2331720" cy="256032"/>
          </a:xfrm>
          <a:prstGeom prst="rect">
            <a:avLst/>
          </a:prstGeom>
          <a:noFill/>
          <a:ln/>
        </p:spPr>
        <p:txBody>
          <a:bodyPr wrap="square" lIns="0" tIns="0" rIns="0" bIns="0" rtlCol="0" anchor="ctr"/>
          <a:lstStyle/>
          <a:p>
            <a:pPr marL="0" indent="0">
              <a:buNone/>
            </a:pPr>
            <a:r>
              <a:rPr lang="en-US" sz="1000" b="1" dirty="0">
                <a:solidFill>
                  <a:srgbClr val="7C3AED"/>
                </a:solidFill>
                <a:latin typeface="Calibri" pitchFamily="34" charset="0"/>
                <a:ea typeface="Calibri" pitchFamily="34" charset="-122"/>
                <a:cs typeface="Calibri" pitchFamily="34" charset="-120"/>
              </a:rPr>
              <a:t>Tool: Jest + React</a:t>
            </a:r>
            <a:endParaRPr lang="en-US" sz="1000" dirty="0"/>
          </a:p>
        </p:txBody>
      </p:sp>
      <p:sp>
        <p:nvSpPr>
          <p:cNvPr id="9" name="Text 6"/>
          <p:cNvSpPr/>
          <p:nvPr/>
        </p:nvSpPr>
        <p:spPr>
          <a:xfrm>
            <a:off x="50292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626 Automated test passed</a:t>
            </a:r>
          </a:p>
          <a:p>
            <a:pPr marL="0" indent="0">
              <a:buNone/>
            </a:pPr>
            <a:r>
              <a:rPr lang="en-US" sz="1000" dirty="0">
                <a:solidFill>
                  <a:srgbClr val="374151"/>
                </a:solidFill>
                <a:latin typeface="Calibri" pitchFamily="34" charset="0"/>
                <a:cs typeface="Calibri" pitchFamily="34" charset="-120"/>
              </a:rPr>
              <a:t>54 Test Suites passing</a:t>
            </a:r>
          </a:p>
          <a:p>
            <a:pPr marL="0" indent="0">
              <a:buNone/>
            </a:pPr>
            <a:r>
              <a:rPr lang="en-US" sz="1000" dirty="0">
                <a:solidFill>
                  <a:srgbClr val="374151"/>
                </a:solidFill>
                <a:latin typeface="Calibri" pitchFamily="34" charset="0"/>
                <a:cs typeface="Calibri" pitchFamily="34" charset="-120"/>
              </a:rPr>
              <a:t>90%+ Test Coverage</a:t>
            </a:r>
          </a:p>
          <a:p>
            <a:pPr marL="0" indent="0">
              <a:buNone/>
            </a:pPr>
            <a:r>
              <a:rPr lang="en-US" sz="1000" dirty="0">
                <a:solidFill>
                  <a:srgbClr val="374151"/>
                </a:solidFill>
                <a:latin typeface="Calibri" pitchFamily="34" charset="0"/>
                <a:cs typeface="Calibri" pitchFamily="34" charset="-120"/>
              </a:rPr>
              <a:t>UI, Routing, Validation, Admin pages tested</a:t>
            </a:r>
            <a:endParaRPr lang="en-US" sz="1000" dirty="0"/>
          </a:p>
        </p:txBody>
      </p:sp>
      <p:sp>
        <p:nvSpPr>
          <p:cNvPr id="10" name="Shape 7"/>
          <p:cNvSpPr/>
          <p:nvPr/>
        </p:nvSpPr>
        <p:spPr>
          <a:xfrm>
            <a:off x="3200400" y="1353312"/>
            <a:ext cx="2606040" cy="502920"/>
          </a:xfrm>
          <a:prstGeom prst="rect">
            <a:avLst/>
          </a:prstGeom>
          <a:solidFill>
            <a:srgbClr val="1B2B5E"/>
          </a:solidFill>
          <a:ln w="12700">
            <a:solidFill>
              <a:srgbClr val="1B2B5E"/>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3337560" y="1426464"/>
            <a:ext cx="347472" cy="347472"/>
          </a:xfrm>
          <a:prstGeom prst="rect">
            <a:avLst/>
          </a:prstGeom>
        </p:spPr>
      </p:pic>
      <p:sp>
        <p:nvSpPr>
          <p:cNvPr id="12" name="Text 8"/>
          <p:cNvSpPr/>
          <p:nvPr/>
        </p:nvSpPr>
        <p:spPr>
          <a:xfrm>
            <a:off x="376732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Backend/API Testing</a:t>
            </a:r>
            <a:endParaRPr lang="en-US" sz="1400" dirty="0"/>
          </a:p>
        </p:txBody>
      </p:sp>
      <p:sp>
        <p:nvSpPr>
          <p:cNvPr id="13" name="Shape 9"/>
          <p:cNvSpPr/>
          <p:nvPr/>
        </p:nvSpPr>
        <p:spPr>
          <a:xfrm>
            <a:off x="320040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4" name="Text 10"/>
          <p:cNvSpPr/>
          <p:nvPr/>
        </p:nvSpPr>
        <p:spPr>
          <a:xfrm>
            <a:off x="3337560" y="2011680"/>
            <a:ext cx="2331720" cy="256032"/>
          </a:xfrm>
          <a:prstGeom prst="rect">
            <a:avLst/>
          </a:prstGeom>
          <a:noFill/>
          <a:ln/>
        </p:spPr>
        <p:txBody>
          <a:bodyPr wrap="square" lIns="0" tIns="0" rIns="0" bIns="0" rtlCol="0" anchor="ctr"/>
          <a:lstStyle/>
          <a:p>
            <a:pPr marL="0" indent="0">
              <a:buNone/>
            </a:pPr>
            <a:r>
              <a:rPr lang="en-US" sz="1000" b="1" dirty="0">
                <a:solidFill>
                  <a:srgbClr val="1B2B5E"/>
                </a:solidFill>
                <a:latin typeface="Calibri" pitchFamily="34" charset="0"/>
                <a:ea typeface="Calibri" pitchFamily="34" charset="-122"/>
                <a:cs typeface="Calibri" pitchFamily="34" charset="-120"/>
              </a:rPr>
              <a:t>Tool: PyTest + DRF</a:t>
            </a:r>
            <a:endParaRPr lang="en-US" sz="1000" dirty="0"/>
          </a:p>
        </p:txBody>
      </p:sp>
      <p:sp>
        <p:nvSpPr>
          <p:cNvPr id="15" name="Text 11"/>
          <p:cNvSpPr/>
          <p:nvPr/>
        </p:nvSpPr>
        <p:spPr>
          <a:xfrm>
            <a:off x="333756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301 Automated tests passed</a:t>
            </a:r>
            <a:endParaRPr lang="en-US" sz="1000" dirty="0"/>
          </a:p>
          <a:p>
            <a:pPr marL="0" indent="0">
              <a:buNone/>
            </a:pPr>
            <a:r>
              <a:rPr lang="en-US" sz="1000" dirty="0">
                <a:solidFill>
                  <a:srgbClr val="374151"/>
                </a:solidFill>
                <a:latin typeface="Calibri" pitchFamily="34" charset="0"/>
                <a:cs typeface="Calibri" pitchFamily="34" charset="-120"/>
              </a:rPr>
              <a:t>90%+ Backend Test Coverage</a:t>
            </a:r>
          </a:p>
          <a:p>
            <a:pPr marL="0" indent="0">
              <a:buNone/>
            </a:pPr>
            <a:r>
              <a:rPr lang="en-US" sz="1000" dirty="0">
                <a:solidFill>
                  <a:srgbClr val="374151"/>
                </a:solidFill>
                <a:latin typeface="Calibri" pitchFamily="34" charset="0"/>
                <a:cs typeface="Calibri" pitchFamily="34" charset="-120"/>
              </a:rPr>
              <a:t>API Validation, RBAC, Inventory tested</a:t>
            </a:r>
          </a:p>
          <a:p>
            <a:pPr marL="0" indent="0">
              <a:buNone/>
            </a:pPr>
            <a:r>
              <a:rPr lang="en-US" sz="1000" dirty="0">
                <a:solidFill>
                  <a:srgbClr val="374151"/>
                </a:solidFill>
                <a:latin typeface="Calibri" pitchFamily="34" charset="0"/>
                <a:cs typeface="Calibri" pitchFamily="34" charset="-120"/>
              </a:rPr>
              <a:t>Contract and Edge-Case coverage</a:t>
            </a:r>
            <a:endParaRPr lang="en-US" sz="1000" dirty="0"/>
          </a:p>
        </p:txBody>
      </p:sp>
      <p:sp>
        <p:nvSpPr>
          <p:cNvPr id="16" name="Shape 12"/>
          <p:cNvSpPr/>
          <p:nvPr/>
        </p:nvSpPr>
        <p:spPr>
          <a:xfrm>
            <a:off x="6035040" y="1353312"/>
            <a:ext cx="2606040" cy="502920"/>
          </a:xfrm>
          <a:prstGeom prst="rect">
            <a:avLst/>
          </a:prstGeom>
          <a:solidFill>
            <a:srgbClr val="10B981"/>
          </a:solidFill>
          <a:ln w="12700">
            <a:solidFill>
              <a:srgbClr val="10B981"/>
            </a:solidFill>
            <a:prstDash val="solid"/>
          </a:ln>
        </p:spPr>
        <p:txBody>
          <a:bodyPr/>
          <a:lstStyle/>
          <a:p>
            <a:endParaRPr lang="en-US"/>
          </a:p>
        </p:txBody>
      </p:sp>
      <p:pic>
        <p:nvPicPr>
          <p:cNvPr id="17" name="Image 2" descr="preencoded.png"/>
          <p:cNvPicPr>
            <a:picLocks noChangeAspect="1"/>
          </p:cNvPicPr>
          <p:nvPr/>
        </p:nvPicPr>
        <p:blipFill>
          <a:blip r:embed="rId5"/>
          <a:stretch>
            <a:fillRect/>
          </a:stretch>
        </p:blipFill>
        <p:spPr>
          <a:xfrm>
            <a:off x="6172200" y="1426464"/>
            <a:ext cx="347472" cy="347472"/>
          </a:xfrm>
          <a:prstGeom prst="rect">
            <a:avLst/>
          </a:prstGeom>
        </p:spPr>
      </p:pic>
      <p:sp>
        <p:nvSpPr>
          <p:cNvPr id="18" name="Text 13"/>
          <p:cNvSpPr/>
          <p:nvPr/>
        </p:nvSpPr>
        <p:spPr>
          <a:xfrm>
            <a:off x="660196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End-to-End Testing</a:t>
            </a:r>
            <a:endParaRPr lang="en-US" sz="1400" dirty="0"/>
          </a:p>
        </p:txBody>
      </p:sp>
      <p:sp>
        <p:nvSpPr>
          <p:cNvPr id="19" name="Shape 14"/>
          <p:cNvSpPr/>
          <p:nvPr/>
        </p:nvSpPr>
        <p:spPr>
          <a:xfrm>
            <a:off x="603504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0" name="Text 15"/>
          <p:cNvSpPr/>
          <p:nvPr/>
        </p:nvSpPr>
        <p:spPr>
          <a:xfrm>
            <a:off x="6172200" y="2011680"/>
            <a:ext cx="2331720" cy="256032"/>
          </a:xfrm>
          <a:prstGeom prst="rect">
            <a:avLst/>
          </a:prstGeom>
          <a:noFill/>
          <a:ln/>
        </p:spPr>
        <p:txBody>
          <a:bodyPr wrap="square" lIns="0" tIns="0" rIns="0" bIns="0" rtlCol="0" anchor="ctr"/>
          <a:lstStyle/>
          <a:p>
            <a:pPr marL="0" indent="0">
              <a:buNone/>
            </a:pPr>
            <a:r>
              <a:rPr lang="en-US" sz="1000" b="1" dirty="0">
                <a:solidFill>
                  <a:srgbClr val="10B981"/>
                </a:solidFill>
                <a:latin typeface="Calibri" pitchFamily="34" charset="0"/>
                <a:ea typeface="Calibri" pitchFamily="34" charset="-122"/>
                <a:cs typeface="Calibri" pitchFamily="34" charset="-120"/>
              </a:rPr>
              <a:t>Tool: Robot Framework</a:t>
            </a:r>
            <a:endParaRPr lang="en-US" sz="1000" dirty="0"/>
          </a:p>
        </p:txBody>
      </p:sp>
      <p:sp>
        <p:nvSpPr>
          <p:cNvPr id="21" name="Text 16"/>
          <p:cNvSpPr/>
          <p:nvPr/>
        </p:nvSpPr>
        <p:spPr>
          <a:xfrm>
            <a:off x="617220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166 Automated Tests passed</a:t>
            </a:r>
          </a:p>
          <a:p>
            <a:pPr marL="0" indent="0">
              <a:buNone/>
            </a:pPr>
            <a:r>
              <a:rPr lang="en-US" sz="1000" dirty="0">
                <a:solidFill>
                  <a:srgbClr val="374151"/>
                </a:solidFill>
                <a:latin typeface="Calibri" pitchFamily="34" charset="0"/>
                <a:cs typeface="Calibri" pitchFamily="34" charset="-120"/>
              </a:rPr>
              <a:t>Critical Customer Workflows validated</a:t>
            </a:r>
          </a:p>
          <a:p>
            <a:pPr marL="0" indent="0">
              <a:buNone/>
            </a:pPr>
            <a:r>
              <a:rPr lang="en-US" sz="1000" dirty="0"/>
              <a:t>Admin Workflows and Regression coverage</a:t>
            </a:r>
          </a:p>
          <a:p>
            <a:pPr marL="0" indent="0">
              <a:buNone/>
            </a:pPr>
            <a:r>
              <a:rPr lang="en-US" sz="1000" dirty="0"/>
              <a:t>100% pass rate</a:t>
            </a:r>
          </a:p>
        </p:txBody>
      </p:sp>
      <p:sp>
        <p:nvSpPr>
          <p:cNvPr id="22" name="Shape 17"/>
          <p:cNvSpPr/>
          <p:nvPr/>
        </p:nvSpPr>
        <p:spPr>
          <a:xfrm>
            <a:off x="365760" y="3493008"/>
            <a:ext cx="8412480" cy="1325880"/>
          </a:xfrm>
          <a:prstGeom prst="rect">
            <a:avLst/>
          </a:prstGeom>
          <a:solidFill>
            <a:srgbClr val="ECFDF5"/>
          </a:solidFill>
          <a:ln w="12700">
            <a:solidFill>
              <a:srgbClr val="6EE7B7"/>
            </a:solidFill>
            <a:prstDash val="solid"/>
          </a:ln>
          <a:effectLst>
            <a:outerShdw blurRad="101600" dist="25400" dir="8100000" algn="bl" rotWithShape="0">
              <a:srgbClr val="000000">
                <a:alpha val="7000"/>
              </a:srgbClr>
            </a:outerShdw>
          </a:effectLst>
        </p:spPr>
        <p:txBody>
          <a:bodyPr/>
          <a:lstStyle/>
          <a:p>
            <a:endParaRPr lang="en-US"/>
          </a:p>
        </p:txBody>
      </p:sp>
      <p:pic>
        <p:nvPicPr>
          <p:cNvPr id="23" name="Image 3" descr="preencoded.png"/>
          <p:cNvPicPr>
            <a:picLocks noChangeAspect="1"/>
          </p:cNvPicPr>
          <p:nvPr/>
        </p:nvPicPr>
        <p:blipFill>
          <a:blip r:embed="rId6"/>
          <a:stretch>
            <a:fillRect/>
          </a:stretch>
        </p:blipFill>
        <p:spPr>
          <a:xfrm>
            <a:off x="548640" y="3703320"/>
            <a:ext cx="438912" cy="438912"/>
          </a:xfrm>
          <a:prstGeom prst="rect">
            <a:avLst/>
          </a:prstGeom>
        </p:spPr>
      </p:pic>
      <p:sp>
        <p:nvSpPr>
          <p:cNvPr id="24" name="Text 18"/>
          <p:cNvSpPr/>
          <p:nvPr/>
        </p:nvSpPr>
        <p:spPr>
          <a:xfrm>
            <a:off x="1115568" y="3611880"/>
            <a:ext cx="3657600" cy="221285"/>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QA Lead: Kenny Bacdayan</a:t>
            </a:r>
            <a:endParaRPr lang="en-US" sz="1200" dirty="0"/>
          </a:p>
        </p:txBody>
      </p:sp>
      <p:sp>
        <p:nvSpPr>
          <p:cNvPr id="25" name="Text 19"/>
          <p:cNvSpPr/>
          <p:nvPr/>
        </p:nvSpPr>
        <p:spPr>
          <a:xfrm>
            <a:off x="1115568" y="3931920"/>
            <a:ext cx="7315200" cy="736092"/>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Lead  the quality assurance strategy and test suite across all five sprints. Authored test plans, test cases, acceptance coverage reports, automated test coverage, and CI regression validation. Owned end-to-end QA coordination and helped drive release readiness with no critical defects open. </a:t>
            </a:r>
          </a:p>
          <a:p>
            <a:pPr marL="0" indent="0">
              <a:buNone/>
            </a:pPr>
            <a:r>
              <a:rPr lang="en-US" sz="1000" dirty="0">
                <a:solidFill>
                  <a:srgbClr val="374151"/>
                </a:solidFill>
                <a:latin typeface="Calibri" pitchFamily="34" charset="0"/>
                <a:ea typeface="Calibri" pitchFamily="34" charset="-122"/>
                <a:cs typeface="Calibri" pitchFamily="34" charset="-120"/>
              </a:rPr>
              <a:t>Thorough and consistent throughout.</a:t>
            </a:r>
            <a:br>
              <a:rPr lang="en-US" sz="1000" dirty="0">
                <a:solidFill>
                  <a:srgbClr val="374151"/>
                </a:solidFill>
                <a:latin typeface="Calibri" pitchFamily="34" charset="0"/>
                <a:ea typeface="Calibri" pitchFamily="34" charset="-122"/>
                <a:cs typeface="Calibri" pitchFamily="34" charset="-120"/>
              </a:rPr>
            </a:br>
            <a:br>
              <a:rPr lang="en-US" sz="1000" dirty="0">
                <a:solidFill>
                  <a:srgbClr val="374151"/>
                </a:solidFill>
                <a:latin typeface="Calibri" pitchFamily="34" charset="0"/>
                <a:ea typeface="Calibri" pitchFamily="34" charset="-122"/>
                <a:cs typeface="Calibri" pitchFamily="34" charset="-120"/>
              </a:rPr>
            </a:br>
            <a:r>
              <a:rPr lang="en-US" sz="1000" dirty="0">
                <a:solidFill>
                  <a:srgbClr val="374151"/>
                </a:solidFill>
                <a:latin typeface="Calibri" pitchFamily="34" charset="0"/>
                <a:ea typeface="Calibri" pitchFamily="34" charset="-122"/>
                <a:cs typeface="Calibri" pitchFamily="34" charset="-120"/>
              </a:rPr>
              <a:t>Results: 90% test coverage achieved.</a:t>
            </a:r>
            <a:endParaRPr lang="en-US" sz="1000" dirty="0"/>
          </a:p>
        </p:txBody>
      </p:sp>
      <p:sp>
        <p:nvSpPr>
          <p:cNvPr id="26" name="Text 2">
            <a:extLst>
              <a:ext uri="{FF2B5EF4-FFF2-40B4-BE49-F238E27FC236}">
                <a16:creationId xmlns:a16="http://schemas.microsoft.com/office/drawing/2014/main" id="{1C7E3651-284E-1D36-B013-5B8020B37EF9}"/>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Kenny Bacdayan</a:t>
            </a:r>
            <a:endParaRPr lang="en-US" sz="800" dirty="0"/>
          </a:p>
        </p:txBody>
      </p:sp>
      <p:sp>
        <p:nvSpPr>
          <p:cNvPr id="27" name="Text 3">
            <a:extLst>
              <a:ext uri="{FF2B5EF4-FFF2-40B4-BE49-F238E27FC236}">
                <a16:creationId xmlns:a16="http://schemas.microsoft.com/office/drawing/2014/main" id="{C3BF64B5-6C68-0CA2-D527-EE038E4429D0}"/>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Quality Assurance &amp; Testing Lead</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5" name="Shape 3"/>
          <p:cNvSpPr/>
          <p:nvPr/>
        </p:nvSpPr>
        <p:spPr>
          <a:xfrm>
            <a:off x="457200" y="1188720"/>
            <a:ext cx="2606040" cy="2240280"/>
          </a:xfrm>
          <a:prstGeom prst="rect">
            <a:avLst/>
          </a:prstGeom>
          <a:solidFill>
            <a:srgbClr val="FFFFFF"/>
          </a:solidFill>
          <a:ln w="12700">
            <a:solidFill>
              <a:srgbClr val="FFFFFF"/>
            </a:solidFill>
            <a:prstDash val="solid"/>
          </a:ln>
          <a:effectLst>
            <a:outerShdw blurRad="101600" dist="38100" dir="8100000" algn="bl" rotWithShape="0">
              <a:srgbClr val="000000">
                <a:alpha val="18000"/>
              </a:srgbClr>
            </a:outerShdw>
          </a:effectLst>
        </p:spPr>
        <p:txBody>
          <a:bodyPr/>
          <a:lstStyle/>
          <a:p>
            <a:endParaRPr lang="en-US"/>
          </a:p>
        </p:txBody>
      </p:sp>
      <p:sp>
        <p:nvSpPr>
          <p:cNvPr id="6" name="Shape 4"/>
          <p:cNvSpPr/>
          <p:nvPr/>
        </p:nvSpPr>
        <p:spPr>
          <a:xfrm>
            <a:off x="457200" y="1188720"/>
            <a:ext cx="2606040" cy="347472"/>
          </a:xfrm>
          <a:prstGeom prst="rect">
            <a:avLst/>
          </a:prstGeom>
          <a:solidFill>
            <a:srgbClr val="7C3AED"/>
          </a:solidFill>
          <a:ln w="12700">
            <a:solidFill>
              <a:srgbClr val="7C3AED"/>
            </a:solidFill>
            <a:prstDash val="solid"/>
          </a:ln>
        </p:spPr>
        <p:txBody>
          <a:bodyPr/>
          <a:lstStyle/>
          <a:p>
            <a:endParaRPr lang="en-US"/>
          </a:p>
        </p:txBody>
      </p:sp>
      <p:pic>
        <p:nvPicPr>
          <p:cNvPr id="7" name="Image 0" descr="preencoded.png"/>
          <p:cNvPicPr>
            <a:picLocks noChangeAspect="1"/>
          </p:cNvPicPr>
          <p:nvPr/>
        </p:nvPicPr>
        <p:blipFill>
          <a:blip r:embed="rId3"/>
          <a:stretch>
            <a:fillRect/>
          </a:stretch>
        </p:blipFill>
        <p:spPr>
          <a:xfrm>
            <a:off x="594360" y="1252728"/>
            <a:ext cx="219456" cy="219456"/>
          </a:xfrm>
          <a:prstGeom prst="rect">
            <a:avLst/>
          </a:prstGeom>
        </p:spPr>
      </p:pic>
      <p:sp>
        <p:nvSpPr>
          <p:cNvPr id="8" name="Text 5"/>
          <p:cNvSpPr/>
          <p:nvPr/>
        </p:nvSpPr>
        <p:spPr>
          <a:xfrm>
            <a:off x="859536" y="1225296"/>
            <a:ext cx="2148840" cy="292608"/>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The Challenge</a:t>
            </a:r>
            <a:endParaRPr lang="en-US" sz="1100" dirty="0"/>
          </a:p>
        </p:txBody>
      </p:sp>
      <p:sp>
        <p:nvSpPr>
          <p:cNvPr id="9" name="Text 6"/>
          <p:cNvSpPr/>
          <p:nvPr/>
        </p:nvSpPr>
        <p:spPr>
          <a:xfrm>
            <a:off x="594360" y="1627632"/>
            <a:ext cx="2331720" cy="1737360"/>
          </a:xfrm>
          <a:prstGeom prst="rect">
            <a:avLst/>
          </a:prstGeom>
          <a:noFill/>
          <a:ln/>
        </p:spPr>
        <p:txBody>
          <a:bodyPr wrap="square" rtlCol="0" anchor="t"/>
          <a:lstStyle/>
          <a:p>
            <a:pPr marL="0" indent="0">
              <a:buNone/>
            </a:pPr>
            <a:r>
              <a:rPr lang="en-US" sz="1000" b="1" dirty="0">
                <a:solidFill>
                  <a:srgbClr val="1A1A2E"/>
                </a:solidFill>
                <a:latin typeface="Calibri" pitchFamily="34" charset="0"/>
                <a:ea typeface="Calibri" pitchFamily="34" charset="-122"/>
                <a:cs typeface="Calibri" pitchFamily="34" charset="-120"/>
              </a:rPr>
              <a:t>Feature Area / Test Name
</a:t>
            </a:r>
            <a:endParaRPr lang="en-US" sz="1000" dirty="0"/>
          </a:p>
          <a:p>
            <a:pPr marL="0" indent="0">
              <a:buNone/>
            </a:pPr>
            <a:r>
              <a:rPr lang="en-US" sz="1000" dirty="0">
                <a:solidFill>
                  <a:srgbClr val="64748B"/>
                </a:solidFill>
                <a:latin typeface="Calibri" pitchFamily="34" charset="0"/>
                <a:ea typeface="Calibri" pitchFamily="34" charset="-122"/>
                <a:cs typeface="Calibri" pitchFamily="34" charset="-120"/>
              </a:rPr>
              <a:t>[Placeholder: Describe what this test was validating — e.g., role-based access control on admin routes, or end-to-end order submission flow.]</a:t>
            </a:r>
            <a:endParaRPr lang="en-US" sz="1000" dirty="0"/>
          </a:p>
        </p:txBody>
      </p:sp>
      <p:sp>
        <p:nvSpPr>
          <p:cNvPr id="10" name="Shape 7"/>
          <p:cNvSpPr/>
          <p:nvPr/>
        </p:nvSpPr>
        <p:spPr>
          <a:xfrm>
            <a:off x="3273552" y="1188720"/>
            <a:ext cx="2606040" cy="2240280"/>
          </a:xfrm>
          <a:prstGeom prst="rect">
            <a:avLst/>
          </a:prstGeom>
          <a:solidFill>
            <a:srgbClr val="FFFFFF"/>
          </a:solidFill>
          <a:ln w="12700">
            <a:solidFill>
              <a:srgbClr val="FFFFFF"/>
            </a:solidFill>
            <a:prstDash val="solid"/>
          </a:ln>
          <a:effectLst>
            <a:outerShdw blurRad="101600" dist="38100" dir="8100000" algn="bl" rotWithShape="0">
              <a:srgbClr val="000000">
                <a:alpha val="18000"/>
              </a:srgbClr>
            </a:outerShdw>
          </a:effectLst>
        </p:spPr>
        <p:txBody>
          <a:bodyPr/>
          <a:lstStyle/>
          <a:p>
            <a:endParaRPr lang="en-US"/>
          </a:p>
        </p:txBody>
      </p:sp>
      <p:sp>
        <p:nvSpPr>
          <p:cNvPr id="11" name="Shape 8"/>
          <p:cNvSpPr/>
          <p:nvPr/>
        </p:nvSpPr>
        <p:spPr>
          <a:xfrm>
            <a:off x="3273552" y="1188720"/>
            <a:ext cx="2606040" cy="347472"/>
          </a:xfrm>
          <a:prstGeom prst="rect">
            <a:avLst/>
          </a:prstGeom>
          <a:solidFill>
            <a:srgbClr val="1E3A5F"/>
          </a:solidFill>
          <a:ln w="12700">
            <a:solidFill>
              <a:srgbClr val="1E3A5F"/>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3410712" y="1252728"/>
            <a:ext cx="219456" cy="219456"/>
          </a:xfrm>
          <a:prstGeom prst="rect">
            <a:avLst/>
          </a:prstGeom>
        </p:spPr>
      </p:pic>
      <p:sp>
        <p:nvSpPr>
          <p:cNvPr id="13" name="Text 9"/>
          <p:cNvSpPr/>
          <p:nvPr/>
        </p:nvSpPr>
        <p:spPr>
          <a:xfrm>
            <a:off x="3675888" y="1225296"/>
            <a:ext cx="2148840" cy="292608"/>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How It Was Identified</a:t>
            </a:r>
            <a:endParaRPr lang="en-US" sz="1100" dirty="0"/>
          </a:p>
        </p:txBody>
      </p:sp>
      <p:sp>
        <p:nvSpPr>
          <p:cNvPr id="14" name="Text 10"/>
          <p:cNvSpPr/>
          <p:nvPr/>
        </p:nvSpPr>
        <p:spPr>
          <a:xfrm>
            <a:off x="3410712" y="1627632"/>
            <a:ext cx="2331720" cy="1737360"/>
          </a:xfrm>
          <a:prstGeom prst="rect">
            <a:avLst/>
          </a:prstGeom>
          <a:noFill/>
          <a:ln/>
        </p:spPr>
        <p:txBody>
          <a:bodyPr wrap="square" rtlCol="0" anchor="t"/>
          <a:lstStyle/>
          <a:p>
            <a:pPr marL="0" indent="0">
              <a:buNone/>
            </a:pPr>
            <a:r>
              <a:rPr lang="en-US" sz="1000" b="1" dirty="0">
                <a:solidFill>
                  <a:srgbClr val="1A1A2E"/>
                </a:solidFill>
                <a:latin typeface="Calibri" pitchFamily="34" charset="0"/>
                <a:ea typeface="Calibri" pitchFamily="34" charset="-122"/>
                <a:cs typeface="Calibri" pitchFamily="34" charset="-120"/>
              </a:rPr>
              <a:t>Detection Method
</a:t>
            </a:r>
            <a:endParaRPr lang="en-US" sz="1000" dirty="0"/>
          </a:p>
          <a:p>
            <a:pPr marL="0" indent="0">
              <a:buNone/>
            </a:pPr>
            <a:r>
              <a:rPr lang="en-US" sz="1000" dirty="0">
                <a:solidFill>
                  <a:srgbClr val="64748B"/>
                </a:solidFill>
                <a:latin typeface="Calibri" pitchFamily="34" charset="0"/>
                <a:ea typeface="Calibri" pitchFamily="34" charset="-122"/>
                <a:cs typeface="Calibri" pitchFamily="34" charset="-120"/>
              </a:rPr>
              <a:t>[Placeholder: How was this caught? Automated test failure, manual QA pass, CI regression run, code review flag? 1–2 sentences on the moment of discovery.]</a:t>
            </a:r>
            <a:endParaRPr lang="en-US" sz="1000" dirty="0"/>
          </a:p>
        </p:txBody>
      </p:sp>
      <p:sp>
        <p:nvSpPr>
          <p:cNvPr id="15" name="Shape 11"/>
          <p:cNvSpPr/>
          <p:nvPr/>
        </p:nvSpPr>
        <p:spPr>
          <a:xfrm>
            <a:off x="6089904" y="1188720"/>
            <a:ext cx="2606040" cy="2240280"/>
          </a:xfrm>
          <a:prstGeom prst="rect">
            <a:avLst/>
          </a:prstGeom>
          <a:solidFill>
            <a:srgbClr val="FFFFFF"/>
          </a:solidFill>
          <a:ln w="12700">
            <a:solidFill>
              <a:srgbClr val="FFFFFF"/>
            </a:solidFill>
            <a:prstDash val="solid"/>
          </a:ln>
          <a:effectLst>
            <a:outerShdw blurRad="101600" dist="38100" dir="8100000" algn="bl" rotWithShape="0">
              <a:srgbClr val="000000">
                <a:alpha val="18000"/>
              </a:srgbClr>
            </a:outerShdw>
          </a:effectLst>
        </p:spPr>
        <p:txBody>
          <a:bodyPr/>
          <a:lstStyle/>
          <a:p>
            <a:endParaRPr lang="en-US"/>
          </a:p>
        </p:txBody>
      </p:sp>
      <p:sp>
        <p:nvSpPr>
          <p:cNvPr id="16" name="Shape 12"/>
          <p:cNvSpPr/>
          <p:nvPr/>
        </p:nvSpPr>
        <p:spPr>
          <a:xfrm>
            <a:off x="6089904" y="1188720"/>
            <a:ext cx="2606040" cy="347472"/>
          </a:xfrm>
          <a:prstGeom prst="rect">
            <a:avLst/>
          </a:prstGeom>
          <a:solidFill>
            <a:srgbClr val="009F6B"/>
          </a:solidFill>
          <a:ln w="12700">
            <a:solidFill>
              <a:srgbClr val="009F6B"/>
            </a:solidFill>
            <a:prstDash val="solid"/>
          </a:ln>
        </p:spPr>
        <p:txBody>
          <a:bodyPr/>
          <a:lstStyle/>
          <a:p>
            <a:endParaRPr lang="en-US"/>
          </a:p>
        </p:txBody>
      </p:sp>
      <p:pic>
        <p:nvPicPr>
          <p:cNvPr id="17" name="Image 2" descr="preencoded.png"/>
          <p:cNvPicPr>
            <a:picLocks noChangeAspect="1"/>
          </p:cNvPicPr>
          <p:nvPr/>
        </p:nvPicPr>
        <p:blipFill>
          <a:blip r:embed="rId5"/>
          <a:stretch>
            <a:fillRect/>
          </a:stretch>
        </p:blipFill>
        <p:spPr>
          <a:xfrm>
            <a:off x="6227064" y="1252728"/>
            <a:ext cx="219456" cy="219456"/>
          </a:xfrm>
          <a:prstGeom prst="rect">
            <a:avLst/>
          </a:prstGeom>
        </p:spPr>
      </p:pic>
      <p:sp>
        <p:nvSpPr>
          <p:cNvPr id="18" name="Text 13"/>
          <p:cNvSpPr/>
          <p:nvPr/>
        </p:nvSpPr>
        <p:spPr>
          <a:xfrm>
            <a:off x="6492240" y="1225296"/>
            <a:ext cx="2148840" cy="292608"/>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Resolution &amp; Outcome</a:t>
            </a:r>
            <a:endParaRPr lang="en-US" sz="1100" dirty="0"/>
          </a:p>
        </p:txBody>
      </p:sp>
      <p:sp>
        <p:nvSpPr>
          <p:cNvPr id="19" name="Text 14"/>
          <p:cNvSpPr/>
          <p:nvPr/>
        </p:nvSpPr>
        <p:spPr>
          <a:xfrm>
            <a:off x="6227064" y="1627632"/>
            <a:ext cx="2331720" cy="1737360"/>
          </a:xfrm>
          <a:prstGeom prst="rect">
            <a:avLst/>
          </a:prstGeom>
          <a:noFill/>
          <a:ln/>
        </p:spPr>
        <p:txBody>
          <a:bodyPr wrap="square" rtlCol="0" anchor="t"/>
          <a:lstStyle/>
          <a:p>
            <a:pPr marL="0" indent="0">
              <a:buNone/>
            </a:pPr>
            <a:r>
              <a:rPr lang="en-US" sz="1000" b="1" dirty="0">
                <a:solidFill>
                  <a:srgbClr val="1A1A2E"/>
                </a:solidFill>
                <a:latin typeface="Calibri" pitchFamily="34" charset="0"/>
                <a:ea typeface="Calibri" pitchFamily="34" charset="-122"/>
                <a:cs typeface="Calibri" pitchFamily="34" charset="-120"/>
              </a:rPr>
              <a:t>Team Collaboration
</a:t>
            </a:r>
            <a:endParaRPr lang="en-US" sz="1000" dirty="0"/>
          </a:p>
          <a:p>
            <a:pPr marL="0" indent="0">
              <a:buNone/>
            </a:pPr>
            <a:r>
              <a:rPr lang="en-US" sz="1000" dirty="0">
                <a:solidFill>
                  <a:srgbClr val="64748B"/>
                </a:solidFill>
                <a:latin typeface="Calibri" pitchFamily="34" charset="0"/>
                <a:ea typeface="Calibri" pitchFamily="34" charset="-122"/>
                <a:cs typeface="Calibri" pitchFamily="34" charset="-120"/>
              </a:rPr>
              <a:t>[Placeholder: Who flagged it, who fixed it, how it was verified. E.g., 'Kenny identified the failure, Tristin traced it to the API layer, Kim deployed the fix — retested and confirmed passing.']</a:t>
            </a:r>
            <a:endParaRPr lang="en-US" sz="1000" dirty="0"/>
          </a:p>
        </p:txBody>
      </p:sp>
      <p:sp>
        <p:nvSpPr>
          <p:cNvPr id="20" name="Shape 15"/>
          <p:cNvSpPr/>
          <p:nvPr/>
        </p:nvSpPr>
        <p:spPr>
          <a:xfrm>
            <a:off x="457200" y="3602736"/>
            <a:ext cx="8321040" cy="1325880"/>
          </a:xfrm>
          <a:prstGeom prst="rect">
            <a:avLst/>
          </a:prstGeom>
          <a:solidFill>
            <a:srgbClr val="0D2137"/>
          </a:solidFill>
          <a:ln w="12700">
            <a:solidFill>
              <a:srgbClr val="0D2137"/>
            </a:solidFill>
            <a:prstDash val="solid"/>
          </a:ln>
        </p:spPr>
        <p:txBody>
          <a:bodyPr/>
          <a:lstStyle/>
          <a:p>
            <a:endParaRPr lang="en-US"/>
          </a:p>
        </p:txBody>
      </p:sp>
      <p:sp>
        <p:nvSpPr>
          <p:cNvPr id="21" name="Shape 16"/>
          <p:cNvSpPr/>
          <p:nvPr/>
        </p:nvSpPr>
        <p:spPr>
          <a:xfrm>
            <a:off x="457200" y="3602736"/>
            <a:ext cx="64008" cy="1325880"/>
          </a:xfrm>
          <a:prstGeom prst="rect">
            <a:avLst/>
          </a:prstGeom>
          <a:solidFill>
            <a:srgbClr val="00C896"/>
          </a:solidFill>
          <a:ln w="12700">
            <a:solidFill>
              <a:srgbClr val="00C896"/>
            </a:solidFill>
            <a:prstDash val="solid"/>
          </a:ln>
        </p:spPr>
        <p:txBody>
          <a:bodyPr/>
          <a:lstStyle/>
          <a:p>
            <a:endParaRPr lang="en-US"/>
          </a:p>
        </p:txBody>
      </p:sp>
      <p:pic>
        <p:nvPicPr>
          <p:cNvPr id="22" name="Image 3" descr="preencoded.png"/>
          <p:cNvPicPr>
            <a:picLocks noChangeAspect="1"/>
          </p:cNvPicPr>
          <p:nvPr/>
        </p:nvPicPr>
        <p:blipFill>
          <a:blip r:embed="rId6"/>
          <a:stretch>
            <a:fillRect/>
          </a:stretch>
        </p:blipFill>
        <p:spPr>
          <a:xfrm>
            <a:off x="612648" y="4014216"/>
            <a:ext cx="320040" cy="320040"/>
          </a:xfrm>
          <a:prstGeom prst="rect">
            <a:avLst/>
          </a:prstGeom>
        </p:spPr>
      </p:pic>
      <p:sp>
        <p:nvSpPr>
          <p:cNvPr id="23" name="Text 17"/>
          <p:cNvSpPr/>
          <p:nvPr/>
        </p:nvSpPr>
        <p:spPr>
          <a:xfrm>
            <a:off x="1051560" y="3739896"/>
            <a:ext cx="7498080" cy="1097280"/>
          </a:xfrm>
          <a:prstGeom prst="rect">
            <a:avLst/>
          </a:prstGeom>
          <a:noFill/>
          <a:ln/>
        </p:spPr>
        <p:txBody>
          <a:bodyPr wrap="square" rtlCol="0" anchor="t"/>
          <a:lstStyle/>
          <a:p>
            <a:pPr marL="0" indent="0">
              <a:buNone/>
            </a:pPr>
            <a:r>
              <a:rPr lang="en-US" sz="1100" b="1" dirty="0">
                <a:solidFill>
                  <a:srgbClr val="FFFFFF"/>
                </a:solidFill>
                <a:latin typeface="Calibri" pitchFamily="34" charset="0"/>
                <a:ea typeface="Calibri" pitchFamily="34" charset="-122"/>
                <a:cs typeface="Calibri" pitchFamily="34" charset="-120"/>
              </a:rPr>
              <a:t>[ Key Highlight Place Holder ]
</a:t>
            </a:r>
            <a:endParaRPr lang="en-US" sz="1100" dirty="0"/>
          </a:p>
          <a:p>
            <a:pPr marL="0" indent="0">
              <a:buNone/>
            </a:pPr>
            <a:r>
              <a:rPr lang="en-US" sz="950" i="1" dirty="0">
                <a:solidFill>
                  <a:srgbClr val="B0C4D8"/>
                </a:solidFill>
                <a:latin typeface="Calibri" pitchFamily="34" charset="0"/>
                <a:ea typeface="Calibri" pitchFamily="34" charset="-122"/>
                <a:cs typeface="Calibri" pitchFamily="34" charset="-120"/>
              </a:rPr>
              <a:t>"Quality assurance isn't just about coverage numbers — it's about catching the right things at the right time. [This sprint/This test] is an example of the team's process working exactly as intended."</a:t>
            </a:r>
            <a:endParaRPr lang="en-US" sz="1100" dirty="0"/>
          </a:p>
        </p:txBody>
      </p:sp>
      <p:sp>
        <p:nvSpPr>
          <p:cNvPr id="24" name="Text 0">
            <a:extLst>
              <a:ext uri="{FF2B5EF4-FFF2-40B4-BE49-F238E27FC236}">
                <a16:creationId xmlns:a16="http://schemas.microsoft.com/office/drawing/2014/main" id="{CE4396FD-BDF5-670C-F4B3-30360F218813}"/>
              </a:ext>
            </a:extLst>
          </p:cNvPr>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TESTING &amp; QUALITY ASSURANCE</a:t>
            </a:r>
            <a:endParaRPr lang="en-US" sz="900" dirty="0"/>
          </a:p>
        </p:txBody>
      </p:sp>
      <p:sp>
        <p:nvSpPr>
          <p:cNvPr id="25" name="Text 1">
            <a:extLst>
              <a:ext uri="{FF2B5EF4-FFF2-40B4-BE49-F238E27FC236}">
                <a16:creationId xmlns:a16="http://schemas.microsoft.com/office/drawing/2014/main" id="{59ADE286-38D8-DCFF-A976-DED8A4930314}"/>
              </a:ext>
            </a:extLst>
          </p:cNvPr>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chemeClr val="bg1"/>
                </a:solidFill>
                <a:latin typeface="Calibri" pitchFamily="34" charset="0"/>
                <a:cs typeface="Calibri" pitchFamily="34" charset="-120"/>
              </a:rPr>
              <a:t>QA in Practice</a:t>
            </a:r>
            <a:endParaRPr lang="en-US" sz="3200" dirty="0">
              <a:solidFill>
                <a:schemeClr val="bg1"/>
              </a:solidFill>
            </a:endParaRPr>
          </a:p>
        </p:txBody>
      </p:sp>
      <p:sp>
        <p:nvSpPr>
          <p:cNvPr id="26" name="Text 2">
            <a:extLst>
              <a:ext uri="{FF2B5EF4-FFF2-40B4-BE49-F238E27FC236}">
                <a16:creationId xmlns:a16="http://schemas.microsoft.com/office/drawing/2014/main" id="{B47AD6B9-62CE-F716-2950-4C29024360E0}"/>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Kenny Bacdayan</a:t>
            </a:r>
            <a:endParaRPr lang="en-US" sz="800" dirty="0"/>
          </a:p>
        </p:txBody>
      </p:sp>
      <p:sp>
        <p:nvSpPr>
          <p:cNvPr id="27" name="Text 3">
            <a:extLst>
              <a:ext uri="{FF2B5EF4-FFF2-40B4-BE49-F238E27FC236}">
                <a16:creationId xmlns:a16="http://schemas.microsoft.com/office/drawing/2014/main" id="{E0AF6E58-2AB3-26D3-3F77-3015CBE22786}"/>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Quality Assurance &amp; Testing Lead</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USER FEEDBACK</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How Feedback Shaped the Product</a:t>
            </a:r>
            <a:endParaRPr lang="en-US" sz="3200" dirty="0"/>
          </a:p>
        </p:txBody>
      </p:sp>
      <p:sp>
        <p:nvSpPr>
          <p:cNvPr id="4" name="Shape 2"/>
          <p:cNvSpPr/>
          <p:nvPr/>
        </p:nvSpPr>
        <p:spPr>
          <a:xfrm>
            <a:off x="365760" y="135331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5" name="Shape 3"/>
          <p:cNvSpPr/>
          <p:nvPr/>
        </p:nvSpPr>
        <p:spPr>
          <a:xfrm>
            <a:off x="365760" y="1353312"/>
            <a:ext cx="109728" cy="1078992"/>
          </a:xfrm>
          <a:prstGeom prst="rect">
            <a:avLst/>
          </a:prstGeom>
          <a:solidFill>
            <a:srgbClr val="10B981"/>
          </a:solidFill>
          <a:ln w="12700">
            <a:solidFill>
              <a:srgbClr val="10B981"/>
            </a:solidFill>
            <a:prstDash val="solid"/>
          </a:ln>
        </p:spPr>
        <p:txBody>
          <a:bodyPr/>
          <a:lstStyle/>
          <a:p>
            <a:endParaRPr lang="en-US"/>
          </a:p>
        </p:txBody>
      </p:sp>
      <p:sp>
        <p:nvSpPr>
          <p:cNvPr id="6" name="Text 4"/>
          <p:cNvSpPr/>
          <p:nvPr/>
        </p:nvSpPr>
        <p:spPr>
          <a:xfrm>
            <a:off x="566928" y="144475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3 Review</a:t>
            </a:r>
            <a:endParaRPr lang="en-US" sz="1000" dirty="0"/>
          </a:p>
        </p:txBody>
      </p:sp>
      <p:sp>
        <p:nvSpPr>
          <p:cNvPr id="7" name="Text 5"/>
          <p:cNvSpPr/>
          <p:nvPr/>
        </p:nvSpPr>
        <p:spPr>
          <a:xfrm>
            <a:off x="566928" y="1719072"/>
            <a:ext cx="3794760" cy="594360"/>
          </a:xfrm>
          <a:prstGeom prst="rect">
            <a:avLst/>
          </a:prstGeom>
          <a:noFill/>
          <a:ln/>
        </p:spPr>
        <p:txBody>
          <a:bodyPr wrap="square" lIns="0" tIns="0" rIns="0" bIns="0" rtlCol="0" anchor="ctr"/>
          <a:lstStyle/>
          <a:p>
            <a:r>
              <a:rPr lang="en-US" sz="1000" dirty="0">
                <a:solidFill>
                  <a:srgbClr val="4A5568"/>
                </a:solidFill>
              </a:rPr>
              <a:t>Customer ordering flow — testers completed orders without instruction. UX approach confirmed on track.</a:t>
            </a:r>
            <a:endParaRPr lang="en-US" sz="1000" dirty="0"/>
          </a:p>
        </p:txBody>
      </p:sp>
      <p:sp>
        <p:nvSpPr>
          <p:cNvPr id="8" name="Shape 6"/>
          <p:cNvSpPr/>
          <p:nvPr/>
        </p:nvSpPr>
        <p:spPr>
          <a:xfrm>
            <a:off x="4709160" y="258775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9" name="Shape 7"/>
          <p:cNvSpPr/>
          <p:nvPr/>
        </p:nvSpPr>
        <p:spPr>
          <a:xfrm>
            <a:off x="4709160" y="2587752"/>
            <a:ext cx="109728" cy="1078992"/>
          </a:xfrm>
          <a:prstGeom prst="rect">
            <a:avLst/>
          </a:prstGeom>
          <a:solidFill>
            <a:srgbClr val="F59E0B"/>
          </a:solidFill>
          <a:ln w="12700">
            <a:solidFill>
              <a:srgbClr val="F59E0B"/>
            </a:solidFill>
            <a:prstDash val="solid"/>
          </a:ln>
        </p:spPr>
        <p:txBody>
          <a:bodyPr/>
          <a:lstStyle/>
          <a:p>
            <a:endParaRPr lang="en-US"/>
          </a:p>
        </p:txBody>
      </p:sp>
      <p:sp>
        <p:nvSpPr>
          <p:cNvPr id="10" name="Text 8"/>
          <p:cNvSpPr/>
          <p:nvPr/>
        </p:nvSpPr>
        <p:spPr>
          <a:xfrm>
            <a:off x="4910328" y="2679192"/>
            <a:ext cx="3200400" cy="256032"/>
          </a:xfrm>
          <a:prstGeom prst="rect">
            <a:avLst/>
          </a:prstGeom>
          <a:noFill/>
          <a:ln/>
        </p:spPr>
        <p:txBody>
          <a:bodyPr wrap="square" lIns="0" tIns="0" rIns="0" bIns="0" rtlCol="0" anchor="ctr"/>
          <a:lstStyle/>
          <a:p>
            <a:r>
              <a:rPr lang="en-US" sz="1000" b="1" dirty="0">
                <a:solidFill>
                  <a:srgbClr val="F59E0B"/>
                </a:solidFill>
                <a:latin typeface="Calibri" pitchFamily="34" charset="0"/>
                <a:ea typeface="Calibri" pitchFamily="34" charset="-122"/>
                <a:cs typeface="Calibri" pitchFamily="34" charset="-120"/>
              </a:rPr>
              <a:t>Sprint 4 Review → Sprint 5 Action</a:t>
            </a:r>
            <a:endParaRPr lang="en-US" sz="1000" dirty="0"/>
          </a:p>
        </p:txBody>
      </p:sp>
      <p:sp>
        <p:nvSpPr>
          <p:cNvPr id="11" name="Text 9"/>
          <p:cNvSpPr/>
          <p:nvPr/>
        </p:nvSpPr>
        <p:spPr>
          <a:xfrm>
            <a:off x="4910328" y="2953512"/>
            <a:ext cx="3794760" cy="594360"/>
          </a:xfrm>
          <a:prstGeom prst="rect">
            <a:avLst/>
          </a:prstGeom>
          <a:noFill/>
          <a:ln/>
        </p:spPr>
        <p:txBody>
          <a:bodyPr wrap="square" lIns="0" tIns="0" rIns="0" bIns="0" rtlCol="0" anchor="ctr"/>
          <a:lstStyle/>
          <a:p>
            <a:r>
              <a:rPr lang="en-US" sz="800" dirty="0">
                <a:solidFill>
                  <a:srgbClr val="4A5568"/>
                </a:solidFill>
              </a:rPr>
              <a:t>Admin dashboard navigation needed clearer labeling. Rachel flagged visibility gaps; Tristin suggested Trello labels for bug-found-in-review states.</a:t>
            </a:r>
          </a:p>
          <a:p>
            <a:endParaRPr lang="en-US" sz="800" dirty="0">
              <a:solidFill>
                <a:srgbClr val="4A5568"/>
              </a:solidFill>
            </a:endParaRPr>
          </a:p>
          <a:p>
            <a:endParaRPr lang="en-US" sz="800" dirty="0">
              <a:solidFill>
                <a:srgbClr val="4A5568"/>
              </a:solidFill>
            </a:endParaRPr>
          </a:p>
          <a:p>
            <a:endParaRPr lang="en-US" sz="800" dirty="0">
              <a:solidFill>
                <a:srgbClr val="4A5568"/>
              </a:solidFill>
            </a:endParaRPr>
          </a:p>
        </p:txBody>
      </p:sp>
      <p:sp>
        <p:nvSpPr>
          <p:cNvPr id="12" name="Shape 10"/>
          <p:cNvSpPr/>
          <p:nvPr/>
        </p:nvSpPr>
        <p:spPr>
          <a:xfrm>
            <a:off x="365760" y="258775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3" name="Shape 11"/>
          <p:cNvSpPr/>
          <p:nvPr/>
        </p:nvSpPr>
        <p:spPr>
          <a:xfrm>
            <a:off x="365760" y="2587752"/>
            <a:ext cx="109728" cy="1078992"/>
          </a:xfrm>
          <a:prstGeom prst="rect">
            <a:avLst/>
          </a:prstGeom>
          <a:solidFill>
            <a:srgbClr val="10B981"/>
          </a:solidFill>
          <a:ln w="12700">
            <a:solidFill>
              <a:srgbClr val="10B981"/>
            </a:solidFill>
            <a:prstDash val="solid"/>
          </a:ln>
        </p:spPr>
        <p:txBody>
          <a:bodyPr/>
          <a:lstStyle/>
          <a:p>
            <a:endParaRPr lang="en-US"/>
          </a:p>
        </p:txBody>
      </p:sp>
      <p:sp>
        <p:nvSpPr>
          <p:cNvPr id="14" name="Text 12"/>
          <p:cNvSpPr/>
          <p:nvPr/>
        </p:nvSpPr>
        <p:spPr>
          <a:xfrm>
            <a:off x="566928" y="267919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4 Review</a:t>
            </a:r>
            <a:endParaRPr lang="en-US" sz="1000" dirty="0"/>
          </a:p>
        </p:txBody>
      </p:sp>
      <p:sp>
        <p:nvSpPr>
          <p:cNvPr id="15" name="Text 13"/>
          <p:cNvSpPr/>
          <p:nvPr/>
        </p:nvSpPr>
        <p:spPr>
          <a:xfrm>
            <a:off x="566928" y="2953512"/>
            <a:ext cx="3794760" cy="594360"/>
          </a:xfrm>
          <a:prstGeom prst="rect">
            <a:avLst/>
          </a:prstGeom>
          <a:noFill/>
          <a:ln/>
        </p:spPr>
        <p:txBody>
          <a:bodyPr wrap="square" lIns="0" tIns="0" rIns="0" bIns="0" rtlCol="0" anchor="ctr"/>
          <a:lstStyle/>
          <a:p>
            <a:r>
              <a:rPr lang="en-US" sz="1000" dirty="0">
                <a:solidFill>
                  <a:srgbClr val="4A5568"/>
                </a:solidFill>
              </a:rPr>
              <a:t>Product CRUD performed consistently across create, edit, and delete. Confirmed production-ready with no iteration needed.</a:t>
            </a:r>
            <a:endParaRPr lang="en-US" sz="1000" dirty="0"/>
          </a:p>
        </p:txBody>
      </p:sp>
      <p:sp>
        <p:nvSpPr>
          <p:cNvPr id="20" name="Shape 18"/>
          <p:cNvSpPr/>
          <p:nvPr/>
        </p:nvSpPr>
        <p:spPr>
          <a:xfrm>
            <a:off x="365760" y="382219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1" name="Shape 19"/>
          <p:cNvSpPr/>
          <p:nvPr/>
        </p:nvSpPr>
        <p:spPr>
          <a:xfrm>
            <a:off x="365760" y="3822192"/>
            <a:ext cx="109728" cy="1078992"/>
          </a:xfrm>
          <a:prstGeom prst="rect">
            <a:avLst/>
          </a:prstGeom>
          <a:solidFill>
            <a:srgbClr val="10B981"/>
          </a:solidFill>
          <a:ln w="12700">
            <a:solidFill>
              <a:srgbClr val="10B981"/>
            </a:solidFill>
            <a:prstDash val="solid"/>
          </a:ln>
        </p:spPr>
        <p:txBody>
          <a:bodyPr/>
          <a:lstStyle/>
          <a:p>
            <a:endParaRPr lang="en-US"/>
          </a:p>
        </p:txBody>
      </p:sp>
      <p:sp>
        <p:nvSpPr>
          <p:cNvPr id="22" name="Text 20"/>
          <p:cNvSpPr/>
          <p:nvPr/>
        </p:nvSpPr>
        <p:spPr>
          <a:xfrm>
            <a:off x="566928" y="391363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5 Review</a:t>
            </a:r>
            <a:endParaRPr lang="en-US" sz="1000" dirty="0"/>
          </a:p>
        </p:txBody>
      </p:sp>
      <p:sp>
        <p:nvSpPr>
          <p:cNvPr id="23" name="Text 21"/>
          <p:cNvSpPr/>
          <p:nvPr/>
        </p:nvSpPr>
        <p:spPr>
          <a:xfrm>
            <a:off x="566928" y="4187952"/>
            <a:ext cx="3794760" cy="594360"/>
          </a:xfrm>
          <a:prstGeom prst="rect">
            <a:avLst/>
          </a:prstGeom>
          <a:noFill/>
          <a:ln/>
        </p:spPr>
        <p:txBody>
          <a:bodyPr wrap="square" lIns="0" tIns="0" rIns="0" bIns="0" rtlCol="0" anchor="ctr"/>
          <a:lstStyle/>
          <a:p>
            <a:r>
              <a:rPr lang="en-US" sz="1000" dirty="0">
                <a:solidFill>
                  <a:srgbClr val="374151"/>
                </a:solidFill>
                <a:latin typeface="Calibri" pitchFamily="34" charset="0"/>
                <a:ea typeface="Calibri" pitchFamily="34" charset="-122"/>
                <a:cs typeface="Calibri" pitchFamily="34" charset="-120"/>
              </a:rPr>
              <a:t>Sales dashboard charts and date filtering were praised as genuinely practical for non-technical business owners. No changes requested.</a:t>
            </a:r>
            <a:endParaRPr lang="en-US" sz="1000" dirty="0"/>
          </a:p>
        </p:txBody>
      </p:sp>
      <p:sp>
        <p:nvSpPr>
          <p:cNvPr id="24" name="Shape 22"/>
          <p:cNvSpPr/>
          <p:nvPr/>
        </p:nvSpPr>
        <p:spPr>
          <a:xfrm>
            <a:off x="4709160" y="382219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5" name="Shape 23"/>
          <p:cNvSpPr/>
          <p:nvPr/>
        </p:nvSpPr>
        <p:spPr>
          <a:xfrm>
            <a:off x="4709160" y="3822192"/>
            <a:ext cx="109728" cy="1078992"/>
          </a:xfrm>
          <a:prstGeom prst="rect">
            <a:avLst/>
          </a:prstGeom>
          <a:solidFill>
            <a:srgbClr val="1B2B5E"/>
          </a:solidFill>
          <a:ln w="12700">
            <a:solidFill>
              <a:srgbClr val="1B2B5E"/>
            </a:solidFill>
            <a:prstDash val="solid"/>
          </a:ln>
        </p:spPr>
        <p:txBody>
          <a:bodyPr/>
          <a:lstStyle/>
          <a:p>
            <a:endParaRPr lang="en-US"/>
          </a:p>
        </p:txBody>
      </p:sp>
      <p:sp>
        <p:nvSpPr>
          <p:cNvPr id="26" name="Text 24"/>
          <p:cNvSpPr/>
          <p:nvPr/>
        </p:nvSpPr>
        <p:spPr>
          <a:xfrm>
            <a:off x="4910328" y="3913632"/>
            <a:ext cx="3200400" cy="256032"/>
          </a:xfrm>
          <a:prstGeom prst="rect">
            <a:avLst/>
          </a:prstGeom>
          <a:noFill/>
          <a:ln/>
        </p:spPr>
        <p:txBody>
          <a:bodyPr wrap="square" lIns="0" tIns="0" rIns="0" bIns="0" rtlCol="0" anchor="ctr"/>
          <a:lstStyle/>
          <a:p>
            <a:r>
              <a:rPr lang="en-US" sz="1000" b="1" dirty="0">
                <a:solidFill>
                  <a:srgbClr val="1B2B5E"/>
                </a:solidFill>
                <a:latin typeface="Calibri" pitchFamily="34" charset="0"/>
                <a:ea typeface="Calibri" pitchFamily="34" charset="-122"/>
                <a:cs typeface="Calibri" pitchFamily="34" charset="-120"/>
              </a:rPr>
              <a:t>Code Review Process</a:t>
            </a:r>
            <a:endParaRPr lang="en-US" sz="1000" dirty="0"/>
          </a:p>
        </p:txBody>
      </p:sp>
      <p:sp>
        <p:nvSpPr>
          <p:cNvPr id="27" name="Text 25"/>
          <p:cNvSpPr/>
          <p:nvPr/>
        </p:nvSpPr>
        <p:spPr>
          <a:xfrm>
            <a:off x="4910328" y="4187952"/>
            <a:ext cx="3794760" cy="594360"/>
          </a:xfrm>
          <a:prstGeom prst="rect">
            <a:avLst/>
          </a:prstGeom>
          <a:noFill/>
          <a:ln/>
        </p:spPr>
        <p:txBody>
          <a:bodyPr wrap="square" lIns="0" tIns="0" rIns="0" bIns="0" rtlCol="0" anchor="ctr"/>
          <a:lstStyle/>
          <a:p>
            <a:r>
              <a:rPr lang="en-US" sz="800" dirty="0">
                <a:solidFill>
                  <a:srgbClr val="4A5568"/>
                </a:solidFill>
              </a:rPr>
              <a:t>24-hour review turn around with structured GitHub PR feedback — approve or request changes — enforced from Sprint 1. No code merged to main without a completed review.</a:t>
            </a:r>
            <a:endParaRPr lang="en-US" sz="800" dirty="0"/>
          </a:p>
          <a:p>
            <a:endParaRPr lang="en-US" sz="1000" dirty="0"/>
          </a:p>
        </p:txBody>
      </p:sp>
      <p:sp>
        <p:nvSpPr>
          <p:cNvPr id="28" name="Text 2">
            <a:extLst>
              <a:ext uri="{FF2B5EF4-FFF2-40B4-BE49-F238E27FC236}">
                <a16:creationId xmlns:a16="http://schemas.microsoft.com/office/drawing/2014/main" id="{4EEDEEB6-EEC4-DD58-2A79-B3EA681D70E8}"/>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Caleb Fowlkes</a:t>
            </a:r>
            <a:endParaRPr lang="en-US" sz="800" dirty="0"/>
          </a:p>
        </p:txBody>
      </p:sp>
      <p:sp>
        <p:nvSpPr>
          <p:cNvPr id="29" name="Text 3">
            <a:extLst>
              <a:ext uri="{FF2B5EF4-FFF2-40B4-BE49-F238E27FC236}">
                <a16:creationId xmlns:a16="http://schemas.microsoft.com/office/drawing/2014/main" id="{9FFFA49E-A104-E658-05CE-1111F8A13E1C}"/>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Code Review Lead &amp; Database Specialist</a:t>
            </a:r>
            <a:endParaRPr lang="en-US" sz="700" dirty="0"/>
          </a:p>
        </p:txBody>
      </p:sp>
      <p:sp>
        <p:nvSpPr>
          <p:cNvPr id="30" name="Text 4">
            <a:extLst>
              <a:ext uri="{FF2B5EF4-FFF2-40B4-BE49-F238E27FC236}">
                <a16:creationId xmlns:a16="http://schemas.microsoft.com/office/drawing/2014/main" id="{BF99FFB6-411B-6977-1725-E710AE1E6F97}"/>
              </a:ext>
            </a:extLst>
          </p:cNvPr>
          <p:cNvSpPr/>
          <p:nvPr/>
        </p:nvSpPr>
        <p:spPr>
          <a:xfrm>
            <a:off x="502920" y="996696"/>
            <a:ext cx="7772400" cy="201168"/>
          </a:xfrm>
          <a:prstGeom prst="rect">
            <a:avLst/>
          </a:prstGeom>
          <a:noFill/>
          <a:ln/>
        </p:spPr>
        <p:txBody>
          <a:bodyPr wrap="square" lIns="0" tIns="0" rIns="0" bIns="0" rtlCol="0" anchor="ctr"/>
          <a:lstStyle/>
          <a:p>
            <a:pPr marL="0" indent="0">
              <a:buNone/>
            </a:pPr>
            <a:r>
              <a:rPr lang="en-US" sz="1050" i="1" dirty="0">
                <a:solidFill>
                  <a:srgbClr val="4A5568"/>
                </a:solidFill>
              </a:rPr>
              <a:t>Our feedback loops came from within: sprint reviews, retrospectives, code reviews, and Trello.</a:t>
            </a:r>
            <a:endParaRPr lang="en-US" sz="1050" dirty="0"/>
          </a:p>
        </p:txBody>
      </p:sp>
      <p:sp>
        <p:nvSpPr>
          <p:cNvPr id="32" name="Shape 25">
            <a:extLst>
              <a:ext uri="{FF2B5EF4-FFF2-40B4-BE49-F238E27FC236}">
                <a16:creationId xmlns:a16="http://schemas.microsoft.com/office/drawing/2014/main" id="{980A22CD-34A5-D1F8-911E-EBA3B84511F7}"/>
              </a:ext>
            </a:extLst>
          </p:cNvPr>
          <p:cNvSpPr/>
          <p:nvPr/>
        </p:nvSpPr>
        <p:spPr>
          <a:xfrm>
            <a:off x="4910328" y="3328416"/>
            <a:ext cx="3730752" cy="6401"/>
          </a:xfrm>
          <a:prstGeom prst="rect">
            <a:avLst/>
          </a:prstGeom>
          <a:solidFill>
            <a:srgbClr val="E2E8F0"/>
          </a:solidFill>
          <a:ln w="12700">
            <a:solidFill>
              <a:srgbClr val="E2E8F0"/>
            </a:solidFill>
            <a:prstDash val="solid"/>
          </a:ln>
        </p:spPr>
        <p:txBody>
          <a:bodyPr/>
          <a:lstStyle/>
          <a:p>
            <a:endParaRPr lang="en-US"/>
          </a:p>
        </p:txBody>
      </p:sp>
      <p:sp>
        <p:nvSpPr>
          <p:cNvPr id="33" name="Shape 26">
            <a:extLst>
              <a:ext uri="{FF2B5EF4-FFF2-40B4-BE49-F238E27FC236}">
                <a16:creationId xmlns:a16="http://schemas.microsoft.com/office/drawing/2014/main" id="{D1396D5C-B676-982A-8C54-A6AF19462F26}"/>
              </a:ext>
            </a:extLst>
          </p:cNvPr>
          <p:cNvSpPr/>
          <p:nvPr/>
        </p:nvSpPr>
        <p:spPr>
          <a:xfrm>
            <a:off x="4910328" y="3383280"/>
            <a:ext cx="658368" cy="146304"/>
          </a:xfrm>
          <a:prstGeom prst="rect">
            <a:avLst/>
          </a:prstGeom>
          <a:solidFill>
            <a:srgbClr val="1D9E75"/>
          </a:solidFill>
          <a:ln w="12700">
            <a:solidFill>
              <a:srgbClr val="1D9E75"/>
            </a:solidFill>
            <a:prstDash val="solid"/>
          </a:ln>
        </p:spPr>
        <p:txBody>
          <a:bodyPr/>
          <a:lstStyle/>
          <a:p>
            <a:endParaRPr lang="en-US"/>
          </a:p>
        </p:txBody>
      </p:sp>
      <p:sp>
        <p:nvSpPr>
          <p:cNvPr id="34" name="Text 27">
            <a:extLst>
              <a:ext uri="{FF2B5EF4-FFF2-40B4-BE49-F238E27FC236}">
                <a16:creationId xmlns:a16="http://schemas.microsoft.com/office/drawing/2014/main" id="{8314ADC9-845F-6256-5256-4A7731660C6C}"/>
              </a:ext>
            </a:extLst>
          </p:cNvPr>
          <p:cNvSpPr/>
          <p:nvPr/>
        </p:nvSpPr>
        <p:spPr>
          <a:xfrm>
            <a:off x="4910328" y="3383280"/>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Sprint 5 Action</a:t>
            </a:r>
            <a:endParaRPr lang="en-US" sz="650" dirty="0"/>
          </a:p>
        </p:txBody>
      </p:sp>
      <p:sp>
        <p:nvSpPr>
          <p:cNvPr id="35" name="Text 28">
            <a:extLst>
              <a:ext uri="{FF2B5EF4-FFF2-40B4-BE49-F238E27FC236}">
                <a16:creationId xmlns:a16="http://schemas.microsoft.com/office/drawing/2014/main" id="{ACF7EE63-969F-A0D6-785C-E7B3A6DADBF5}"/>
              </a:ext>
            </a:extLst>
          </p:cNvPr>
          <p:cNvSpPr/>
          <p:nvPr/>
        </p:nvSpPr>
        <p:spPr>
          <a:xfrm>
            <a:off x="5628132" y="3401325"/>
            <a:ext cx="3017520" cy="256032"/>
          </a:xfrm>
          <a:prstGeom prst="rect">
            <a:avLst/>
          </a:prstGeom>
          <a:noFill/>
          <a:ln/>
        </p:spPr>
        <p:txBody>
          <a:bodyPr wrap="square" lIns="0" tIns="0" rIns="0" bIns="0" rtlCol="0" anchor="t"/>
          <a:lstStyle/>
          <a:p>
            <a:pPr marL="0" indent="0">
              <a:buNone/>
            </a:pPr>
            <a:r>
              <a:rPr lang="en-US" sz="700" dirty="0">
                <a:solidFill>
                  <a:srgbClr val="0D1B3E"/>
                </a:solidFill>
              </a:rPr>
              <a:t>Feedback logged as Sprint 5 UX cards (UX5.1). Resolved before code freeze.</a:t>
            </a:r>
            <a:endParaRPr lang="en-US" sz="700" dirty="0"/>
          </a:p>
        </p:txBody>
      </p:sp>
      <p:sp>
        <p:nvSpPr>
          <p:cNvPr id="37" name="Shape 2">
            <a:extLst>
              <a:ext uri="{FF2B5EF4-FFF2-40B4-BE49-F238E27FC236}">
                <a16:creationId xmlns:a16="http://schemas.microsoft.com/office/drawing/2014/main" id="{47636F82-9F28-2768-9AE3-938CA53D45D3}"/>
              </a:ext>
            </a:extLst>
          </p:cNvPr>
          <p:cNvSpPr/>
          <p:nvPr/>
        </p:nvSpPr>
        <p:spPr>
          <a:xfrm>
            <a:off x="4706732" y="1358609"/>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8" name="Shape 3">
            <a:extLst>
              <a:ext uri="{FF2B5EF4-FFF2-40B4-BE49-F238E27FC236}">
                <a16:creationId xmlns:a16="http://schemas.microsoft.com/office/drawing/2014/main" id="{2A48B2D2-2B50-6C29-787D-CEF0E63E5F25}"/>
              </a:ext>
            </a:extLst>
          </p:cNvPr>
          <p:cNvSpPr/>
          <p:nvPr/>
        </p:nvSpPr>
        <p:spPr>
          <a:xfrm>
            <a:off x="4706732" y="1358609"/>
            <a:ext cx="109728" cy="1078992"/>
          </a:xfrm>
          <a:prstGeom prst="rect">
            <a:avLst/>
          </a:prstGeom>
          <a:solidFill>
            <a:srgbClr val="10B981"/>
          </a:solidFill>
          <a:ln w="12700">
            <a:solidFill>
              <a:srgbClr val="10B981"/>
            </a:solidFill>
            <a:prstDash val="solid"/>
          </a:ln>
        </p:spPr>
        <p:txBody>
          <a:bodyPr/>
          <a:lstStyle/>
          <a:p>
            <a:endParaRPr lang="en-US"/>
          </a:p>
        </p:txBody>
      </p:sp>
      <p:sp>
        <p:nvSpPr>
          <p:cNvPr id="39" name="Text 4">
            <a:extLst>
              <a:ext uri="{FF2B5EF4-FFF2-40B4-BE49-F238E27FC236}">
                <a16:creationId xmlns:a16="http://schemas.microsoft.com/office/drawing/2014/main" id="{ABD5C1E4-E752-C240-AA3B-50B0D9FC3350}"/>
              </a:ext>
            </a:extLst>
          </p:cNvPr>
          <p:cNvSpPr/>
          <p:nvPr/>
        </p:nvSpPr>
        <p:spPr>
          <a:xfrm>
            <a:off x="4907900" y="1450049"/>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3 Retrospective</a:t>
            </a:r>
            <a:endParaRPr lang="en-US" sz="1000" dirty="0"/>
          </a:p>
        </p:txBody>
      </p:sp>
      <p:sp>
        <p:nvSpPr>
          <p:cNvPr id="40" name="Text 5">
            <a:extLst>
              <a:ext uri="{FF2B5EF4-FFF2-40B4-BE49-F238E27FC236}">
                <a16:creationId xmlns:a16="http://schemas.microsoft.com/office/drawing/2014/main" id="{D3603508-8F78-7CDE-7237-8DC609E5321A}"/>
              </a:ext>
            </a:extLst>
          </p:cNvPr>
          <p:cNvSpPr/>
          <p:nvPr/>
        </p:nvSpPr>
        <p:spPr>
          <a:xfrm>
            <a:off x="4907900" y="1724369"/>
            <a:ext cx="3794760" cy="594360"/>
          </a:xfrm>
          <a:prstGeom prst="rect">
            <a:avLst/>
          </a:prstGeom>
          <a:noFill/>
          <a:ln/>
        </p:spPr>
        <p:txBody>
          <a:bodyPr wrap="square" lIns="0" tIns="0" rIns="0" bIns="0" rtlCol="0" anchor="ctr"/>
          <a:lstStyle/>
          <a:p>
            <a:r>
              <a:rPr lang="en-US" sz="800" dirty="0">
                <a:solidFill>
                  <a:srgbClr val="4A5568"/>
                </a:solidFill>
              </a:rPr>
              <a:t>Cards mixing frontend and backend tasks caused confusion. Kenny flagged that features arriving late created a QA crunch.</a:t>
            </a:r>
          </a:p>
          <a:p>
            <a:endParaRPr lang="en-US" sz="800" dirty="0">
              <a:solidFill>
                <a:srgbClr val="4A5568"/>
              </a:solidFill>
            </a:endParaRPr>
          </a:p>
          <a:p>
            <a:endParaRPr lang="en-US" sz="800" dirty="0">
              <a:solidFill>
                <a:srgbClr val="4A5568"/>
              </a:solidFill>
            </a:endParaRPr>
          </a:p>
          <a:p>
            <a:endParaRPr lang="en-US" sz="800" dirty="0"/>
          </a:p>
        </p:txBody>
      </p:sp>
      <p:sp>
        <p:nvSpPr>
          <p:cNvPr id="41" name="Shape 13">
            <a:extLst>
              <a:ext uri="{FF2B5EF4-FFF2-40B4-BE49-F238E27FC236}">
                <a16:creationId xmlns:a16="http://schemas.microsoft.com/office/drawing/2014/main" id="{958B9CD0-DFA5-00F8-ED84-0A0371F5E20C}"/>
              </a:ext>
            </a:extLst>
          </p:cNvPr>
          <p:cNvSpPr/>
          <p:nvPr/>
        </p:nvSpPr>
        <p:spPr>
          <a:xfrm>
            <a:off x="4914900" y="2071841"/>
            <a:ext cx="3730752" cy="6401"/>
          </a:xfrm>
          <a:prstGeom prst="rect">
            <a:avLst/>
          </a:prstGeom>
          <a:solidFill>
            <a:srgbClr val="E2E8F0"/>
          </a:solidFill>
          <a:ln w="12700">
            <a:solidFill>
              <a:srgbClr val="E2E8F0"/>
            </a:solidFill>
            <a:prstDash val="solid"/>
          </a:ln>
        </p:spPr>
        <p:txBody>
          <a:bodyPr/>
          <a:lstStyle/>
          <a:p>
            <a:endParaRPr lang="en-US"/>
          </a:p>
        </p:txBody>
      </p:sp>
      <p:sp>
        <p:nvSpPr>
          <p:cNvPr id="42" name="Shape 14">
            <a:extLst>
              <a:ext uri="{FF2B5EF4-FFF2-40B4-BE49-F238E27FC236}">
                <a16:creationId xmlns:a16="http://schemas.microsoft.com/office/drawing/2014/main" id="{9330EADE-321C-BA36-DC81-7940CD2879DA}"/>
              </a:ext>
            </a:extLst>
          </p:cNvPr>
          <p:cNvSpPr/>
          <p:nvPr/>
        </p:nvSpPr>
        <p:spPr>
          <a:xfrm>
            <a:off x="4914900" y="2126705"/>
            <a:ext cx="658368" cy="146304"/>
          </a:xfrm>
          <a:prstGeom prst="rect">
            <a:avLst/>
          </a:prstGeom>
          <a:solidFill>
            <a:srgbClr val="1D9E75"/>
          </a:solidFill>
          <a:ln w="12700">
            <a:solidFill>
              <a:srgbClr val="1D9E75"/>
            </a:solidFill>
            <a:prstDash val="solid"/>
          </a:ln>
        </p:spPr>
        <p:txBody>
          <a:bodyPr/>
          <a:lstStyle/>
          <a:p>
            <a:endParaRPr lang="en-US"/>
          </a:p>
        </p:txBody>
      </p:sp>
      <p:sp>
        <p:nvSpPr>
          <p:cNvPr id="43" name="Text 15">
            <a:extLst>
              <a:ext uri="{FF2B5EF4-FFF2-40B4-BE49-F238E27FC236}">
                <a16:creationId xmlns:a16="http://schemas.microsoft.com/office/drawing/2014/main" id="{AD29FAC7-3A39-85C2-7B66-05EC9E70EFA0}"/>
              </a:ext>
            </a:extLst>
          </p:cNvPr>
          <p:cNvSpPr/>
          <p:nvPr/>
        </p:nvSpPr>
        <p:spPr>
          <a:xfrm>
            <a:off x="4914900" y="2126705"/>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Process Change</a:t>
            </a:r>
            <a:endParaRPr lang="en-US" sz="650" dirty="0"/>
          </a:p>
        </p:txBody>
      </p:sp>
      <p:sp>
        <p:nvSpPr>
          <p:cNvPr id="44" name="Text 16">
            <a:extLst>
              <a:ext uri="{FF2B5EF4-FFF2-40B4-BE49-F238E27FC236}">
                <a16:creationId xmlns:a16="http://schemas.microsoft.com/office/drawing/2014/main" id="{5ED944CA-C9DF-D067-9943-F131DDF84E8C}"/>
              </a:ext>
            </a:extLst>
          </p:cNvPr>
          <p:cNvSpPr/>
          <p:nvPr/>
        </p:nvSpPr>
        <p:spPr>
          <a:xfrm>
            <a:off x="5628132" y="2126705"/>
            <a:ext cx="3017520" cy="292608"/>
          </a:xfrm>
          <a:prstGeom prst="rect">
            <a:avLst/>
          </a:prstGeom>
          <a:noFill/>
          <a:ln/>
        </p:spPr>
        <p:txBody>
          <a:bodyPr wrap="square" lIns="0" tIns="0" rIns="0" bIns="0" rtlCol="0" anchor="t"/>
          <a:lstStyle/>
          <a:p>
            <a:pPr marL="0" indent="0">
              <a:buNone/>
            </a:pPr>
            <a:r>
              <a:rPr lang="en-US" sz="700" dirty="0">
                <a:solidFill>
                  <a:srgbClr val="0D1B3E"/>
                </a:solidFill>
              </a:rPr>
              <a:t>Cards split into explicit Frontend/Backend tracks from Sprint 4. Wave deadlines enforced to protect QA time.</a:t>
            </a:r>
            <a:endParaRPr lang="en-US" sz="700" dirty="0"/>
          </a:p>
        </p:txBody>
      </p:sp>
      <p:sp>
        <p:nvSpPr>
          <p:cNvPr id="45" name="Shape 37">
            <a:extLst>
              <a:ext uri="{FF2B5EF4-FFF2-40B4-BE49-F238E27FC236}">
                <a16:creationId xmlns:a16="http://schemas.microsoft.com/office/drawing/2014/main" id="{576DFE7B-28AA-F672-1DA7-08921F46272A}"/>
              </a:ext>
            </a:extLst>
          </p:cNvPr>
          <p:cNvSpPr/>
          <p:nvPr/>
        </p:nvSpPr>
        <p:spPr>
          <a:xfrm>
            <a:off x="4914900" y="4588459"/>
            <a:ext cx="3730752" cy="6401"/>
          </a:xfrm>
          <a:prstGeom prst="rect">
            <a:avLst/>
          </a:prstGeom>
          <a:solidFill>
            <a:srgbClr val="E2E8F0"/>
          </a:solidFill>
          <a:ln w="12700">
            <a:solidFill>
              <a:srgbClr val="E2E8F0"/>
            </a:solidFill>
            <a:prstDash val="solid"/>
          </a:ln>
        </p:spPr>
        <p:txBody>
          <a:bodyPr/>
          <a:lstStyle/>
          <a:p>
            <a:endParaRPr lang="en-US"/>
          </a:p>
        </p:txBody>
      </p:sp>
      <p:sp>
        <p:nvSpPr>
          <p:cNvPr id="46" name="Shape 38">
            <a:extLst>
              <a:ext uri="{FF2B5EF4-FFF2-40B4-BE49-F238E27FC236}">
                <a16:creationId xmlns:a16="http://schemas.microsoft.com/office/drawing/2014/main" id="{E30D4028-83AA-9EAE-51AF-7455FB49C3E9}"/>
              </a:ext>
            </a:extLst>
          </p:cNvPr>
          <p:cNvSpPr/>
          <p:nvPr/>
        </p:nvSpPr>
        <p:spPr>
          <a:xfrm>
            <a:off x="4914900" y="4643323"/>
            <a:ext cx="658368" cy="146304"/>
          </a:xfrm>
          <a:prstGeom prst="rect">
            <a:avLst/>
          </a:prstGeom>
          <a:solidFill>
            <a:srgbClr val="1D9E75"/>
          </a:solidFill>
          <a:ln w="12700">
            <a:solidFill>
              <a:srgbClr val="1D9E75"/>
            </a:solidFill>
            <a:prstDash val="solid"/>
          </a:ln>
        </p:spPr>
        <p:txBody>
          <a:bodyPr/>
          <a:lstStyle/>
          <a:p>
            <a:endParaRPr lang="en-US"/>
          </a:p>
        </p:txBody>
      </p:sp>
      <p:sp>
        <p:nvSpPr>
          <p:cNvPr id="47" name="Text 39">
            <a:extLst>
              <a:ext uri="{FF2B5EF4-FFF2-40B4-BE49-F238E27FC236}">
                <a16:creationId xmlns:a16="http://schemas.microsoft.com/office/drawing/2014/main" id="{24D17AEA-10AB-F03C-8E71-79E9F7C936B5}"/>
              </a:ext>
            </a:extLst>
          </p:cNvPr>
          <p:cNvSpPr/>
          <p:nvPr/>
        </p:nvSpPr>
        <p:spPr>
          <a:xfrm>
            <a:off x="4914900" y="4643323"/>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Consistent Result</a:t>
            </a:r>
            <a:endParaRPr lang="en-US" sz="650" dirty="0"/>
          </a:p>
        </p:txBody>
      </p:sp>
      <p:sp>
        <p:nvSpPr>
          <p:cNvPr id="48" name="Text 40">
            <a:extLst>
              <a:ext uri="{FF2B5EF4-FFF2-40B4-BE49-F238E27FC236}">
                <a16:creationId xmlns:a16="http://schemas.microsoft.com/office/drawing/2014/main" id="{FAE72B30-2127-BAA8-613E-A8BFC9CE5C1F}"/>
              </a:ext>
            </a:extLst>
          </p:cNvPr>
          <p:cNvSpPr/>
          <p:nvPr/>
        </p:nvSpPr>
        <p:spPr>
          <a:xfrm>
            <a:off x="5628132" y="4643323"/>
            <a:ext cx="3017520" cy="257861"/>
          </a:xfrm>
          <a:prstGeom prst="rect">
            <a:avLst/>
          </a:prstGeom>
          <a:noFill/>
          <a:ln/>
        </p:spPr>
        <p:txBody>
          <a:bodyPr wrap="square" lIns="0" tIns="0" rIns="0" bIns="0" rtlCol="0" anchor="t"/>
          <a:lstStyle/>
          <a:p>
            <a:pPr marL="0" indent="0">
              <a:buNone/>
            </a:pPr>
            <a:r>
              <a:rPr lang="en-US" sz="700" dirty="0">
                <a:solidFill>
                  <a:srgbClr val="0D1B3E"/>
                </a:solidFill>
              </a:rPr>
              <a:t>Every sprint closed with full PR coverage. Sprint 5: 16 PRs reviewed, 0 unreviewed merges.</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FUTURE PLANS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What’s Next: Orderly v1.1 </a:t>
            </a:r>
            <a:endParaRPr lang="en-US" sz="3200" dirty="0"/>
          </a:p>
        </p:txBody>
      </p:sp>
      <p:sp>
        <p:nvSpPr>
          <p:cNvPr id="28" name="Text 2">
            <a:extLst>
              <a:ext uri="{FF2B5EF4-FFF2-40B4-BE49-F238E27FC236}">
                <a16:creationId xmlns:a16="http://schemas.microsoft.com/office/drawing/2014/main" id="{93B97204-BE0B-678D-673D-BC9575231D2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Caleb Fowlkes</a:t>
            </a:r>
            <a:endParaRPr lang="en-US" sz="800" dirty="0"/>
          </a:p>
        </p:txBody>
      </p:sp>
      <p:sp>
        <p:nvSpPr>
          <p:cNvPr id="29" name="Text 3">
            <a:extLst>
              <a:ext uri="{FF2B5EF4-FFF2-40B4-BE49-F238E27FC236}">
                <a16:creationId xmlns:a16="http://schemas.microsoft.com/office/drawing/2014/main" id="{86DC4E17-F0A0-AFA9-5DB8-F5085D3A5151}"/>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Code Review Lead &amp; Database Specialist</a:t>
            </a:r>
            <a:endParaRPr lang="en-US" sz="700" dirty="0"/>
          </a:p>
        </p:txBody>
      </p:sp>
      <p:sp>
        <p:nvSpPr>
          <p:cNvPr id="30" name="Text 4">
            <a:extLst>
              <a:ext uri="{FF2B5EF4-FFF2-40B4-BE49-F238E27FC236}">
                <a16:creationId xmlns:a16="http://schemas.microsoft.com/office/drawing/2014/main" id="{CC32F1F1-C0AD-2119-7D01-28E1D0EECA93}"/>
              </a:ext>
            </a:extLst>
          </p:cNvPr>
          <p:cNvSpPr/>
          <p:nvPr/>
        </p:nvSpPr>
        <p:spPr>
          <a:xfrm>
            <a:off x="502920" y="996696"/>
            <a:ext cx="7772400" cy="201168"/>
          </a:xfrm>
          <a:prstGeom prst="rect">
            <a:avLst/>
          </a:prstGeom>
          <a:noFill/>
          <a:ln/>
        </p:spPr>
        <p:txBody>
          <a:bodyPr wrap="square" lIns="0" tIns="0" rIns="0" bIns="0" rtlCol="0" anchor="ctr"/>
          <a:lstStyle/>
          <a:p>
            <a:pPr marL="0" indent="0">
              <a:buNone/>
            </a:pPr>
            <a:r>
              <a:rPr lang="en-US" sz="1050" i="1" dirty="0">
                <a:solidFill>
                  <a:srgbClr val="4A5568"/>
                </a:solidFill>
              </a:rPr>
              <a:t>Deferred scope, known gaps, and natural next steps identified during development</a:t>
            </a:r>
            <a:endParaRPr lang="en-US" sz="1050" dirty="0"/>
          </a:p>
        </p:txBody>
      </p:sp>
      <p:sp>
        <p:nvSpPr>
          <p:cNvPr id="31" name="Shape 5">
            <a:extLst>
              <a:ext uri="{FF2B5EF4-FFF2-40B4-BE49-F238E27FC236}">
                <a16:creationId xmlns:a16="http://schemas.microsoft.com/office/drawing/2014/main" id="{A42247F5-4859-6ED6-521F-EEA49294F24E}"/>
              </a:ext>
            </a:extLst>
          </p:cNvPr>
          <p:cNvSpPr/>
          <p:nvPr/>
        </p:nvSpPr>
        <p:spPr>
          <a:xfrm>
            <a:off x="502920" y="1450860"/>
            <a:ext cx="2633472" cy="395192"/>
          </a:xfrm>
          <a:prstGeom prst="rect">
            <a:avLst/>
          </a:prstGeom>
          <a:solidFill>
            <a:srgbClr val="0D7A60"/>
          </a:solidFill>
          <a:ln w="12700">
            <a:solidFill>
              <a:srgbClr val="0D7A60"/>
            </a:solidFill>
            <a:prstDash val="solid"/>
          </a:ln>
        </p:spPr>
        <p:txBody>
          <a:bodyPr/>
          <a:lstStyle/>
          <a:p>
            <a:endParaRPr lang="en-US"/>
          </a:p>
        </p:txBody>
      </p:sp>
      <p:sp>
        <p:nvSpPr>
          <p:cNvPr id="32" name="Text 6">
            <a:extLst>
              <a:ext uri="{FF2B5EF4-FFF2-40B4-BE49-F238E27FC236}">
                <a16:creationId xmlns:a16="http://schemas.microsoft.com/office/drawing/2014/main" id="{E6CBA33B-8F58-2E05-1678-7880A44DF6D7}"/>
              </a:ext>
            </a:extLst>
          </p:cNvPr>
          <p:cNvSpPr/>
          <p:nvPr/>
        </p:nvSpPr>
        <p:spPr>
          <a:xfrm>
            <a:off x="594360" y="1511797"/>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Deferred Features</a:t>
            </a:r>
            <a:endParaRPr lang="en-US" sz="1000" dirty="0"/>
          </a:p>
        </p:txBody>
      </p:sp>
      <p:sp>
        <p:nvSpPr>
          <p:cNvPr id="33" name="Text 7">
            <a:extLst>
              <a:ext uri="{FF2B5EF4-FFF2-40B4-BE49-F238E27FC236}">
                <a16:creationId xmlns:a16="http://schemas.microsoft.com/office/drawing/2014/main" id="{636744EC-7C85-8265-BD13-FCA641E98C8E}"/>
              </a:ext>
            </a:extLst>
          </p:cNvPr>
          <p:cNvSpPr/>
          <p:nvPr/>
        </p:nvSpPr>
        <p:spPr>
          <a:xfrm>
            <a:off x="594360"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Cut to protect delivery</a:t>
            </a:r>
            <a:endParaRPr lang="en-US" sz="700" dirty="0"/>
          </a:p>
        </p:txBody>
      </p:sp>
      <p:sp>
        <p:nvSpPr>
          <p:cNvPr id="34" name="Shape 8">
            <a:extLst>
              <a:ext uri="{FF2B5EF4-FFF2-40B4-BE49-F238E27FC236}">
                <a16:creationId xmlns:a16="http://schemas.microsoft.com/office/drawing/2014/main" id="{38F09B5A-2014-6C9C-52A1-DD0A70A029B3}"/>
              </a:ext>
            </a:extLst>
          </p:cNvPr>
          <p:cNvSpPr/>
          <p:nvPr/>
        </p:nvSpPr>
        <p:spPr>
          <a:xfrm>
            <a:off x="502920"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35" name="Shape 9">
            <a:extLst>
              <a:ext uri="{FF2B5EF4-FFF2-40B4-BE49-F238E27FC236}">
                <a16:creationId xmlns:a16="http://schemas.microsoft.com/office/drawing/2014/main" id="{08BA47F3-C78E-68B8-46C1-7050757A4557}"/>
              </a:ext>
            </a:extLst>
          </p:cNvPr>
          <p:cNvSpPr/>
          <p:nvPr/>
        </p:nvSpPr>
        <p:spPr>
          <a:xfrm>
            <a:off x="502920" y="1926348"/>
            <a:ext cx="36576" cy="736092"/>
          </a:xfrm>
          <a:prstGeom prst="rect">
            <a:avLst/>
          </a:prstGeom>
          <a:solidFill>
            <a:srgbClr val="0D7A60"/>
          </a:solidFill>
          <a:ln w="12700">
            <a:solidFill>
              <a:srgbClr val="0D7A60"/>
            </a:solidFill>
            <a:prstDash val="solid"/>
          </a:ln>
        </p:spPr>
        <p:txBody>
          <a:bodyPr/>
          <a:lstStyle/>
          <a:p>
            <a:endParaRPr lang="en-US"/>
          </a:p>
        </p:txBody>
      </p:sp>
      <p:sp>
        <p:nvSpPr>
          <p:cNvPr id="36" name="Text 10">
            <a:extLst>
              <a:ext uri="{FF2B5EF4-FFF2-40B4-BE49-F238E27FC236}">
                <a16:creationId xmlns:a16="http://schemas.microsoft.com/office/drawing/2014/main" id="{04068B2A-8F44-25C8-E685-96B26EC8B52D}"/>
              </a:ext>
            </a:extLst>
          </p:cNvPr>
          <p:cNvSpPr/>
          <p:nvPr/>
        </p:nvSpPr>
        <p:spPr>
          <a:xfrm>
            <a:off x="612648"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Modifier Management</a:t>
            </a:r>
            <a:endParaRPr lang="en-US" sz="950" dirty="0"/>
          </a:p>
        </p:txBody>
      </p:sp>
      <p:sp>
        <p:nvSpPr>
          <p:cNvPr id="37" name="Text 11">
            <a:extLst>
              <a:ext uri="{FF2B5EF4-FFF2-40B4-BE49-F238E27FC236}">
                <a16:creationId xmlns:a16="http://schemas.microsoft.com/office/drawing/2014/main" id="{F62E55F8-98DD-1424-E012-FEEFA35B90B5}"/>
              </a:ext>
            </a:extLst>
          </p:cNvPr>
          <p:cNvSpPr/>
          <p:nvPr/>
        </p:nvSpPr>
        <p:spPr>
          <a:xfrm>
            <a:off x="612648"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Admin UI for creating and editing product modifiers — data model is ready, UI was deferred.</a:t>
            </a:r>
            <a:endParaRPr lang="en-US" sz="800" dirty="0"/>
          </a:p>
        </p:txBody>
      </p:sp>
      <p:sp>
        <p:nvSpPr>
          <p:cNvPr id="38" name="Shape 12">
            <a:extLst>
              <a:ext uri="{FF2B5EF4-FFF2-40B4-BE49-F238E27FC236}">
                <a16:creationId xmlns:a16="http://schemas.microsoft.com/office/drawing/2014/main" id="{E0845B4A-F5C2-811A-3568-EA9EDFF21C8B}"/>
              </a:ext>
            </a:extLst>
          </p:cNvPr>
          <p:cNvSpPr/>
          <p:nvPr/>
        </p:nvSpPr>
        <p:spPr>
          <a:xfrm>
            <a:off x="502920"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39" name="Shape 13">
            <a:extLst>
              <a:ext uri="{FF2B5EF4-FFF2-40B4-BE49-F238E27FC236}">
                <a16:creationId xmlns:a16="http://schemas.microsoft.com/office/drawing/2014/main" id="{30D7265B-7DC0-145A-C0B5-FB301278D7A8}"/>
              </a:ext>
            </a:extLst>
          </p:cNvPr>
          <p:cNvSpPr/>
          <p:nvPr/>
        </p:nvSpPr>
        <p:spPr>
          <a:xfrm>
            <a:off x="502920" y="2757955"/>
            <a:ext cx="36576" cy="736092"/>
          </a:xfrm>
          <a:prstGeom prst="rect">
            <a:avLst/>
          </a:prstGeom>
          <a:solidFill>
            <a:srgbClr val="0D7A60"/>
          </a:solidFill>
          <a:ln w="12700">
            <a:solidFill>
              <a:srgbClr val="0D7A60"/>
            </a:solidFill>
            <a:prstDash val="solid"/>
          </a:ln>
        </p:spPr>
        <p:txBody>
          <a:bodyPr/>
          <a:lstStyle/>
          <a:p>
            <a:endParaRPr lang="en-US"/>
          </a:p>
        </p:txBody>
      </p:sp>
      <p:sp>
        <p:nvSpPr>
          <p:cNvPr id="40" name="Text 14">
            <a:extLst>
              <a:ext uri="{FF2B5EF4-FFF2-40B4-BE49-F238E27FC236}">
                <a16:creationId xmlns:a16="http://schemas.microsoft.com/office/drawing/2014/main" id="{11974F06-E513-215B-D23B-A6B7F9110C2F}"/>
              </a:ext>
            </a:extLst>
          </p:cNvPr>
          <p:cNvSpPr/>
          <p:nvPr/>
        </p:nvSpPr>
        <p:spPr>
          <a:xfrm>
            <a:off x="612648"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Supplier Management</a:t>
            </a:r>
            <a:endParaRPr lang="en-US" sz="950" dirty="0"/>
          </a:p>
        </p:txBody>
      </p:sp>
      <p:sp>
        <p:nvSpPr>
          <p:cNvPr id="41" name="Text 15">
            <a:extLst>
              <a:ext uri="{FF2B5EF4-FFF2-40B4-BE49-F238E27FC236}">
                <a16:creationId xmlns:a16="http://schemas.microsoft.com/office/drawing/2014/main" id="{15E306FB-380C-5F9E-E29D-628EB6D7C561}"/>
              </a:ext>
            </a:extLst>
          </p:cNvPr>
          <p:cNvSpPr/>
          <p:nvPr/>
        </p:nvSpPr>
        <p:spPr>
          <a:xfrm>
            <a:off x="612648"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Full supplier CRUD was out of scope for v1.0. Backend model exists and is integration-ready.</a:t>
            </a:r>
            <a:endParaRPr lang="en-US" sz="800" dirty="0"/>
          </a:p>
        </p:txBody>
      </p:sp>
      <p:sp>
        <p:nvSpPr>
          <p:cNvPr id="42" name="Shape 16">
            <a:extLst>
              <a:ext uri="{FF2B5EF4-FFF2-40B4-BE49-F238E27FC236}">
                <a16:creationId xmlns:a16="http://schemas.microsoft.com/office/drawing/2014/main" id="{918D5C5F-301D-27E5-984F-645B8E588825}"/>
              </a:ext>
            </a:extLst>
          </p:cNvPr>
          <p:cNvSpPr/>
          <p:nvPr/>
        </p:nvSpPr>
        <p:spPr>
          <a:xfrm>
            <a:off x="502920"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43" name="Shape 17">
            <a:extLst>
              <a:ext uri="{FF2B5EF4-FFF2-40B4-BE49-F238E27FC236}">
                <a16:creationId xmlns:a16="http://schemas.microsoft.com/office/drawing/2014/main" id="{569239B9-F50F-0DE8-BDBB-F81C472A077F}"/>
              </a:ext>
            </a:extLst>
          </p:cNvPr>
          <p:cNvSpPr/>
          <p:nvPr/>
        </p:nvSpPr>
        <p:spPr>
          <a:xfrm>
            <a:off x="502920" y="3574343"/>
            <a:ext cx="36576" cy="736092"/>
          </a:xfrm>
          <a:prstGeom prst="rect">
            <a:avLst/>
          </a:prstGeom>
          <a:solidFill>
            <a:srgbClr val="0D7A60"/>
          </a:solidFill>
          <a:ln w="12700">
            <a:solidFill>
              <a:srgbClr val="0D7A60"/>
            </a:solidFill>
            <a:prstDash val="solid"/>
          </a:ln>
        </p:spPr>
        <p:txBody>
          <a:bodyPr/>
          <a:lstStyle/>
          <a:p>
            <a:endParaRPr lang="en-US"/>
          </a:p>
        </p:txBody>
      </p:sp>
      <p:sp>
        <p:nvSpPr>
          <p:cNvPr id="44" name="Text 18">
            <a:extLst>
              <a:ext uri="{FF2B5EF4-FFF2-40B4-BE49-F238E27FC236}">
                <a16:creationId xmlns:a16="http://schemas.microsoft.com/office/drawing/2014/main" id="{B1CE4135-C263-64E7-1C18-823DD690269D}"/>
              </a:ext>
            </a:extLst>
          </p:cNvPr>
          <p:cNvSpPr/>
          <p:nvPr/>
        </p:nvSpPr>
        <p:spPr>
          <a:xfrm>
            <a:off x="612648"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Email Notifications</a:t>
            </a:r>
            <a:endParaRPr lang="en-US" sz="950" dirty="0"/>
          </a:p>
        </p:txBody>
      </p:sp>
      <p:sp>
        <p:nvSpPr>
          <p:cNvPr id="45" name="Text 19">
            <a:extLst>
              <a:ext uri="{FF2B5EF4-FFF2-40B4-BE49-F238E27FC236}">
                <a16:creationId xmlns:a16="http://schemas.microsoft.com/office/drawing/2014/main" id="{454D52D1-8723-4316-CD5B-4D136CBFB56C}"/>
              </a:ext>
            </a:extLst>
          </p:cNvPr>
          <p:cNvSpPr/>
          <p:nvPr/>
        </p:nvSpPr>
        <p:spPr>
          <a:xfrm>
            <a:off x="612648"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Order confirmation and status emails — backend hooks are in place, delivery layer is next.</a:t>
            </a:r>
            <a:endParaRPr lang="en-US" sz="800" dirty="0"/>
          </a:p>
        </p:txBody>
      </p:sp>
      <p:sp>
        <p:nvSpPr>
          <p:cNvPr id="46" name="Shape 20">
            <a:extLst>
              <a:ext uri="{FF2B5EF4-FFF2-40B4-BE49-F238E27FC236}">
                <a16:creationId xmlns:a16="http://schemas.microsoft.com/office/drawing/2014/main" id="{B7EFC990-3D7B-B8A6-1D64-5659EEAEA8CE}"/>
              </a:ext>
            </a:extLst>
          </p:cNvPr>
          <p:cNvSpPr/>
          <p:nvPr/>
        </p:nvSpPr>
        <p:spPr>
          <a:xfrm>
            <a:off x="3227832" y="1450860"/>
            <a:ext cx="2633472" cy="395192"/>
          </a:xfrm>
          <a:prstGeom prst="rect">
            <a:avLst/>
          </a:prstGeom>
          <a:solidFill>
            <a:srgbClr val="1D9E75"/>
          </a:solidFill>
          <a:ln w="12700">
            <a:solidFill>
              <a:srgbClr val="1D9E75"/>
            </a:solidFill>
            <a:prstDash val="solid"/>
          </a:ln>
        </p:spPr>
        <p:txBody>
          <a:bodyPr/>
          <a:lstStyle/>
          <a:p>
            <a:endParaRPr lang="en-US"/>
          </a:p>
        </p:txBody>
      </p:sp>
      <p:sp>
        <p:nvSpPr>
          <p:cNvPr id="47" name="Text 21">
            <a:extLst>
              <a:ext uri="{FF2B5EF4-FFF2-40B4-BE49-F238E27FC236}">
                <a16:creationId xmlns:a16="http://schemas.microsoft.com/office/drawing/2014/main" id="{CD438650-B3A1-F26F-77C9-306988B52ACA}"/>
              </a:ext>
            </a:extLst>
          </p:cNvPr>
          <p:cNvSpPr/>
          <p:nvPr/>
        </p:nvSpPr>
        <p:spPr>
          <a:xfrm>
            <a:off x="3319272" y="1517904"/>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Quality &amp; Stability</a:t>
            </a:r>
            <a:endParaRPr lang="en-US" sz="1000" dirty="0"/>
          </a:p>
        </p:txBody>
      </p:sp>
      <p:sp>
        <p:nvSpPr>
          <p:cNvPr id="48" name="Text 22">
            <a:extLst>
              <a:ext uri="{FF2B5EF4-FFF2-40B4-BE49-F238E27FC236}">
                <a16:creationId xmlns:a16="http://schemas.microsoft.com/office/drawing/2014/main" id="{094F9A77-F080-5079-E384-3FE131072C45}"/>
              </a:ext>
            </a:extLst>
          </p:cNvPr>
          <p:cNvSpPr/>
          <p:nvPr/>
        </p:nvSpPr>
        <p:spPr>
          <a:xfrm>
            <a:off x="3319272"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Gaps identified during testing &amp; review</a:t>
            </a:r>
            <a:endParaRPr lang="en-US" sz="700" dirty="0"/>
          </a:p>
        </p:txBody>
      </p:sp>
      <p:sp>
        <p:nvSpPr>
          <p:cNvPr id="49" name="Shape 23">
            <a:extLst>
              <a:ext uri="{FF2B5EF4-FFF2-40B4-BE49-F238E27FC236}">
                <a16:creationId xmlns:a16="http://schemas.microsoft.com/office/drawing/2014/main" id="{4EA6DAF2-13D4-FCE7-C84D-C50CB91D2C34}"/>
              </a:ext>
            </a:extLst>
          </p:cNvPr>
          <p:cNvSpPr/>
          <p:nvPr/>
        </p:nvSpPr>
        <p:spPr>
          <a:xfrm>
            <a:off x="3227832"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0" name="Shape 24">
            <a:extLst>
              <a:ext uri="{FF2B5EF4-FFF2-40B4-BE49-F238E27FC236}">
                <a16:creationId xmlns:a16="http://schemas.microsoft.com/office/drawing/2014/main" id="{35A7D1D7-D142-B6AC-7650-BB7FA473C2F9}"/>
              </a:ext>
            </a:extLst>
          </p:cNvPr>
          <p:cNvSpPr/>
          <p:nvPr/>
        </p:nvSpPr>
        <p:spPr>
          <a:xfrm>
            <a:off x="3227832" y="1926348"/>
            <a:ext cx="36576" cy="736092"/>
          </a:xfrm>
          <a:prstGeom prst="rect">
            <a:avLst/>
          </a:prstGeom>
          <a:solidFill>
            <a:srgbClr val="1D9E75"/>
          </a:solidFill>
          <a:ln w="12700">
            <a:solidFill>
              <a:srgbClr val="1D9E75"/>
            </a:solidFill>
            <a:prstDash val="solid"/>
          </a:ln>
        </p:spPr>
        <p:txBody>
          <a:bodyPr/>
          <a:lstStyle/>
          <a:p>
            <a:endParaRPr lang="en-US"/>
          </a:p>
        </p:txBody>
      </p:sp>
      <p:sp>
        <p:nvSpPr>
          <p:cNvPr id="51" name="Text 25">
            <a:extLst>
              <a:ext uri="{FF2B5EF4-FFF2-40B4-BE49-F238E27FC236}">
                <a16:creationId xmlns:a16="http://schemas.microsoft.com/office/drawing/2014/main" id="{B621DC0E-DCE8-55A5-40A8-01F03C1A1CF1}"/>
              </a:ext>
            </a:extLst>
          </p:cNvPr>
          <p:cNvSpPr/>
          <p:nvPr/>
        </p:nvSpPr>
        <p:spPr>
          <a:xfrm>
            <a:off x="3337560"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Payment Integration</a:t>
            </a:r>
            <a:endParaRPr lang="en-US" sz="950" dirty="0"/>
          </a:p>
        </p:txBody>
      </p:sp>
      <p:sp>
        <p:nvSpPr>
          <p:cNvPr id="52" name="Text 26">
            <a:extLst>
              <a:ext uri="{FF2B5EF4-FFF2-40B4-BE49-F238E27FC236}">
                <a16:creationId xmlns:a16="http://schemas.microsoft.com/office/drawing/2014/main" id="{C87B554A-4718-624A-4E50-5D2E46938003}"/>
              </a:ext>
            </a:extLst>
          </p:cNvPr>
          <p:cNvSpPr/>
          <p:nvPr/>
        </p:nvSpPr>
        <p:spPr>
          <a:xfrm>
            <a:off x="3337560"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Replace the payment simulation with a real processor — Stripe or equivalent.</a:t>
            </a:r>
            <a:endParaRPr lang="en-US" sz="800" dirty="0"/>
          </a:p>
        </p:txBody>
      </p:sp>
      <p:sp>
        <p:nvSpPr>
          <p:cNvPr id="53" name="Shape 27">
            <a:extLst>
              <a:ext uri="{FF2B5EF4-FFF2-40B4-BE49-F238E27FC236}">
                <a16:creationId xmlns:a16="http://schemas.microsoft.com/office/drawing/2014/main" id="{AAA7A21F-89EF-12E8-3DAE-54778DD1C663}"/>
              </a:ext>
            </a:extLst>
          </p:cNvPr>
          <p:cNvSpPr/>
          <p:nvPr/>
        </p:nvSpPr>
        <p:spPr>
          <a:xfrm>
            <a:off x="3227832"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4" name="Shape 28">
            <a:extLst>
              <a:ext uri="{FF2B5EF4-FFF2-40B4-BE49-F238E27FC236}">
                <a16:creationId xmlns:a16="http://schemas.microsoft.com/office/drawing/2014/main" id="{3655DD66-CA72-E616-1A08-D99AAB419B2A}"/>
              </a:ext>
            </a:extLst>
          </p:cNvPr>
          <p:cNvSpPr/>
          <p:nvPr/>
        </p:nvSpPr>
        <p:spPr>
          <a:xfrm>
            <a:off x="3227832" y="2757955"/>
            <a:ext cx="36576" cy="736092"/>
          </a:xfrm>
          <a:prstGeom prst="rect">
            <a:avLst/>
          </a:prstGeom>
          <a:solidFill>
            <a:srgbClr val="1D9E75"/>
          </a:solidFill>
          <a:ln w="12700">
            <a:solidFill>
              <a:srgbClr val="1D9E75"/>
            </a:solidFill>
            <a:prstDash val="solid"/>
          </a:ln>
        </p:spPr>
        <p:txBody>
          <a:bodyPr/>
          <a:lstStyle/>
          <a:p>
            <a:endParaRPr lang="en-US"/>
          </a:p>
        </p:txBody>
      </p:sp>
      <p:sp>
        <p:nvSpPr>
          <p:cNvPr id="55" name="Text 29">
            <a:extLst>
              <a:ext uri="{FF2B5EF4-FFF2-40B4-BE49-F238E27FC236}">
                <a16:creationId xmlns:a16="http://schemas.microsoft.com/office/drawing/2014/main" id="{5EA05F3D-4975-CA68-C0BE-8E6DAA7C569D}"/>
              </a:ext>
            </a:extLst>
          </p:cNvPr>
          <p:cNvSpPr/>
          <p:nvPr/>
        </p:nvSpPr>
        <p:spPr>
          <a:xfrm>
            <a:off x="3337560"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GitHub Issues for Bugs</a:t>
            </a:r>
            <a:endParaRPr lang="en-US" sz="950" dirty="0"/>
          </a:p>
        </p:txBody>
      </p:sp>
      <p:sp>
        <p:nvSpPr>
          <p:cNvPr id="56" name="Text 30">
            <a:extLst>
              <a:ext uri="{FF2B5EF4-FFF2-40B4-BE49-F238E27FC236}">
                <a16:creationId xmlns:a16="http://schemas.microsoft.com/office/drawing/2014/main" id="{29995F9B-615C-C1C9-AE1E-99568984AC05}"/>
              </a:ext>
            </a:extLst>
          </p:cNvPr>
          <p:cNvSpPr/>
          <p:nvPr/>
        </p:nvSpPr>
        <p:spPr>
          <a:xfrm>
            <a:off x="3337560"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Formal defect tracking was missing — link bug reports directly to PRs and branches.</a:t>
            </a:r>
            <a:endParaRPr lang="en-US" sz="800" dirty="0"/>
          </a:p>
        </p:txBody>
      </p:sp>
      <p:sp>
        <p:nvSpPr>
          <p:cNvPr id="57" name="Shape 31">
            <a:extLst>
              <a:ext uri="{FF2B5EF4-FFF2-40B4-BE49-F238E27FC236}">
                <a16:creationId xmlns:a16="http://schemas.microsoft.com/office/drawing/2014/main" id="{647351EC-AC17-D6B4-E981-F559525F810E}"/>
              </a:ext>
            </a:extLst>
          </p:cNvPr>
          <p:cNvSpPr/>
          <p:nvPr/>
        </p:nvSpPr>
        <p:spPr>
          <a:xfrm>
            <a:off x="3227832"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8" name="Shape 32">
            <a:extLst>
              <a:ext uri="{FF2B5EF4-FFF2-40B4-BE49-F238E27FC236}">
                <a16:creationId xmlns:a16="http://schemas.microsoft.com/office/drawing/2014/main" id="{2768C760-EA1D-0CCB-D802-1DAA350FE977}"/>
              </a:ext>
            </a:extLst>
          </p:cNvPr>
          <p:cNvSpPr/>
          <p:nvPr/>
        </p:nvSpPr>
        <p:spPr>
          <a:xfrm>
            <a:off x="3227832" y="3574343"/>
            <a:ext cx="36576" cy="736092"/>
          </a:xfrm>
          <a:prstGeom prst="rect">
            <a:avLst/>
          </a:prstGeom>
          <a:solidFill>
            <a:srgbClr val="1D9E75"/>
          </a:solidFill>
          <a:ln w="12700">
            <a:solidFill>
              <a:srgbClr val="1D9E75"/>
            </a:solidFill>
            <a:prstDash val="solid"/>
          </a:ln>
        </p:spPr>
        <p:txBody>
          <a:bodyPr/>
          <a:lstStyle/>
          <a:p>
            <a:endParaRPr lang="en-US"/>
          </a:p>
        </p:txBody>
      </p:sp>
      <p:sp>
        <p:nvSpPr>
          <p:cNvPr id="59" name="Text 33">
            <a:extLst>
              <a:ext uri="{FF2B5EF4-FFF2-40B4-BE49-F238E27FC236}">
                <a16:creationId xmlns:a16="http://schemas.microsoft.com/office/drawing/2014/main" id="{482FC96C-6696-5884-C094-93B125DE5E26}"/>
              </a:ext>
            </a:extLst>
          </p:cNvPr>
          <p:cNvSpPr/>
          <p:nvPr/>
        </p:nvSpPr>
        <p:spPr>
          <a:xfrm>
            <a:off x="3337560"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Integration Docs</a:t>
            </a:r>
            <a:endParaRPr lang="en-US" sz="950" dirty="0"/>
          </a:p>
        </p:txBody>
      </p:sp>
      <p:sp>
        <p:nvSpPr>
          <p:cNvPr id="60" name="Text 34">
            <a:extLst>
              <a:ext uri="{FF2B5EF4-FFF2-40B4-BE49-F238E27FC236}">
                <a16:creationId xmlns:a16="http://schemas.microsoft.com/office/drawing/2014/main" id="{5D7E06C2-5F97-4771-A436-13B16F8D3D2F}"/>
              </a:ext>
            </a:extLst>
          </p:cNvPr>
          <p:cNvSpPr/>
          <p:nvPr/>
        </p:nvSpPr>
        <p:spPr>
          <a:xfrm>
            <a:off x="3337560"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A frontend/backend architecture walkthrough would accelerate onboarding for any new contributor.</a:t>
            </a:r>
            <a:endParaRPr lang="en-US" sz="800" dirty="0"/>
          </a:p>
        </p:txBody>
      </p:sp>
      <p:sp>
        <p:nvSpPr>
          <p:cNvPr id="61" name="Shape 35">
            <a:extLst>
              <a:ext uri="{FF2B5EF4-FFF2-40B4-BE49-F238E27FC236}">
                <a16:creationId xmlns:a16="http://schemas.microsoft.com/office/drawing/2014/main" id="{F7713062-3CD7-FC4C-D80E-E327E992A90D}"/>
              </a:ext>
            </a:extLst>
          </p:cNvPr>
          <p:cNvSpPr/>
          <p:nvPr/>
        </p:nvSpPr>
        <p:spPr>
          <a:xfrm>
            <a:off x="5952744" y="1450860"/>
            <a:ext cx="2633472" cy="395192"/>
          </a:xfrm>
          <a:prstGeom prst="rect">
            <a:avLst/>
          </a:prstGeom>
          <a:solidFill>
            <a:srgbClr val="0B6A52"/>
          </a:solidFill>
          <a:ln w="12700">
            <a:solidFill>
              <a:srgbClr val="0B6A52"/>
            </a:solidFill>
            <a:prstDash val="solid"/>
          </a:ln>
        </p:spPr>
        <p:txBody>
          <a:bodyPr/>
          <a:lstStyle/>
          <a:p>
            <a:endParaRPr lang="en-US"/>
          </a:p>
        </p:txBody>
      </p:sp>
      <p:sp>
        <p:nvSpPr>
          <p:cNvPr id="62" name="Text 36">
            <a:extLst>
              <a:ext uri="{FF2B5EF4-FFF2-40B4-BE49-F238E27FC236}">
                <a16:creationId xmlns:a16="http://schemas.microsoft.com/office/drawing/2014/main" id="{B49818AE-C516-0E03-AF37-A6500B6F3858}"/>
              </a:ext>
            </a:extLst>
          </p:cNvPr>
          <p:cNvSpPr/>
          <p:nvPr/>
        </p:nvSpPr>
        <p:spPr>
          <a:xfrm>
            <a:off x="6044184" y="1517904"/>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Longer-Term Vision</a:t>
            </a:r>
            <a:endParaRPr lang="en-US" sz="1000" dirty="0"/>
          </a:p>
        </p:txBody>
      </p:sp>
      <p:sp>
        <p:nvSpPr>
          <p:cNvPr id="63" name="Text 37">
            <a:extLst>
              <a:ext uri="{FF2B5EF4-FFF2-40B4-BE49-F238E27FC236}">
                <a16:creationId xmlns:a16="http://schemas.microsoft.com/office/drawing/2014/main" id="{5F2CE197-C316-FE6B-B1F0-85D9F61345A3}"/>
              </a:ext>
            </a:extLst>
          </p:cNvPr>
          <p:cNvSpPr/>
          <p:nvPr/>
        </p:nvSpPr>
        <p:spPr>
          <a:xfrm>
            <a:off x="6044184"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Natural growth from the current foundation</a:t>
            </a:r>
            <a:endParaRPr lang="en-US" sz="700" dirty="0"/>
          </a:p>
        </p:txBody>
      </p:sp>
      <p:sp>
        <p:nvSpPr>
          <p:cNvPr id="64" name="Shape 38">
            <a:extLst>
              <a:ext uri="{FF2B5EF4-FFF2-40B4-BE49-F238E27FC236}">
                <a16:creationId xmlns:a16="http://schemas.microsoft.com/office/drawing/2014/main" id="{99119F10-6FD1-30B1-91AF-E72261CB8CBA}"/>
              </a:ext>
            </a:extLst>
          </p:cNvPr>
          <p:cNvSpPr/>
          <p:nvPr/>
        </p:nvSpPr>
        <p:spPr>
          <a:xfrm>
            <a:off x="5952744"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65" name="Shape 39">
            <a:extLst>
              <a:ext uri="{FF2B5EF4-FFF2-40B4-BE49-F238E27FC236}">
                <a16:creationId xmlns:a16="http://schemas.microsoft.com/office/drawing/2014/main" id="{50350878-C255-9BA3-D448-B506561ABFBD}"/>
              </a:ext>
            </a:extLst>
          </p:cNvPr>
          <p:cNvSpPr/>
          <p:nvPr/>
        </p:nvSpPr>
        <p:spPr>
          <a:xfrm>
            <a:off x="5952744" y="1926348"/>
            <a:ext cx="36576" cy="736092"/>
          </a:xfrm>
          <a:prstGeom prst="rect">
            <a:avLst/>
          </a:prstGeom>
          <a:solidFill>
            <a:srgbClr val="0B6A52"/>
          </a:solidFill>
          <a:ln w="12700">
            <a:solidFill>
              <a:srgbClr val="0B6A52"/>
            </a:solidFill>
            <a:prstDash val="solid"/>
          </a:ln>
        </p:spPr>
        <p:txBody>
          <a:bodyPr/>
          <a:lstStyle/>
          <a:p>
            <a:endParaRPr lang="en-US"/>
          </a:p>
        </p:txBody>
      </p:sp>
      <p:sp>
        <p:nvSpPr>
          <p:cNvPr id="66" name="Text 40">
            <a:extLst>
              <a:ext uri="{FF2B5EF4-FFF2-40B4-BE49-F238E27FC236}">
                <a16:creationId xmlns:a16="http://schemas.microsoft.com/office/drawing/2014/main" id="{605DF732-601F-6081-5A75-ADB3D7D4482C}"/>
              </a:ext>
            </a:extLst>
          </p:cNvPr>
          <p:cNvSpPr/>
          <p:nvPr/>
        </p:nvSpPr>
        <p:spPr>
          <a:xfrm>
            <a:off x="6062472"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AWS Production Deployment</a:t>
            </a:r>
            <a:endParaRPr lang="en-US" sz="950" dirty="0"/>
          </a:p>
        </p:txBody>
      </p:sp>
      <p:sp>
        <p:nvSpPr>
          <p:cNvPr id="67" name="Text 41">
            <a:extLst>
              <a:ext uri="{FF2B5EF4-FFF2-40B4-BE49-F238E27FC236}">
                <a16:creationId xmlns:a16="http://schemas.microsoft.com/office/drawing/2014/main" id="{A9A7FFB8-68F0-FCE9-017E-2408D021405B}"/>
              </a:ext>
            </a:extLst>
          </p:cNvPr>
          <p:cNvSpPr/>
          <p:nvPr/>
        </p:nvSpPr>
        <p:spPr>
          <a:xfrm>
            <a:off x="6062472"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Docker images and ECR pipeline are built — EC2 + RDS deployment is fully documented.</a:t>
            </a:r>
            <a:endParaRPr lang="en-US" sz="800" dirty="0"/>
          </a:p>
        </p:txBody>
      </p:sp>
      <p:sp>
        <p:nvSpPr>
          <p:cNvPr id="68" name="Shape 42">
            <a:extLst>
              <a:ext uri="{FF2B5EF4-FFF2-40B4-BE49-F238E27FC236}">
                <a16:creationId xmlns:a16="http://schemas.microsoft.com/office/drawing/2014/main" id="{2CD605BD-F53E-F632-971F-B17EBB047312}"/>
              </a:ext>
            </a:extLst>
          </p:cNvPr>
          <p:cNvSpPr/>
          <p:nvPr/>
        </p:nvSpPr>
        <p:spPr>
          <a:xfrm>
            <a:off x="5952744"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69" name="Shape 43">
            <a:extLst>
              <a:ext uri="{FF2B5EF4-FFF2-40B4-BE49-F238E27FC236}">
                <a16:creationId xmlns:a16="http://schemas.microsoft.com/office/drawing/2014/main" id="{7A27465C-AB82-0071-7548-3A89E5FA4D26}"/>
              </a:ext>
            </a:extLst>
          </p:cNvPr>
          <p:cNvSpPr/>
          <p:nvPr/>
        </p:nvSpPr>
        <p:spPr>
          <a:xfrm>
            <a:off x="5952744" y="2757955"/>
            <a:ext cx="36576" cy="736092"/>
          </a:xfrm>
          <a:prstGeom prst="rect">
            <a:avLst/>
          </a:prstGeom>
          <a:solidFill>
            <a:srgbClr val="0B6A52"/>
          </a:solidFill>
          <a:ln w="12700">
            <a:solidFill>
              <a:srgbClr val="0B6A52"/>
            </a:solidFill>
            <a:prstDash val="solid"/>
          </a:ln>
        </p:spPr>
        <p:txBody>
          <a:bodyPr/>
          <a:lstStyle/>
          <a:p>
            <a:endParaRPr lang="en-US"/>
          </a:p>
        </p:txBody>
      </p:sp>
      <p:sp>
        <p:nvSpPr>
          <p:cNvPr id="70" name="Text 44">
            <a:extLst>
              <a:ext uri="{FF2B5EF4-FFF2-40B4-BE49-F238E27FC236}">
                <a16:creationId xmlns:a16="http://schemas.microsoft.com/office/drawing/2014/main" id="{F1A2F25A-3C3C-23C8-0383-64534151D9C6}"/>
              </a:ext>
            </a:extLst>
          </p:cNvPr>
          <p:cNvSpPr/>
          <p:nvPr/>
        </p:nvSpPr>
        <p:spPr>
          <a:xfrm>
            <a:off x="6062472"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Mobile App</a:t>
            </a:r>
            <a:endParaRPr lang="en-US" sz="950" dirty="0"/>
          </a:p>
        </p:txBody>
      </p:sp>
      <p:sp>
        <p:nvSpPr>
          <p:cNvPr id="71" name="Text 45">
            <a:extLst>
              <a:ext uri="{FF2B5EF4-FFF2-40B4-BE49-F238E27FC236}">
                <a16:creationId xmlns:a16="http://schemas.microsoft.com/office/drawing/2014/main" id="{F3AFADFC-7869-0101-D56D-7F28497AEF89}"/>
              </a:ext>
            </a:extLst>
          </p:cNvPr>
          <p:cNvSpPr/>
          <p:nvPr/>
        </p:nvSpPr>
        <p:spPr>
          <a:xfrm>
            <a:off x="6062472"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The SRS scoped a mobile-first design — the modular API makes a React Native frontend straightforward.</a:t>
            </a:r>
            <a:endParaRPr lang="en-US" sz="800" dirty="0"/>
          </a:p>
        </p:txBody>
      </p:sp>
      <p:sp>
        <p:nvSpPr>
          <p:cNvPr id="72" name="Shape 46">
            <a:extLst>
              <a:ext uri="{FF2B5EF4-FFF2-40B4-BE49-F238E27FC236}">
                <a16:creationId xmlns:a16="http://schemas.microsoft.com/office/drawing/2014/main" id="{8402DF2D-8426-1454-F54B-8052193317E4}"/>
              </a:ext>
            </a:extLst>
          </p:cNvPr>
          <p:cNvSpPr/>
          <p:nvPr/>
        </p:nvSpPr>
        <p:spPr>
          <a:xfrm>
            <a:off x="5952744"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73" name="Shape 47">
            <a:extLst>
              <a:ext uri="{FF2B5EF4-FFF2-40B4-BE49-F238E27FC236}">
                <a16:creationId xmlns:a16="http://schemas.microsoft.com/office/drawing/2014/main" id="{2F95E261-5036-8FA6-36D1-B699318986D9}"/>
              </a:ext>
            </a:extLst>
          </p:cNvPr>
          <p:cNvSpPr/>
          <p:nvPr/>
        </p:nvSpPr>
        <p:spPr>
          <a:xfrm>
            <a:off x="5952744" y="3574343"/>
            <a:ext cx="36576" cy="736092"/>
          </a:xfrm>
          <a:prstGeom prst="rect">
            <a:avLst/>
          </a:prstGeom>
          <a:solidFill>
            <a:srgbClr val="0B6A52"/>
          </a:solidFill>
          <a:ln w="12700">
            <a:solidFill>
              <a:srgbClr val="0B6A52"/>
            </a:solidFill>
            <a:prstDash val="solid"/>
          </a:ln>
        </p:spPr>
        <p:txBody>
          <a:bodyPr/>
          <a:lstStyle/>
          <a:p>
            <a:endParaRPr lang="en-US"/>
          </a:p>
        </p:txBody>
      </p:sp>
      <p:sp>
        <p:nvSpPr>
          <p:cNvPr id="74" name="Text 48">
            <a:extLst>
              <a:ext uri="{FF2B5EF4-FFF2-40B4-BE49-F238E27FC236}">
                <a16:creationId xmlns:a16="http://schemas.microsoft.com/office/drawing/2014/main" id="{23B4FCE0-2C22-ACE6-5AA6-7C8596362140}"/>
              </a:ext>
            </a:extLst>
          </p:cNvPr>
          <p:cNvSpPr/>
          <p:nvPr/>
        </p:nvSpPr>
        <p:spPr>
          <a:xfrm>
            <a:off x="6062472"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Multi-Business Support</a:t>
            </a:r>
            <a:endParaRPr lang="en-US" sz="950" dirty="0"/>
          </a:p>
        </p:txBody>
      </p:sp>
      <p:sp>
        <p:nvSpPr>
          <p:cNvPr id="75" name="Text 49">
            <a:extLst>
              <a:ext uri="{FF2B5EF4-FFF2-40B4-BE49-F238E27FC236}">
                <a16:creationId xmlns:a16="http://schemas.microsoft.com/office/drawing/2014/main" id="{2A3414D3-5443-2878-1B7C-AEC21F0453A0}"/>
              </a:ext>
            </a:extLst>
          </p:cNvPr>
          <p:cNvSpPr/>
          <p:nvPr/>
        </p:nvSpPr>
        <p:spPr>
          <a:xfrm>
            <a:off x="6062472"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A tenant model would let Orderly serve multiple businesses from a single deployment.</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BB77E"/>
          </a:solidFill>
          <a:ln w="12700">
            <a:solidFill>
              <a:srgbClr val="3BB77E"/>
            </a:solidFill>
            <a:prstDash val="solid"/>
          </a:ln>
        </p:spPr>
        <p:txBody>
          <a:bodyPr/>
          <a:lstStyle/>
          <a:p>
            <a:endParaRPr lang="en-US"/>
          </a:p>
        </p:txBody>
      </p:sp>
      <p:sp>
        <p:nvSpPr>
          <p:cNvPr id="3" name="Text 1"/>
          <p:cNvSpPr/>
          <p:nvPr/>
        </p:nvSpPr>
        <p:spPr>
          <a:xfrm>
            <a:off x="457200" y="411480"/>
            <a:ext cx="8229600" cy="347472"/>
          </a:xfrm>
          <a:prstGeom prst="rect">
            <a:avLst/>
          </a:prstGeom>
          <a:noFill/>
          <a:ln/>
        </p:spPr>
        <p:txBody>
          <a:bodyPr wrap="square" lIns="0" tIns="0" rIns="0" bIns="0" rtlCol="0" anchor="ctr"/>
          <a:lstStyle/>
          <a:p>
            <a:pPr marL="0" indent="0" algn="l">
              <a:buNone/>
            </a:pPr>
            <a:r>
              <a:rPr lang="en-US" sz="1100" b="1" kern="0" spc="300" dirty="0">
                <a:solidFill>
                  <a:srgbClr val="3BB77E"/>
                </a:solidFill>
                <a:latin typeface="Calibri" pitchFamily="34" charset="0"/>
                <a:ea typeface="Calibri" pitchFamily="34" charset="-122"/>
                <a:cs typeface="Calibri" pitchFamily="34" charset="-120"/>
              </a:rPr>
              <a:t>Conclusion</a:t>
            </a:r>
            <a:endParaRPr lang="en-US" sz="1100" dirty="0"/>
          </a:p>
        </p:txBody>
      </p:sp>
      <p:sp>
        <p:nvSpPr>
          <p:cNvPr id="4" name="Text 2"/>
          <p:cNvSpPr/>
          <p:nvPr/>
        </p:nvSpPr>
        <p:spPr>
          <a:xfrm>
            <a:off x="457200" y="822960"/>
            <a:ext cx="8412480" cy="731520"/>
          </a:xfrm>
          <a:prstGeom prst="rect">
            <a:avLst/>
          </a:prstGeom>
          <a:noFill/>
          <a:ln/>
        </p:spPr>
        <p:txBody>
          <a:bodyPr wrap="square" lIns="0" tIns="0" rIns="0" bIns="0" rtlCol="0" anchor="ctr"/>
          <a:lstStyle/>
          <a:p>
            <a:pPr marL="0" indent="0" algn="l">
              <a:buNone/>
            </a:pPr>
            <a:r>
              <a:rPr lang="en-US" sz="3800" b="1" dirty="0">
                <a:solidFill>
                  <a:srgbClr val="FFFFFF"/>
                </a:solidFill>
                <a:latin typeface="Calibri" pitchFamily="34" charset="0"/>
                <a:ea typeface="Calibri" pitchFamily="34" charset="-122"/>
                <a:cs typeface="Calibri" pitchFamily="34" charset="-120"/>
              </a:rPr>
              <a:t>What We Built. What We Learned.</a:t>
            </a:r>
            <a:endParaRPr lang="en-US" sz="3800" dirty="0"/>
          </a:p>
        </p:txBody>
      </p:sp>
      <p:sp>
        <p:nvSpPr>
          <p:cNvPr id="14" name="Text 12"/>
          <p:cNvSpPr/>
          <p:nvPr/>
        </p:nvSpPr>
        <p:spPr>
          <a:xfrm>
            <a:off x="457200" y="4465671"/>
            <a:ext cx="7772400" cy="411480"/>
          </a:xfrm>
          <a:prstGeom prst="rect">
            <a:avLst/>
          </a:prstGeom>
          <a:noFill/>
          <a:ln/>
        </p:spPr>
        <p:txBody>
          <a:bodyPr wrap="square" lIns="0" tIns="0" rIns="0" bIns="0" rtlCol="0" anchor="ctr"/>
          <a:lstStyle/>
          <a:p>
            <a:r>
              <a:rPr lang="en-US" dirty="0">
                <a:solidFill>
                  <a:srgbClr val="CADCFC"/>
                </a:solidFill>
                <a:latin typeface="Calibri" pitchFamily="34" charset="0"/>
                <a:ea typeface="Calibri" pitchFamily="34" charset="-122"/>
                <a:cs typeface="Calibri" pitchFamily="34" charset="-120"/>
              </a:rPr>
              <a:t>Thank you for your time and attention. We welcome any questions.</a:t>
            </a:r>
            <a:endParaRPr lang="en-US" dirty="0"/>
          </a:p>
        </p:txBody>
      </p:sp>
      <p:sp>
        <p:nvSpPr>
          <p:cNvPr id="15" name="Text 13"/>
          <p:cNvSpPr/>
          <p:nvPr/>
        </p:nvSpPr>
        <p:spPr>
          <a:xfrm>
            <a:off x="457200" y="4773168"/>
            <a:ext cx="8412480" cy="256032"/>
          </a:xfrm>
          <a:prstGeom prst="rect">
            <a:avLst/>
          </a:prstGeom>
          <a:noFill/>
          <a:ln/>
        </p:spPr>
        <p:txBody>
          <a:bodyPr wrap="square" lIns="0" tIns="0" rIns="0" bIns="0" rtlCol="0" anchor="ctr"/>
          <a:lstStyle/>
          <a:p>
            <a:pPr marL="0" indent="0" algn="l">
              <a:buNone/>
            </a:pPr>
            <a:r>
              <a:rPr lang="en-US" sz="900" dirty="0">
                <a:solidFill>
                  <a:srgbClr val="64748B"/>
                </a:solidFill>
                <a:latin typeface="Calibri" pitchFamily="34" charset="0"/>
                <a:ea typeface="Calibri" pitchFamily="34" charset="-122"/>
                <a:cs typeface="Calibri" pitchFamily="34" charset="-120"/>
              </a:rPr>
              <a:t>Team 7  ·  CSC 289.001  ·  WTCC  ·  April 30, 2026</a:t>
            </a:r>
            <a:endParaRPr lang="en-US" sz="900" dirty="0"/>
          </a:p>
        </p:txBody>
      </p:sp>
      <p:sp>
        <p:nvSpPr>
          <p:cNvPr id="17" name="Shape 3">
            <a:extLst>
              <a:ext uri="{FF2B5EF4-FFF2-40B4-BE49-F238E27FC236}">
                <a16:creationId xmlns:a16="http://schemas.microsoft.com/office/drawing/2014/main" id="{21D79CD5-B29D-4AC1-5687-D0DC47BD1BDB}"/>
              </a:ext>
            </a:extLst>
          </p:cNvPr>
          <p:cNvSpPr/>
          <p:nvPr/>
        </p:nvSpPr>
        <p:spPr>
          <a:xfrm>
            <a:off x="365760" y="1482623"/>
            <a:ext cx="8321040" cy="10973"/>
          </a:xfrm>
          <a:prstGeom prst="rect">
            <a:avLst/>
          </a:prstGeom>
          <a:solidFill>
            <a:srgbClr val="2D4A6E"/>
          </a:solidFill>
          <a:ln w="12700">
            <a:solidFill>
              <a:srgbClr val="2D4A6E"/>
            </a:solidFill>
            <a:prstDash val="solid"/>
          </a:ln>
        </p:spPr>
        <p:txBody>
          <a:bodyPr/>
          <a:lstStyle/>
          <a:p>
            <a:endParaRPr lang="en-US"/>
          </a:p>
        </p:txBody>
      </p:sp>
      <p:sp>
        <p:nvSpPr>
          <p:cNvPr id="18" name="Text 4">
            <a:extLst>
              <a:ext uri="{FF2B5EF4-FFF2-40B4-BE49-F238E27FC236}">
                <a16:creationId xmlns:a16="http://schemas.microsoft.com/office/drawing/2014/main" id="{7263472B-1F35-CA35-9AC3-BEF3CB79312A}"/>
              </a:ext>
            </a:extLst>
          </p:cNvPr>
          <p:cNvSpPr/>
          <p:nvPr/>
        </p:nvSpPr>
        <p:spPr>
          <a:xfrm>
            <a:off x="365760" y="1592351"/>
            <a:ext cx="3840480" cy="256032"/>
          </a:xfrm>
          <a:prstGeom prst="rect">
            <a:avLst/>
          </a:prstGeom>
          <a:noFill/>
          <a:ln/>
        </p:spPr>
        <p:txBody>
          <a:bodyPr wrap="square" lIns="0" tIns="0" rIns="0" bIns="0" rtlCol="0" anchor="ctr"/>
          <a:lstStyle/>
          <a:p>
            <a:pPr marL="0" indent="0">
              <a:buNone/>
            </a:pPr>
            <a:r>
              <a:rPr lang="en-US" sz="1300" b="1" dirty="0">
                <a:solidFill>
                  <a:srgbClr val="1D9E75"/>
                </a:solidFill>
              </a:rPr>
              <a:t>What We Built</a:t>
            </a:r>
            <a:endParaRPr lang="en-US" sz="1300" dirty="0"/>
          </a:p>
        </p:txBody>
      </p:sp>
      <p:sp>
        <p:nvSpPr>
          <p:cNvPr id="19" name="Shape 5">
            <a:extLst>
              <a:ext uri="{FF2B5EF4-FFF2-40B4-BE49-F238E27FC236}">
                <a16:creationId xmlns:a16="http://schemas.microsoft.com/office/drawing/2014/main" id="{2CEB9BCB-C4C5-8B38-FD1B-F01993129868}"/>
              </a:ext>
            </a:extLst>
          </p:cNvPr>
          <p:cNvSpPr/>
          <p:nvPr/>
        </p:nvSpPr>
        <p:spPr>
          <a:xfrm>
            <a:off x="365760" y="1994687"/>
            <a:ext cx="109728" cy="109728"/>
          </a:xfrm>
          <a:prstGeom prst="ellipse">
            <a:avLst/>
          </a:prstGeom>
          <a:solidFill>
            <a:srgbClr val="1D9E75"/>
          </a:solidFill>
          <a:ln w="12700">
            <a:solidFill>
              <a:srgbClr val="1D9E75"/>
            </a:solidFill>
            <a:prstDash val="solid"/>
          </a:ln>
        </p:spPr>
        <p:txBody>
          <a:bodyPr/>
          <a:lstStyle/>
          <a:p>
            <a:endParaRPr lang="en-US"/>
          </a:p>
        </p:txBody>
      </p:sp>
      <p:sp>
        <p:nvSpPr>
          <p:cNvPr id="20" name="Text 6">
            <a:extLst>
              <a:ext uri="{FF2B5EF4-FFF2-40B4-BE49-F238E27FC236}">
                <a16:creationId xmlns:a16="http://schemas.microsoft.com/office/drawing/2014/main" id="{34C9209D-BDD5-7FE5-084C-DAAD6D4413C2}"/>
              </a:ext>
            </a:extLst>
          </p:cNvPr>
          <p:cNvSpPr/>
          <p:nvPr/>
        </p:nvSpPr>
        <p:spPr>
          <a:xfrm>
            <a:off x="548640" y="1903247"/>
            <a:ext cx="3566160" cy="457200"/>
          </a:xfrm>
          <a:prstGeom prst="rect">
            <a:avLst/>
          </a:prstGeom>
          <a:noFill/>
          <a:ln/>
        </p:spPr>
        <p:txBody>
          <a:bodyPr wrap="square" lIns="0" tIns="0" rIns="0" bIns="0" rtlCol="0" anchor="ctr"/>
          <a:lstStyle/>
          <a:p>
            <a:pPr marL="0" indent="0">
              <a:buNone/>
            </a:pPr>
            <a:r>
              <a:rPr lang="en-US" sz="900" dirty="0">
                <a:solidFill>
                  <a:srgbClr val="CBD5E1"/>
                </a:solidFill>
              </a:rPr>
              <a:t>A full-stack ordering platform — React SPA, Django/DRF backend, MySQL 8.0, deployed on AWS via Docker</a:t>
            </a:r>
            <a:endParaRPr lang="en-US" sz="900" dirty="0"/>
          </a:p>
        </p:txBody>
      </p:sp>
      <p:sp>
        <p:nvSpPr>
          <p:cNvPr id="21" name="Shape 7">
            <a:extLst>
              <a:ext uri="{FF2B5EF4-FFF2-40B4-BE49-F238E27FC236}">
                <a16:creationId xmlns:a16="http://schemas.microsoft.com/office/drawing/2014/main" id="{EB206762-E2D8-3A8D-ECD2-ED26C9777CB0}"/>
              </a:ext>
            </a:extLst>
          </p:cNvPr>
          <p:cNvSpPr/>
          <p:nvPr/>
        </p:nvSpPr>
        <p:spPr>
          <a:xfrm>
            <a:off x="365760" y="2525039"/>
            <a:ext cx="109728" cy="109728"/>
          </a:xfrm>
          <a:prstGeom prst="ellipse">
            <a:avLst/>
          </a:prstGeom>
          <a:solidFill>
            <a:srgbClr val="1D9E75"/>
          </a:solidFill>
          <a:ln w="12700">
            <a:solidFill>
              <a:srgbClr val="1D9E75"/>
            </a:solidFill>
            <a:prstDash val="solid"/>
          </a:ln>
        </p:spPr>
        <p:txBody>
          <a:bodyPr/>
          <a:lstStyle/>
          <a:p>
            <a:endParaRPr lang="en-US"/>
          </a:p>
        </p:txBody>
      </p:sp>
      <p:sp>
        <p:nvSpPr>
          <p:cNvPr id="22" name="Text 8">
            <a:extLst>
              <a:ext uri="{FF2B5EF4-FFF2-40B4-BE49-F238E27FC236}">
                <a16:creationId xmlns:a16="http://schemas.microsoft.com/office/drawing/2014/main" id="{86AE76E2-94CA-8B14-B700-DFC99634BE84}"/>
              </a:ext>
            </a:extLst>
          </p:cNvPr>
          <p:cNvSpPr/>
          <p:nvPr/>
        </p:nvSpPr>
        <p:spPr>
          <a:xfrm>
            <a:off x="548640" y="2433599"/>
            <a:ext cx="3566160" cy="457200"/>
          </a:xfrm>
          <a:prstGeom prst="rect">
            <a:avLst/>
          </a:prstGeom>
          <a:noFill/>
          <a:ln/>
        </p:spPr>
        <p:txBody>
          <a:bodyPr wrap="square" lIns="0" tIns="0" rIns="0" bIns="0" rtlCol="0" anchor="ctr"/>
          <a:lstStyle/>
          <a:p>
            <a:pPr marL="0" indent="0">
              <a:buNone/>
            </a:pPr>
            <a:r>
              <a:rPr lang="en-US" sz="900" dirty="0">
                <a:solidFill>
                  <a:srgbClr val="CBD5E1"/>
                </a:solidFill>
              </a:rPr>
              <a:t>Two distinct user experiences: a customer storefront and a role-restricted business admin portal</a:t>
            </a:r>
            <a:endParaRPr lang="en-US" sz="900" dirty="0"/>
          </a:p>
        </p:txBody>
      </p:sp>
      <p:sp>
        <p:nvSpPr>
          <p:cNvPr id="23" name="Shape 9">
            <a:extLst>
              <a:ext uri="{FF2B5EF4-FFF2-40B4-BE49-F238E27FC236}">
                <a16:creationId xmlns:a16="http://schemas.microsoft.com/office/drawing/2014/main" id="{618608CA-9F60-11BC-C91A-4EE00A7FEA15}"/>
              </a:ext>
            </a:extLst>
          </p:cNvPr>
          <p:cNvSpPr/>
          <p:nvPr/>
        </p:nvSpPr>
        <p:spPr>
          <a:xfrm>
            <a:off x="365760" y="3055391"/>
            <a:ext cx="109728" cy="109728"/>
          </a:xfrm>
          <a:prstGeom prst="ellipse">
            <a:avLst/>
          </a:prstGeom>
          <a:solidFill>
            <a:srgbClr val="1D9E75"/>
          </a:solidFill>
          <a:ln w="12700">
            <a:solidFill>
              <a:srgbClr val="1D9E75"/>
            </a:solidFill>
            <a:prstDash val="solid"/>
          </a:ln>
        </p:spPr>
        <p:txBody>
          <a:bodyPr/>
          <a:lstStyle/>
          <a:p>
            <a:endParaRPr lang="en-US"/>
          </a:p>
        </p:txBody>
      </p:sp>
      <p:sp>
        <p:nvSpPr>
          <p:cNvPr id="24" name="Text 10">
            <a:extLst>
              <a:ext uri="{FF2B5EF4-FFF2-40B4-BE49-F238E27FC236}">
                <a16:creationId xmlns:a16="http://schemas.microsoft.com/office/drawing/2014/main" id="{A9C00572-A032-BF18-6C78-AE20B84FA1D7}"/>
              </a:ext>
            </a:extLst>
          </p:cNvPr>
          <p:cNvSpPr/>
          <p:nvPr/>
        </p:nvSpPr>
        <p:spPr>
          <a:xfrm>
            <a:off x="548640" y="2963951"/>
            <a:ext cx="3566160" cy="457200"/>
          </a:xfrm>
          <a:prstGeom prst="rect">
            <a:avLst/>
          </a:prstGeom>
          <a:noFill/>
          <a:ln/>
        </p:spPr>
        <p:txBody>
          <a:bodyPr wrap="square" lIns="0" tIns="0" rIns="0" bIns="0" rtlCol="0" anchor="ctr"/>
          <a:lstStyle/>
          <a:p>
            <a:pPr marL="0" indent="0">
              <a:buNone/>
            </a:pPr>
            <a:r>
              <a:rPr lang="en-US" sz="900" dirty="0">
                <a:solidFill>
                  <a:srgbClr val="CBD5E1"/>
                </a:solidFill>
              </a:rPr>
              <a:t>50+ REST API endpoints at /api/v1/, JWT-secured, with a living API contract maintained across all 5 sprints</a:t>
            </a:r>
            <a:endParaRPr lang="en-US" sz="900" dirty="0"/>
          </a:p>
        </p:txBody>
      </p:sp>
      <p:sp>
        <p:nvSpPr>
          <p:cNvPr id="25" name="Shape 11">
            <a:extLst>
              <a:ext uri="{FF2B5EF4-FFF2-40B4-BE49-F238E27FC236}">
                <a16:creationId xmlns:a16="http://schemas.microsoft.com/office/drawing/2014/main" id="{DA3DFABF-76FA-FFDA-9E28-4326A0EAA1EF}"/>
              </a:ext>
            </a:extLst>
          </p:cNvPr>
          <p:cNvSpPr/>
          <p:nvPr/>
        </p:nvSpPr>
        <p:spPr>
          <a:xfrm>
            <a:off x="365760" y="3585743"/>
            <a:ext cx="109728" cy="109728"/>
          </a:xfrm>
          <a:prstGeom prst="ellipse">
            <a:avLst/>
          </a:prstGeom>
          <a:solidFill>
            <a:srgbClr val="1D9E75"/>
          </a:solidFill>
          <a:ln w="12700">
            <a:solidFill>
              <a:srgbClr val="1D9E75"/>
            </a:solidFill>
            <a:prstDash val="solid"/>
          </a:ln>
        </p:spPr>
        <p:txBody>
          <a:bodyPr/>
          <a:lstStyle/>
          <a:p>
            <a:endParaRPr lang="en-US"/>
          </a:p>
        </p:txBody>
      </p:sp>
      <p:sp>
        <p:nvSpPr>
          <p:cNvPr id="26" name="Text 12">
            <a:extLst>
              <a:ext uri="{FF2B5EF4-FFF2-40B4-BE49-F238E27FC236}">
                <a16:creationId xmlns:a16="http://schemas.microsoft.com/office/drawing/2014/main" id="{C45EF2AA-787D-D388-D2EC-262A1933F726}"/>
              </a:ext>
            </a:extLst>
          </p:cNvPr>
          <p:cNvSpPr/>
          <p:nvPr/>
        </p:nvSpPr>
        <p:spPr>
          <a:xfrm>
            <a:off x="548640" y="3494303"/>
            <a:ext cx="3566160" cy="457200"/>
          </a:xfrm>
          <a:prstGeom prst="rect">
            <a:avLst/>
          </a:prstGeom>
          <a:noFill/>
          <a:ln/>
        </p:spPr>
        <p:txBody>
          <a:bodyPr wrap="square" lIns="0" tIns="0" rIns="0" bIns="0" rtlCol="0" anchor="ctr"/>
          <a:lstStyle/>
          <a:p>
            <a:pPr marL="0" indent="0">
              <a:buNone/>
            </a:pPr>
            <a:r>
              <a:rPr lang="en-US" sz="900" dirty="0">
                <a:solidFill>
                  <a:srgbClr val="CBD5E1"/>
                </a:solidFill>
              </a:rPr>
              <a:t>1,000+ automated tests: 301 backend (Pytest), 626 frontend (Jest), 166 end-to-end (Robot Framework) — 90%+ coverage</a:t>
            </a:r>
            <a:endParaRPr lang="en-US" sz="900" dirty="0"/>
          </a:p>
        </p:txBody>
      </p:sp>
      <p:sp>
        <p:nvSpPr>
          <p:cNvPr id="27" name="Shape 13">
            <a:extLst>
              <a:ext uri="{FF2B5EF4-FFF2-40B4-BE49-F238E27FC236}">
                <a16:creationId xmlns:a16="http://schemas.microsoft.com/office/drawing/2014/main" id="{87CF412B-01CB-95AC-3931-8C7C5FDDBAC8}"/>
              </a:ext>
            </a:extLst>
          </p:cNvPr>
          <p:cNvSpPr/>
          <p:nvPr/>
        </p:nvSpPr>
        <p:spPr>
          <a:xfrm>
            <a:off x="365760" y="4116095"/>
            <a:ext cx="109728" cy="109728"/>
          </a:xfrm>
          <a:prstGeom prst="ellipse">
            <a:avLst/>
          </a:prstGeom>
          <a:solidFill>
            <a:srgbClr val="1D9E75"/>
          </a:solidFill>
          <a:ln w="12700">
            <a:solidFill>
              <a:srgbClr val="1D9E75"/>
            </a:solidFill>
            <a:prstDash val="solid"/>
          </a:ln>
        </p:spPr>
        <p:txBody>
          <a:bodyPr/>
          <a:lstStyle/>
          <a:p>
            <a:endParaRPr lang="en-US"/>
          </a:p>
        </p:txBody>
      </p:sp>
      <p:sp>
        <p:nvSpPr>
          <p:cNvPr id="28" name="Text 14">
            <a:extLst>
              <a:ext uri="{FF2B5EF4-FFF2-40B4-BE49-F238E27FC236}">
                <a16:creationId xmlns:a16="http://schemas.microsoft.com/office/drawing/2014/main" id="{E45A3EE2-E3EE-299E-3E93-790392C5B89C}"/>
              </a:ext>
            </a:extLst>
          </p:cNvPr>
          <p:cNvSpPr/>
          <p:nvPr/>
        </p:nvSpPr>
        <p:spPr>
          <a:xfrm>
            <a:off x="548640" y="3942926"/>
            <a:ext cx="3566160" cy="457200"/>
          </a:xfrm>
          <a:prstGeom prst="rect">
            <a:avLst/>
          </a:prstGeom>
          <a:noFill/>
          <a:ln/>
        </p:spPr>
        <p:txBody>
          <a:bodyPr wrap="square" lIns="0" tIns="0" rIns="0" bIns="0" rtlCol="0" anchor="ctr"/>
          <a:lstStyle/>
          <a:p>
            <a:pPr marL="0" indent="0">
              <a:buNone/>
            </a:pPr>
            <a:r>
              <a:rPr lang="en-US" sz="900" dirty="0">
                <a:solidFill>
                  <a:srgbClr val="CBD5E1"/>
                </a:solidFill>
              </a:rPr>
              <a:t>Orderly Version 1.0.0 — released April 25, 2026</a:t>
            </a:r>
            <a:endParaRPr lang="en-US" sz="900" dirty="0"/>
          </a:p>
        </p:txBody>
      </p:sp>
      <p:sp>
        <p:nvSpPr>
          <p:cNvPr id="29" name="Shape 15">
            <a:extLst>
              <a:ext uri="{FF2B5EF4-FFF2-40B4-BE49-F238E27FC236}">
                <a16:creationId xmlns:a16="http://schemas.microsoft.com/office/drawing/2014/main" id="{308A9CC6-E873-50A3-20E7-2F2D5CD955AA}"/>
              </a:ext>
            </a:extLst>
          </p:cNvPr>
          <p:cNvSpPr/>
          <p:nvPr/>
        </p:nvSpPr>
        <p:spPr>
          <a:xfrm>
            <a:off x="4370832" y="1537487"/>
            <a:ext cx="10973" cy="2834640"/>
          </a:xfrm>
          <a:prstGeom prst="rect">
            <a:avLst/>
          </a:prstGeom>
          <a:solidFill>
            <a:srgbClr val="2D4A6E"/>
          </a:solidFill>
          <a:ln w="12700">
            <a:solidFill>
              <a:srgbClr val="2D4A6E"/>
            </a:solidFill>
            <a:prstDash val="solid"/>
          </a:ln>
        </p:spPr>
        <p:txBody>
          <a:bodyPr/>
          <a:lstStyle/>
          <a:p>
            <a:endParaRPr lang="en-US" dirty="0"/>
          </a:p>
        </p:txBody>
      </p:sp>
      <p:sp>
        <p:nvSpPr>
          <p:cNvPr id="30" name="Text 16">
            <a:extLst>
              <a:ext uri="{FF2B5EF4-FFF2-40B4-BE49-F238E27FC236}">
                <a16:creationId xmlns:a16="http://schemas.microsoft.com/office/drawing/2014/main" id="{8E813E37-A150-59B9-8836-DDADA86F364E}"/>
              </a:ext>
            </a:extLst>
          </p:cNvPr>
          <p:cNvSpPr/>
          <p:nvPr/>
        </p:nvSpPr>
        <p:spPr>
          <a:xfrm>
            <a:off x="4553712" y="1592351"/>
            <a:ext cx="4114800" cy="256032"/>
          </a:xfrm>
          <a:prstGeom prst="rect">
            <a:avLst/>
          </a:prstGeom>
          <a:noFill/>
          <a:ln/>
        </p:spPr>
        <p:txBody>
          <a:bodyPr wrap="square" lIns="0" tIns="0" rIns="0" bIns="0" rtlCol="0" anchor="ctr"/>
          <a:lstStyle/>
          <a:p>
            <a:pPr marL="0" indent="0">
              <a:buNone/>
            </a:pPr>
            <a:r>
              <a:rPr lang="en-US" sz="1300" b="1" dirty="0">
                <a:solidFill>
                  <a:srgbClr val="1D9E75"/>
                </a:solidFill>
              </a:rPr>
              <a:t>What We Learned</a:t>
            </a:r>
            <a:endParaRPr lang="en-US" sz="1300" dirty="0"/>
          </a:p>
        </p:txBody>
      </p:sp>
      <p:sp>
        <p:nvSpPr>
          <p:cNvPr id="31" name="Shape 17">
            <a:extLst>
              <a:ext uri="{FF2B5EF4-FFF2-40B4-BE49-F238E27FC236}">
                <a16:creationId xmlns:a16="http://schemas.microsoft.com/office/drawing/2014/main" id="{5C4D0987-80FC-3708-5908-CFF5536BFEAC}"/>
              </a:ext>
            </a:extLst>
          </p:cNvPr>
          <p:cNvSpPr/>
          <p:nvPr/>
        </p:nvSpPr>
        <p:spPr>
          <a:xfrm>
            <a:off x="4553712" y="1994687"/>
            <a:ext cx="109728" cy="109728"/>
          </a:xfrm>
          <a:prstGeom prst="ellipse">
            <a:avLst/>
          </a:prstGeom>
          <a:solidFill>
            <a:srgbClr val="1D9E75"/>
          </a:solidFill>
          <a:ln w="12700">
            <a:solidFill>
              <a:srgbClr val="1D9E75"/>
            </a:solidFill>
            <a:prstDash val="solid"/>
          </a:ln>
        </p:spPr>
        <p:txBody>
          <a:bodyPr/>
          <a:lstStyle/>
          <a:p>
            <a:endParaRPr lang="en-US"/>
          </a:p>
        </p:txBody>
      </p:sp>
      <p:sp>
        <p:nvSpPr>
          <p:cNvPr id="32" name="Text 18">
            <a:extLst>
              <a:ext uri="{FF2B5EF4-FFF2-40B4-BE49-F238E27FC236}">
                <a16:creationId xmlns:a16="http://schemas.microsoft.com/office/drawing/2014/main" id="{64F8CFDA-0F09-B08C-3842-114A19082C8C}"/>
              </a:ext>
            </a:extLst>
          </p:cNvPr>
          <p:cNvSpPr/>
          <p:nvPr/>
        </p:nvSpPr>
        <p:spPr>
          <a:xfrm>
            <a:off x="4736592" y="1903247"/>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Dependency-first planning eliminates cascade failures </a:t>
            </a:r>
            <a:r>
              <a:rPr lang="en-US" sz="900" dirty="0">
                <a:solidFill>
                  <a:srgbClr val="CBD5E1"/>
                </a:solidFill>
              </a:rPr>
              <a:t>— wave-based delivery transformed our Sprint 4 and 5 execution</a:t>
            </a:r>
            <a:endParaRPr lang="en-US" sz="900" dirty="0"/>
          </a:p>
        </p:txBody>
      </p:sp>
      <p:sp>
        <p:nvSpPr>
          <p:cNvPr id="33" name="Shape 19">
            <a:extLst>
              <a:ext uri="{FF2B5EF4-FFF2-40B4-BE49-F238E27FC236}">
                <a16:creationId xmlns:a16="http://schemas.microsoft.com/office/drawing/2014/main" id="{63C3E38C-C349-8E63-F633-62DC3A0D3A61}"/>
              </a:ext>
            </a:extLst>
          </p:cNvPr>
          <p:cNvSpPr/>
          <p:nvPr/>
        </p:nvSpPr>
        <p:spPr>
          <a:xfrm>
            <a:off x="4553712" y="2525039"/>
            <a:ext cx="109728" cy="109728"/>
          </a:xfrm>
          <a:prstGeom prst="ellipse">
            <a:avLst/>
          </a:prstGeom>
          <a:solidFill>
            <a:srgbClr val="1D9E75"/>
          </a:solidFill>
          <a:ln w="12700">
            <a:solidFill>
              <a:srgbClr val="1D9E75"/>
            </a:solidFill>
            <a:prstDash val="solid"/>
          </a:ln>
        </p:spPr>
        <p:txBody>
          <a:bodyPr/>
          <a:lstStyle/>
          <a:p>
            <a:endParaRPr lang="en-US"/>
          </a:p>
        </p:txBody>
      </p:sp>
      <p:sp>
        <p:nvSpPr>
          <p:cNvPr id="34" name="Text 20">
            <a:extLst>
              <a:ext uri="{FF2B5EF4-FFF2-40B4-BE49-F238E27FC236}">
                <a16:creationId xmlns:a16="http://schemas.microsoft.com/office/drawing/2014/main" id="{09B33385-BC7B-469E-97B1-68CA69FA2978}"/>
              </a:ext>
            </a:extLst>
          </p:cNvPr>
          <p:cNvSpPr/>
          <p:nvPr/>
        </p:nvSpPr>
        <p:spPr>
          <a:xfrm>
            <a:off x="4736592" y="2433599"/>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Vocabulary matters</a:t>
            </a:r>
            <a:r>
              <a:rPr lang="en-US" sz="900" dirty="0">
                <a:solidFill>
                  <a:srgbClr val="CBD5E1"/>
                </a:solidFill>
              </a:rPr>
              <a:t>: understanding APIs, endpoints, and contracts earlier would have accelerated cross-functional work</a:t>
            </a:r>
            <a:endParaRPr lang="en-US" sz="900" dirty="0"/>
          </a:p>
        </p:txBody>
      </p:sp>
      <p:sp>
        <p:nvSpPr>
          <p:cNvPr id="35" name="Shape 21">
            <a:extLst>
              <a:ext uri="{FF2B5EF4-FFF2-40B4-BE49-F238E27FC236}">
                <a16:creationId xmlns:a16="http://schemas.microsoft.com/office/drawing/2014/main" id="{3C12ABFD-56F5-A431-DCA5-6D7755EC8AFE}"/>
              </a:ext>
            </a:extLst>
          </p:cNvPr>
          <p:cNvSpPr/>
          <p:nvPr/>
        </p:nvSpPr>
        <p:spPr>
          <a:xfrm>
            <a:off x="4553712" y="3055391"/>
            <a:ext cx="109728" cy="109728"/>
          </a:xfrm>
          <a:prstGeom prst="ellipse">
            <a:avLst/>
          </a:prstGeom>
          <a:solidFill>
            <a:srgbClr val="1D9E75"/>
          </a:solidFill>
          <a:ln w="12700">
            <a:solidFill>
              <a:srgbClr val="1D9E75"/>
            </a:solidFill>
            <a:prstDash val="solid"/>
          </a:ln>
        </p:spPr>
        <p:txBody>
          <a:bodyPr/>
          <a:lstStyle/>
          <a:p>
            <a:endParaRPr lang="en-US"/>
          </a:p>
        </p:txBody>
      </p:sp>
      <p:sp>
        <p:nvSpPr>
          <p:cNvPr id="36" name="Text 22">
            <a:extLst>
              <a:ext uri="{FF2B5EF4-FFF2-40B4-BE49-F238E27FC236}">
                <a16:creationId xmlns:a16="http://schemas.microsoft.com/office/drawing/2014/main" id="{D81E84C1-3A63-640C-81BB-53E932CFF89E}"/>
              </a:ext>
            </a:extLst>
          </p:cNvPr>
          <p:cNvSpPr/>
          <p:nvPr/>
        </p:nvSpPr>
        <p:spPr>
          <a:xfrm>
            <a:off x="4736592" y="2963951"/>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Collaborative development is a skill </a:t>
            </a:r>
            <a:r>
              <a:rPr lang="en-US" sz="900" dirty="0">
                <a:solidFill>
                  <a:srgbClr val="CBD5E1"/>
                </a:solidFill>
              </a:rPr>
              <a:t>— communication, PR habits, and daily check-ins improved meaningfully sprint over sprint</a:t>
            </a:r>
            <a:endParaRPr lang="en-US" sz="900" dirty="0"/>
          </a:p>
        </p:txBody>
      </p:sp>
      <p:sp>
        <p:nvSpPr>
          <p:cNvPr id="37" name="Shape 23">
            <a:extLst>
              <a:ext uri="{FF2B5EF4-FFF2-40B4-BE49-F238E27FC236}">
                <a16:creationId xmlns:a16="http://schemas.microsoft.com/office/drawing/2014/main" id="{6DAFCCA3-6B21-F402-615C-96C2285DCB96}"/>
              </a:ext>
            </a:extLst>
          </p:cNvPr>
          <p:cNvSpPr/>
          <p:nvPr/>
        </p:nvSpPr>
        <p:spPr>
          <a:xfrm>
            <a:off x="4553712" y="3585743"/>
            <a:ext cx="109728" cy="109728"/>
          </a:xfrm>
          <a:prstGeom prst="ellipse">
            <a:avLst/>
          </a:prstGeom>
          <a:solidFill>
            <a:srgbClr val="1D9E75"/>
          </a:solidFill>
          <a:ln w="12700">
            <a:solidFill>
              <a:srgbClr val="1D9E75"/>
            </a:solidFill>
            <a:prstDash val="solid"/>
          </a:ln>
        </p:spPr>
        <p:txBody>
          <a:bodyPr/>
          <a:lstStyle/>
          <a:p>
            <a:endParaRPr lang="en-US"/>
          </a:p>
        </p:txBody>
      </p:sp>
      <p:sp>
        <p:nvSpPr>
          <p:cNvPr id="38" name="Text 24">
            <a:extLst>
              <a:ext uri="{FF2B5EF4-FFF2-40B4-BE49-F238E27FC236}">
                <a16:creationId xmlns:a16="http://schemas.microsoft.com/office/drawing/2014/main" id="{91657B64-E05F-A14A-322D-7AAAB0F22305}"/>
              </a:ext>
            </a:extLst>
          </p:cNvPr>
          <p:cNvSpPr/>
          <p:nvPr/>
        </p:nvSpPr>
        <p:spPr>
          <a:xfrm>
            <a:off x="4736592" y="3494303"/>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Agile works when the team owns it </a:t>
            </a:r>
            <a:r>
              <a:rPr lang="en-US" sz="900" dirty="0">
                <a:solidFill>
                  <a:srgbClr val="CBD5E1"/>
                </a:solidFill>
              </a:rPr>
              <a:t>— retrospective actions were documented and acted on, not just noted</a:t>
            </a:r>
            <a:endParaRPr lang="en-US" sz="900" dirty="0"/>
          </a:p>
        </p:txBody>
      </p:sp>
      <p:sp>
        <p:nvSpPr>
          <p:cNvPr id="39" name="Shape 25">
            <a:extLst>
              <a:ext uri="{FF2B5EF4-FFF2-40B4-BE49-F238E27FC236}">
                <a16:creationId xmlns:a16="http://schemas.microsoft.com/office/drawing/2014/main" id="{75857F8D-D851-5707-D36C-A84461A7D57C}"/>
              </a:ext>
            </a:extLst>
          </p:cNvPr>
          <p:cNvSpPr/>
          <p:nvPr/>
        </p:nvSpPr>
        <p:spPr>
          <a:xfrm>
            <a:off x="4553712" y="4116095"/>
            <a:ext cx="109728" cy="109728"/>
          </a:xfrm>
          <a:prstGeom prst="ellipse">
            <a:avLst/>
          </a:prstGeom>
          <a:solidFill>
            <a:srgbClr val="1D9E75"/>
          </a:solidFill>
          <a:ln w="12700">
            <a:solidFill>
              <a:srgbClr val="1D9E75"/>
            </a:solidFill>
            <a:prstDash val="solid"/>
          </a:ln>
        </p:spPr>
        <p:txBody>
          <a:bodyPr/>
          <a:lstStyle/>
          <a:p>
            <a:endParaRPr lang="en-US"/>
          </a:p>
        </p:txBody>
      </p:sp>
      <p:sp>
        <p:nvSpPr>
          <p:cNvPr id="40" name="Text 26">
            <a:extLst>
              <a:ext uri="{FF2B5EF4-FFF2-40B4-BE49-F238E27FC236}">
                <a16:creationId xmlns:a16="http://schemas.microsoft.com/office/drawing/2014/main" id="{31E230FD-8A3F-001C-6FA1-1C5F62463D39}"/>
              </a:ext>
            </a:extLst>
          </p:cNvPr>
          <p:cNvSpPr/>
          <p:nvPr/>
        </p:nvSpPr>
        <p:spPr>
          <a:xfrm>
            <a:off x="4736592" y="3997223"/>
            <a:ext cx="3840480" cy="457200"/>
          </a:xfrm>
          <a:prstGeom prst="rect">
            <a:avLst/>
          </a:prstGeom>
          <a:noFill/>
          <a:ln/>
        </p:spPr>
        <p:txBody>
          <a:bodyPr wrap="square" lIns="0" tIns="0" rIns="0" bIns="0" rtlCol="0" anchor="ctr"/>
          <a:lstStyle/>
          <a:p>
            <a:pPr marL="0" indent="0">
              <a:buNone/>
            </a:pPr>
            <a:r>
              <a:rPr lang="en-US" sz="900" dirty="0">
                <a:solidFill>
                  <a:srgbClr val="CBD5E1"/>
                </a:solidFill>
              </a:rPr>
              <a:t>We built something real. A platform that looks, works, and ships like professional software.</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250853"/>
            <a:ext cx="164592" cy="5143500"/>
          </a:xfrm>
          <a:prstGeom prst="rect">
            <a:avLst/>
          </a:prstGeom>
          <a:solidFill>
            <a:srgbClr val="3BB77E"/>
          </a:solidFill>
          <a:ln w="12700">
            <a:solidFill>
              <a:srgbClr val="3BB77E"/>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6858000" y="914400"/>
            <a:ext cx="1645920" cy="1645920"/>
          </a:xfrm>
          <a:prstGeom prst="rect">
            <a:avLst/>
          </a:prstGeom>
        </p:spPr>
      </p:pic>
      <p:sp>
        <p:nvSpPr>
          <p:cNvPr id="4" name="Text 1"/>
          <p:cNvSpPr/>
          <p:nvPr/>
        </p:nvSpPr>
        <p:spPr>
          <a:xfrm>
            <a:off x="457200" y="1371600"/>
            <a:ext cx="6400800" cy="1005840"/>
          </a:xfrm>
          <a:prstGeom prst="rect">
            <a:avLst/>
          </a:prstGeom>
          <a:noFill/>
          <a:ln/>
        </p:spPr>
        <p:txBody>
          <a:bodyPr wrap="square" lIns="0" tIns="0" rIns="0" bIns="0" rtlCol="0" anchor="ctr"/>
          <a:lstStyle/>
          <a:p>
            <a:pPr marL="0" indent="0" algn="l">
              <a:buNone/>
            </a:pPr>
            <a:r>
              <a:rPr lang="en-US" sz="6800" b="1" dirty="0">
                <a:solidFill>
                  <a:srgbClr val="FFFFFF"/>
                </a:solidFill>
                <a:latin typeface="Calibri" pitchFamily="34" charset="0"/>
                <a:ea typeface="Calibri" pitchFamily="34" charset="-122"/>
                <a:cs typeface="Calibri" pitchFamily="34" charset="-120"/>
              </a:rPr>
              <a:t>Questions?</a:t>
            </a:r>
            <a:endParaRPr lang="en-US" sz="6800" dirty="0"/>
          </a:p>
        </p:txBody>
      </p:sp>
      <p:sp>
        <p:nvSpPr>
          <p:cNvPr id="5" name="Text 2"/>
          <p:cNvSpPr/>
          <p:nvPr/>
        </p:nvSpPr>
        <p:spPr>
          <a:xfrm>
            <a:off x="457200" y="2487168"/>
            <a:ext cx="7315200" cy="502920"/>
          </a:xfrm>
          <a:prstGeom prst="rect">
            <a:avLst/>
          </a:prstGeom>
          <a:noFill/>
          <a:ln/>
        </p:spPr>
        <p:txBody>
          <a:bodyPr wrap="square" lIns="0" tIns="0" rIns="0" bIns="0" rtlCol="0" anchor="ctr"/>
          <a:lstStyle/>
          <a:p>
            <a:pPr marL="0" indent="0" algn="l">
              <a:buNone/>
            </a:pPr>
            <a:r>
              <a:rPr lang="en-US" sz="1600" i="1" dirty="0">
                <a:solidFill>
                  <a:srgbClr val="CADCFC"/>
                </a:solidFill>
                <a:latin typeface="Calibri" pitchFamily="34" charset="0"/>
                <a:ea typeface="Calibri" pitchFamily="34" charset="-122"/>
                <a:cs typeface="Calibri" pitchFamily="34" charset="-120"/>
              </a:rPr>
              <a:t>We'd love to walk you through a demo or answer any questions.</a:t>
            </a:r>
            <a:endParaRPr lang="en-US" sz="1600" dirty="0"/>
          </a:p>
        </p:txBody>
      </p:sp>
      <p:sp>
        <p:nvSpPr>
          <p:cNvPr id="6" name="Shape 3"/>
          <p:cNvSpPr/>
          <p:nvPr/>
        </p:nvSpPr>
        <p:spPr>
          <a:xfrm>
            <a:off x="457200" y="3108960"/>
            <a:ext cx="4114800" cy="36576"/>
          </a:xfrm>
          <a:prstGeom prst="rect">
            <a:avLst/>
          </a:prstGeom>
          <a:solidFill>
            <a:srgbClr val="3BB77E"/>
          </a:solidFill>
          <a:ln w="12700">
            <a:solidFill>
              <a:srgbClr val="3BB77E"/>
            </a:solidFill>
            <a:prstDash val="solid"/>
          </a:ln>
        </p:spPr>
        <p:txBody>
          <a:bodyPr/>
          <a:lstStyle/>
          <a:p>
            <a:endParaRPr lang="en-US"/>
          </a:p>
        </p:txBody>
      </p:sp>
      <p:sp>
        <p:nvSpPr>
          <p:cNvPr id="7" name="Text 4"/>
          <p:cNvSpPr/>
          <p:nvPr/>
        </p:nvSpPr>
        <p:spPr>
          <a:xfrm>
            <a:off x="457200" y="3246120"/>
            <a:ext cx="7772400" cy="868680"/>
          </a:xfrm>
          <a:prstGeom prst="rect">
            <a:avLst/>
          </a:prstGeom>
          <a:noFill/>
          <a:ln/>
        </p:spPr>
        <p:txBody>
          <a:bodyPr wrap="square" lIns="0" tIns="0" rIns="0" bIns="0" rtlCol="0" anchor="ctr"/>
          <a:lstStyle/>
          <a:p>
            <a:pPr marL="0" indent="0" algn="l">
              <a:buNone/>
            </a:pPr>
            <a:r>
              <a:rPr lang="en-US" sz="1200" b="1" dirty="0">
                <a:solidFill>
                  <a:srgbClr val="CADCFC"/>
                </a:solidFill>
                <a:latin typeface="Calibri" pitchFamily="34" charset="0"/>
                <a:ea typeface="Calibri" pitchFamily="34" charset="-122"/>
                <a:cs typeface="Calibri" pitchFamily="34" charset="-120"/>
              </a:rPr>
              <a:t>Serina Rodriguez</a:t>
            </a:r>
            <a:endParaRPr lang="en-US" sz="1200" dirty="0"/>
          </a:p>
          <a:p>
            <a:pPr marL="0" indent="0" algn="l">
              <a:buNone/>
            </a:pPr>
            <a:r>
              <a:rPr lang="en-US" sz="1200" dirty="0">
                <a:solidFill>
                  <a:srgbClr val="CADCFC"/>
                </a:solidFill>
                <a:latin typeface="Calibri" pitchFamily="34" charset="0"/>
                <a:ea typeface="Calibri" pitchFamily="34" charset="-122"/>
                <a:cs typeface="Calibri" pitchFamily="34" charset="-120"/>
              </a:rPr>
              <a:t>Scrum Master / Project Manager — Team 7</a:t>
            </a:r>
            <a:endParaRPr lang="en-US" sz="1200" dirty="0"/>
          </a:p>
          <a:p>
            <a:pPr marL="0" indent="0" algn="l">
              <a:buNone/>
            </a:pPr>
            <a:r>
              <a:rPr lang="en-US" sz="1200" dirty="0">
                <a:solidFill>
                  <a:srgbClr val="CADCFC"/>
                </a:solidFill>
                <a:latin typeface="Calibri" pitchFamily="34" charset="0"/>
                <a:ea typeface="Calibri" pitchFamily="34" charset="-122"/>
                <a:cs typeface="Calibri" pitchFamily="34" charset="-120"/>
              </a:rPr>
              <a:t>CSC 289.0001 ·  Wake Technical Community College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6830</TotalTime>
  <Words>4219</Words>
  <Application>Microsoft Macintosh PowerPoint</Application>
  <PresentationFormat>On-screen Show (16:9)</PresentationFormat>
  <Paragraphs>551</Paragraphs>
  <Slides>18</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Calibri</vt:lpstr>
      <vt:lpstr>Consolas</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Orderly — Presentation Template</dc:title>
  <dc:subject>PptxGenJS Presentation</dc:subject>
  <dc:creator>[Your Name]</dc:creator>
  <cp:lastModifiedBy>Serina Rodriguez</cp:lastModifiedBy>
  <cp:revision>19</cp:revision>
  <dcterms:created xsi:type="dcterms:W3CDTF">2026-04-23T04:42:28Z</dcterms:created>
  <dcterms:modified xsi:type="dcterms:W3CDTF">2026-04-28T03:02:12Z</dcterms:modified>
</cp:coreProperties>
</file>