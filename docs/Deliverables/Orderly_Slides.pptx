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55"/>
    <p:restoredTop sz="96224"/>
  </p:normalViewPr>
  <p:slideViewPr>
    <p:cSldViewPr snapToGrid="0" snapToObjects="1">
      <p:cViewPr>
        <p:scale>
          <a:sx n="158" d="100"/>
          <a:sy n="158" d="100"/>
        </p:scale>
        <p:origin x="328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26770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"15 features delivered”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counting by user-facing feature area rather than individual Trello cards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(which split each feature into UX/Frontend/Backend).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Product Browsing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browse the menu catalog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Shopping Cart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persistent cart with customization display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Item Customization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modifier selection with live price updates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Checkout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submit an order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Order Confirmation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receipt after placing an order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Order History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customer view of past orders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7. Customer Order Cancellation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cancel a placed order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8. Admin Dashboard Navigation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unified admin hub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9. Product &amp; Variant Management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full CRUD for products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10. Inventory Management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stock tracking and adjustments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11. Sales Summary Dashboard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revenue trends and analytics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12. Low Stock Indicators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real-time stock alerts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13. Admin Orders Management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view and manage all orders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14. Settings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business profile and preference config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15. Profile Page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customer profile management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KIM!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SERINA!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DRF stands for Django REST Framework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It's the library that sits on top of Django and makes it easy to build REST APIs 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 it handles things like serializers (converting database models to JSON),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viewsets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authentication, and permission classes.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TRISTIN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Rachel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Kenny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Tristin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Caleb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Rachel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B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91440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01168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Orderly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457200" y="3063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flexible ordering for any business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3611880"/>
            <a:ext cx="4114800" cy="36576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3749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7 |  Programming Capstone Project | CSC 289.0001 | April 30</a:t>
            </a:r>
            <a:r>
              <a:rPr lang="en-US" sz="11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2026 </a:t>
            </a:r>
            <a:endParaRPr lang="en-US" sz="1100" dirty="0"/>
          </a:p>
          <a:p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 Mayo · Kenny Bacdayan · Rachel Mizer · Tristin Gatt · Caleb Fowlkes · Serina Rodriguez (PM/SCRUM Master) 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Orderly?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39319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4360" y="2035263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2346160"/>
            <a:ext cx="34747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mid-sized businesses lack affordable, efficient, and unified tools for managing orders, inventory, and customer-facing menus. </a:t>
            </a:r>
          </a:p>
          <a:p>
            <a:pPr marL="0" indent="0">
              <a:buNone/>
            </a:pPr>
            <a:endParaRPr lang="en-US" sz="1200" dirty="0">
              <a:solidFill>
                <a:srgbClr val="374151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The result: manual processes, spreadsheet chaos, and no real-time visibility.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3520440"/>
            <a:ext cx="3474720" cy="36576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36301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38862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A customizable full-stack self-service ordering and business management platform – built for real businesses, by a team of student developers. 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46320" y="1325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5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5852160" y="15727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B5E"/>
                </a:solidFill>
                <a:latin typeface="Calibri" pitchFamily="34" charset="0"/>
                <a:cs typeface="Calibri" pitchFamily="34" charset="-120"/>
              </a:rPr>
              <a:t>Agile Sprints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663440" y="2468880"/>
            <a:ext cx="4023360" cy="1005840"/>
          </a:xfrm>
          <a:prstGeom prst="rect">
            <a:avLst/>
          </a:prstGeom>
          <a:solidFill>
            <a:srgbClr val="1B2B5E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4632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5852160" y="27614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663440" y="365760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62195" y="3703320"/>
            <a:ext cx="99852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15</a:t>
            </a:r>
            <a:r>
              <a:rPr lang="en-US" sz="36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+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5852160" y="39502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B5E"/>
                </a:solidFill>
                <a:latin typeface="Calibri" pitchFamily="34" charset="0"/>
                <a:cs typeface="Calibri" pitchFamily="34" charset="-120"/>
              </a:rPr>
              <a:t>User Features Done 🎉</a:t>
            </a:r>
            <a:endParaRPr lang="en-US" sz="1600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E6A7EF37-E701-B089-536B-846DD2F90B82}"/>
              </a:ext>
            </a:extLst>
          </p:cNvPr>
          <p:cNvSpPr/>
          <p:nvPr/>
        </p:nvSpPr>
        <p:spPr>
          <a:xfrm>
            <a:off x="548640" y="1389889"/>
            <a:ext cx="347472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centralized web application designed to streamline operations for small to mid-sized businesses.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Goals &amp; Feature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69164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4128" y="15727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Ordering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24128" y="193852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menu, place &amp; cancel orders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00400" y="137160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4992" y="169164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858768" y="15727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3858768" y="193852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view of business operations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035040" y="137160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632" y="169164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693408" y="15727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6693408" y="193852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Add, edit, and organize products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365760" y="306324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338328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24128" y="326440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Tracking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1024128" y="36301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stock &amp; low-stock alerts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200400" y="306324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64992" y="3383280"/>
            <a:ext cx="411480" cy="41148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858768" y="326440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Dashboard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3858768" y="36301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order trends, analytics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6035040" y="306324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9632" y="3383280"/>
            <a:ext cx="411480" cy="41148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693408" y="326440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&amp; Admin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6693408" y="36301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configuration &amp; user management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PROCESS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Workflow &amp; Sprint Structure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1554480" cy="65836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0040" y="2130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" y="24048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cs typeface="Calibri" pitchFamily="34" charset="-120"/>
              </a:rPr>
              <a:t>Architecture, Planning, Standards, Development Environment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20240" y="1709928"/>
            <a:ext cx="164592" cy="7315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084832" y="1417320"/>
            <a:ext cx="1554480" cy="65836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084832" y="141732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039112" y="2130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&amp; Data Layer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39112" y="24048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Authentication, Database Management, UI shell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39312" y="1709928"/>
            <a:ext cx="164592" cy="7315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803904" y="1417320"/>
            <a:ext cx="1554480" cy="65836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803904" y="141732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758184" y="2130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Backbone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58184" y="24048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cs typeface="Calibri" pitchFamily="34" charset="-120"/>
              </a:rPr>
              <a:t>APIs, Authentication, Process Improvements &amp; CI Pipeline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58384" y="1709928"/>
            <a:ext cx="164592" cy="7315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522976" y="1417320"/>
            <a:ext cx="1554480" cy="65836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522976" y="141732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477256" y="2130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cs typeface="Calibri" pitchFamily="34" charset="-120"/>
              </a:rPr>
              <a:t>Customer Experience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77256" y="24048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cs typeface="Calibri" pitchFamily="34" charset="-120"/>
              </a:rPr>
              <a:t>Storefront Page, Customer Order Flow, RBAC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077456" y="1709928"/>
            <a:ext cx="164592" cy="7315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242048" y="1417320"/>
            <a:ext cx="1554480" cy="658368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242048" y="141732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196328" y="2130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cs typeface="Calibri" pitchFamily="34" charset="-120"/>
              </a:rPr>
              <a:t>Business Admin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96328" y="2404872"/>
            <a:ext cx="1730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Admin Settings, </a:t>
            </a:r>
            <a:b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Inventory Operations,</a:t>
            </a:r>
            <a:b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Management &amp; Sales Analytics 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5760" y="3931920"/>
            <a:ext cx="8412480" cy="8229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85508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Wave-Based Execution: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606040" y="404164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 3, 4 and 5 ran a three-wave structure with explicit greenlight conditions, dependency chains, and hard deadlines – ensuring blockers surfaced early, not at the end of the sprint.</a:t>
            </a:r>
            <a:endParaRPr lang="en-US" sz="1000" dirty="0"/>
          </a:p>
        </p:txBody>
      </p:sp>
      <p:sp>
        <p:nvSpPr>
          <p:cNvPr id="48" name="TL_Track">
            <a:extLst>
              <a:ext uri="{FF2B5EF4-FFF2-40B4-BE49-F238E27FC236}">
                <a16:creationId xmlns:a16="http://schemas.microsoft.com/office/drawing/2014/main" id="{1CCCF149-763F-A5B5-78E2-07C7C04ED3CE}"/>
              </a:ext>
            </a:extLst>
          </p:cNvPr>
          <p:cNvSpPr/>
          <p:nvPr/>
        </p:nvSpPr>
        <p:spPr>
          <a:xfrm>
            <a:off x="355208" y="3360421"/>
            <a:ext cx="8412480" cy="609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9" name="TL_S1_dot">
            <a:extLst>
              <a:ext uri="{FF2B5EF4-FFF2-40B4-BE49-F238E27FC236}">
                <a16:creationId xmlns:a16="http://schemas.microsoft.com/office/drawing/2014/main" id="{477F04EF-DE87-4B33-6658-21185A3D22E9}"/>
              </a:ext>
            </a:extLst>
          </p:cNvPr>
          <p:cNvSpPr/>
          <p:nvPr/>
        </p:nvSpPr>
        <p:spPr>
          <a:xfrm>
            <a:off x="396240" y="3321625"/>
            <a:ext cx="121920" cy="121920"/>
          </a:xfrm>
          <a:prstGeom prst="ellipse">
            <a:avLst/>
          </a:prstGeom>
          <a:solidFill>
            <a:srgbClr val="1B2B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TL_S1_lbl">
            <a:extLst>
              <a:ext uri="{FF2B5EF4-FFF2-40B4-BE49-F238E27FC236}">
                <a16:creationId xmlns:a16="http://schemas.microsoft.com/office/drawing/2014/main" id="{D7DE4412-E18E-4B5A-6A3C-E5BEAF41DE50}"/>
              </a:ext>
            </a:extLst>
          </p:cNvPr>
          <p:cNvSpPr/>
          <p:nvPr/>
        </p:nvSpPr>
        <p:spPr>
          <a:xfrm>
            <a:off x="241134" y="3192834"/>
            <a:ext cx="457200" cy="1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700" b="1" dirty="0">
                <a:solidFill>
                  <a:srgbClr val="1B2B5E"/>
                </a:solidFill>
                <a:latin typeface="Calibri"/>
              </a:rPr>
              <a:t>S1</a:t>
            </a:r>
          </a:p>
        </p:txBody>
      </p:sp>
      <p:sp>
        <p:nvSpPr>
          <p:cNvPr id="51" name="TL_S1_date">
            <a:extLst>
              <a:ext uri="{FF2B5EF4-FFF2-40B4-BE49-F238E27FC236}">
                <a16:creationId xmlns:a16="http://schemas.microsoft.com/office/drawing/2014/main" id="{5E33277C-34EB-EF05-33F9-4D355904870E}"/>
              </a:ext>
            </a:extLst>
          </p:cNvPr>
          <p:cNvSpPr/>
          <p:nvPr/>
        </p:nvSpPr>
        <p:spPr>
          <a:xfrm>
            <a:off x="146273" y="3488341"/>
            <a:ext cx="64008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6B7280"/>
                </a:solidFill>
                <a:latin typeface="Calibri"/>
              </a:rPr>
              <a:t>Jan 31</a:t>
            </a:r>
          </a:p>
        </p:txBody>
      </p:sp>
      <p:sp>
        <p:nvSpPr>
          <p:cNvPr id="52" name="TL_S2_dot">
            <a:extLst>
              <a:ext uri="{FF2B5EF4-FFF2-40B4-BE49-F238E27FC236}">
                <a16:creationId xmlns:a16="http://schemas.microsoft.com/office/drawing/2014/main" id="{4B2D0CE8-F4C3-9462-2F85-D88E5E517431}"/>
              </a:ext>
            </a:extLst>
          </p:cNvPr>
          <p:cNvSpPr/>
          <p:nvPr/>
        </p:nvSpPr>
        <p:spPr>
          <a:xfrm>
            <a:off x="1755128" y="3329461"/>
            <a:ext cx="121920" cy="121920"/>
          </a:xfrm>
          <a:prstGeom prst="ellipse">
            <a:avLst/>
          </a:prstGeom>
          <a:solidFill>
            <a:srgbClr val="1B2B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" name="TL_S2_lbl">
            <a:extLst>
              <a:ext uri="{FF2B5EF4-FFF2-40B4-BE49-F238E27FC236}">
                <a16:creationId xmlns:a16="http://schemas.microsoft.com/office/drawing/2014/main" id="{08BDC6FB-077B-87FC-60A1-3555F78C31D8}"/>
              </a:ext>
            </a:extLst>
          </p:cNvPr>
          <p:cNvSpPr/>
          <p:nvPr/>
        </p:nvSpPr>
        <p:spPr>
          <a:xfrm>
            <a:off x="1587488" y="3185813"/>
            <a:ext cx="457200" cy="1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700" b="1" dirty="0">
                <a:solidFill>
                  <a:srgbClr val="1B2B5E"/>
                </a:solidFill>
                <a:latin typeface="Calibri"/>
              </a:rPr>
              <a:t>S2</a:t>
            </a:r>
          </a:p>
        </p:txBody>
      </p:sp>
      <p:sp>
        <p:nvSpPr>
          <p:cNvPr id="54" name="TL_S2_date">
            <a:extLst>
              <a:ext uri="{FF2B5EF4-FFF2-40B4-BE49-F238E27FC236}">
                <a16:creationId xmlns:a16="http://schemas.microsoft.com/office/drawing/2014/main" id="{D74263D3-2CD9-4A83-C80B-67F88276B918}"/>
              </a:ext>
            </a:extLst>
          </p:cNvPr>
          <p:cNvSpPr/>
          <p:nvPr/>
        </p:nvSpPr>
        <p:spPr>
          <a:xfrm>
            <a:off x="1464961" y="3507430"/>
            <a:ext cx="64008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6B7280"/>
                </a:solidFill>
                <a:latin typeface="Calibri"/>
              </a:rPr>
              <a:t>Feb 14</a:t>
            </a:r>
          </a:p>
        </p:txBody>
      </p:sp>
      <p:sp>
        <p:nvSpPr>
          <p:cNvPr id="55" name="TL_S3_dot">
            <a:extLst>
              <a:ext uri="{FF2B5EF4-FFF2-40B4-BE49-F238E27FC236}">
                <a16:creationId xmlns:a16="http://schemas.microsoft.com/office/drawing/2014/main" id="{DB51A5CB-2961-6753-31BC-A87CFAF37128}"/>
              </a:ext>
            </a:extLst>
          </p:cNvPr>
          <p:cNvSpPr/>
          <p:nvPr/>
        </p:nvSpPr>
        <p:spPr>
          <a:xfrm>
            <a:off x="3155048" y="3329461"/>
            <a:ext cx="121920" cy="121920"/>
          </a:xfrm>
          <a:prstGeom prst="ellipse">
            <a:avLst/>
          </a:prstGeom>
          <a:solidFill>
            <a:srgbClr val="1B2B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6" name="TL_S3_lbl">
            <a:extLst>
              <a:ext uri="{FF2B5EF4-FFF2-40B4-BE49-F238E27FC236}">
                <a16:creationId xmlns:a16="http://schemas.microsoft.com/office/drawing/2014/main" id="{C4BFA7C0-CA77-165D-2795-5FA26D456F3E}"/>
              </a:ext>
            </a:extLst>
          </p:cNvPr>
          <p:cNvSpPr/>
          <p:nvPr/>
        </p:nvSpPr>
        <p:spPr>
          <a:xfrm>
            <a:off x="2993080" y="3192834"/>
            <a:ext cx="457200" cy="1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700" b="1" dirty="0">
                <a:solidFill>
                  <a:srgbClr val="1B2B5E"/>
                </a:solidFill>
                <a:latin typeface="Calibri"/>
              </a:rPr>
              <a:t>S3</a:t>
            </a:r>
          </a:p>
        </p:txBody>
      </p:sp>
      <p:sp>
        <p:nvSpPr>
          <p:cNvPr id="57" name="TL_S3_date">
            <a:extLst>
              <a:ext uri="{FF2B5EF4-FFF2-40B4-BE49-F238E27FC236}">
                <a16:creationId xmlns:a16="http://schemas.microsoft.com/office/drawing/2014/main" id="{EE407D33-F8A8-6D38-5BDC-B4A967AAECDC}"/>
              </a:ext>
            </a:extLst>
          </p:cNvPr>
          <p:cNvSpPr/>
          <p:nvPr/>
        </p:nvSpPr>
        <p:spPr>
          <a:xfrm>
            <a:off x="2905968" y="3506750"/>
            <a:ext cx="64008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6B7280"/>
                </a:solidFill>
                <a:latin typeface="Calibri"/>
              </a:rPr>
              <a:t>Feb 28</a:t>
            </a:r>
          </a:p>
        </p:txBody>
      </p:sp>
      <p:sp>
        <p:nvSpPr>
          <p:cNvPr id="58" name="TL_Break_bar">
            <a:extLst>
              <a:ext uri="{FF2B5EF4-FFF2-40B4-BE49-F238E27FC236}">
                <a16:creationId xmlns:a16="http://schemas.microsoft.com/office/drawing/2014/main" id="{EE14E628-AEDD-493F-857D-AD1B302B7EC6}"/>
              </a:ext>
            </a:extLst>
          </p:cNvPr>
          <p:cNvSpPr/>
          <p:nvPr/>
        </p:nvSpPr>
        <p:spPr>
          <a:xfrm>
            <a:off x="3789448" y="3340421"/>
            <a:ext cx="3048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9" name="TL_Break_lbl">
            <a:extLst>
              <a:ext uri="{FF2B5EF4-FFF2-40B4-BE49-F238E27FC236}">
                <a16:creationId xmlns:a16="http://schemas.microsoft.com/office/drawing/2014/main" id="{3A655CB8-C811-9635-03C4-3B3FC877B822}"/>
              </a:ext>
            </a:extLst>
          </p:cNvPr>
          <p:cNvSpPr/>
          <p:nvPr/>
        </p:nvSpPr>
        <p:spPr>
          <a:xfrm>
            <a:off x="3689448" y="3470421"/>
            <a:ext cx="53000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550" b="1" dirty="0">
                <a:solidFill>
                  <a:srgbClr val="F59E0B"/>
                </a:solidFill>
                <a:latin typeface="Calibri"/>
              </a:rPr>
              <a:t>Break</a:t>
            </a:r>
          </a:p>
        </p:txBody>
      </p:sp>
      <p:sp>
        <p:nvSpPr>
          <p:cNvPr id="60" name="TL_S4_dot">
            <a:extLst>
              <a:ext uri="{FF2B5EF4-FFF2-40B4-BE49-F238E27FC236}">
                <a16:creationId xmlns:a16="http://schemas.microsoft.com/office/drawing/2014/main" id="{548FEB90-9705-9621-11E8-5C5F044C83E9}"/>
              </a:ext>
            </a:extLst>
          </p:cNvPr>
          <p:cNvSpPr/>
          <p:nvPr/>
        </p:nvSpPr>
        <p:spPr>
          <a:xfrm>
            <a:off x="4470008" y="3329461"/>
            <a:ext cx="121920" cy="121920"/>
          </a:xfrm>
          <a:prstGeom prst="ellipse">
            <a:avLst/>
          </a:prstGeom>
          <a:solidFill>
            <a:srgbClr val="1B2B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1" name="TL_S4_lbl">
            <a:extLst>
              <a:ext uri="{FF2B5EF4-FFF2-40B4-BE49-F238E27FC236}">
                <a16:creationId xmlns:a16="http://schemas.microsoft.com/office/drawing/2014/main" id="{54987736-CD40-8D15-FE3C-791F5D12BE7F}"/>
              </a:ext>
            </a:extLst>
          </p:cNvPr>
          <p:cNvSpPr/>
          <p:nvPr/>
        </p:nvSpPr>
        <p:spPr>
          <a:xfrm>
            <a:off x="4302368" y="3192834"/>
            <a:ext cx="457200" cy="1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700" b="1" dirty="0">
                <a:solidFill>
                  <a:srgbClr val="1B2B5E"/>
                </a:solidFill>
                <a:latin typeface="Calibri"/>
              </a:rPr>
              <a:t>S4</a:t>
            </a:r>
          </a:p>
        </p:txBody>
      </p:sp>
      <p:sp>
        <p:nvSpPr>
          <p:cNvPr id="62" name="TL_S4_date">
            <a:extLst>
              <a:ext uri="{FF2B5EF4-FFF2-40B4-BE49-F238E27FC236}">
                <a16:creationId xmlns:a16="http://schemas.microsoft.com/office/drawing/2014/main" id="{460EDA01-7315-26DB-89D1-004B7E9EF140}"/>
              </a:ext>
            </a:extLst>
          </p:cNvPr>
          <p:cNvSpPr/>
          <p:nvPr/>
        </p:nvSpPr>
        <p:spPr>
          <a:xfrm>
            <a:off x="4224656" y="3492379"/>
            <a:ext cx="64008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6B7280"/>
                </a:solidFill>
                <a:latin typeface="Calibri"/>
              </a:rPr>
              <a:t>Mar 21</a:t>
            </a:r>
          </a:p>
        </p:txBody>
      </p:sp>
      <p:sp>
        <p:nvSpPr>
          <p:cNvPr id="63" name="TL_S5_dot">
            <a:extLst>
              <a:ext uri="{FF2B5EF4-FFF2-40B4-BE49-F238E27FC236}">
                <a16:creationId xmlns:a16="http://schemas.microsoft.com/office/drawing/2014/main" id="{43B6A58A-1D88-8581-31F5-7F46238AC892}"/>
              </a:ext>
            </a:extLst>
          </p:cNvPr>
          <p:cNvSpPr/>
          <p:nvPr/>
        </p:nvSpPr>
        <p:spPr>
          <a:xfrm>
            <a:off x="5969768" y="3329461"/>
            <a:ext cx="121920" cy="121920"/>
          </a:xfrm>
          <a:prstGeom prst="ellipse">
            <a:avLst/>
          </a:prstGeom>
          <a:solidFill>
            <a:srgbClr val="1B2B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4" name="TL_S5_lbl">
            <a:extLst>
              <a:ext uri="{FF2B5EF4-FFF2-40B4-BE49-F238E27FC236}">
                <a16:creationId xmlns:a16="http://schemas.microsoft.com/office/drawing/2014/main" id="{1F5A13EB-A0AF-DEA3-7EBA-DB9FDDDED293}"/>
              </a:ext>
            </a:extLst>
          </p:cNvPr>
          <p:cNvSpPr/>
          <p:nvPr/>
        </p:nvSpPr>
        <p:spPr>
          <a:xfrm>
            <a:off x="5802128" y="3192834"/>
            <a:ext cx="457200" cy="1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700" b="1" dirty="0">
                <a:solidFill>
                  <a:srgbClr val="1B2B5E"/>
                </a:solidFill>
                <a:latin typeface="Calibri"/>
              </a:rPr>
              <a:t>S5</a:t>
            </a:r>
          </a:p>
        </p:txBody>
      </p:sp>
      <p:sp>
        <p:nvSpPr>
          <p:cNvPr id="65" name="TL_S5_date">
            <a:extLst>
              <a:ext uri="{FF2B5EF4-FFF2-40B4-BE49-F238E27FC236}">
                <a16:creationId xmlns:a16="http://schemas.microsoft.com/office/drawing/2014/main" id="{42E47CFC-CF73-9158-6354-8FEDAE7CFDB2}"/>
              </a:ext>
            </a:extLst>
          </p:cNvPr>
          <p:cNvSpPr/>
          <p:nvPr/>
        </p:nvSpPr>
        <p:spPr>
          <a:xfrm>
            <a:off x="5710688" y="3492379"/>
            <a:ext cx="64008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6B7280"/>
                </a:solidFill>
                <a:latin typeface="Calibri"/>
              </a:rPr>
              <a:t>Apr 4</a:t>
            </a:r>
          </a:p>
        </p:txBody>
      </p:sp>
      <p:sp>
        <p:nvSpPr>
          <p:cNvPr id="66" name="TL_P4_dot">
            <a:extLst>
              <a:ext uri="{FF2B5EF4-FFF2-40B4-BE49-F238E27FC236}">
                <a16:creationId xmlns:a16="http://schemas.microsoft.com/office/drawing/2014/main" id="{1403EE6B-425C-68FF-FBBC-DA9065D1E352}"/>
              </a:ext>
            </a:extLst>
          </p:cNvPr>
          <p:cNvSpPr/>
          <p:nvPr/>
        </p:nvSpPr>
        <p:spPr>
          <a:xfrm>
            <a:off x="8339448" y="3329461"/>
            <a:ext cx="121920" cy="121920"/>
          </a:xfrm>
          <a:prstGeom prst="ellipse">
            <a:avLst/>
          </a:prstGeom>
          <a:solidFill>
            <a:srgbClr val="3BB77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7" name="TL_P4_date">
            <a:extLst>
              <a:ext uri="{FF2B5EF4-FFF2-40B4-BE49-F238E27FC236}">
                <a16:creationId xmlns:a16="http://schemas.microsoft.com/office/drawing/2014/main" id="{8647019D-2240-6132-55CE-34C07FD5A3AD}"/>
              </a:ext>
            </a:extLst>
          </p:cNvPr>
          <p:cNvSpPr/>
          <p:nvPr/>
        </p:nvSpPr>
        <p:spPr>
          <a:xfrm>
            <a:off x="8080368" y="3598670"/>
            <a:ext cx="64008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3BB77E"/>
                </a:solidFill>
                <a:latin typeface="Calibri"/>
              </a:rPr>
              <a:t>April 30</a:t>
            </a:r>
            <a:br>
              <a:rPr lang="en-US" sz="600" dirty="0">
                <a:solidFill>
                  <a:srgbClr val="3BB77E"/>
                </a:solidFill>
                <a:latin typeface="Calibri"/>
              </a:rPr>
            </a:br>
            <a:r>
              <a:rPr lang="en-US" sz="600" b="1" dirty="0">
                <a:solidFill>
                  <a:srgbClr val="3BB77E"/>
                </a:solidFill>
                <a:latin typeface="Calibri"/>
              </a:rPr>
              <a:t>Present</a:t>
            </a:r>
            <a:endParaRPr lang="en-US" sz="600" dirty="0">
              <a:solidFill>
                <a:srgbClr val="3BB77E"/>
              </a:solidFill>
              <a:latin typeface="Calibri"/>
            </a:endParaRPr>
          </a:p>
        </p:txBody>
      </p:sp>
      <p:sp>
        <p:nvSpPr>
          <p:cNvPr id="68" name="TL_CF_diamond">
            <a:extLst>
              <a:ext uri="{FF2B5EF4-FFF2-40B4-BE49-F238E27FC236}">
                <a16:creationId xmlns:a16="http://schemas.microsoft.com/office/drawing/2014/main" id="{1070B717-8419-287F-EF0B-0E237466906C}"/>
              </a:ext>
            </a:extLst>
          </p:cNvPr>
          <p:cNvSpPr/>
          <p:nvPr/>
        </p:nvSpPr>
        <p:spPr>
          <a:xfrm rot="2700000">
            <a:off x="7411100" y="3288872"/>
            <a:ext cx="182880" cy="1828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TL_CF_date">
            <a:extLst>
              <a:ext uri="{FF2B5EF4-FFF2-40B4-BE49-F238E27FC236}">
                <a16:creationId xmlns:a16="http://schemas.microsoft.com/office/drawing/2014/main" id="{7FE53BD2-3391-EE04-3FC1-61C00B533499}"/>
              </a:ext>
            </a:extLst>
          </p:cNvPr>
          <p:cNvSpPr/>
          <p:nvPr/>
        </p:nvSpPr>
        <p:spPr>
          <a:xfrm>
            <a:off x="7232904" y="3558008"/>
            <a:ext cx="530000" cy="21362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EF4444"/>
                </a:solidFill>
                <a:latin typeface="Calibri"/>
              </a:rPr>
              <a:t>Apr 24</a:t>
            </a:r>
            <a:br>
              <a:rPr lang="en-US" sz="600" dirty="0">
                <a:solidFill>
                  <a:srgbClr val="EF4444"/>
                </a:solidFill>
                <a:latin typeface="Calibri"/>
              </a:rPr>
            </a:br>
            <a:r>
              <a:rPr lang="en-US" sz="600" dirty="0">
                <a:solidFill>
                  <a:srgbClr val="EF4444"/>
                </a:solidFill>
                <a:latin typeface="Calibri"/>
              </a:rPr>
              <a:t>Code Freeze</a:t>
            </a:r>
          </a:p>
        </p:txBody>
      </p:sp>
      <p:sp>
        <p:nvSpPr>
          <p:cNvPr id="70" name="TL_Deploy_diamond">
            <a:extLst>
              <a:ext uri="{FF2B5EF4-FFF2-40B4-BE49-F238E27FC236}">
                <a16:creationId xmlns:a16="http://schemas.microsoft.com/office/drawing/2014/main" id="{2E84DF80-0523-D79F-6C2F-94D93579CEAA}"/>
              </a:ext>
            </a:extLst>
          </p:cNvPr>
          <p:cNvSpPr/>
          <p:nvPr/>
        </p:nvSpPr>
        <p:spPr>
          <a:xfrm rot="2700000">
            <a:off x="7852611" y="3298501"/>
            <a:ext cx="182880" cy="182880"/>
          </a:xfrm>
          <a:prstGeom prst="rect">
            <a:avLst/>
          </a:prstGeom>
          <a:solidFill>
            <a:srgbClr val="3BB77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TL_Deploy_lbl">
            <a:extLst>
              <a:ext uri="{FF2B5EF4-FFF2-40B4-BE49-F238E27FC236}">
                <a16:creationId xmlns:a16="http://schemas.microsoft.com/office/drawing/2014/main" id="{C95C77BA-0EB4-7A9A-451C-4AA6F11F6124}"/>
              </a:ext>
            </a:extLst>
          </p:cNvPr>
          <p:cNvSpPr/>
          <p:nvPr/>
        </p:nvSpPr>
        <p:spPr>
          <a:xfrm>
            <a:off x="7715451" y="3565888"/>
            <a:ext cx="45720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b="1" dirty="0">
                <a:solidFill>
                  <a:srgbClr val="3BB77E"/>
                </a:solidFill>
                <a:latin typeface="Calibri"/>
              </a:rPr>
              <a:t>Deployed</a:t>
            </a:r>
          </a:p>
        </p:txBody>
      </p:sp>
      <p:sp>
        <p:nvSpPr>
          <p:cNvPr id="72" name="TL_S5_dot">
            <a:extLst>
              <a:ext uri="{FF2B5EF4-FFF2-40B4-BE49-F238E27FC236}">
                <a16:creationId xmlns:a16="http://schemas.microsoft.com/office/drawing/2014/main" id="{0A944DAF-64E4-041E-08A4-655642322C1D}"/>
              </a:ext>
            </a:extLst>
          </p:cNvPr>
          <p:cNvSpPr/>
          <p:nvPr/>
        </p:nvSpPr>
        <p:spPr>
          <a:xfrm>
            <a:off x="6916024" y="3343930"/>
            <a:ext cx="121920" cy="121920"/>
          </a:xfrm>
          <a:prstGeom prst="ellipse">
            <a:avLst/>
          </a:prstGeom>
          <a:solidFill>
            <a:srgbClr val="1B2B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4" name="TL_S5_lbl">
            <a:extLst>
              <a:ext uri="{FF2B5EF4-FFF2-40B4-BE49-F238E27FC236}">
                <a16:creationId xmlns:a16="http://schemas.microsoft.com/office/drawing/2014/main" id="{69A61A27-5772-B1EF-6624-6788079957B8}"/>
              </a:ext>
            </a:extLst>
          </p:cNvPr>
          <p:cNvSpPr/>
          <p:nvPr/>
        </p:nvSpPr>
        <p:spPr>
          <a:xfrm>
            <a:off x="6740946" y="3199423"/>
            <a:ext cx="457200" cy="1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700" b="1" dirty="0">
                <a:solidFill>
                  <a:srgbClr val="1B2B5E"/>
                </a:solidFill>
                <a:latin typeface="Calibri"/>
              </a:rPr>
              <a:t>Phase 4</a:t>
            </a:r>
          </a:p>
        </p:txBody>
      </p:sp>
      <p:pic>
        <p:nvPicPr>
          <p:cNvPr id="76" name="Graphic 75" descr="Wave outline">
            <a:extLst>
              <a:ext uri="{FF2B5EF4-FFF2-40B4-BE49-F238E27FC236}">
                <a16:creationId xmlns:a16="http://schemas.microsoft.com/office/drawing/2014/main" id="{ED11D256-F13D-7D58-B7D0-DA72EBCA3F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8160" y="4005561"/>
            <a:ext cx="401357" cy="40135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 0">
            <a:extLst>
              <a:ext uri="{FF2B5EF4-FFF2-40B4-BE49-F238E27FC236}">
                <a16:creationId xmlns:a16="http://schemas.microsoft.com/office/drawing/2014/main" id="{0ED63F8C-5F5E-FC7F-D090-7DF1629F19BE}"/>
              </a:ext>
            </a:extLst>
          </p:cNvPr>
          <p:cNvSpPr/>
          <p:nvPr/>
        </p:nvSpPr>
        <p:spPr>
          <a:xfrm>
            <a:off x="457200" y="2560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1D9E75"/>
                </a:solidFill>
              </a:rPr>
              <a:t>ARCHITECTURE &amp; DESIGN</a:t>
            </a:r>
            <a:endParaRPr lang="en-US" sz="850" dirty="0"/>
          </a:p>
        </p:txBody>
      </p:sp>
      <p:sp>
        <p:nvSpPr>
          <p:cNvPr id="55" name="Text 1">
            <a:extLst>
              <a:ext uri="{FF2B5EF4-FFF2-40B4-BE49-F238E27FC236}">
                <a16:creationId xmlns:a16="http://schemas.microsoft.com/office/drawing/2014/main" id="{F5146563-6AAF-81EF-4D27-79F771B994A8}"/>
              </a:ext>
            </a:extLst>
          </p:cNvPr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D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400" dirty="0"/>
          </a:p>
        </p:txBody>
      </p:sp>
      <p:sp>
        <p:nvSpPr>
          <p:cNvPr id="56" name="Shape 2">
            <a:extLst>
              <a:ext uri="{FF2B5EF4-FFF2-40B4-BE49-F238E27FC236}">
                <a16:creationId xmlns:a16="http://schemas.microsoft.com/office/drawing/2014/main" id="{676B14F0-D263-0BA7-854F-20FFC222ABB2}"/>
              </a:ext>
            </a:extLst>
          </p:cNvPr>
          <p:cNvSpPr/>
          <p:nvPr/>
        </p:nvSpPr>
        <p:spPr>
          <a:xfrm>
            <a:off x="457200" y="1097280"/>
            <a:ext cx="2606040" cy="502920"/>
          </a:xfrm>
          <a:prstGeom prst="rect">
            <a:avLst/>
          </a:prstGeom>
          <a:solidFill>
            <a:srgbClr val="00AEEF"/>
          </a:solidFill>
          <a:ln w="12700">
            <a:solidFill>
              <a:srgbClr val="00AEE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EBC3BFA7-7A66-EB99-3554-A9064C3302A6}"/>
              </a:ext>
            </a:extLst>
          </p:cNvPr>
          <p:cNvSpPr/>
          <p:nvPr/>
        </p:nvSpPr>
        <p:spPr>
          <a:xfrm>
            <a:off x="457200" y="1600200"/>
            <a:ext cx="26060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Text 5">
            <a:extLst>
              <a:ext uri="{FF2B5EF4-FFF2-40B4-BE49-F238E27FC236}">
                <a16:creationId xmlns:a16="http://schemas.microsoft.com/office/drawing/2014/main" id="{B4D11A6C-CBFD-D6B4-7588-08295B98BCAF}"/>
              </a:ext>
            </a:extLst>
          </p:cNvPr>
          <p:cNvSpPr/>
          <p:nvPr/>
        </p:nvSpPr>
        <p:spPr>
          <a:xfrm>
            <a:off x="566928" y="166420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3E"/>
                </a:solidFill>
              </a:rPr>
              <a:t>React</a:t>
            </a:r>
            <a:endParaRPr lang="en-US" sz="1100" dirty="0"/>
          </a:p>
        </p:txBody>
      </p:sp>
      <p:sp>
        <p:nvSpPr>
          <p:cNvPr id="60" name="Text 6">
            <a:extLst>
              <a:ext uri="{FF2B5EF4-FFF2-40B4-BE49-F238E27FC236}">
                <a16:creationId xmlns:a16="http://schemas.microsoft.com/office/drawing/2014/main" id="{83598DC0-ED9D-E0C1-BFA7-5CBF331A01FB}"/>
              </a:ext>
            </a:extLst>
          </p:cNvPr>
          <p:cNvSpPr/>
          <p:nvPr/>
        </p:nvSpPr>
        <p:spPr>
          <a:xfrm>
            <a:off x="566928" y="18470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SPA – Component Based – SimpleJWT auth</a:t>
            </a:r>
            <a:endParaRPr lang="en-US" sz="800" dirty="0"/>
          </a:p>
        </p:txBody>
      </p:sp>
      <p:sp>
        <p:nvSpPr>
          <p:cNvPr id="61" name="Shape 7">
            <a:extLst>
              <a:ext uri="{FF2B5EF4-FFF2-40B4-BE49-F238E27FC236}">
                <a16:creationId xmlns:a16="http://schemas.microsoft.com/office/drawing/2014/main" id="{B2D9734B-5957-F413-0BB4-460C53BEB4B3}"/>
              </a:ext>
            </a:extLst>
          </p:cNvPr>
          <p:cNvSpPr/>
          <p:nvPr/>
        </p:nvSpPr>
        <p:spPr>
          <a:xfrm>
            <a:off x="3291840" y="1097280"/>
            <a:ext cx="2606040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9">
            <a:extLst>
              <a:ext uri="{FF2B5EF4-FFF2-40B4-BE49-F238E27FC236}">
                <a16:creationId xmlns:a16="http://schemas.microsoft.com/office/drawing/2014/main" id="{7EFB7336-A024-C2C3-7990-8EBA54522DA2}"/>
              </a:ext>
            </a:extLst>
          </p:cNvPr>
          <p:cNvSpPr/>
          <p:nvPr/>
        </p:nvSpPr>
        <p:spPr>
          <a:xfrm>
            <a:off x="3291840" y="1600200"/>
            <a:ext cx="26060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Text 10">
            <a:extLst>
              <a:ext uri="{FF2B5EF4-FFF2-40B4-BE49-F238E27FC236}">
                <a16:creationId xmlns:a16="http://schemas.microsoft.com/office/drawing/2014/main" id="{35D68F9F-F816-370D-5CD8-10DD0513BD7D}"/>
              </a:ext>
            </a:extLst>
          </p:cNvPr>
          <p:cNvSpPr/>
          <p:nvPr/>
        </p:nvSpPr>
        <p:spPr>
          <a:xfrm>
            <a:off x="3401568" y="166420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3E"/>
                </a:solidFill>
              </a:rPr>
              <a:t>Django + DRF</a:t>
            </a:r>
            <a:endParaRPr lang="en-US" sz="1100" dirty="0"/>
          </a:p>
        </p:txBody>
      </p:sp>
      <p:sp>
        <p:nvSpPr>
          <p:cNvPr id="65" name="Text 11">
            <a:extLst>
              <a:ext uri="{FF2B5EF4-FFF2-40B4-BE49-F238E27FC236}">
                <a16:creationId xmlns:a16="http://schemas.microsoft.com/office/drawing/2014/main" id="{F7F26A5F-C45C-A579-586A-1FAF380072BC}"/>
              </a:ext>
            </a:extLst>
          </p:cNvPr>
          <p:cNvSpPr/>
          <p:nvPr/>
        </p:nvSpPr>
        <p:spPr>
          <a:xfrm>
            <a:off x="3401568" y="18470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REST API – JWT auth – Business Logic</a:t>
            </a:r>
            <a:endParaRPr lang="en-US" sz="800" dirty="0"/>
          </a:p>
        </p:txBody>
      </p:sp>
      <p:sp>
        <p:nvSpPr>
          <p:cNvPr id="66" name="Shape 12">
            <a:extLst>
              <a:ext uri="{FF2B5EF4-FFF2-40B4-BE49-F238E27FC236}">
                <a16:creationId xmlns:a16="http://schemas.microsoft.com/office/drawing/2014/main" id="{8D96B1B9-9506-3AA8-66FD-91E72E83773B}"/>
              </a:ext>
            </a:extLst>
          </p:cNvPr>
          <p:cNvSpPr/>
          <p:nvPr/>
        </p:nvSpPr>
        <p:spPr>
          <a:xfrm>
            <a:off x="6126480" y="1097280"/>
            <a:ext cx="2606040" cy="50292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14">
            <a:extLst>
              <a:ext uri="{FF2B5EF4-FFF2-40B4-BE49-F238E27FC236}">
                <a16:creationId xmlns:a16="http://schemas.microsoft.com/office/drawing/2014/main" id="{F6DD4974-74DD-D34A-E0AD-6233A1EF3569}"/>
              </a:ext>
            </a:extLst>
          </p:cNvPr>
          <p:cNvSpPr/>
          <p:nvPr/>
        </p:nvSpPr>
        <p:spPr>
          <a:xfrm>
            <a:off x="6126480" y="1600200"/>
            <a:ext cx="260604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9" name="Text 15">
            <a:extLst>
              <a:ext uri="{FF2B5EF4-FFF2-40B4-BE49-F238E27FC236}">
                <a16:creationId xmlns:a16="http://schemas.microsoft.com/office/drawing/2014/main" id="{71EC4547-6D91-B66C-6231-30A49961B632}"/>
              </a:ext>
            </a:extLst>
          </p:cNvPr>
          <p:cNvSpPr/>
          <p:nvPr/>
        </p:nvSpPr>
        <p:spPr>
          <a:xfrm>
            <a:off x="6236208" y="166420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3E"/>
                </a:solidFill>
              </a:rPr>
              <a:t>MySQL 8.0</a:t>
            </a:r>
            <a:endParaRPr lang="en-US" sz="1100" dirty="0"/>
          </a:p>
        </p:txBody>
      </p:sp>
      <p:sp>
        <p:nvSpPr>
          <p:cNvPr id="70" name="Text 16">
            <a:extLst>
              <a:ext uri="{FF2B5EF4-FFF2-40B4-BE49-F238E27FC236}">
                <a16:creationId xmlns:a16="http://schemas.microsoft.com/office/drawing/2014/main" id="{441060B9-6EFC-7328-9A6E-8BF0C70E0791}"/>
              </a:ext>
            </a:extLst>
          </p:cNvPr>
          <p:cNvSpPr/>
          <p:nvPr/>
        </p:nvSpPr>
        <p:spPr>
          <a:xfrm>
            <a:off x="6236208" y="18470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Relational Schema – Seed Data – Migrations</a:t>
            </a:r>
            <a:endParaRPr lang="en-US" sz="800" dirty="0"/>
          </a:p>
        </p:txBody>
      </p:sp>
      <p:sp>
        <p:nvSpPr>
          <p:cNvPr id="71" name="Text 17">
            <a:extLst>
              <a:ext uri="{FF2B5EF4-FFF2-40B4-BE49-F238E27FC236}">
                <a16:creationId xmlns:a16="http://schemas.microsoft.com/office/drawing/2014/main" id="{C930D2EA-1438-FFF9-94B7-8764BD7E9D8A}"/>
              </a:ext>
            </a:extLst>
          </p:cNvPr>
          <p:cNvSpPr/>
          <p:nvPr/>
        </p:nvSpPr>
        <p:spPr>
          <a:xfrm>
            <a:off x="457200" y="2395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3E"/>
                </a:solidFill>
              </a:rPr>
              <a:t>Tools &amp; Stack</a:t>
            </a:r>
            <a:endParaRPr lang="en-US" sz="1100" dirty="0"/>
          </a:p>
        </p:txBody>
      </p:sp>
      <p:sp>
        <p:nvSpPr>
          <p:cNvPr id="72" name="Shape 18">
            <a:extLst>
              <a:ext uri="{FF2B5EF4-FFF2-40B4-BE49-F238E27FC236}">
                <a16:creationId xmlns:a16="http://schemas.microsoft.com/office/drawing/2014/main" id="{A2F16956-9D71-9F2F-72BB-534626206FC4}"/>
              </a:ext>
            </a:extLst>
          </p:cNvPr>
          <p:cNvSpPr/>
          <p:nvPr/>
        </p:nvSpPr>
        <p:spPr>
          <a:xfrm>
            <a:off x="457200" y="2651760"/>
            <a:ext cx="1316736" cy="2743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19">
            <a:extLst>
              <a:ext uri="{FF2B5EF4-FFF2-40B4-BE49-F238E27FC236}">
                <a16:creationId xmlns:a16="http://schemas.microsoft.com/office/drawing/2014/main" id="{5809C058-CA4E-6880-0C64-9E8B95F9AC7E}"/>
              </a:ext>
            </a:extLst>
          </p:cNvPr>
          <p:cNvSpPr/>
          <p:nvPr/>
        </p:nvSpPr>
        <p:spPr>
          <a:xfrm>
            <a:off x="457200" y="26517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React</a:t>
            </a:r>
            <a:endParaRPr lang="en-US" sz="850" dirty="0"/>
          </a:p>
        </p:txBody>
      </p:sp>
      <p:sp>
        <p:nvSpPr>
          <p:cNvPr id="74" name="Shape 20">
            <a:extLst>
              <a:ext uri="{FF2B5EF4-FFF2-40B4-BE49-F238E27FC236}">
                <a16:creationId xmlns:a16="http://schemas.microsoft.com/office/drawing/2014/main" id="{AB515E14-E6BD-894E-9427-7587661A43DC}"/>
              </a:ext>
            </a:extLst>
          </p:cNvPr>
          <p:cNvSpPr/>
          <p:nvPr/>
        </p:nvSpPr>
        <p:spPr>
          <a:xfrm>
            <a:off x="1865376" y="2651760"/>
            <a:ext cx="1316736" cy="2743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21">
            <a:extLst>
              <a:ext uri="{FF2B5EF4-FFF2-40B4-BE49-F238E27FC236}">
                <a16:creationId xmlns:a16="http://schemas.microsoft.com/office/drawing/2014/main" id="{DE64E97A-3B1A-C421-8846-31A10A560D78}"/>
              </a:ext>
            </a:extLst>
          </p:cNvPr>
          <p:cNvSpPr/>
          <p:nvPr/>
        </p:nvSpPr>
        <p:spPr>
          <a:xfrm>
            <a:off x="1865376" y="26517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Django + DRF</a:t>
            </a:r>
            <a:endParaRPr lang="en-US" sz="850" dirty="0"/>
          </a:p>
        </p:txBody>
      </p:sp>
      <p:sp>
        <p:nvSpPr>
          <p:cNvPr id="76" name="Shape 22">
            <a:extLst>
              <a:ext uri="{FF2B5EF4-FFF2-40B4-BE49-F238E27FC236}">
                <a16:creationId xmlns:a16="http://schemas.microsoft.com/office/drawing/2014/main" id="{232CA1A5-0633-5BA2-7FFE-C5F1C2A1DC9D}"/>
              </a:ext>
            </a:extLst>
          </p:cNvPr>
          <p:cNvSpPr/>
          <p:nvPr/>
        </p:nvSpPr>
        <p:spPr>
          <a:xfrm>
            <a:off x="3273552" y="2651760"/>
            <a:ext cx="1316736" cy="274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23">
            <a:extLst>
              <a:ext uri="{FF2B5EF4-FFF2-40B4-BE49-F238E27FC236}">
                <a16:creationId xmlns:a16="http://schemas.microsoft.com/office/drawing/2014/main" id="{9AA33D6C-B668-2A76-4517-0A27156C2070}"/>
              </a:ext>
            </a:extLst>
          </p:cNvPr>
          <p:cNvSpPr/>
          <p:nvPr/>
        </p:nvSpPr>
        <p:spPr>
          <a:xfrm>
            <a:off x="3273552" y="26517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MySQL 8.0</a:t>
            </a:r>
            <a:endParaRPr lang="en-US" sz="850" dirty="0"/>
          </a:p>
        </p:txBody>
      </p:sp>
      <p:sp>
        <p:nvSpPr>
          <p:cNvPr id="78" name="Shape 24">
            <a:extLst>
              <a:ext uri="{FF2B5EF4-FFF2-40B4-BE49-F238E27FC236}">
                <a16:creationId xmlns:a16="http://schemas.microsoft.com/office/drawing/2014/main" id="{FE726050-0B2D-8B00-DAA5-753D9739BCF7}"/>
              </a:ext>
            </a:extLst>
          </p:cNvPr>
          <p:cNvSpPr/>
          <p:nvPr/>
        </p:nvSpPr>
        <p:spPr>
          <a:xfrm>
            <a:off x="4681728" y="2651760"/>
            <a:ext cx="1316736" cy="2743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25">
            <a:extLst>
              <a:ext uri="{FF2B5EF4-FFF2-40B4-BE49-F238E27FC236}">
                <a16:creationId xmlns:a16="http://schemas.microsoft.com/office/drawing/2014/main" id="{B37CC9EC-31A3-57C9-7CF6-4BE4D268AA31}"/>
              </a:ext>
            </a:extLst>
          </p:cNvPr>
          <p:cNvSpPr/>
          <p:nvPr/>
        </p:nvSpPr>
        <p:spPr>
          <a:xfrm>
            <a:off x="4681728" y="26517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SimpleJWT</a:t>
            </a:r>
            <a:endParaRPr lang="en-US" sz="850" dirty="0"/>
          </a:p>
        </p:txBody>
      </p:sp>
      <p:sp>
        <p:nvSpPr>
          <p:cNvPr id="80" name="Shape 26">
            <a:extLst>
              <a:ext uri="{FF2B5EF4-FFF2-40B4-BE49-F238E27FC236}">
                <a16:creationId xmlns:a16="http://schemas.microsoft.com/office/drawing/2014/main" id="{6D7A9168-37FC-EA77-327D-BE88EC86FCAA}"/>
              </a:ext>
            </a:extLst>
          </p:cNvPr>
          <p:cNvSpPr/>
          <p:nvPr/>
        </p:nvSpPr>
        <p:spPr>
          <a:xfrm>
            <a:off x="6089904" y="2651760"/>
            <a:ext cx="1316736" cy="2743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27">
            <a:extLst>
              <a:ext uri="{FF2B5EF4-FFF2-40B4-BE49-F238E27FC236}">
                <a16:creationId xmlns:a16="http://schemas.microsoft.com/office/drawing/2014/main" id="{A3E45DE9-E8C8-829F-7A0B-BDBC1E949230}"/>
              </a:ext>
            </a:extLst>
          </p:cNvPr>
          <p:cNvSpPr/>
          <p:nvPr/>
        </p:nvSpPr>
        <p:spPr>
          <a:xfrm>
            <a:off x="6089904" y="26517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Robot Framework</a:t>
            </a:r>
            <a:endParaRPr lang="en-US" sz="850" dirty="0"/>
          </a:p>
        </p:txBody>
      </p:sp>
      <p:sp>
        <p:nvSpPr>
          <p:cNvPr id="82" name="Shape 28">
            <a:extLst>
              <a:ext uri="{FF2B5EF4-FFF2-40B4-BE49-F238E27FC236}">
                <a16:creationId xmlns:a16="http://schemas.microsoft.com/office/drawing/2014/main" id="{1321C424-7357-A9D2-CA22-789D59CCA104}"/>
              </a:ext>
            </a:extLst>
          </p:cNvPr>
          <p:cNvSpPr/>
          <p:nvPr/>
        </p:nvSpPr>
        <p:spPr>
          <a:xfrm>
            <a:off x="7498080" y="2651760"/>
            <a:ext cx="1316736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29">
            <a:extLst>
              <a:ext uri="{FF2B5EF4-FFF2-40B4-BE49-F238E27FC236}">
                <a16:creationId xmlns:a16="http://schemas.microsoft.com/office/drawing/2014/main" id="{903AA382-269C-750A-186D-FB57A216325F}"/>
              </a:ext>
            </a:extLst>
          </p:cNvPr>
          <p:cNvSpPr/>
          <p:nvPr/>
        </p:nvSpPr>
        <p:spPr>
          <a:xfrm>
            <a:off x="7498080" y="26517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GitHub Actions</a:t>
            </a:r>
            <a:endParaRPr lang="en-US" sz="850" dirty="0"/>
          </a:p>
        </p:txBody>
      </p:sp>
      <p:sp>
        <p:nvSpPr>
          <p:cNvPr id="84" name="Shape 30">
            <a:extLst>
              <a:ext uri="{FF2B5EF4-FFF2-40B4-BE49-F238E27FC236}">
                <a16:creationId xmlns:a16="http://schemas.microsoft.com/office/drawing/2014/main" id="{F0AD0DFC-0761-9914-A2F1-85A08A290C2D}"/>
              </a:ext>
            </a:extLst>
          </p:cNvPr>
          <p:cNvSpPr/>
          <p:nvPr/>
        </p:nvSpPr>
        <p:spPr>
          <a:xfrm>
            <a:off x="457200" y="3044952"/>
            <a:ext cx="8229600" cy="1810512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5"/>
            </a:solidFill>
            <a:prstDash val="solid"/>
          </a:ln>
          <a:effectLst>
            <a:outerShdw blurRad="101600" dist="254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5" name="Text 31">
            <a:extLst>
              <a:ext uri="{FF2B5EF4-FFF2-40B4-BE49-F238E27FC236}">
                <a16:creationId xmlns:a16="http://schemas.microsoft.com/office/drawing/2014/main" id="{BA8F7C36-9577-AF90-1C6E-97E95FD719E9}"/>
              </a:ext>
            </a:extLst>
          </p:cNvPr>
          <p:cNvSpPr/>
          <p:nvPr/>
        </p:nvSpPr>
        <p:spPr>
          <a:xfrm>
            <a:off x="566928" y="31272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3E"/>
                </a:solidFill>
              </a:rPr>
              <a:t>APIs</a:t>
            </a:r>
            <a:endParaRPr lang="en-US" sz="1100" dirty="0"/>
          </a:p>
        </p:txBody>
      </p:sp>
      <p:sp>
        <p:nvSpPr>
          <p:cNvPr id="86" name="Text 32">
            <a:extLst>
              <a:ext uri="{FF2B5EF4-FFF2-40B4-BE49-F238E27FC236}">
                <a16:creationId xmlns:a16="http://schemas.microsoft.com/office/drawing/2014/main" id="{19457A24-0BD9-A653-DD2B-3DBAA8B5EABC}"/>
              </a:ext>
            </a:extLst>
          </p:cNvPr>
          <p:cNvSpPr/>
          <p:nvPr/>
        </p:nvSpPr>
        <p:spPr>
          <a:xfrm>
            <a:off x="566928" y="3319272"/>
            <a:ext cx="7863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REST  ·  versioned at /api/v1/  ·  JWT-authenticated  ·  role-enforced (Customer / Business / Guest)</a:t>
            </a:r>
            <a:endParaRPr lang="en-US" sz="750" dirty="0"/>
          </a:p>
        </p:txBody>
      </p:sp>
      <p:sp>
        <p:nvSpPr>
          <p:cNvPr id="87" name="Shape 33">
            <a:extLst>
              <a:ext uri="{FF2B5EF4-FFF2-40B4-BE49-F238E27FC236}">
                <a16:creationId xmlns:a16="http://schemas.microsoft.com/office/drawing/2014/main" id="{94A3EAB6-F583-6B6C-C67E-292FB36551E2}"/>
              </a:ext>
            </a:extLst>
          </p:cNvPr>
          <p:cNvSpPr/>
          <p:nvPr/>
        </p:nvSpPr>
        <p:spPr>
          <a:xfrm>
            <a:off x="566928" y="3493008"/>
            <a:ext cx="7644384" cy="9144"/>
          </a:xfrm>
          <a:prstGeom prst="rect">
            <a:avLst/>
          </a:prstGeom>
          <a:solidFill>
            <a:srgbClr val="D8DCE5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34">
            <a:extLst>
              <a:ext uri="{FF2B5EF4-FFF2-40B4-BE49-F238E27FC236}">
                <a16:creationId xmlns:a16="http://schemas.microsoft.com/office/drawing/2014/main" id="{0A1B6897-7E10-F9EA-0335-858DD3322E26}"/>
              </a:ext>
            </a:extLst>
          </p:cNvPr>
          <p:cNvSpPr/>
          <p:nvPr/>
        </p:nvSpPr>
        <p:spPr>
          <a:xfrm>
            <a:off x="594360" y="3566160"/>
            <a:ext cx="384048" cy="155448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35">
            <a:extLst>
              <a:ext uri="{FF2B5EF4-FFF2-40B4-BE49-F238E27FC236}">
                <a16:creationId xmlns:a16="http://schemas.microsoft.com/office/drawing/2014/main" id="{04AC7289-1E1F-64DB-AAFA-0DC6A3097DB8}"/>
              </a:ext>
            </a:extLst>
          </p:cNvPr>
          <p:cNvSpPr/>
          <p:nvPr/>
        </p:nvSpPr>
        <p:spPr>
          <a:xfrm>
            <a:off x="594360" y="35661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166534"/>
                </a:solidFill>
              </a:rPr>
              <a:t>POST</a:t>
            </a:r>
            <a:endParaRPr lang="en-US" sz="600" dirty="0"/>
          </a:p>
        </p:txBody>
      </p:sp>
      <p:sp>
        <p:nvSpPr>
          <p:cNvPr id="90" name="Text 36">
            <a:extLst>
              <a:ext uri="{FF2B5EF4-FFF2-40B4-BE49-F238E27FC236}">
                <a16:creationId xmlns:a16="http://schemas.microsoft.com/office/drawing/2014/main" id="{B609767F-9EF2-6E18-50C8-78A460291F32}"/>
              </a:ext>
            </a:extLst>
          </p:cNvPr>
          <p:cNvSpPr/>
          <p:nvPr/>
        </p:nvSpPr>
        <p:spPr>
          <a:xfrm>
            <a:off x="2377440" y="3557016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/api/v1/auth/login/</a:t>
            </a:r>
            <a:endParaRPr lang="en-US" sz="800" dirty="0"/>
          </a:p>
        </p:txBody>
      </p:sp>
      <p:sp>
        <p:nvSpPr>
          <p:cNvPr id="91" name="Text 37">
            <a:extLst>
              <a:ext uri="{FF2B5EF4-FFF2-40B4-BE49-F238E27FC236}">
                <a16:creationId xmlns:a16="http://schemas.microsoft.com/office/drawing/2014/main" id="{3163E7E2-025C-33CE-5F81-D1CCB79C01B9}"/>
              </a:ext>
            </a:extLst>
          </p:cNvPr>
          <p:cNvSpPr/>
          <p:nvPr/>
        </p:nvSpPr>
        <p:spPr>
          <a:xfrm>
            <a:off x="5486400" y="3557016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Issues JWT access + refresh tokens</a:t>
            </a:r>
            <a:endParaRPr lang="en-US" sz="750" dirty="0"/>
          </a:p>
        </p:txBody>
      </p:sp>
      <p:sp>
        <p:nvSpPr>
          <p:cNvPr id="92" name="Shape 38">
            <a:extLst>
              <a:ext uri="{FF2B5EF4-FFF2-40B4-BE49-F238E27FC236}">
                <a16:creationId xmlns:a16="http://schemas.microsoft.com/office/drawing/2014/main" id="{8F6E5A85-6DF8-E9CF-CEA9-C97B4201CAAD}"/>
              </a:ext>
            </a:extLst>
          </p:cNvPr>
          <p:cNvSpPr/>
          <p:nvPr/>
        </p:nvSpPr>
        <p:spPr>
          <a:xfrm>
            <a:off x="7616952" y="3566160"/>
            <a:ext cx="566928" cy="146304"/>
          </a:xfrm>
          <a:prstGeom prst="rect">
            <a:avLst/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39">
            <a:extLst>
              <a:ext uri="{FF2B5EF4-FFF2-40B4-BE49-F238E27FC236}">
                <a16:creationId xmlns:a16="http://schemas.microsoft.com/office/drawing/2014/main" id="{FDC525ED-3C98-CF09-8CF1-FFF9FADB4C5F}"/>
              </a:ext>
            </a:extLst>
          </p:cNvPr>
          <p:cNvSpPr/>
          <p:nvPr/>
        </p:nvSpPr>
        <p:spPr>
          <a:xfrm>
            <a:off x="7616952" y="3566160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B21B6"/>
                </a:solidFill>
              </a:rPr>
              <a:t>JWT</a:t>
            </a:r>
            <a:endParaRPr lang="en-US" sz="650" dirty="0"/>
          </a:p>
        </p:txBody>
      </p:sp>
      <p:sp>
        <p:nvSpPr>
          <p:cNvPr id="94" name="Shape 40">
            <a:extLst>
              <a:ext uri="{FF2B5EF4-FFF2-40B4-BE49-F238E27FC236}">
                <a16:creationId xmlns:a16="http://schemas.microsoft.com/office/drawing/2014/main" id="{ECDEEEB3-CD4F-5442-1EC6-7495E12F5701}"/>
              </a:ext>
            </a:extLst>
          </p:cNvPr>
          <p:cNvSpPr/>
          <p:nvPr/>
        </p:nvSpPr>
        <p:spPr>
          <a:xfrm>
            <a:off x="566928" y="3758184"/>
            <a:ext cx="7644384" cy="4572"/>
          </a:xfrm>
          <a:prstGeom prst="rect">
            <a:avLst/>
          </a:prstGeom>
          <a:solidFill>
            <a:srgbClr val="D8DCE5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41">
            <a:extLst>
              <a:ext uri="{FF2B5EF4-FFF2-40B4-BE49-F238E27FC236}">
                <a16:creationId xmlns:a16="http://schemas.microsoft.com/office/drawing/2014/main" id="{22A799A9-D15F-6154-4638-E3A4A4281F03}"/>
              </a:ext>
            </a:extLst>
          </p:cNvPr>
          <p:cNvSpPr/>
          <p:nvPr/>
        </p:nvSpPr>
        <p:spPr>
          <a:xfrm>
            <a:off x="594360" y="3794760"/>
            <a:ext cx="384048" cy="1554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Text 42">
            <a:extLst>
              <a:ext uri="{FF2B5EF4-FFF2-40B4-BE49-F238E27FC236}">
                <a16:creationId xmlns:a16="http://schemas.microsoft.com/office/drawing/2014/main" id="{66E6E10B-2BBD-9283-61C9-D4158D7270EF}"/>
              </a:ext>
            </a:extLst>
          </p:cNvPr>
          <p:cNvSpPr/>
          <p:nvPr/>
        </p:nvSpPr>
        <p:spPr>
          <a:xfrm>
            <a:off x="594360" y="37947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1E40AF"/>
                </a:solidFill>
              </a:rPr>
              <a:t>GET</a:t>
            </a:r>
            <a:endParaRPr lang="en-US" sz="600" dirty="0"/>
          </a:p>
        </p:txBody>
      </p:sp>
      <p:sp>
        <p:nvSpPr>
          <p:cNvPr id="97" name="Shape 43">
            <a:extLst>
              <a:ext uri="{FF2B5EF4-FFF2-40B4-BE49-F238E27FC236}">
                <a16:creationId xmlns:a16="http://schemas.microsoft.com/office/drawing/2014/main" id="{09CBDFFA-6A6D-9BAA-3F0F-22C32C36EC03}"/>
              </a:ext>
            </a:extLst>
          </p:cNvPr>
          <p:cNvSpPr/>
          <p:nvPr/>
        </p:nvSpPr>
        <p:spPr>
          <a:xfrm>
            <a:off x="1014984" y="3794760"/>
            <a:ext cx="384048" cy="155448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44">
            <a:extLst>
              <a:ext uri="{FF2B5EF4-FFF2-40B4-BE49-F238E27FC236}">
                <a16:creationId xmlns:a16="http://schemas.microsoft.com/office/drawing/2014/main" id="{F9151A57-E1AF-98AF-0931-D263620294D5}"/>
              </a:ext>
            </a:extLst>
          </p:cNvPr>
          <p:cNvSpPr/>
          <p:nvPr/>
        </p:nvSpPr>
        <p:spPr>
          <a:xfrm>
            <a:off x="1014984" y="37947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166534"/>
                </a:solidFill>
              </a:rPr>
              <a:t>POST</a:t>
            </a:r>
            <a:endParaRPr lang="en-US" sz="600" dirty="0"/>
          </a:p>
        </p:txBody>
      </p:sp>
      <p:sp>
        <p:nvSpPr>
          <p:cNvPr id="99" name="Shape 45">
            <a:extLst>
              <a:ext uri="{FF2B5EF4-FFF2-40B4-BE49-F238E27FC236}">
                <a16:creationId xmlns:a16="http://schemas.microsoft.com/office/drawing/2014/main" id="{49E3D096-EB13-6C08-86BC-3A7AF54BA255}"/>
              </a:ext>
            </a:extLst>
          </p:cNvPr>
          <p:cNvSpPr/>
          <p:nvPr/>
        </p:nvSpPr>
        <p:spPr>
          <a:xfrm>
            <a:off x="1435608" y="3794760"/>
            <a:ext cx="384048" cy="155448"/>
          </a:xfrm>
          <a:prstGeom prst="rect">
            <a:avLst/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Text 46">
            <a:extLst>
              <a:ext uri="{FF2B5EF4-FFF2-40B4-BE49-F238E27FC236}">
                <a16:creationId xmlns:a16="http://schemas.microsoft.com/office/drawing/2014/main" id="{01FE61E5-280C-FBE2-4A05-2A825D9527A5}"/>
              </a:ext>
            </a:extLst>
          </p:cNvPr>
          <p:cNvSpPr/>
          <p:nvPr/>
        </p:nvSpPr>
        <p:spPr>
          <a:xfrm>
            <a:off x="1435608" y="37947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854D0E"/>
                </a:solidFill>
              </a:rPr>
              <a:t>PATCH</a:t>
            </a:r>
            <a:endParaRPr lang="en-US" sz="600" dirty="0"/>
          </a:p>
        </p:txBody>
      </p:sp>
      <p:sp>
        <p:nvSpPr>
          <p:cNvPr id="101" name="Shape 47">
            <a:extLst>
              <a:ext uri="{FF2B5EF4-FFF2-40B4-BE49-F238E27FC236}">
                <a16:creationId xmlns:a16="http://schemas.microsoft.com/office/drawing/2014/main" id="{B5EDC3E9-9224-68C9-95B6-9AEDC291C570}"/>
              </a:ext>
            </a:extLst>
          </p:cNvPr>
          <p:cNvSpPr/>
          <p:nvPr/>
        </p:nvSpPr>
        <p:spPr>
          <a:xfrm>
            <a:off x="1856232" y="3794760"/>
            <a:ext cx="384048" cy="15544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Text 48">
            <a:extLst>
              <a:ext uri="{FF2B5EF4-FFF2-40B4-BE49-F238E27FC236}">
                <a16:creationId xmlns:a16="http://schemas.microsoft.com/office/drawing/2014/main" id="{9702F993-6D87-3782-D4D9-F7D89CB7074A}"/>
              </a:ext>
            </a:extLst>
          </p:cNvPr>
          <p:cNvSpPr/>
          <p:nvPr/>
        </p:nvSpPr>
        <p:spPr>
          <a:xfrm>
            <a:off x="1856232" y="37947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991B1B"/>
                </a:solidFill>
              </a:rPr>
              <a:t>DELETE</a:t>
            </a:r>
            <a:endParaRPr lang="en-US" sz="600" dirty="0"/>
          </a:p>
        </p:txBody>
      </p:sp>
      <p:sp>
        <p:nvSpPr>
          <p:cNvPr id="103" name="Text 49">
            <a:extLst>
              <a:ext uri="{FF2B5EF4-FFF2-40B4-BE49-F238E27FC236}">
                <a16:creationId xmlns:a16="http://schemas.microsoft.com/office/drawing/2014/main" id="{1A0E1397-DD3D-7F2A-71B7-004B91A2AD50}"/>
              </a:ext>
            </a:extLst>
          </p:cNvPr>
          <p:cNvSpPr/>
          <p:nvPr/>
        </p:nvSpPr>
        <p:spPr>
          <a:xfrm>
            <a:off x="2377440" y="3785616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/api/v1/products</a:t>
            </a:r>
            <a:endParaRPr lang="en-US" sz="800" dirty="0"/>
          </a:p>
        </p:txBody>
      </p:sp>
      <p:sp>
        <p:nvSpPr>
          <p:cNvPr id="104" name="Text 50">
            <a:extLst>
              <a:ext uri="{FF2B5EF4-FFF2-40B4-BE49-F238E27FC236}">
                <a16:creationId xmlns:a16="http://schemas.microsoft.com/office/drawing/2014/main" id="{F7330509-530D-37DA-B38D-0BED5212275E}"/>
              </a:ext>
            </a:extLst>
          </p:cNvPr>
          <p:cNvSpPr/>
          <p:nvPr/>
        </p:nvSpPr>
        <p:spPr>
          <a:xfrm>
            <a:off x="5486400" y="3785616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Product catalog CRUD</a:t>
            </a:r>
            <a:endParaRPr lang="en-US" sz="750" dirty="0"/>
          </a:p>
        </p:txBody>
      </p:sp>
      <p:sp>
        <p:nvSpPr>
          <p:cNvPr id="105" name="Shape 51">
            <a:extLst>
              <a:ext uri="{FF2B5EF4-FFF2-40B4-BE49-F238E27FC236}">
                <a16:creationId xmlns:a16="http://schemas.microsoft.com/office/drawing/2014/main" id="{55102050-6551-B591-E6FE-F9A79E59B1FA}"/>
              </a:ext>
            </a:extLst>
          </p:cNvPr>
          <p:cNvSpPr/>
          <p:nvPr/>
        </p:nvSpPr>
        <p:spPr>
          <a:xfrm>
            <a:off x="7616952" y="3794760"/>
            <a:ext cx="566928" cy="146304"/>
          </a:xfrm>
          <a:prstGeom prst="rect">
            <a:avLst/>
          </a:prstGeom>
          <a:solidFill>
            <a:srgbClr val="FCE7F3"/>
          </a:solidFill>
          <a:ln w="12700">
            <a:solidFill>
              <a:srgbClr val="FCE7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52">
            <a:extLst>
              <a:ext uri="{FF2B5EF4-FFF2-40B4-BE49-F238E27FC236}">
                <a16:creationId xmlns:a16="http://schemas.microsoft.com/office/drawing/2014/main" id="{53ED20F4-45FA-D7C0-18B4-CF34067C40F2}"/>
              </a:ext>
            </a:extLst>
          </p:cNvPr>
          <p:cNvSpPr/>
          <p:nvPr/>
        </p:nvSpPr>
        <p:spPr>
          <a:xfrm>
            <a:off x="7616952" y="3794760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9D174D"/>
                </a:solidFill>
              </a:rPr>
              <a:t>Business</a:t>
            </a:r>
            <a:endParaRPr lang="en-US" sz="650" dirty="0"/>
          </a:p>
        </p:txBody>
      </p:sp>
      <p:sp>
        <p:nvSpPr>
          <p:cNvPr id="107" name="Shape 53">
            <a:extLst>
              <a:ext uri="{FF2B5EF4-FFF2-40B4-BE49-F238E27FC236}">
                <a16:creationId xmlns:a16="http://schemas.microsoft.com/office/drawing/2014/main" id="{22BEFB21-BDB9-D420-B134-07A41A0B5C56}"/>
              </a:ext>
            </a:extLst>
          </p:cNvPr>
          <p:cNvSpPr/>
          <p:nvPr/>
        </p:nvSpPr>
        <p:spPr>
          <a:xfrm>
            <a:off x="566928" y="3986784"/>
            <a:ext cx="7644384" cy="4572"/>
          </a:xfrm>
          <a:prstGeom prst="rect">
            <a:avLst/>
          </a:prstGeom>
          <a:solidFill>
            <a:srgbClr val="D8DCE5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54">
            <a:extLst>
              <a:ext uri="{FF2B5EF4-FFF2-40B4-BE49-F238E27FC236}">
                <a16:creationId xmlns:a16="http://schemas.microsoft.com/office/drawing/2014/main" id="{2AD27C57-55CF-4D4A-5F60-1A4C14161599}"/>
              </a:ext>
            </a:extLst>
          </p:cNvPr>
          <p:cNvSpPr/>
          <p:nvPr/>
        </p:nvSpPr>
        <p:spPr>
          <a:xfrm>
            <a:off x="594360" y="4023360"/>
            <a:ext cx="384048" cy="155448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Text 55">
            <a:extLst>
              <a:ext uri="{FF2B5EF4-FFF2-40B4-BE49-F238E27FC236}">
                <a16:creationId xmlns:a16="http://schemas.microsoft.com/office/drawing/2014/main" id="{83A63171-8F3A-B36D-10E0-FEECEEF0DA36}"/>
              </a:ext>
            </a:extLst>
          </p:cNvPr>
          <p:cNvSpPr/>
          <p:nvPr/>
        </p:nvSpPr>
        <p:spPr>
          <a:xfrm>
            <a:off x="594360" y="40233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166534"/>
                </a:solidFill>
              </a:rPr>
              <a:t>POST</a:t>
            </a:r>
            <a:endParaRPr lang="en-US" sz="600" dirty="0"/>
          </a:p>
        </p:txBody>
      </p:sp>
      <p:sp>
        <p:nvSpPr>
          <p:cNvPr id="110" name="Shape 56">
            <a:extLst>
              <a:ext uri="{FF2B5EF4-FFF2-40B4-BE49-F238E27FC236}">
                <a16:creationId xmlns:a16="http://schemas.microsoft.com/office/drawing/2014/main" id="{34088CE7-1B7B-FCA6-8415-FFF852D63C79}"/>
              </a:ext>
            </a:extLst>
          </p:cNvPr>
          <p:cNvSpPr/>
          <p:nvPr/>
        </p:nvSpPr>
        <p:spPr>
          <a:xfrm>
            <a:off x="1014984" y="4023360"/>
            <a:ext cx="384048" cy="155448"/>
          </a:xfrm>
          <a:prstGeom prst="rect">
            <a:avLst/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 57">
            <a:extLst>
              <a:ext uri="{FF2B5EF4-FFF2-40B4-BE49-F238E27FC236}">
                <a16:creationId xmlns:a16="http://schemas.microsoft.com/office/drawing/2014/main" id="{796D6AAB-0A35-DB23-900B-6B5C6A8094BC}"/>
              </a:ext>
            </a:extLst>
          </p:cNvPr>
          <p:cNvSpPr/>
          <p:nvPr/>
        </p:nvSpPr>
        <p:spPr>
          <a:xfrm>
            <a:off x="1014984" y="40233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854D0E"/>
                </a:solidFill>
              </a:rPr>
              <a:t>PATCH</a:t>
            </a:r>
            <a:endParaRPr lang="en-US" sz="600" dirty="0"/>
          </a:p>
        </p:txBody>
      </p:sp>
      <p:sp>
        <p:nvSpPr>
          <p:cNvPr id="112" name="Text 58">
            <a:extLst>
              <a:ext uri="{FF2B5EF4-FFF2-40B4-BE49-F238E27FC236}">
                <a16:creationId xmlns:a16="http://schemas.microsoft.com/office/drawing/2014/main" id="{22406778-BE24-CBC7-9499-129184F0B620}"/>
              </a:ext>
            </a:extLst>
          </p:cNvPr>
          <p:cNvSpPr/>
          <p:nvPr/>
        </p:nvSpPr>
        <p:spPr>
          <a:xfrm>
            <a:off x="2377440" y="4014216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/api/v1/orders / orders/{id}/submit</a:t>
            </a:r>
            <a:endParaRPr lang="en-US" sz="800" dirty="0"/>
          </a:p>
        </p:txBody>
      </p:sp>
      <p:sp>
        <p:nvSpPr>
          <p:cNvPr id="113" name="Text 59">
            <a:extLst>
              <a:ext uri="{FF2B5EF4-FFF2-40B4-BE49-F238E27FC236}">
                <a16:creationId xmlns:a16="http://schemas.microsoft.com/office/drawing/2014/main" id="{84E0BC9E-1DD7-83E3-0380-FB3D045BA6F5}"/>
              </a:ext>
            </a:extLst>
          </p:cNvPr>
          <p:cNvSpPr/>
          <p:nvPr/>
        </p:nvSpPr>
        <p:spPr>
          <a:xfrm>
            <a:off x="5486400" y="4014216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Create &amp; submit customer orders</a:t>
            </a:r>
            <a:endParaRPr lang="en-US" sz="750" dirty="0"/>
          </a:p>
        </p:txBody>
      </p:sp>
      <p:sp>
        <p:nvSpPr>
          <p:cNvPr id="114" name="Shape 60">
            <a:extLst>
              <a:ext uri="{FF2B5EF4-FFF2-40B4-BE49-F238E27FC236}">
                <a16:creationId xmlns:a16="http://schemas.microsoft.com/office/drawing/2014/main" id="{82F255E5-95AC-EF2F-6BC2-D8E07200E946}"/>
              </a:ext>
            </a:extLst>
          </p:cNvPr>
          <p:cNvSpPr/>
          <p:nvPr/>
        </p:nvSpPr>
        <p:spPr>
          <a:xfrm>
            <a:off x="7616952" y="4023360"/>
            <a:ext cx="566928" cy="146304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Text 61">
            <a:extLst>
              <a:ext uri="{FF2B5EF4-FFF2-40B4-BE49-F238E27FC236}">
                <a16:creationId xmlns:a16="http://schemas.microsoft.com/office/drawing/2014/main" id="{A1786989-BAF8-992E-8BAC-8C5D2C45BE3D}"/>
              </a:ext>
            </a:extLst>
          </p:cNvPr>
          <p:cNvSpPr/>
          <p:nvPr/>
        </p:nvSpPr>
        <p:spPr>
          <a:xfrm>
            <a:off x="7616952" y="4023360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369A1"/>
                </a:solidFill>
              </a:rPr>
              <a:t>Customer</a:t>
            </a:r>
            <a:endParaRPr lang="en-US" sz="650" dirty="0"/>
          </a:p>
        </p:txBody>
      </p:sp>
      <p:sp>
        <p:nvSpPr>
          <p:cNvPr id="116" name="Shape 62">
            <a:extLst>
              <a:ext uri="{FF2B5EF4-FFF2-40B4-BE49-F238E27FC236}">
                <a16:creationId xmlns:a16="http://schemas.microsoft.com/office/drawing/2014/main" id="{6C755F24-346E-66E1-DCAA-3F847CE21DAB}"/>
              </a:ext>
            </a:extLst>
          </p:cNvPr>
          <p:cNvSpPr/>
          <p:nvPr/>
        </p:nvSpPr>
        <p:spPr>
          <a:xfrm>
            <a:off x="566928" y="4215384"/>
            <a:ext cx="7644384" cy="4572"/>
          </a:xfrm>
          <a:prstGeom prst="rect">
            <a:avLst/>
          </a:prstGeom>
          <a:solidFill>
            <a:srgbClr val="D8DCE5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63">
            <a:extLst>
              <a:ext uri="{FF2B5EF4-FFF2-40B4-BE49-F238E27FC236}">
                <a16:creationId xmlns:a16="http://schemas.microsoft.com/office/drawing/2014/main" id="{5809A4CB-4E70-10AD-3D2D-8B2EF7F16552}"/>
              </a:ext>
            </a:extLst>
          </p:cNvPr>
          <p:cNvSpPr/>
          <p:nvPr/>
        </p:nvSpPr>
        <p:spPr>
          <a:xfrm>
            <a:off x="594360" y="4251960"/>
            <a:ext cx="384048" cy="1554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Text 64">
            <a:extLst>
              <a:ext uri="{FF2B5EF4-FFF2-40B4-BE49-F238E27FC236}">
                <a16:creationId xmlns:a16="http://schemas.microsoft.com/office/drawing/2014/main" id="{36050456-8F91-047A-0B91-3247737479CB}"/>
              </a:ext>
            </a:extLst>
          </p:cNvPr>
          <p:cNvSpPr/>
          <p:nvPr/>
        </p:nvSpPr>
        <p:spPr>
          <a:xfrm>
            <a:off x="594360" y="42519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1E40AF"/>
                </a:solidFill>
              </a:rPr>
              <a:t>GET</a:t>
            </a:r>
            <a:endParaRPr lang="en-US" sz="600" dirty="0"/>
          </a:p>
        </p:txBody>
      </p:sp>
      <p:sp>
        <p:nvSpPr>
          <p:cNvPr id="119" name="Text 65">
            <a:extLst>
              <a:ext uri="{FF2B5EF4-FFF2-40B4-BE49-F238E27FC236}">
                <a16:creationId xmlns:a16="http://schemas.microsoft.com/office/drawing/2014/main" id="{613754F3-CE12-F1B4-E18F-A874546F7BCB}"/>
              </a:ext>
            </a:extLst>
          </p:cNvPr>
          <p:cNvSpPr/>
          <p:nvPr/>
        </p:nvSpPr>
        <p:spPr>
          <a:xfrm>
            <a:off x="2377440" y="4242816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/api/v1/reports/sales · /low-stock</a:t>
            </a:r>
            <a:endParaRPr lang="en-US" sz="800" dirty="0"/>
          </a:p>
        </p:txBody>
      </p:sp>
      <p:sp>
        <p:nvSpPr>
          <p:cNvPr id="120" name="Text 66">
            <a:extLst>
              <a:ext uri="{FF2B5EF4-FFF2-40B4-BE49-F238E27FC236}">
                <a16:creationId xmlns:a16="http://schemas.microsoft.com/office/drawing/2014/main" id="{37FD6A23-CAC1-3A13-7191-B6EC0462E2ED}"/>
              </a:ext>
            </a:extLst>
          </p:cNvPr>
          <p:cNvSpPr/>
          <p:nvPr/>
        </p:nvSpPr>
        <p:spPr>
          <a:xfrm>
            <a:off x="5486400" y="4242816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Sales summary &amp; low-stock report</a:t>
            </a:r>
            <a:endParaRPr lang="en-US" sz="750" dirty="0"/>
          </a:p>
        </p:txBody>
      </p:sp>
      <p:sp>
        <p:nvSpPr>
          <p:cNvPr id="121" name="Shape 67">
            <a:extLst>
              <a:ext uri="{FF2B5EF4-FFF2-40B4-BE49-F238E27FC236}">
                <a16:creationId xmlns:a16="http://schemas.microsoft.com/office/drawing/2014/main" id="{A8E36612-C5A2-7B1C-651C-5D99284C8336}"/>
              </a:ext>
            </a:extLst>
          </p:cNvPr>
          <p:cNvSpPr/>
          <p:nvPr/>
        </p:nvSpPr>
        <p:spPr>
          <a:xfrm>
            <a:off x="7616952" y="4251960"/>
            <a:ext cx="566928" cy="146304"/>
          </a:xfrm>
          <a:prstGeom prst="rect">
            <a:avLst/>
          </a:prstGeom>
          <a:solidFill>
            <a:srgbClr val="FCE7F3"/>
          </a:solidFill>
          <a:ln w="12700">
            <a:solidFill>
              <a:srgbClr val="FCE7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 68">
            <a:extLst>
              <a:ext uri="{FF2B5EF4-FFF2-40B4-BE49-F238E27FC236}">
                <a16:creationId xmlns:a16="http://schemas.microsoft.com/office/drawing/2014/main" id="{CCAE7DCB-9FDA-78B6-4BD5-5CF09AFCC3AD}"/>
              </a:ext>
            </a:extLst>
          </p:cNvPr>
          <p:cNvSpPr/>
          <p:nvPr/>
        </p:nvSpPr>
        <p:spPr>
          <a:xfrm>
            <a:off x="7616952" y="4251960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9D174D"/>
                </a:solidFill>
              </a:rPr>
              <a:t>Business</a:t>
            </a:r>
            <a:endParaRPr lang="en-US" sz="650" dirty="0"/>
          </a:p>
        </p:txBody>
      </p:sp>
      <p:sp>
        <p:nvSpPr>
          <p:cNvPr id="123" name="Shape 69">
            <a:extLst>
              <a:ext uri="{FF2B5EF4-FFF2-40B4-BE49-F238E27FC236}">
                <a16:creationId xmlns:a16="http://schemas.microsoft.com/office/drawing/2014/main" id="{9EEC8C0A-526A-D655-6CF6-6B349AE30FF8}"/>
              </a:ext>
            </a:extLst>
          </p:cNvPr>
          <p:cNvSpPr/>
          <p:nvPr/>
        </p:nvSpPr>
        <p:spPr>
          <a:xfrm>
            <a:off x="566928" y="4443984"/>
            <a:ext cx="7644384" cy="4572"/>
          </a:xfrm>
          <a:prstGeom prst="rect">
            <a:avLst/>
          </a:prstGeom>
          <a:solidFill>
            <a:srgbClr val="D8DCE5"/>
          </a:solidFill>
          <a:ln w="12700">
            <a:solidFill>
              <a:srgbClr val="D8D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70">
            <a:extLst>
              <a:ext uri="{FF2B5EF4-FFF2-40B4-BE49-F238E27FC236}">
                <a16:creationId xmlns:a16="http://schemas.microsoft.com/office/drawing/2014/main" id="{535D7817-7D64-D97A-6AAD-705C0722798A}"/>
              </a:ext>
            </a:extLst>
          </p:cNvPr>
          <p:cNvSpPr/>
          <p:nvPr/>
        </p:nvSpPr>
        <p:spPr>
          <a:xfrm>
            <a:off x="594360" y="4480560"/>
            <a:ext cx="384048" cy="1554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Text 71">
            <a:extLst>
              <a:ext uri="{FF2B5EF4-FFF2-40B4-BE49-F238E27FC236}">
                <a16:creationId xmlns:a16="http://schemas.microsoft.com/office/drawing/2014/main" id="{B954FC77-8A2C-6F9D-4739-F92CA1848B36}"/>
              </a:ext>
            </a:extLst>
          </p:cNvPr>
          <p:cNvSpPr/>
          <p:nvPr/>
        </p:nvSpPr>
        <p:spPr>
          <a:xfrm>
            <a:off x="594360" y="44805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1E40AF"/>
                </a:solidFill>
              </a:rPr>
              <a:t>GET</a:t>
            </a:r>
            <a:endParaRPr lang="en-US" sz="600" dirty="0"/>
          </a:p>
        </p:txBody>
      </p:sp>
      <p:sp>
        <p:nvSpPr>
          <p:cNvPr id="126" name="Shape 72">
            <a:extLst>
              <a:ext uri="{FF2B5EF4-FFF2-40B4-BE49-F238E27FC236}">
                <a16:creationId xmlns:a16="http://schemas.microsoft.com/office/drawing/2014/main" id="{B8A23C5C-5655-7697-0B84-3B08AD56D60D}"/>
              </a:ext>
            </a:extLst>
          </p:cNvPr>
          <p:cNvSpPr/>
          <p:nvPr/>
        </p:nvSpPr>
        <p:spPr>
          <a:xfrm>
            <a:off x="1014984" y="4480560"/>
            <a:ext cx="384048" cy="155448"/>
          </a:xfrm>
          <a:prstGeom prst="rect">
            <a:avLst/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Text 73">
            <a:extLst>
              <a:ext uri="{FF2B5EF4-FFF2-40B4-BE49-F238E27FC236}">
                <a16:creationId xmlns:a16="http://schemas.microsoft.com/office/drawing/2014/main" id="{1BC303F5-C5C9-87FD-FCC1-79C831A73428}"/>
              </a:ext>
            </a:extLst>
          </p:cNvPr>
          <p:cNvSpPr/>
          <p:nvPr/>
        </p:nvSpPr>
        <p:spPr>
          <a:xfrm>
            <a:off x="1014984" y="4480560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854D0E"/>
                </a:solidFill>
              </a:rPr>
              <a:t>PATCH</a:t>
            </a:r>
            <a:endParaRPr lang="en-US" sz="600" dirty="0"/>
          </a:p>
        </p:txBody>
      </p:sp>
      <p:sp>
        <p:nvSpPr>
          <p:cNvPr id="128" name="Text 74">
            <a:extLst>
              <a:ext uri="{FF2B5EF4-FFF2-40B4-BE49-F238E27FC236}">
                <a16:creationId xmlns:a16="http://schemas.microsoft.com/office/drawing/2014/main" id="{D40BAF5E-D2D0-61B3-F45F-BACB19BF6F75}"/>
              </a:ext>
            </a:extLst>
          </p:cNvPr>
          <p:cNvSpPr/>
          <p:nvPr/>
        </p:nvSpPr>
        <p:spPr>
          <a:xfrm>
            <a:off x="2377440" y="4471416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D1B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/api/v1/inventory</a:t>
            </a:r>
            <a:endParaRPr lang="en-US" sz="800" dirty="0"/>
          </a:p>
        </p:txBody>
      </p:sp>
      <p:sp>
        <p:nvSpPr>
          <p:cNvPr id="129" name="Text 75">
            <a:extLst>
              <a:ext uri="{FF2B5EF4-FFF2-40B4-BE49-F238E27FC236}">
                <a16:creationId xmlns:a16="http://schemas.microsoft.com/office/drawing/2014/main" id="{751945C9-FDB8-AC24-9108-0B3C1AB42352}"/>
              </a:ext>
            </a:extLst>
          </p:cNvPr>
          <p:cNvSpPr/>
          <p:nvPr/>
        </p:nvSpPr>
        <p:spPr>
          <a:xfrm>
            <a:off x="5486400" y="4471416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Stock view &amp; update</a:t>
            </a:r>
            <a:endParaRPr lang="en-US" sz="750" dirty="0"/>
          </a:p>
        </p:txBody>
      </p:sp>
      <p:sp>
        <p:nvSpPr>
          <p:cNvPr id="130" name="Shape 76">
            <a:extLst>
              <a:ext uri="{FF2B5EF4-FFF2-40B4-BE49-F238E27FC236}">
                <a16:creationId xmlns:a16="http://schemas.microsoft.com/office/drawing/2014/main" id="{79294ED0-1490-BAB6-EB7D-AAB272CBF309}"/>
              </a:ext>
            </a:extLst>
          </p:cNvPr>
          <p:cNvSpPr/>
          <p:nvPr/>
        </p:nvSpPr>
        <p:spPr>
          <a:xfrm>
            <a:off x="7616952" y="4480560"/>
            <a:ext cx="566928" cy="146304"/>
          </a:xfrm>
          <a:prstGeom prst="rect">
            <a:avLst/>
          </a:prstGeom>
          <a:solidFill>
            <a:srgbClr val="FCE7F3"/>
          </a:solidFill>
          <a:ln w="12700">
            <a:solidFill>
              <a:srgbClr val="FCE7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Text 77">
            <a:extLst>
              <a:ext uri="{FF2B5EF4-FFF2-40B4-BE49-F238E27FC236}">
                <a16:creationId xmlns:a16="http://schemas.microsoft.com/office/drawing/2014/main" id="{F42900C4-AB74-841B-A461-F22695D84B63}"/>
              </a:ext>
            </a:extLst>
          </p:cNvPr>
          <p:cNvSpPr/>
          <p:nvPr/>
        </p:nvSpPr>
        <p:spPr>
          <a:xfrm>
            <a:off x="7616952" y="4480560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9D174D"/>
                </a:solidFill>
              </a:rPr>
              <a:t>Business</a:t>
            </a:r>
            <a:endParaRPr lang="en-US" sz="650" dirty="0"/>
          </a:p>
        </p:txBody>
      </p:sp>
      <p:sp>
        <p:nvSpPr>
          <p:cNvPr id="132" name="Shape 78">
            <a:extLst>
              <a:ext uri="{FF2B5EF4-FFF2-40B4-BE49-F238E27FC236}">
                <a16:creationId xmlns:a16="http://schemas.microsoft.com/office/drawing/2014/main" id="{D5385CB1-DA2C-D9EA-1AF8-269A37AEDD4E}"/>
              </a:ext>
            </a:extLst>
          </p:cNvPr>
          <p:cNvSpPr/>
          <p:nvPr/>
        </p:nvSpPr>
        <p:spPr>
          <a:xfrm>
            <a:off x="457200" y="4718304"/>
            <a:ext cx="8229600" cy="2286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Text 79">
            <a:extLst>
              <a:ext uri="{FF2B5EF4-FFF2-40B4-BE49-F238E27FC236}">
                <a16:creationId xmlns:a16="http://schemas.microsoft.com/office/drawing/2014/main" id="{00EA5CE6-2BC6-830B-FB71-9CDF206C8D7A}"/>
              </a:ext>
            </a:extLst>
          </p:cNvPr>
          <p:cNvSpPr/>
          <p:nvPr/>
        </p:nvSpPr>
        <p:spPr>
          <a:xfrm>
            <a:off x="594360" y="471830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Consistent error format across all endpoints:  { "error": "ERROR_TYPE",  "message": "Human readable message" }</a:t>
            </a:r>
            <a:endParaRPr lang="en-US" sz="750" dirty="0"/>
          </a:p>
        </p:txBody>
      </p:sp>
      <p:pic>
        <p:nvPicPr>
          <p:cNvPr id="134" name="Image 0" descr="preencoded.png">
            <a:extLst>
              <a:ext uri="{FF2B5EF4-FFF2-40B4-BE49-F238E27FC236}">
                <a16:creationId xmlns:a16="http://schemas.microsoft.com/office/drawing/2014/main" id="{38837380-42F9-96A3-E8FD-18F5F89CC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161288"/>
            <a:ext cx="411480" cy="411480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11EC5FDD-B0D9-EAD4-BDF4-4E2CD71479C6}"/>
              </a:ext>
            </a:extLst>
          </p:cNvPr>
          <p:cNvSpPr txBox="1"/>
          <p:nvPr/>
        </p:nvSpPr>
        <p:spPr>
          <a:xfrm>
            <a:off x="978408" y="1174218"/>
            <a:ext cx="1889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800" dirty="0"/>
          </a:p>
        </p:txBody>
      </p:sp>
      <p:pic>
        <p:nvPicPr>
          <p:cNvPr id="137" name="Image 1" descr="preencoded.png">
            <a:extLst>
              <a:ext uri="{FF2B5EF4-FFF2-40B4-BE49-F238E27FC236}">
                <a16:creationId xmlns:a16="http://schemas.microsoft.com/office/drawing/2014/main" id="{057A1AF1-7F29-47B7-3658-D06CBF7CF0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1568" y="1138428"/>
            <a:ext cx="411480" cy="411480"/>
          </a:xfrm>
          <a:prstGeom prst="rect">
            <a:avLst/>
          </a:prstGeom>
        </p:spPr>
      </p:pic>
      <p:sp>
        <p:nvSpPr>
          <p:cNvPr id="139" name="TextBox 138">
            <a:extLst>
              <a:ext uri="{FF2B5EF4-FFF2-40B4-BE49-F238E27FC236}">
                <a16:creationId xmlns:a16="http://schemas.microsoft.com/office/drawing/2014/main" id="{1EFB3F96-2788-182F-B032-629103756E21}"/>
              </a:ext>
            </a:extLst>
          </p:cNvPr>
          <p:cNvSpPr txBox="1"/>
          <p:nvPr/>
        </p:nvSpPr>
        <p:spPr>
          <a:xfrm>
            <a:off x="3796864" y="1159502"/>
            <a:ext cx="14039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800" dirty="0"/>
          </a:p>
        </p:txBody>
      </p:sp>
      <p:pic>
        <p:nvPicPr>
          <p:cNvPr id="140" name="Image 2" descr="preencoded.png">
            <a:extLst>
              <a:ext uri="{FF2B5EF4-FFF2-40B4-BE49-F238E27FC236}">
                <a16:creationId xmlns:a16="http://schemas.microsoft.com/office/drawing/2014/main" id="{3A3278C3-39A8-3709-EF2D-8202190E53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1138428"/>
            <a:ext cx="411480" cy="411480"/>
          </a:xfrm>
          <a:prstGeom prst="rect">
            <a:avLst/>
          </a:prstGeom>
        </p:spPr>
      </p:pic>
      <p:sp>
        <p:nvSpPr>
          <p:cNvPr id="142" name="TextBox 141">
            <a:extLst>
              <a:ext uri="{FF2B5EF4-FFF2-40B4-BE49-F238E27FC236}">
                <a16:creationId xmlns:a16="http://schemas.microsoft.com/office/drawing/2014/main" id="{CB338483-EAD8-9A1F-4488-80B03E769FEB}"/>
              </a:ext>
            </a:extLst>
          </p:cNvPr>
          <p:cNvSpPr txBox="1"/>
          <p:nvPr/>
        </p:nvSpPr>
        <p:spPr>
          <a:xfrm>
            <a:off x="6639515" y="1166360"/>
            <a:ext cx="14201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Orderly Delivers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719072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Ordering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93776" y="21214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Orders placed in seconds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93776" y="23408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menu browsing  ·  Customize, Place &amp; cancel orders  ·  Real-time Order Status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218688" y="137160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218688" y="137160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704" y="1719072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67328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346704" y="21214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One hub for everything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3346704" y="23408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overview  ·  Quick access navigation  ·  Role-based Views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6071616" y="137160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071616" y="137160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632" y="1719072"/>
            <a:ext cx="347472" cy="34747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620256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Inventory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6199632" y="21214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Full control, no guesswork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6199632" y="23408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CRUD management ·  Stock alerts  ·  Category Organization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365760" y="315468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365760" y="315468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" y="3502152"/>
            <a:ext cx="347472" cy="34747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14400" y="3429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Summary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493776" y="39044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Revenue clarity &amp; Best Sellers at a glance</a:t>
            </a:r>
            <a:endParaRPr lang="en-US" sz="800" dirty="0"/>
          </a:p>
        </p:txBody>
      </p:sp>
      <p:sp>
        <p:nvSpPr>
          <p:cNvPr id="27" name="Text 21"/>
          <p:cNvSpPr/>
          <p:nvPr/>
        </p:nvSpPr>
        <p:spPr>
          <a:xfrm>
            <a:off x="493776" y="412394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Trends ·  Order volume analytics  ·  Date range filtering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3218688" y="315468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3218688" y="315468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6704" y="3502152"/>
            <a:ext cx="347472" cy="34747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3767328" y="3429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Order Management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3346704" y="39044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Nothing falls through the cracks</a:t>
            </a:r>
            <a:endParaRPr lang="en-US" sz="800" dirty="0"/>
          </a:p>
        </p:txBody>
      </p:sp>
      <p:sp>
        <p:nvSpPr>
          <p:cNvPr id="33" name="Text 26"/>
          <p:cNvSpPr/>
          <p:nvPr/>
        </p:nvSpPr>
        <p:spPr>
          <a:xfrm>
            <a:off x="3346704" y="412394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order history ·  Status management  ·  Customer detail view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6071616" y="315468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28"/>
          <p:cNvSpPr/>
          <p:nvPr/>
        </p:nvSpPr>
        <p:spPr>
          <a:xfrm>
            <a:off x="6071616" y="315468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9632" y="3502152"/>
            <a:ext cx="347472" cy="347472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6620256" y="3429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6199632" y="39044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Your business, your settings</a:t>
            </a:r>
            <a:endParaRPr lang="en-US" sz="800" dirty="0"/>
          </a:p>
        </p:txBody>
      </p:sp>
      <p:sp>
        <p:nvSpPr>
          <p:cNvPr id="39" name="Text 31"/>
          <p:cNvSpPr/>
          <p:nvPr/>
        </p:nvSpPr>
        <p:spPr>
          <a:xfrm>
            <a:off x="6199632" y="412394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&amp; Business Profile Config ·  Preference Management  ·  Secure Updates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HIGHLIGHTS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Proud Of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5331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655064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4128" y="146304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Contract discipline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24128" y="181051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cs typeface="Calibri" pitchFamily="34" charset="-120"/>
              </a:rPr>
              <a:t>Tristin owned and maintained a living API contract throughout the project. Every endpoint wad documented and kept both frontend and backend in syn across all five sprints.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663440" y="135331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1655064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21808" y="146304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cs typeface="Calibri" pitchFamily="34" charset="-120"/>
              </a:rPr>
              <a:t>Contribution Standards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321808" y="181051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cs typeface="Calibri" pitchFamily="34" charset="-120"/>
              </a:rPr>
              <a:t>From Sprint 1, the team operated with a defined branching strategy, PR checklist, and code review standards. No code merged to main without a completed review and testing, every sprint.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65760" y="258775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2889504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24128" y="26974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Support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1024128" y="304495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team members needed to step back, support was without hesitation. Ownership shifted seamlessly and the team finished stronger than it started. We all agree -- we were lucky to be our team.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4663440" y="258775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2889504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21808" y="26974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and CI Integration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5321808" y="304495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to two sentences describing this highlight. What did you do and why does it matter?]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365760" y="382219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4123944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24128" y="39319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1024128" y="427939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to two sentences describing this highlight. What did you do and why does it?]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4663440" y="382219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28032" y="4123944"/>
            <a:ext cx="365760" cy="36576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321808" y="39319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Sprint Reviews and Retrospectives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5321808" y="427939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sprint closed with a formal review and retrospective. Process improvements were documented and actioned, not just noted, across all Sprints.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QUALITY ASSURANCE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QA Strategy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53312"/>
            <a:ext cx="260604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26464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32688" y="135331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Frontend Component Testing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65760" y="192024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02920" y="20116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Jest + React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02920" y="2304288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626 Automated test passed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54 Test Suites passing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90%+ Test Coverage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UI, Routing, Validation, Admin pages tested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0" y="1353312"/>
            <a:ext cx="2606040" cy="502920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1426464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67328" y="135331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Backend/API Testing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3200400" y="192024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3337560" y="20116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PyTest + DRF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337560" y="2304288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301 Automated tests passed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90%+ Backend Test Coverage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API Validation, RBAC, Inventory tested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Contract and Edge-Case coverage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035040" y="1353312"/>
            <a:ext cx="2606040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426464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01968" y="135331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Testing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035040" y="192024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6172200" y="20116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Robot Framework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172200" y="2304288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 Automated Tests passed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Critical Customer Workflows validated</a:t>
            </a:r>
          </a:p>
          <a:p>
            <a:pPr marL="0" indent="0">
              <a:buNone/>
            </a:pPr>
            <a:r>
              <a:rPr lang="en-US" sz="1000" dirty="0"/>
              <a:t>Admin Workflows and Regression coverage</a:t>
            </a:r>
          </a:p>
          <a:p>
            <a:pPr marL="0" indent="0">
              <a:buNone/>
            </a:pPr>
            <a:r>
              <a:rPr lang="en-US" sz="1000" dirty="0"/>
              <a:t>100% pass rate</a:t>
            </a:r>
          </a:p>
        </p:txBody>
      </p:sp>
      <p:sp>
        <p:nvSpPr>
          <p:cNvPr id="22" name="Shape 17"/>
          <p:cNvSpPr/>
          <p:nvPr/>
        </p:nvSpPr>
        <p:spPr>
          <a:xfrm>
            <a:off x="365760" y="3493008"/>
            <a:ext cx="8412480" cy="1325880"/>
          </a:xfrm>
          <a:prstGeom prst="rect">
            <a:avLst/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703320"/>
            <a:ext cx="438912" cy="43891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115568" y="3611880"/>
            <a:ext cx="3657600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Lead: Kenny Bacdayan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1115568" y="3931920"/>
            <a:ext cx="731520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 the quality assurance strategy and test suite across all five sprints. Authored test plans, test cases, acceptance coverage reports, automated test coverage, and CI regression validation. Owned end-to-end QA coordination and helped drive release readiness with no critical defects open. 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 and consistent throughout.</a:t>
            </a:r>
            <a:b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b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90% test coverage achieved.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– Docker &amp; AWS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47472" y="1417320"/>
            <a:ext cx="1298448" cy="65836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47472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Containerize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47472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bundles frontend &amp; backend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1645920" y="1709928"/>
            <a:ext cx="13716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783080" y="1417320"/>
            <a:ext cx="1298448" cy="65836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783080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 GitHub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783080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triggers on push to main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081528" y="1709928"/>
            <a:ext cx="13716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18688" y="1417320"/>
            <a:ext cx="1298448" cy="6583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18688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Passes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218688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PyTest, NPM, Robot Framework all green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517136" y="1709928"/>
            <a:ext cx="13716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654296" y="1417320"/>
            <a:ext cx="1298448" cy="65836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54296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EC2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654296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containers run on AWS EC2 Instance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5952744" y="1709928"/>
            <a:ext cx="13716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089904" y="1417320"/>
            <a:ext cx="1298448" cy="6583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089904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RDS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89904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 database on AWS RDS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7388352" y="1709928"/>
            <a:ext cx="13716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525512" y="1417320"/>
            <a:ext cx="1298448" cy="658368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525512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AWS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525512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live at:</a:t>
            </a:r>
            <a:b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http://54.145.84.28:3000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65760" y="2331720"/>
            <a:ext cx="4114800" cy="11704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48639" y="2423160"/>
            <a:ext cx="19824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Yourself: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2743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+ docker-compose up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305409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application runs locally in minutes. Clone the repo, run Docker Compose, and the stack is live.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709160" y="2331720"/>
            <a:ext cx="4069080" cy="1170432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92040" y="2423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Target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92040" y="27432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EC2 (app) + AWS RDS (MySQL)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Dockerized frontend &amp; backend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Environment Variables for secrets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65760" y="3657600"/>
            <a:ext cx="841248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48639" y="3749040"/>
            <a:ext cx="28394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Orderly: http://54.145.84.28:3000/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4059936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Deployed April 25, 2026.</a:t>
            </a:r>
            <a:b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</a:b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AWS deployment is live and functional. Image rendering requires a final polish pass -- the local build is the recommended demo environment and reflects the full, complete experience.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 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FEEDBACK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Feedback Shaped the Product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5331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353312"/>
            <a:ext cx="109728" cy="10789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66928" y="14447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71907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ordering flow was intuitive — testers completed orders without instruction. Confirmed the UX approach was on track; no changes needed.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135331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709160" y="1353312"/>
            <a:ext cx="109728" cy="10789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10328" y="14447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 Review → Sprint 5 Action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910328" y="171907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 navigation needed clearer labeling. Feedback was logged as Sprint 5 UX cards and resolved before code freeze.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258775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5760" y="2587752"/>
            <a:ext cx="109728" cy="10789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26791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 Review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295351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 CRUD performed consistently across create, edit, and delete. Confirmed feature was production-ready with no iteration needed.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09160" y="258775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09160" y="2587752"/>
            <a:ext cx="109728" cy="10789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10328" y="26791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Review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10328" y="295351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stock indicators surfaced inventory visibility in a practical, immediately useful way. Positive reaction confirmed the feature met the original intent.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82219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65760" y="3822192"/>
            <a:ext cx="109728" cy="10789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66928" y="39136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Review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66928" y="418795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dashboard charts and date filtering were praised as genuinely practical for non-technical business owners. No changes requested.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09160" y="382219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709160" y="3822192"/>
            <a:ext cx="109728" cy="107899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910328" y="39136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PM Decision → Scope Action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10328" y="418795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PLANS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v1.1 Look Like?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6916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87552" y="157276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cs typeface="Calibri" pitchFamily="34" charset="-120"/>
              </a:rPr>
              <a:t>Loyalty Programs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" y="219456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Points, discounts, and perks tied to order history. High-value retention tool for small businesses.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3218688" y="1371600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169164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840480" y="157276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Modifier Management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355848" y="219456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product add-ons and customizations. Formally scoped out – the clearest candidate for v1.1.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6071616" y="1371600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169164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693408" y="157276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Analytics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208776" y="219456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cs typeface="Calibri" pitchFamily="34" charset="-120"/>
              </a:rPr>
              <a:t>Forecasting, trend analysis, and AI-driven recommendations for business owners.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365760" y="3127248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3447288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87552" y="332841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with Payment Gateways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502920" y="395020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Stripe, Square, and external POS hardware integration for end-to-end transaction handling.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3218688" y="3127248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3280" y="3447288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840480" y="332841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Improvement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3355848" y="395020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tuning, accessibility, and full mobile responsiveness across devices.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6071616" y="3127248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36208" y="3447288"/>
            <a:ext cx="365760" cy="36576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693408" y="332841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 and Multi-Currency Support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6208776" y="395020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to enable Orderly to serve businesses operating in diverse regions and markets.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B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Built. What We Learned.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64592" cy="164592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16916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a fully functional full-stack ordering and business management platform across 5 Agile sprints, on schedule, deployed to AWS on April 25</a:t>
            </a:r>
            <a:r>
              <a:rPr lang="en-US" sz="12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304288"/>
            <a:ext cx="164592" cy="164592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9808" y="22585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execution kept scope, capacity, and delivery in sync across a 6-person cross-functional team for the full semester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871216"/>
            <a:ext cx="164592" cy="164592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49808" y="2825496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learned: Hear from each of our team members!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38144"/>
            <a:ext cx="164592" cy="164592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49808" y="3392424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confident Orderly delivers a clean, functional, and extensible platform that reflects what professional software development looks like in practice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005072"/>
            <a:ext cx="164592" cy="164592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49808" y="395935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your time and attention. We welcome any questions.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57200" y="477316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7  ·  CSC 289.001  ·  WTCC  ·  April 30, 2026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B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914400"/>
            <a:ext cx="164592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3716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6800" dirty="0"/>
          </a:p>
        </p:txBody>
      </p:sp>
      <p:sp>
        <p:nvSpPr>
          <p:cNvPr id="5" name="Text 2"/>
          <p:cNvSpPr/>
          <p:nvPr/>
        </p:nvSpPr>
        <p:spPr>
          <a:xfrm>
            <a:off x="457200" y="2487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We'd love to walk you through a demo or answer any questions.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3108960"/>
            <a:ext cx="4114800" cy="36576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324612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Serina Rodriguez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 / Project Manager — Team 7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289.0001 ·  Wake Technical Community College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5430</TotalTime>
  <Words>1769</Words>
  <Application>Microsoft Macintosh PowerPoint</Application>
  <PresentationFormat>On-screen Show (16:9)</PresentationFormat>
  <Paragraphs>277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Consolas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Orderly — Presentation Template</dc:title>
  <dc:subject>PptxGenJS Presentation</dc:subject>
  <dc:creator>[Your Name]</dc:creator>
  <cp:lastModifiedBy>Serina Rodriguez</cp:lastModifiedBy>
  <cp:revision>11</cp:revision>
  <dcterms:created xsi:type="dcterms:W3CDTF">2026-04-23T04:42:28Z</dcterms:created>
  <dcterms:modified xsi:type="dcterms:W3CDTF">2026-04-26T23:16:39Z</dcterms:modified>
</cp:coreProperties>
</file>