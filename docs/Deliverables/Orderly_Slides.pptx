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64"/>
    <p:restoredTop sz="78912"/>
  </p:normalViewPr>
  <p:slideViewPr>
    <p:cSldViewPr snapToGrid="0" snapToObjects="1">
      <p:cViewPr varScale="1">
        <p:scale>
          <a:sx n="133" d="100"/>
          <a:sy n="133" d="100"/>
        </p:scale>
        <p:origin x="18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677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"15 features delivered”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counting by user-facing feature area rather than individual Trello cards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(which split each feature into UX/Frontend/Backend). 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Product Browsing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browse the menu catalog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Shopping Cart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persistent cart with customization display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Item Customization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modifier selection with live price updates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Checkout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submit an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Order Confirmation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receipt after placing an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Order History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customer view of past orders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7. Customer Order Cancellation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cancel a placed order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8. Admin Dashboard Navigation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unified admin hub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9. Product &amp; Variant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full CRUD for products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10. Inventory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stock tracking and adjustments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11. Sales Summary Dashboard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revenue trends and analytics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12. Low Stock Indicators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real-time stock alerts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13. Admin Orders Management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view and manage all orders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14. Settings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business profile and preference config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15. Profile Page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customer profile management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SERINA!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DRF stands for Django REST Framework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It's the library that sits on top of Django and makes it easy to build REST APIs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it handles things like serializers (converting database models to JSON),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viewsets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authentication, and permission classes.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Rachel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Tristin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Rachel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144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0116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Orderly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572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flexible ordering for any business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361188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|  Programming Capstone Project | CSC 289.0001 | April 30</a:t>
            </a:r>
            <a:r>
              <a:rPr lang="en-US" sz="11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2026 </a:t>
            </a:r>
            <a:endParaRPr lang="en-US" sz="1100" dirty="0"/>
          </a:p>
          <a:p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Mayo · Kenny Bacdayan · Rachel Mizer · Tristin Gatt · Caleb Fowlkes · Serina Rodriguez (PM/SCRUM Master)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Orderly?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9319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4360" y="2035263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346160"/>
            <a:ext cx="34747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mid-sized businesses lack affordable, efficient, and unified tools for managing orders, inventory, and customer-facing menus. </a:t>
            </a:r>
          </a:p>
          <a:p>
            <a:pPr marL="0" indent="0">
              <a:buNone/>
            </a:pPr>
            <a:endParaRPr lang="en-US" sz="1200" dirty="0">
              <a:solidFill>
                <a:srgbClr val="374151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The result: manual processes, spreadsheet chaos, and no real-time visibility.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347472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36301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886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 customizable full-stack self-service ordering and business management platform – built for real businesses, by a team of student developers.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5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85216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Agile Sprints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4023360" cy="1005840"/>
          </a:xfrm>
          <a:prstGeom prst="rect">
            <a:avLst/>
          </a:prstGeom>
          <a:solidFill>
            <a:srgbClr val="1B2B5E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5852160" y="2761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663440" y="36576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3703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15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5852160" y="39502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User Features Done 🎉</a:t>
            </a:r>
            <a:endParaRPr lang="en-US" sz="1600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E6A7EF37-E701-B089-536B-846DD2F90B82}"/>
              </a:ext>
            </a:extLst>
          </p:cNvPr>
          <p:cNvSpPr/>
          <p:nvPr/>
        </p:nvSpPr>
        <p:spPr>
          <a:xfrm>
            <a:off x="548640" y="1389889"/>
            <a:ext cx="347472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web application designed to streamline operations for small to mid-sized businesses.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Goals &amp; Feature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menu, place &amp; cancel orders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69164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5876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85876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view of business operations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03504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69164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69340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edit, and organize products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6576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38328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02412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stock &amp; low-stock alerts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20040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338328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5876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385876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order trends, analytics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603504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383280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 Admin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669340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configuration &amp; user management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PROCESS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Workflow &amp; Sprint 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Architecture, Planning, Standards, Development Environment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39112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Data Layer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39112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Database Management, UI shell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39312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58184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Backbone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58184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APIs, Authentication, Process Improvements &amp; CI Pipeline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58384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77256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Customer Experience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77256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Storefront Page, Customer Order Flow, RBAC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077456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96328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Business Admin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96328" y="2404872"/>
            <a:ext cx="1730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Admin Settings, </a:t>
            </a:r>
            <a:b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Inventory Operations,</a:t>
            </a:r>
            <a:b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Management &amp; Sales Analytics 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94360" y="4041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Wave-Based Execution: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6040" y="404164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 3, 4 and 5 ran a three-wave structure with explicit greenlight conditions, dependency chains, and hard deadlines – ensuring blockers surfaced early, not at the end of the sprint.</a:t>
            </a:r>
            <a:endParaRPr lang="en-US" sz="1000" dirty="0"/>
          </a:p>
        </p:txBody>
      </p:sp>
      <p:sp>
        <p:nvSpPr>
          <p:cNvPr id="48" name="TL_Track">
            <a:extLst>
              <a:ext uri="{FF2B5EF4-FFF2-40B4-BE49-F238E27FC236}">
                <a16:creationId xmlns:a16="http://schemas.microsoft.com/office/drawing/2014/main" id="{1CCCF149-763F-A5B5-78E2-07C7C04ED3CE}"/>
              </a:ext>
            </a:extLst>
          </p:cNvPr>
          <p:cNvSpPr/>
          <p:nvPr/>
        </p:nvSpPr>
        <p:spPr>
          <a:xfrm>
            <a:off x="355208" y="3360421"/>
            <a:ext cx="8412480" cy="609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9" name="TL_S1_dot">
            <a:extLst>
              <a:ext uri="{FF2B5EF4-FFF2-40B4-BE49-F238E27FC236}">
                <a16:creationId xmlns:a16="http://schemas.microsoft.com/office/drawing/2014/main" id="{477F04EF-DE87-4B33-6658-21185A3D22E9}"/>
              </a:ext>
            </a:extLst>
          </p:cNvPr>
          <p:cNvSpPr/>
          <p:nvPr/>
        </p:nvSpPr>
        <p:spPr>
          <a:xfrm>
            <a:off x="35520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TL_S1_lbl">
            <a:extLst>
              <a:ext uri="{FF2B5EF4-FFF2-40B4-BE49-F238E27FC236}">
                <a16:creationId xmlns:a16="http://schemas.microsoft.com/office/drawing/2014/main" id="{D7DE4412-E18E-4B5A-6A3C-E5BEAF41DE50}"/>
              </a:ext>
            </a:extLst>
          </p:cNvPr>
          <p:cNvSpPr/>
          <p:nvPr/>
        </p:nvSpPr>
        <p:spPr>
          <a:xfrm>
            <a:off x="263768" y="3200421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S1</a:t>
            </a:r>
          </a:p>
        </p:txBody>
      </p:sp>
      <p:sp>
        <p:nvSpPr>
          <p:cNvPr id="51" name="TL_S1_date">
            <a:extLst>
              <a:ext uri="{FF2B5EF4-FFF2-40B4-BE49-F238E27FC236}">
                <a16:creationId xmlns:a16="http://schemas.microsoft.com/office/drawing/2014/main" id="{5E33277C-34EB-EF05-33F9-4D355904870E}"/>
              </a:ext>
            </a:extLst>
          </p:cNvPr>
          <p:cNvSpPr/>
          <p:nvPr/>
        </p:nvSpPr>
        <p:spPr>
          <a:xfrm>
            <a:off x="172328" y="347042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Jan 31</a:t>
            </a:r>
          </a:p>
        </p:txBody>
      </p:sp>
      <p:sp>
        <p:nvSpPr>
          <p:cNvPr id="52" name="TL_S2_dot">
            <a:extLst>
              <a:ext uri="{FF2B5EF4-FFF2-40B4-BE49-F238E27FC236}">
                <a16:creationId xmlns:a16="http://schemas.microsoft.com/office/drawing/2014/main" id="{4B2D0CE8-F4C3-9462-2F85-D88E5E517431}"/>
              </a:ext>
            </a:extLst>
          </p:cNvPr>
          <p:cNvSpPr/>
          <p:nvPr/>
        </p:nvSpPr>
        <p:spPr>
          <a:xfrm>
            <a:off x="175512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TL_S2_lbl">
            <a:extLst>
              <a:ext uri="{FF2B5EF4-FFF2-40B4-BE49-F238E27FC236}">
                <a16:creationId xmlns:a16="http://schemas.microsoft.com/office/drawing/2014/main" id="{08BDC6FB-077B-87FC-60A1-3555F78C31D8}"/>
              </a:ext>
            </a:extLst>
          </p:cNvPr>
          <p:cNvSpPr/>
          <p:nvPr/>
        </p:nvSpPr>
        <p:spPr>
          <a:xfrm>
            <a:off x="1663688" y="3200421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S2</a:t>
            </a:r>
          </a:p>
        </p:txBody>
      </p:sp>
      <p:sp>
        <p:nvSpPr>
          <p:cNvPr id="54" name="TL_S2_date">
            <a:extLst>
              <a:ext uri="{FF2B5EF4-FFF2-40B4-BE49-F238E27FC236}">
                <a16:creationId xmlns:a16="http://schemas.microsoft.com/office/drawing/2014/main" id="{D74263D3-2CD9-4A83-C80B-67F88276B918}"/>
              </a:ext>
            </a:extLst>
          </p:cNvPr>
          <p:cNvSpPr/>
          <p:nvPr/>
        </p:nvSpPr>
        <p:spPr>
          <a:xfrm>
            <a:off x="1572248" y="347042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Feb 14</a:t>
            </a:r>
          </a:p>
        </p:txBody>
      </p:sp>
      <p:sp>
        <p:nvSpPr>
          <p:cNvPr id="55" name="TL_S3_dot">
            <a:extLst>
              <a:ext uri="{FF2B5EF4-FFF2-40B4-BE49-F238E27FC236}">
                <a16:creationId xmlns:a16="http://schemas.microsoft.com/office/drawing/2014/main" id="{DB51A5CB-2961-6753-31BC-A87CFAF37128}"/>
              </a:ext>
            </a:extLst>
          </p:cNvPr>
          <p:cNvSpPr/>
          <p:nvPr/>
        </p:nvSpPr>
        <p:spPr>
          <a:xfrm>
            <a:off x="315504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TL_S3_lbl">
            <a:extLst>
              <a:ext uri="{FF2B5EF4-FFF2-40B4-BE49-F238E27FC236}">
                <a16:creationId xmlns:a16="http://schemas.microsoft.com/office/drawing/2014/main" id="{C4BFA7C0-CA77-165D-2795-5FA26D456F3E}"/>
              </a:ext>
            </a:extLst>
          </p:cNvPr>
          <p:cNvSpPr/>
          <p:nvPr/>
        </p:nvSpPr>
        <p:spPr>
          <a:xfrm>
            <a:off x="3063608" y="3200421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S3</a:t>
            </a:r>
          </a:p>
        </p:txBody>
      </p:sp>
      <p:sp>
        <p:nvSpPr>
          <p:cNvPr id="57" name="TL_S3_date">
            <a:extLst>
              <a:ext uri="{FF2B5EF4-FFF2-40B4-BE49-F238E27FC236}">
                <a16:creationId xmlns:a16="http://schemas.microsoft.com/office/drawing/2014/main" id="{EE407D33-F8A8-6D38-5BDC-B4A967AAECDC}"/>
              </a:ext>
            </a:extLst>
          </p:cNvPr>
          <p:cNvSpPr/>
          <p:nvPr/>
        </p:nvSpPr>
        <p:spPr>
          <a:xfrm>
            <a:off x="2972168" y="347042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Feb 28</a:t>
            </a:r>
          </a:p>
        </p:txBody>
      </p:sp>
      <p:sp>
        <p:nvSpPr>
          <p:cNvPr id="58" name="TL_Break_bar">
            <a:extLst>
              <a:ext uri="{FF2B5EF4-FFF2-40B4-BE49-F238E27FC236}">
                <a16:creationId xmlns:a16="http://schemas.microsoft.com/office/drawing/2014/main" id="{EE14E628-AEDD-493F-857D-AD1B302B7EC6}"/>
              </a:ext>
            </a:extLst>
          </p:cNvPr>
          <p:cNvSpPr/>
          <p:nvPr/>
        </p:nvSpPr>
        <p:spPr>
          <a:xfrm>
            <a:off x="3789448" y="3340421"/>
            <a:ext cx="304800" cy="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TL_Break_lbl">
            <a:extLst>
              <a:ext uri="{FF2B5EF4-FFF2-40B4-BE49-F238E27FC236}">
                <a16:creationId xmlns:a16="http://schemas.microsoft.com/office/drawing/2014/main" id="{3A655CB8-C811-9635-03C4-3B3FC877B822}"/>
              </a:ext>
            </a:extLst>
          </p:cNvPr>
          <p:cNvSpPr/>
          <p:nvPr/>
        </p:nvSpPr>
        <p:spPr>
          <a:xfrm>
            <a:off x="3689448" y="3470421"/>
            <a:ext cx="53000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550" b="1" dirty="0">
                <a:solidFill>
                  <a:srgbClr val="F59E0B"/>
                </a:solidFill>
                <a:latin typeface="Calibri"/>
              </a:rPr>
              <a:t>Break</a:t>
            </a:r>
          </a:p>
        </p:txBody>
      </p:sp>
      <p:sp>
        <p:nvSpPr>
          <p:cNvPr id="60" name="TL_S4_dot">
            <a:extLst>
              <a:ext uri="{FF2B5EF4-FFF2-40B4-BE49-F238E27FC236}">
                <a16:creationId xmlns:a16="http://schemas.microsoft.com/office/drawing/2014/main" id="{548FEB90-9705-9621-11E8-5C5F044C83E9}"/>
              </a:ext>
            </a:extLst>
          </p:cNvPr>
          <p:cNvSpPr/>
          <p:nvPr/>
        </p:nvSpPr>
        <p:spPr>
          <a:xfrm>
            <a:off x="447000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TL_S4_lbl">
            <a:extLst>
              <a:ext uri="{FF2B5EF4-FFF2-40B4-BE49-F238E27FC236}">
                <a16:creationId xmlns:a16="http://schemas.microsoft.com/office/drawing/2014/main" id="{54987736-CD40-8D15-FE3C-791F5D12BE7F}"/>
              </a:ext>
            </a:extLst>
          </p:cNvPr>
          <p:cNvSpPr/>
          <p:nvPr/>
        </p:nvSpPr>
        <p:spPr>
          <a:xfrm>
            <a:off x="4378568" y="3200421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S4</a:t>
            </a:r>
          </a:p>
        </p:txBody>
      </p:sp>
      <p:sp>
        <p:nvSpPr>
          <p:cNvPr id="62" name="TL_S4_date">
            <a:extLst>
              <a:ext uri="{FF2B5EF4-FFF2-40B4-BE49-F238E27FC236}">
                <a16:creationId xmlns:a16="http://schemas.microsoft.com/office/drawing/2014/main" id="{460EDA01-7315-26DB-89D1-004B7E9EF140}"/>
              </a:ext>
            </a:extLst>
          </p:cNvPr>
          <p:cNvSpPr/>
          <p:nvPr/>
        </p:nvSpPr>
        <p:spPr>
          <a:xfrm>
            <a:off x="4287128" y="347042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Mar 21</a:t>
            </a:r>
          </a:p>
        </p:txBody>
      </p:sp>
      <p:sp>
        <p:nvSpPr>
          <p:cNvPr id="63" name="TL_S5_dot">
            <a:extLst>
              <a:ext uri="{FF2B5EF4-FFF2-40B4-BE49-F238E27FC236}">
                <a16:creationId xmlns:a16="http://schemas.microsoft.com/office/drawing/2014/main" id="{43B6A58A-1D88-8581-31F5-7F46238AC892}"/>
              </a:ext>
            </a:extLst>
          </p:cNvPr>
          <p:cNvSpPr/>
          <p:nvPr/>
        </p:nvSpPr>
        <p:spPr>
          <a:xfrm>
            <a:off x="5969768" y="3329461"/>
            <a:ext cx="121920" cy="121920"/>
          </a:xfrm>
          <a:prstGeom prst="ellipse">
            <a:avLst/>
          </a:prstGeom>
          <a:solidFill>
            <a:srgbClr val="1B2B5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TL_S5_lbl">
            <a:extLst>
              <a:ext uri="{FF2B5EF4-FFF2-40B4-BE49-F238E27FC236}">
                <a16:creationId xmlns:a16="http://schemas.microsoft.com/office/drawing/2014/main" id="{1F5A13EB-A0AF-DEA3-7EBA-DB9FDDDED293}"/>
              </a:ext>
            </a:extLst>
          </p:cNvPr>
          <p:cNvSpPr/>
          <p:nvPr/>
        </p:nvSpPr>
        <p:spPr>
          <a:xfrm>
            <a:off x="5878328" y="3200421"/>
            <a:ext cx="4572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700" b="1" dirty="0">
                <a:solidFill>
                  <a:srgbClr val="1B2B5E"/>
                </a:solidFill>
                <a:latin typeface="Calibri"/>
              </a:rPr>
              <a:t>S5</a:t>
            </a:r>
          </a:p>
        </p:txBody>
      </p:sp>
      <p:sp>
        <p:nvSpPr>
          <p:cNvPr id="65" name="TL_S5_date">
            <a:extLst>
              <a:ext uri="{FF2B5EF4-FFF2-40B4-BE49-F238E27FC236}">
                <a16:creationId xmlns:a16="http://schemas.microsoft.com/office/drawing/2014/main" id="{42E47CFC-CF73-9158-6354-8FEDAE7CFDB2}"/>
              </a:ext>
            </a:extLst>
          </p:cNvPr>
          <p:cNvSpPr/>
          <p:nvPr/>
        </p:nvSpPr>
        <p:spPr>
          <a:xfrm>
            <a:off x="5878328" y="347042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6B7280"/>
                </a:solidFill>
                <a:latin typeface="Calibri"/>
              </a:rPr>
              <a:t>Apr 4</a:t>
            </a:r>
          </a:p>
        </p:txBody>
      </p:sp>
      <p:sp>
        <p:nvSpPr>
          <p:cNvPr id="66" name="TL_P4_dot">
            <a:extLst>
              <a:ext uri="{FF2B5EF4-FFF2-40B4-BE49-F238E27FC236}">
                <a16:creationId xmlns:a16="http://schemas.microsoft.com/office/drawing/2014/main" id="{1403EE6B-425C-68FF-FBBC-DA9065D1E352}"/>
              </a:ext>
            </a:extLst>
          </p:cNvPr>
          <p:cNvSpPr/>
          <p:nvPr/>
        </p:nvSpPr>
        <p:spPr>
          <a:xfrm>
            <a:off x="8339448" y="3329461"/>
            <a:ext cx="121920" cy="121920"/>
          </a:xfrm>
          <a:prstGeom prst="ellipse">
            <a:avLst/>
          </a:prstGeom>
          <a:solidFill>
            <a:srgbClr val="3BB7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" name="TL_P4_date">
            <a:extLst>
              <a:ext uri="{FF2B5EF4-FFF2-40B4-BE49-F238E27FC236}">
                <a16:creationId xmlns:a16="http://schemas.microsoft.com/office/drawing/2014/main" id="{8647019D-2240-6132-55CE-34C07FD5A3AD}"/>
              </a:ext>
            </a:extLst>
          </p:cNvPr>
          <p:cNvSpPr/>
          <p:nvPr/>
        </p:nvSpPr>
        <p:spPr>
          <a:xfrm>
            <a:off x="8156448" y="3470421"/>
            <a:ext cx="64008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3BB77E"/>
                </a:solidFill>
                <a:latin typeface="Calibri"/>
              </a:rPr>
              <a:t>Apr 18</a:t>
            </a:r>
          </a:p>
        </p:txBody>
      </p:sp>
      <p:sp>
        <p:nvSpPr>
          <p:cNvPr id="68" name="TL_CF_diamond">
            <a:extLst>
              <a:ext uri="{FF2B5EF4-FFF2-40B4-BE49-F238E27FC236}">
                <a16:creationId xmlns:a16="http://schemas.microsoft.com/office/drawing/2014/main" id="{1070B717-8419-287F-EF0B-0E237466906C}"/>
              </a:ext>
            </a:extLst>
          </p:cNvPr>
          <p:cNvSpPr/>
          <p:nvPr/>
        </p:nvSpPr>
        <p:spPr>
          <a:xfrm rot="2700000">
            <a:off x="7039448" y="3298501"/>
            <a:ext cx="182880" cy="1828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TL_CF_date">
            <a:extLst>
              <a:ext uri="{FF2B5EF4-FFF2-40B4-BE49-F238E27FC236}">
                <a16:creationId xmlns:a16="http://schemas.microsoft.com/office/drawing/2014/main" id="{7FE53BD2-3391-EE04-3FC1-61C00B533499}"/>
              </a:ext>
            </a:extLst>
          </p:cNvPr>
          <p:cNvSpPr/>
          <p:nvPr/>
        </p:nvSpPr>
        <p:spPr>
          <a:xfrm>
            <a:off x="6971668" y="3559257"/>
            <a:ext cx="36576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dirty="0">
                <a:solidFill>
                  <a:srgbClr val="EF4444"/>
                </a:solidFill>
                <a:latin typeface="Calibri"/>
              </a:rPr>
              <a:t>Apr 17</a:t>
            </a:r>
            <a:br>
              <a:rPr lang="en-US" sz="600" dirty="0">
                <a:solidFill>
                  <a:srgbClr val="EF4444"/>
                </a:solidFill>
                <a:latin typeface="Calibri"/>
              </a:rPr>
            </a:br>
            <a:r>
              <a:rPr lang="en-US" sz="600" dirty="0">
                <a:solidFill>
                  <a:srgbClr val="EF4444"/>
                </a:solidFill>
                <a:latin typeface="Calibri"/>
              </a:rPr>
              <a:t>Code Freeze</a:t>
            </a:r>
          </a:p>
        </p:txBody>
      </p:sp>
      <p:sp>
        <p:nvSpPr>
          <p:cNvPr id="70" name="TL_Deploy_diamond">
            <a:extLst>
              <a:ext uri="{FF2B5EF4-FFF2-40B4-BE49-F238E27FC236}">
                <a16:creationId xmlns:a16="http://schemas.microsoft.com/office/drawing/2014/main" id="{2E84DF80-0523-D79F-6C2F-94D93579CEAA}"/>
              </a:ext>
            </a:extLst>
          </p:cNvPr>
          <p:cNvSpPr/>
          <p:nvPr/>
        </p:nvSpPr>
        <p:spPr>
          <a:xfrm rot="2700000">
            <a:off x="7689448" y="3298501"/>
            <a:ext cx="182880" cy="182880"/>
          </a:xfrm>
          <a:prstGeom prst="rect">
            <a:avLst/>
          </a:prstGeom>
          <a:solidFill>
            <a:srgbClr val="3BB77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TL_Deploy_lbl">
            <a:extLst>
              <a:ext uri="{FF2B5EF4-FFF2-40B4-BE49-F238E27FC236}">
                <a16:creationId xmlns:a16="http://schemas.microsoft.com/office/drawing/2014/main" id="{C95C77BA-0EB4-7A9A-451C-4AA6F11F6124}"/>
              </a:ext>
            </a:extLst>
          </p:cNvPr>
          <p:cNvSpPr/>
          <p:nvPr/>
        </p:nvSpPr>
        <p:spPr>
          <a:xfrm>
            <a:off x="7554448" y="3590421"/>
            <a:ext cx="457200" cy="1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600" b="1" dirty="0">
                <a:solidFill>
                  <a:srgbClr val="3BB77E"/>
                </a:solidFill>
                <a:latin typeface="Calibri"/>
              </a:rPr>
              <a:t>Deployed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DESIGN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560320" cy="5943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8988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325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57200" y="1993392"/>
            <a:ext cx="25603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66928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6928" y="2395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– Component Based – SimpleJWT auth 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274320" cy="914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91840" y="1325880"/>
            <a:ext cx="2560320" cy="59436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389888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86200" y="1325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3291840" y="1993392"/>
            <a:ext cx="25603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3401568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+ DRF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401568" y="2395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– JWT auth – Business Logic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852160" y="1554480"/>
            <a:ext cx="274320" cy="914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126480" y="1325880"/>
            <a:ext cx="256032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389888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720840" y="1325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6126480" y="1993392"/>
            <a:ext cx="25603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236208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236208" y="2395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Schema – Seed Data – Migrations</a:t>
            </a:r>
            <a:endParaRPr lang="en-US" sz="1000" dirty="0"/>
          </a:p>
        </p:txBody>
      </p:sp>
      <p:sp>
        <p:nvSpPr>
          <p:cNvPr id="36" name="Text 26">
            <a:extLst>
              <a:ext uri="{FF2B5EF4-FFF2-40B4-BE49-F238E27FC236}">
                <a16:creationId xmlns:a16="http://schemas.microsoft.com/office/drawing/2014/main" id="{3545F4A7-D330-1B9D-0994-91B21846D95C}"/>
              </a:ext>
            </a:extLst>
          </p:cNvPr>
          <p:cNvSpPr/>
          <p:nvPr/>
        </p:nvSpPr>
        <p:spPr>
          <a:xfrm>
            <a:off x="457200" y="3118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Stack</a:t>
            </a:r>
            <a:endParaRPr lang="en-US" sz="1200" dirty="0"/>
          </a:p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3147F519-2E5D-A4C9-5A7D-E5A6CC2699BA}"/>
              </a:ext>
            </a:extLst>
          </p:cNvPr>
          <p:cNvSpPr/>
          <p:nvPr/>
        </p:nvSpPr>
        <p:spPr>
          <a:xfrm>
            <a:off x="457200" y="3483864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28">
            <a:extLst>
              <a:ext uri="{FF2B5EF4-FFF2-40B4-BE49-F238E27FC236}">
                <a16:creationId xmlns:a16="http://schemas.microsoft.com/office/drawing/2014/main" id="{8B32E473-A0C8-943D-C576-5FA24971F600}"/>
              </a:ext>
            </a:extLst>
          </p:cNvPr>
          <p:cNvSpPr/>
          <p:nvPr/>
        </p:nvSpPr>
        <p:spPr>
          <a:xfrm>
            <a:off x="457200" y="3483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900" dirty="0"/>
          </a:p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25C2880A-063F-0D86-5B8A-86946C98DF53}"/>
              </a:ext>
            </a:extLst>
          </p:cNvPr>
          <p:cNvSpPr/>
          <p:nvPr/>
        </p:nvSpPr>
        <p:spPr>
          <a:xfrm>
            <a:off x="1719072" y="3483864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ext 30">
            <a:extLst>
              <a:ext uri="{FF2B5EF4-FFF2-40B4-BE49-F238E27FC236}">
                <a16:creationId xmlns:a16="http://schemas.microsoft.com/office/drawing/2014/main" id="{9F5EE408-164A-6355-041D-E55A0A8D61CD}"/>
              </a:ext>
            </a:extLst>
          </p:cNvPr>
          <p:cNvSpPr/>
          <p:nvPr/>
        </p:nvSpPr>
        <p:spPr>
          <a:xfrm>
            <a:off x="1719072" y="3483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+ DRF</a:t>
            </a:r>
            <a:endParaRPr lang="en-US" sz="900" dirty="0"/>
          </a:p>
        </p:txBody>
      </p:sp>
      <p:sp>
        <p:nvSpPr>
          <p:cNvPr id="41" name="Shape 31">
            <a:extLst>
              <a:ext uri="{FF2B5EF4-FFF2-40B4-BE49-F238E27FC236}">
                <a16:creationId xmlns:a16="http://schemas.microsoft.com/office/drawing/2014/main" id="{30D6B71B-78DE-DD02-83CC-6B57BE931B88}"/>
              </a:ext>
            </a:extLst>
          </p:cNvPr>
          <p:cNvSpPr/>
          <p:nvPr/>
        </p:nvSpPr>
        <p:spPr>
          <a:xfrm>
            <a:off x="2980944" y="3483864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2">
            <a:extLst>
              <a:ext uri="{FF2B5EF4-FFF2-40B4-BE49-F238E27FC236}">
                <a16:creationId xmlns:a16="http://schemas.microsoft.com/office/drawing/2014/main" id="{D22F5ED8-79B6-015F-51FD-0E48C7BDE73A}"/>
              </a:ext>
            </a:extLst>
          </p:cNvPr>
          <p:cNvSpPr/>
          <p:nvPr/>
        </p:nvSpPr>
        <p:spPr>
          <a:xfrm>
            <a:off x="2980944" y="3483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900" dirty="0"/>
          </a:p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F45CFDEE-DFB0-CFE2-CDCC-B09F431D0B69}"/>
              </a:ext>
            </a:extLst>
          </p:cNvPr>
          <p:cNvSpPr/>
          <p:nvPr/>
        </p:nvSpPr>
        <p:spPr>
          <a:xfrm>
            <a:off x="4242816" y="3483864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4">
            <a:extLst>
              <a:ext uri="{FF2B5EF4-FFF2-40B4-BE49-F238E27FC236}">
                <a16:creationId xmlns:a16="http://schemas.microsoft.com/office/drawing/2014/main" id="{19B1A80C-B7B5-8794-A9B0-044330D1F530}"/>
              </a:ext>
            </a:extLst>
          </p:cNvPr>
          <p:cNvSpPr/>
          <p:nvPr/>
        </p:nvSpPr>
        <p:spPr>
          <a:xfrm>
            <a:off x="4242816" y="3483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SimpleJWT</a:t>
            </a:r>
            <a:endParaRPr lang="en-US" sz="900" dirty="0"/>
          </a:p>
        </p:txBody>
      </p:sp>
      <p:sp>
        <p:nvSpPr>
          <p:cNvPr id="45" name="Shape 35">
            <a:extLst>
              <a:ext uri="{FF2B5EF4-FFF2-40B4-BE49-F238E27FC236}">
                <a16:creationId xmlns:a16="http://schemas.microsoft.com/office/drawing/2014/main" id="{B8AB2B5F-FCFF-D1D1-7C01-277F786E86D0}"/>
              </a:ext>
            </a:extLst>
          </p:cNvPr>
          <p:cNvSpPr/>
          <p:nvPr/>
        </p:nvSpPr>
        <p:spPr>
          <a:xfrm>
            <a:off x="5504688" y="3483864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6">
            <a:extLst>
              <a:ext uri="{FF2B5EF4-FFF2-40B4-BE49-F238E27FC236}">
                <a16:creationId xmlns:a16="http://schemas.microsoft.com/office/drawing/2014/main" id="{F2F0DAB4-C82E-7D4A-520F-84719874E228}"/>
              </a:ext>
            </a:extLst>
          </p:cNvPr>
          <p:cNvSpPr/>
          <p:nvPr/>
        </p:nvSpPr>
        <p:spPr>
          <a:xfrm>
            <a:off x="5504688" y="3483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Framework</a:t>
            </a:r>
            <a:endParaRPr lang="en-US" sz="900" dirty="0"/>
          </a:p>
        </p:txBody>
      </p:sp>
      <p:sp>
        <p:nvSpPr>
          <p:cNvPr id="47" name="Shape 37">
            <a:extLst>
              <a:ext uri="{FF2B5EF4-FFF2-40B4-BE49-F238E27FC236}">
                <a16:creationId xmlns:a16="http://schemas.microsoft.com/office/drawing/2014/main" id="{72C2E5DE-9A66-5162-EE5F-69011F9BD37B}"/>
              </a:ext>
            </a:extLst>
          </p:cNvPr>
          <p:cNvSpPr/>
          <p:nvPr/>
        </p:nvSpPr>
        <p:spPr>
          <a:xfrm>
            <a:off x="6766560" y="3483864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24292E"/>
          </a:solidFill>
          <a:ln w="12700">
            <a:solidFill>
              <a:srgbClr val="242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38">
            <a:extLst>
              <a:ext uri="{FF2B5EF4-FFF2-40B4-BE49-F238E27FC236}">
                <a16:creationId xmlns:a16="http://schemas.microsoft.com/office/drawing/2014/main" id="{1BE0EB02-E007-CF5A-01E8-7F3444348EBE}"/>
              </a:ext>
            </a:extLst>
          </p:cNvPr>
          <p:cNvSpPr/>
          <p:nvPr/>
        </p:nvSpPr>
        <p:spPr>
          <a:xfrm>
            <a:off x="6766560" y="3483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49" name="Shape 41">
            <a:extLst>
              <a:ext uri="{FF2B5EF4-FFF2-40B4-BE49-F238E27FC236}">
                <a16:creationId xmlns:a16="http://schemas.microsoft.com/office/drawing/2014/main" id="{1F15D080-B377-3559-924F-7CCA873EE402}"/>
              </a:ext>
            </a:extLst>
          </p:cNvPr>
          <p:cNvSpPr/>
          <p:nvPr/>
        </p:nvSpPr>
        <p:spPr>
          <a:xfrm>
            <a:off x="457200" y="3986784"/>
            <a:ext cx="841248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2">
            <a:extLst>
              <a:ext uri="{FF2B5EF4-FFF2-40B4-BE49-F238E27FC236}">
                <a16:creationId xmlns:a16="http://schemas.microsoft.com/office/drawing/2014/main" id="{B9FE8C25-4D56-BF65-B8EA-3B4E7BFACE55}"/>
              </a:ext>
            </a:extLst>
          </p:cNvPr>
          <p:cNvSpPr/>
          <p:nvPr/>
        </p:nvSpPr>
        <p:spPr>
          <a:xfrm>
            <a:off x="685800" y="40965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[Placeholder]:</a:t>
            </a:r>
            <a:endParaRPr lang="en-US" sz="1100" dirty="0"/>
          </a:p>
        </p:txBody>
      </p:sp>
      <p:sp>
        <p:nvSpPr>
          <p:cNvPr id="51" name="Text 43">
            <a:extLst>
              <a:ext uri="{FF2B5EF4-FFF2-40B4-BE49-F238E27FC236}">
                <a16:creationId xmlns:a16="http://schemas.microsoft.com/office/drawing/2014/main" id="{EC877A60-9AFB-EB56-4D7E-46673F6808BB}"/>
              </a:ext>
            </a:extLst>
          </p:cNvPr>
          <p:cNvSpPr/>
          <p:nvPr/>
        </p:nvSpPr>
        <p:spPr>
          <a:xfrm>
            <a:off x="2697480" y="4096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available here.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Orderly Delivers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71907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3776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Orders placed in seconds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93776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menu browsing  ·  Customize, Place &amp; cancel orders  ·  Real-time Order Status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18688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18688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71907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7328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46704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One hub for everything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346704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overview  ·  Quick access navigation  ·  Role-based Views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71616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071616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0256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&amp; Inventory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199632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Full control, no guesswork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6199632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CRUD management ·  Stock alerts  ·  Category Organization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65760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365760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440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Summary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93776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Revenue clarity &amp; Best Sellers at a glance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93776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Trends ·  Order volume analytics  ·  Date range filtering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3218688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3218688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704" y="3502152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767328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Order Management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3346704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Nothing falls through the cracks</a:t>
            </a:r>
            <a:endParaRPr lang="en-US" sz="800" dirty="0"/>
          </a:p>
        </p:txBody>
      </p:sp>
      <p:sp>
        <p:nvSpPr>
          <p:cNvPr id="33" name="Text 26"/>
          <p:cNvSpPr/>
          <p:nvPr/>
        </p:nvSpPr>
        <p:spPr>
          <a:xfrm>
            <a:off x="3346704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order history ·  Status management  ·  Customer detail view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6071616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6071616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502152"/>
            <a:ext cx="347472" cy="34747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620256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6199632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dirty="0">
                <a:solidFill>
                  <a:srgbClr val="3BB77E"/>
                </a:solidFill>
                <a:latin typeface="Calibri" pitchFamily="34" charset="0"/>
                <a:cs typeface="Calibri" pitchFamily="34" charset="-120"/>
              </a:rPr>
              <a:t>Your business, your settings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6199632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&amp; Business Profile Config ·  Preference Management  ·  Secure Updates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HIGHLIGHTS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Proud Of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55064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Contract discipline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8105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Tristin owned and maintained a living API contract throughout the project. Every endpoint wad documented and kept both frontend and backend in syn across all five sprints.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6344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65506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2180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Contribution Standards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321808" y="1810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From Sprint 1, the team operated with a defined branching strategy, PR checklist, and code review standards. No code merged to main without a completed review and testing, every sprint.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889504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Support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2412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team members needed to step back, support was without hesitation. Ownership shifted seamlessly and the team finished stronger than it started. We all agree -- we were lucky to be our team.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66344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889504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2180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CI Integration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32180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6576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4123944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2412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102412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it?]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66344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2" y="4123944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32180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Sprint Reviews and Retrospectives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532180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sprint closed with a formal review and retrospective. Process improvements were documented and actioned, not just noted, across all Sprints.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QA Strategy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260604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26464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268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Unit Testing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PyTest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model &amp; View tests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Isolated backend logic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Run on every PR via CI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353312"/>
            <a:ext cx="2606040" cy="50292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42646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6732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20040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333756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PyTest + DRF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3756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 validation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Auth &amp; Permission checks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Postman pre-merge verification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35040" y="1353312"/>
            <a:ext cx="260604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42646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0196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Testing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03504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17220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Robot Framework + Selenium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17220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user flow automation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Customer + Admin journeys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Runs in GitHub Actions CI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365760" y="3493008"/>
            <a:ext cx="8412480" cy="1325880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03320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15568" y="3611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Lead: Kenny Bacdayan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15568" y="393192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the test suite across all five sprints. Authored the QA execution report, testing matrix, and test artifact documentation for project release. Thorough and consistent throughout.</a:t>
            </a:r>
            <a:b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b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90% test coverage achieved.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– Docker &amp;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1417320"/>
            <a:ext cx="1298448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4747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bundles frontend &amp; backend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645920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83080" y="1417320"/>
            <a:ext cx="1298448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83080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783080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triggers on push to main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81528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417320"/>
            <a:ext cx="1298448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18688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Passes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18688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NPM, Robot Framework all green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17136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54296" y="1417320"/>
            <a:ext cx="1298448" cy="6583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54296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EC2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654296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containers run on AWS EC2 Instance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952744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89904" y="1417320"/>
            <a:ext cx="1298448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89904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RDS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89904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 database on AWS RDS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388352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525512" y="1417320"/>
            <a:ext cx="1298448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52551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AWS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52551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live at:</a:t>
            </a:r>
            <a:b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http://54.145.84.28:3000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65760" y="2331720"/>
            <a:ext cx="4114800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[Callout Label — 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[command or technical detail goes here]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30540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sentence explaining what this command/detail does and why it matters.]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2331720"/>
            <a:ext cx="4069080" cy="117043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92040" y="2423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Target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2743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 (app) + AWS RDS (MySQL)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Dockerized frontend &amp; backend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Environment Variables for secrets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57600"/>
            <a:ext cx="84124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39" y="3749040"/>
            <a:ext cx="28394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Orderly: http://54.145.84.28:3000/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05993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cs typeface="Calibri" pitchFamily="34" charset="-120"/>
              </a:rPr>
              <a:t>Deployed April 25, 2026. Application accessible via the link above. 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Feedback Shaped the Product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5331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ordering flow was intuitive — testers completed orders without instruction. Confirmed the UX approach was on track; no changes needed.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1353312"/>
            <a:ext cx="109728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103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Review → Sprint 5 Action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03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navigation needed clearer labeling. Feedback was logged as Sprint 5 UX cards and resolved before code freeze.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 CRUD performed consistently across create, edit, and delete. Confirmed feature was production-ready with no iteration needed.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03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Review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103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 indicators surfaced inventory visibility in a practical, immediately useful way. Positive reaction confirmed the feature met the original intent.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Review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 charts and date filtering were praised as genuinely practical for non-technical business owners. No changes requested.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3822192"/>
            <a:ext cx="109728" cy="107899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03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PM Decision → Scope Action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103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PLANS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v1.1 Look Like?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cs typeface="Calibri" pitchFamily="34" charset="-120"/>
              </a:rPr>
              <a:t>Loyalty Programs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Points, discounts, and perks tied to order history. High-value retention tool for small businesses.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218688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6916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Management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355848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product add-ons and customizations. Formally scoped out – the clearest candidate for v1.1.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071616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6916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208776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cs typeface="Calibri" pitchFamily="34" charset="-120"/>
              </a:rPr>
              <a:t>Forecasting, trend analysis, and AI-driven recommendations for business owners.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65760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4472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7552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Payment Gateways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02920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Stripe, Square, and external POS hardware integration for end-to-end transaction handling.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218688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47288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40480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Improvement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3355848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tuning, accessibility, and full mobile responsiveness across devices.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071616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6208" y="3447288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and Multi-Currency Support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6208776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to enable Orderly to serve businesses operating in diverse regions and markets.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Built. What We Learned.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1691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fully functional full-stack ordering and business management platform across 5 Agile sprints, on schedule, deployed to AWS on April 25</a:t>
            </a:r>
            <a:r>
              <a:rPr lang="en-US" sz="1200" baseline="30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22585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execution kept scope, capacity, and delivery in sync across a 6-person cross-functional team for the full semester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71216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" y="2825496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learned: Hear from each of our team members!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38144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9808" y="339242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confident Orderly delivers a clean, functional, and extensible platform that reflects what professional software development looks like in practice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005072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9808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and attention. We welcome any questions.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" y="47731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 ·  CSC 289.001  ·  WTCC  ·  April 30,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1440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6800" dirty="0"/>
          </a:p>
        </p:txBody>
      </p:sp>
      <p:sp>
        <p:nvSpPr>
          <p:cNvPr id="5" name="Text 2"/>
          <p:cNvSpPr/>
          <p:nvPr/>
        </p:nvSpPr>
        <p:spPr>
          <a:xfrm>
            <a:off x="457200" y="2487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We'd love to walk you through a demo or answer any questions.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310896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2461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Serina Rodriguez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/ Project Manager — Team 7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289.0001 ·  Wake Technical Community College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4408</TotalTime>
  <Words>1568</Words>
  <Application>Microsoft Macintosh PowerPoint</Application>
  <PresentationFormat>On-screen Show (16:9)</PresentationFormat>
  <Paragraphs>245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Orderly — Presentation Template</dc:title>
  <dc:subject>PptxGenJS Presentation</dc:subject>
  <dc:creator>[Your Name]</dc:creator>
  <cp:lastModifiedBy>Serina Rodriguez</cp:lastModifiedBy>
  <cp:revision>7</cp:revision>
  <dcterms:created xsi:type="dcterms:W3CDTF">2026-04-23T04:42:28Z</dcterms:created>
  <dcterms:modified xsi:type="dcterms:W3CDTF">2026-04-26T06:14:23Z</dcterms:modified>
</cp:coreProperties>
</file>