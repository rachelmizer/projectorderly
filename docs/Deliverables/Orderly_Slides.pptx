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notesMasters/notesMaster1.xml" ContentType="application/vnd.openxmlformats-officedocument.presentationml.notes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theme/theme2.xml" ContentType="application/vnd.openxmlformats-officedocument.theme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notesMasterIdLst>
    <p:notesMasterId r:id="rId15"/>
  </p:notes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</p:sldIdLst>
  <p:sldSz cx="9144000" cy="5143500" type="screen16x9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71" d="100"/>
          <a:sy n="171" d="100"/>
        </p:scale>
        <p:origin x="464" y="16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18" Type="http://schemas.openxmlformats.org/officeDocument/2006/relationships/theme" Target="theme/theme1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viewProps" Target="viewProps.xml"/><Relationship Id="rId2" Type="http://schemas.openxmlformats.org/officeDocument/2006/relationships/slide" Target="slides/slide1.xml"/><Relationship Id="rId16" Type="http://schemas.openxmlformats.org/officeDocument/2006/relationships/presProps" Target="presProps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notesMaster" Target="notesMasters/notesMaster1.xml"/><Relationship Id="rId10" Type="http://schemas.openxmlformats.org/officeDocument/2006/relationships/slide" Target="slides/slide9.xml"/><Relationship Id="rId19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slide" Target="slides/slide13.xml"/></Relationships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482677084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.xml"/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.xml"/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3.xml"/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
<Relationships xmlns="http://schemas.openxmlformats.org/package/2006/relationships"><Relationship Id="rId2" Type="http://schemas.openxmlformats.org/officeDocument/2006/relationships/slide" Target="../slides/slide4.xml"/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
<Relationships xmlns="http://schemas.openxmlformats.org/package/2006/relationships"><Relationship Id="rId2" Type="http://schemas.openxmlformats.org/officeDocument/2006/relationships/slide" Target="../slides/slide5.xml"/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
<Relationships xmlns="http://schemas.openxmlformats.org/package/2006/relationships"><Relationship Id="rId2" Type="http://schemas.openxmlformats.org/officeDocument/2006/relationships/slide" Target="../slides/slide6.xml"/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
<Relationships xmlns="http://schemas.openxmlformats.org/package/2006/relationships"><Relationship Id="rId2" Type="http://schemas.openxmlformats.org/officeDocument/2006/relationships/slide" Target="../slides/slide7.xml"/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
<Relationships xmlns="http://schemas.openxmlformats.org/package/2006/relationships"><Relationship Id="rId2" Type="http://schemas.openxmlformats.org/officeDocument/2006/relationships/slide" Target="../slides/slide8.xml"/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
<Relationships xmlns="http://schemas.openxmlformats.org/package/2006/relationships"><Relationship Id="rId2" Type="http://schemas.openxmlformats.org/officeDocument/2006/relationships/slide" Target="../slides/slide9.xml"/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0.xml"/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1.xml"/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2.xml"/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
<Relationships xmlns="http://schemas.openxmlformats.org/package/2006/relationships"><Relationship Id="rId2" Type="http://schemas.openxmlformats.org/officeDocument/2006/relationships/slide" Target="../slides/slide13.xml"/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3" Type="http://schemas.openxmlformats.org/officeDocument/2006/relationships/image" Target="../media/image1.png"/><Relationship Id="rId2" Type="http://schemas.openxmlformats.org/officeDocument/2006/relationships/notesSlide" Target="../notesSlides/notesSlide1.xml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6.png"/><Relationship Id="rId2" Type="http://schemas.openxmlformats.org/officeDocument/2006/relationships/notesSlide" Target="../notesSlides/notesSlide3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5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4.xml"/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notesSlide" Target="../notesSlides/notesSlide5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1.png"/><Relationship Id="rId5" Type="http://schemas.openxmlformats.org/officeDocument/2006/relationships/image" Target="../media/image10.png"/><Relationship Id="rId4" Type="http://schemas.openxmlformats.org/officeDocument/2006/relationships/image" Target="../media/image9.png"/></Relationships>
</file>

<file path=ppt/slides/_rels/slide6.xml.rels><?xml version="1.0" encoding="UTF-8" standalone="yes"?>
<Relationships xmlns="http://schemas.openxmlformats.org/package/2006/relationships"><Relationship Id="rId8" Type="http://schemas.openxmlformats.org/officeDocument/2006/relationships/image" Target="../media/image7.png"/><Relationship Id="rId3" Type="http://schemas.openxmlformats.org/officeDocument/2006/relationships/image" Target="../media/image2.png"/><Relationship Id="rId7" Type="http://schemas.openxmlformats.org/officeDocument/2006/relationships/image" Target="../media/image12.png"/><Relationship Id="rId2" Type="http://schemas.openxmlformats.org/officeDocument/2006/relationships/notesSlide" Target="../notesSlides/notesSlide6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6.png"/><Relationship Id="rId5" Type="http://schemas.openxmlformats.org/officeDocument/2006/relationships/image" Target="../media/image4.png"/><Relationship Id="rId4" Type="http://schemas.openxmlformats.org/officeDocument/2006/relationships/image" Target="../media/image3.png"/></Relationships>
</file>

<file path=ppt/slides/_rels/slide7.xml.rels><?xml version="1.0" encoding="UTF-8" standalone="yes"?>
<Relationships xmlns="http://schemas.openxmlformats.org/package/2006/relationships"><Relationship Id="rId8" Type="http://schemas.openxmlformats.org/officeDocument/2006/relationships/image" Target="../media/image18.png"/><Relationship Id="rId3" Type="http://schemas.openxmlformats.org/officeDocument/2006/relationships/image" Target="../media/image13.png"/><Relationship Id="rId7" Type="http://schemas.openxmlformats.org/officeDocument/2006/relationships/image" Target="../media/image17.png"/><Relationship Id="rId2" Type="http://schemas.openxmlformats.org/officeDocument/2006/relationships/notesSlide" Target="../notesSlides/notesSlide7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16.png"/><Relationship Id="rId5" Type="http://schemas.openxmlformats.org/officeDocument/2006/relationships/image" Target="../media/image15.png"/><Relationship Id="rId4" Type="http://schemas.openxmlformats.org/officeDocument/2006/relationships/image" Target="../media/image14.png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19.png"/><Relationship Id="rId2" Type="http://schemas.openxmlformats.org/officeDocument/2006/relationships/notesSlide" Target="../notesSlides/notesSlide8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2.png"/><Relationship Id="rId5" Type="http://schemas.openxmlformats.org/officeDocument/2006/relationships/image" Target="../media/image21.png"/><Relationship Id="rId4" Type="http://schemas.openxmlformats.org/officeDocument/2006/relationships/image" Target="../media/image20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9.xml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0.xml"/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8" Type="http://schemas.openxmlformats.org/officeDocument/2006/relationships/image" Target="../media/image26.png"/><Relationship Id="rId3" Type="http://schemas.openxmlformats.org/officeDocument/2006/relationships/image" Target="../media/image23.png"/><Relationship Id="rId7" Type="http://schemas.openxmlformats.org/officeDocument/2006/relationships/image" Target="../media/image25.png"/><Relationship Id="rId2" Type="http://schemas.openxmlformats.org/officeDocument/2006/relationships/notesSlide" Target="../notesSlides/notesSlide11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6.png"/><Relationship Id="rId4" Type="http://schemas.openxmlformats.org/officeDocument/2006/relationships/image" Target="../media/image24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notesSlide" Target="../notesSlides/notesSlide12.xml"/><Relationship Id="rId1" Type="http://schemas.openxmlformats.org/officeDocument/2006/relationships/slideLayout" Target="../slideLayouts/slideLayout1.xml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image" Target="../media/image27.png"/><Relationship Id="rId2" Type="http://schemas.openxmlformats.org/officeDocument/2006/relationships/notesSlide" Target="../notesSlides/notesSlide13.xml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914400"/>
            <a:ext cx="1005840" cy="100584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2011680"/>
            <a:ext cx="73152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7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Orderly</a:t>
            </a:r>
            <a:endParaRPr lang="en-US" sz="7200" dirty="0"/>
          </a:p>
        </p:txBody>
      </p:sp>
      <p:sp>
        <p:nvSpPr>
          <p:cNvPr id="5" name="Text 2"/>
          <p:cNvSpPr/>
          <p:nvPr/>
        </p:nvSpPr>
        <p:spPr>
          <a:xfrm>
            <a:off x="457200" y="3063240"/>
            <a:ext cx="77724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20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Fast, flexible ordering for any business</a:t>
            </a:r>
            <a:endParaRPr lang="en-US" sz="2000" dirty="0"/>
          </a:p>
        </p:txBody>
      </p:sp>
      <p:sp>
        <p:nvSpPr>
          <p:cNvPr id="6" name="Shape 3"/>
          <p:cNvSpPr/>
          <p:nvPr/>
        </p:nvSpPr>
        <p:spPr>
          <a:xfrm>
            <a:off x="457200" y="361188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749040"/>
            <a:ext cx="8229600" cy="8229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Team 7 |  Programming Capstone Project | CSC 289.0001 | April 2026 </a:t>
            </a:r>
            <a:endParaRPr lang="en-US" sz="1100" dirty="0"/>
          </a:p>
          <a:p>
            <a:pPr marL="0" indent="0" algn="l">
              <a:buNone/>
            </a:pPr>
            <a:r>
              <a:rPr lang="en-US" sz="11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Serina Rodriguez · Kim Mayo · Kenny Bacdayan · Rachel Mizer · Tristin Gatt · Caleb Fowlkes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INTRODUCTION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What is [Project Name]?]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280160"/>
            <a:ext cx="3931920" cy="34290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594360" y="14630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The Problem</a:t>
            </a:r>
            <a:endParaRPr lang="en-US" sz="1300" dirty="0"/>
          </a:p>
        </p:txBody>
      </p:sp>
      <p:sp>
        <p:nvSpPr>
          <p:cNvPr id="6" name="Text 4"/>
          <p:cNvSpPr/>
          <p:nvPr/>
        </p:nvSpPr>
        <p:spPr>
          <a:xfrm>
            <a:off x="594360" y="1847088"/>
            <a:ext cx="3474720" cy="1463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[Describe the problem your project solves. What pain point exists? Who experiences it?]</a:t>
            </a:r>
            <a:endParaRPr lang="en-US" sz="1200" dirty="0"/>
          </a:p>
          <a:p>
            <a:pPr marL="0" indent="0">
              <a:buNone/>
            </a:pPr>
            <a:endParaRPr lang="en-US" sz="1200" dirty="0"/>
          </a:p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[Add a second sentence with impact or consequence if helpful.]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594360" y="3401568"/>
            <a:ext cx="347472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594360" y="3520440"/>
            <a:ext cx="34747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Our Solution</a:t>
            </a:r>
            <a:endParaRPr lang="en-US" sz="1300" dirty="0"/>
          </a:p>
        </p:txBody>
      </p:sp>
      <p:sp>
        <p:nvSpPr>
          <p:cNvPr id="9" name="Text 7"/>
          <p:cNvSpPr/>
          <p:nvPr/>
        </p:nvSpPr>
        <p:spPr>
          <a:xfrm>
            <a:off x="594360" y="3886200"/>
            <a:ext cx="347472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or two sentences describing your solution at a high level. What does it do and for whom?]</a:t>
            </a:r>
            <a:endParaRPr lang="en-US" sz="1200" dirty="0"/>
          </a:p>
        </p:txBody>
      </p:sp>
      <p:sp>
        <p:nvSpPr>
          <p:cNvPr id="10" name="Shape 8"/>
          <p:cNvSpPr/>
          <p:nvPr/>
        </p:nvSpPr>
        <p:spPr>
          <a:xfrm>
            <a:off x="4663440" y="128016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Text 9"/>
          <p:cNvSpPr/>
          <p:nvPr/>
        </p:nvSpPr>
        <p:spPr>
          <a:xfrm>
            <a:off x="4846320" y="132588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4800" dirty="0"/>
          </a:p>
        </p:txBody>
      </p:sp>
      <p:sp>
        <p:nvSpPr>
          <p:cNvPr id="12" name="Text 10"/>
          <p:cNvSpPr/>
          <p:nvPr/>
        </p:nvSpPr>
        <p:spPr>
          <a:xfrm>
            <a:off x="5852160" y="157276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 Label 1]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4663440" y="2468880"/>
            <a:ext cx="4023360" cy="1005840"/>
          </a:xfrm>
          <a:prstGeom prst="rect">
            <a:avLst/>
          </a:prstGeom>
          <a:solidFill>
            <a:srgbClr val="1B2B5E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4846320" y="251460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4800" dirty="0"/>
          </a:p>
        </p:txBody>
      </p:sp>
      <p:sp>
        <p:nvSpPr>
          <p:cNvPr id="15" name="Text 13"/>
          <p:cNvSpPr/>
          <p:nvPr/>
        </p:nvSpPr>
        <p:spPr>
          <a:xfrm>
            <a:off x="5852160" y="276148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 Label 2]</a:t>
            </a:r>
            <a:endParaRPr lang="en-US" sz="1600" dirty="0"/>
          </a:p>
        </p:txBody>
      </p:sp>
      <p:sp>
        <p:nvSpPr>
          <p:cNvPr id="16" name="Shape 14"/>
          <p:cNvSpPr/>
          <p:nvPr/>
        </p:nvSpPr>
        <p:spPr>
          <a:xfrm>
            <a:off x="4663440" y="3657600"/>
            <a:ext cx="4023360" cy="100584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846320" y="3703320"/>
            <a:ext cx="9144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4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#</a:t>
            </a:r>
            <a:endParaRPr lang="en-US" sz="4800" dirty="0"/>
          </a:p>
        </p:txBody>
      </p:sp>
      <p:sp>
        <p:nvSpPr>
          <p:cNvPr id="18" name="Text 16"/>
          <p:cNvSpPr/>
          <p:nvPr/>
        </p:nvSpPr>
        <p:spPr>
          <a:xfrm>
            <a:off x="5852160" y="3950208"/>
            <a:ext cx="25603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6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[Stat Label 3]</a:t>
            </a:r>
            <a:endParaRPr lang="en-US" sz="16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PROJECT OVERVIEW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Scope, Goals &amp; Feature Summary]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1]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[Brief description of feature 1]</a:t>
            </a:r>
            <a:endParaRPr lang="en-US" sz="1000" dirty="0"/>
          </a:p>
        </p:txBody>
      </p:sp>
      <p:sp>
        <p:nvSpPr>
          <p:cNvPr id="8" name="Shape 5"/>
          <p:cNvSpPr/>
          <p:nvPr/>
        </p:nvSpPr>
        <p:spPr>
          <a:xfrm>
            <a:off x="320040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64992" y="1691640"/>
            <a:ext cx="411480" cy="41148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5876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2]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385876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[Brief description of feature 2]</a:t>
            </a:r>
            <a:endParaRPr lang="en-US" sz="1000" dirty="0"/>
          </a:p>
        </p:txBody>
      </p:sp>
      <p:sp>
        <p:nvSpPr>
          <p:cNvPr id="12" name="Shape 8"/>
          <p:cNvSpPr/>
          <p:nvPr/>
        </p:nvSpPr>
        <p:spPr>
          <a:xfrm>
            <a:off x="6035040" y="137160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691640"/>
            <a:ext cx="411480" cy="41148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3]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6693408" y="193852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[Brief description of feature 3]</a:t>
            </a:r>
            <a:endParaRPr lang="en-US" sz="1000" dirty="0"/>
          </a:p>
        </p:txBody>
      </p:sp>
      <p:sp>
        <p:nvSpPr>
          <p:cNvPr id="16" name="Shape 11"/>
          <p:cNvSpPr/>
          <p:nvPr/>
        </p:nvSpPr>
        <p:spPr>
          <a:xfrm>
            <a:off x="36576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383280"/>
            <a:ext cx="411480" cy="41148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102412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4]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102412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[Brief description of feature 4]</a:t>
            </a:r>
            <a:endParaRPr lang="en-US" sz="1000" dirty="0"/>
          </a:p>
        </p:txBody>
      </p:sp>
      <p:sp>
        <p:nvSpPr>
          <p:cNvPr id="20" name="Shape 14"/>
          <p:cNvSpPr/>
          <p:nvPr/>
        </p:nvSpPr>
        <p:spPr>
          <a:xfrm>
            <a:off x="320040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64992" y="3383280"/>
            <a:ext cx="411480" cy="41148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5876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5]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385876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[Brief description of feature 5]</a:t>
            </a:r>
            <a:endParaRPr lang="en-US" sz="1000" dirty="0"/>
          </a:p>
        </p:txBody>
      </p:sp>
      <p:sp>
        <p:nvSpPr>
          <p:cNvPr id="24" name="Shape 17"/>
          <p:cNvSpPr/>
          <p:nvPr/>
        </p:nvSpPr>
        <p:spPr>
          <a:xfrm>
            <a:off x="6035040" y="3063240"/>
            <a:ext cx="2606040" cy="15087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383280"/>
            <a:ext cx="411480" cy="41148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264408"/>
            <a:ext cx="178308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6]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6693408" y="3630168"/>
            <a:ext cx="178308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[Brief description of feature 6]</a:t>
            </a:r>
            <a:endParaRPr lang="en-US" sz="10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PROCESS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Agile Workflow &amp; Sprint Structure]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65760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S1</a:t>
            </a:r>
            <a:endParaRPr lang="en-US" sz="2200" dirty="0"/>
          </a:p>
        </p:txBody>
      </p:sp>
      <p:sp>
        <p:nvSpPr>
          <p:cNvPr id="6" name="Text 4"/>
          <p:cNvSpPr/>
          <p:nvPr/>
        </p:nvSpPr>
        <p:spPr>
          <a:xfrm>
            <a:off x="320040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1 Name]</a:t>
            </a:r>
            <a:endParaRPr lang="en-US" sz="1100" dirty="0"/>
          </a:p>
        </p:txBody>
      </p:sp>
      <p:sp>
        <p:nvSpPr>
          <p:cNvPr id="7" name="Text 5"/>
          <p:cNvSpPr/>
          <p:nvPr/>
        </p:nvSpPr>
        <p:spPr>
          <a:xfrm>
            <a:off x="320040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theme or deliverable]</a:t>
            </a:r>
            <a:endParaRPr lang="en-US" sz="900" dirty="0"/>
          </a:p>
        </p:txBody>
      </p:sp>
      <p:sp>
        <p:nvSpPr>
          <p:cNvPr id="8" name="Shape 6"/>
          <p:cNvSpPr/>
          <p:nvPr/>
        </p:nvSpPr>
        <p:spPr>
          <a:xfrm>
            <a:off x="1920240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2084832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S2</a:t>
            </a:r>
            <a:endParaRPr lang="en-US" sz="2200" dirty="0"/>
          </a:p>
        </p:txBody>
      </p:sp>
      <p:sp>
        <p:nvSpPr>
          <p:cNvPr id="11" name="Text 9"/>
          <p:cNvSpPr/>
          <p:nvPr/>
        </p:nvSpPr>
        <p:spPr>
          <a:xfrm>
            <a:off x="2039112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2 Name]</a:t>
            </a:r>
            <a:endParaRPr lang="en-US" sz="1100" dirty="0"/>
          </a:p>
        </p:txBody>
      </p:sp>
      <p:sp>
        <p:nvSpPr>
          <p:cNvPr id="12" name="Text 10"/>
          <p:cNvSpPr/>
          <p:nvPr/>
        </p:nvSpPr>
        <p:spPr>
          <a:xfrm>
            <a:off x="2039112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theme or deliverable]</a:t>
            </a:r>
            <a:endParaRPr lang="en-US" sz="900" dirty="0"/>
          </a:p>
        </p:txBody>
      </p:sp>
      <p:sp>
        <p:nvSpPr>
          <p:cNvPr id="13" name="Shape 11"/>
          <p:cNvSpPr/>
          <p:nvPr/>
        </p:nvSpPr>
        <p:spPr>
          <a:xfrm>
            <a:off x="3639312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Shape 12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5" name="Text 13"/>
          <p:cNvSpPr/>
          <p:nvPr/>
        </p:nvSpPr>
        <p:spPr>
          <a:xfrm>
            <a:off x="3803904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S3</a:t>
            </a:r>
            <a:endParaRPr lang="en-US" sz="2200" dirty="0"/>
          </a:p>
        </p:txBody>
      </p:sp>
      <p:sp>
        <p:nvSpPr>
          <p:cNvPr id="16" name="Text 14"/>
          <p:cNvSpPr/>
          <p:nvPr/>
        </p:nvSpPr>
        <p:spPr>
          <a:xfrm>
            <a:off x="3758184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3 Name]</a:t>
            </a:r>
            <a:endParaRPr lang="en-US" sz="1100" dirty="0"/>
          </a:p>
        </p:txBody>
      </p:sp>
      <p:sp>
        <p:nvSpPr>
          <p:cNvPr id="17" name="Text 15"/>
          <p:cNvSpPr/>
          <p:nvPr/>
        </p:nvSpPr>
        <p:spPr>
          <a:xfrm>
            <a:off x="3758184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theme or deliverable]</a:t>
            </a:r>
            <a:endParaRPr lang="en-US" sz="900" dirty="0"/>
          </a:p>
        </p:txBody>
      </p:sp>
      <p:sp>
        <p:nvSpPr>
          <p:cNvPr id="18" name="Shape 16"/>
          <p:cNvSpPr/>
          <p:nvPr/>
        </p:nvSpPr>
        <p:spPr>
          <a:xfrm>
            <a:off x="5358384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9" name="Shape 17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Text 18"/>
          <p:cNvSpPr/>
          <p:nvPr/>
        </p:nvSpPr>
        <p:spPr>
          <a:xfrm>
            <a:off x="5522976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S4</a:t>
            </a:r>
            <a:endParaRPr lang="en-US" sz="2200" dirty="0"/>
          </a:p>
        </p:txBody>
      </p:sp>
      <p:sp>
        <p:nvSpPr>
          <p:cNvPr id="21" name="Text 19"/>
          <p:cNvSpPr/>
          <p:nvPr/>
        </p:nvSpPr>
        <p:spPr>
          <a:xfrm>
            <a:off x="5477256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4 Name]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5477256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theme or deliverable]</a:t>
            </a:r>
            <a:endParaRPr lang="en-US" sz="900" dirty="0"/>
          </a:p>
        </p:txBody>
      </p:sp>
      <p:sp>
        <p:nvSpPr>
          <p:cNvPr id="23" name="Shape 21"/>
          <p:cNvSpPr/>
          <p:nvPr/>
        </p:nvSpPr>
        <p:spPr>
          <a:xfrm>
            <a:off x="7077456" y="1709928"/>
            <a:ext cx="164592" cy="73152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242048" y="1417320"/>
            <a:ext cx="155448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2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S5</a:t>
            </a:r>
            <a:endParaRPr lang="en-US" sz="2200" dirty="0"/>
          </a:p>
        </p:txBody>
      </p:sp>
      <p:sp>
        <p:nvSpPr>
          <p:cNvPr id="26" name="Text 24"/>
          <p:cNvSpPr/>
          <p:nvPr/>
        </p:nvSpPr>
        <p:spPr>
          <a:xfrm>
            <a:off x="7196328" y="2130552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5 Name]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7196328" y="2404872"/>
            <a:ext cx="164592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theme or deliverable]</a:t>
            </a:r>
            <a:endParaRPr lang="en-US" sz="900" dirty="0"/>
          </a:p>
        </p:txBody>
      </p:sp>
      <p:sp>
        <p:nvSpPr>
          <p:cNvPr id="28" name="Text 26"/>
          <p:cNvSpPr/>
          <p:nvPr/>
        </p:nvSpPr>
        <p:spPr>
          <a:xfrm>
            <a:off x="365760" y="3063240"/>
            <a:ext cx="2743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Tools &amp; Stack</a:t>
            </a:r>
            <a:endParaRPr lang="en-US" sz="1200" dirty="0"/>
          </a:p>
        </p:txBody>
      </p:sp>
      <p:sp>
        <p:nvSpPr>
          <p:cNvPr id="29" name="Shape 27"/>
          <p:cNvSpPr/>
          <p:nvPr/>
        </p:nvSpPr>
        <p:spPr>
          <a:xfrm>
            <a:off x="365760" y="342900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0" name="Text 28"/>
          <p:cNvSpPr/>
          <p:nvPr/>
        </p:nvSpPr>
        <p:spPr>
          <a:xfrm>
            <a:off x="365760" y="34290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[Tool 1]</a:t>
            </a:r>
            <a:endParaRPr lang="en-US" sz="900" dirty="0"/>
          </a:p>
        </p:txBody>
      </p:sp>
      <p:sp>
        <p:nvSpPr>
          <p:cNvPr id="31" name="Shape 29"/>
          <p:cNvSpPr/>
          <p:nvPr/>
        </p:nvSpPr>
        <p:spPr>
          <a:xfrm>
            <a:off x="1627632" y="342900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1627632" y="34290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[Tool 2]</a:t>
            </a:r>
            <a:endParaRPr lang="en-US" sz="900" dirty="0"/>
          </a:p>
        </p:txBody>
      </p:sp>
      <p:sp>
        <p:nvSpPr>
          <p:cNvPr id="33" name="Shape 31"/>
          <p:cNvSpPr/>
          <p:nvPr/>
        </p:nvSpPr>
        <p:spPr>
          <a:xfrm>
            <a:off x="2889504" y="342900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Text 32"/>
          <p:cNvSpPr/>
          <p:nvPr/>
        </p:nvSpPr>
        <p:spPr>
          <a:xfrm>
            <a:off x="2889504" y="34290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[Tool 3]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4151376" y="342900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6" name="Text 34"/>
          <p:cNvSpPr/>
          <p:nvPr/>
        </p:nvSpPr>
        <p:spPr>
          <a:xfrm>
            <a:off x="4151376" y="34290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[Tool 4]</a:t>
            </a:r>
            <a:endParaRPr lang="en-US" sz="900" dirty="0"/>
          </a:p>
        </p:txBody>
      </p:sp>
      <p:sp>
        <p:nvSpPr>
          <p:cNvPr id="37" name="Shape 35"/>
          <p:cNvSpPr/>
          <p:nvPr/>
        </p:nvSpPr>
        <p:spPr>
          <a:xfrm>
            <a:off x="5413248" y="342900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EF4444"/>
          </a:solidFill>
          <a:ln w="12700">
            <a:solidFill>
              <a:srgbClr val="EF4444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8" name="Text 36"/>
          <p:cNvSpPr/>
          <p:nvPr/>
        </p:nvSpPr>
        <p:spPr>
          <a:xfrm>
            <a:off x="5413248" y="34290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[Tool 5]</a:t>
            </a:r>
            <a:endParaRPr lang="en-US" sz="900" dirty="0"/>
          </a:p>
        </p:txBody>
      </p:sp>
      <p:sp>
        <p:nvSpPr>
          <p:cNvPr id="39" name="Shape 37"/>
          <p:cNvSpPr/>
          <p:nvPr/>
        </p:nvSpPr>
        <p:spPr>
          <a:xfrm>
            <a:off x="6675120" y="342900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24292E"/>
          </a:solidFill>
          <a:ln w="12700">
            <a:solidFill>
              <a:srgbClr val="2429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0" name="Text 38"/>
          <p:cNvSpPr/>
          <p:nvPr/>
        </p:nvSpPr>
        <p:spPr>
          <a:xfrm>
            <a:off x="6675120" y="34290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[Tool 6]</a:t>
            </a:r>
            <a:endParaRPr lang="en-US" sz="900" dirty="0"/>
          </a:p>
        </p:txBody>
      </p:sp>
      <p:sp>
        <p:nvSpPr>
          <p:cNvPr id="41" name="Shape 39"/>
          <p:cNvSpPr/>
          <p:nvPr/>
        </p:nvSpPr>
        <p:spPr>
          <a:xfrm>
            <a:off x="7936992" y="3429000"/>
            <a:ext cx="1143000" cy="384048"/>
          </a:xfrm>
          <a:prstGeom prst="roundRect">
            <a:avLst>
              <a:gd name="adj" fmla="val 19048"/>
            </a:avLst>
          </a:prstGeom>
          <a:solidFill>
            <a:srgbClr val="0052CC"/>
          </a:solidFill>
          <a:ln w="12700">
            <a:solidFill>
              <a:srgbClr val="0052CC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42" name="Text 40"/>
          <p:cNvSpPr/>
          <p:nvPr/>
        </p:nvSpPr>
        <p:spPr>
          <a:xfrm>
            <a:off x="7936992" y="3429000"/>
            <a:ext cx="1143000" cy="38404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[Tool 7]</a:t>
            </a:r>
            <a:endParaRPr lang="en-US" sz="900" dirty="0"/>
          </a:p>
        </p:txBody>
      </p:sp>
      <p:sp>
        <p:nvSpPr>
          <p:cNvPr id="43" name="Shape 41"/>
          <p:cNvSpPr/>
          <p:nvPr/>
        </p:nvSpPr>
        <p:spPr>
          <a:xfrm>
            <a:off x="365760" y="3931920"/>
            <a:ext cx="8412480" cy="822960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44" name="Text 42"/>
          <p:cNvSpPr/>
          <p:nvPr/>
        </p:nvSpPr>
        <p:spPr>
          <a:xfrm>
            <a:off x="594360" y="4041648"/>
            <a:ext cx="201168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[Wave / Execution Model Label]:</a:t>
            </a:r>
            <a:endParaRPr lang="en-US" sz="1100" dirty="0"/>
          </a:p>
        </p:txBody>
      </p:sp>
      <p:sp>
        <p:nvSpPr>
          <p:cNvPr id="45" name="Text 43"/>
          <p:cNvSpPr/>
          <p:nvPr/>
        </p:nvSpPr>
        <p:spPr>
          <a:xfrm>
            <a:off x="2606040" y="4041648"/>
            <a:ext cx="5943600" cy="4572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[Describe your sprint execution model in one or two sentences. What made it effective?]</a:t>
            </a:r>
            <a:endParaRPr lang="en-US" sz="10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ARCHITECTURE &amp; DESIGN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System Architecture]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457200" y="1325880"/>
            <a:ext cx="2560320" cy="594360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94360" y="1389888"/>
            <a:ext cx="411480" cy="41148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51560" y="1325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[Layer 1]</a:t>
            </a:r>
            <a:endParaRPr lang="en-US" sz="1800" dirty="0"/>
          </a:p>
        </p:txBody>
      </p:sp>
      <p:sp>
        <p:nvSpPr>
          <p:cNvPr id="7" name="Shape 4"/>
          <p:cNvSpPr/>
          <p:nvPr/>
        </p:nvSpPr>
        <p:spPr>
          <a:xfrm>
            <a:off x="457200" y="1993392"/>
            <a:ext cx="25603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66928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[Tech Name]</a:t>
            </a:r>
            <a:endParaRPr lang="en-US" sz="1200" dirty="0"/>
          </a:p>
        </p:txBody>
      </p:sp>
      <p:sp>
        <p:nvSpPr>
          <p:cNvPr id="9" name="Text 6"/>
          <p:cNvSpPr/>
          <p:nvPr/>
        </p:nvSpPr>
        <p:spPr>
          <a:xfrm>
            <a:off x="566928" y="2395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details about this layer]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017520" y="1554480"/>
            <a:ext cx="274320" cy="914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91840" y="1325880"/>
            <a:ext cx="2560320" cy="59436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429000" y="1389888"/>
            <a:ext cx="411480" cy="411480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886200" y="1325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[Layer 2]</a:t>
            </a:r>
            <a:endParaRPr lang="en-US" sz="1800" dirty="0"/>
          </a:p>
        </p:txBody>
      </p:sp>
      <p:sp>
        <p:nvSpPr>
          <p:cNvPr id="14" name="Shape 10"/>
          <p:cNvSpPr/>
          <p:nvPr/>
        </p:nvSpPr>
        <p:spPr>
          <a:xfrm>
            <a:off x="3291840" y="1993392"/>
            <a:ext cx="25603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5" name="Text 11"/>
          <p:cNvSpPr/>
          <p:nvPr/>
        </p:nvSpPr>
        <p:spPr>
          <a:xfrm>
            <a:off x="3401568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[Tech Name]</a:t>
            </a:r>
            <a:endParaRPr lang="en-US" sz="1200" dirty="0"/>
          </a:p>
        </p:txBody>
      </p:sp>
      <p:sp>
        <p:nvSpPr>
          <p:cNvPr id="16" name="Text 12"/>
          <p:cNvSpPr/>
          <p:nvPr/>
        </p:nvSpPr>
        <p:spPr>
          <a:xfrm>
            <a:off x="3401568" y="2395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details about this layer]</a:t>
            </a:r>
            <a:endParaRPr lang="en-US" sz="1000" dirty="0"/>
          </a:p>
        </p:txBody>
      </p:sp>
      <p:sp>
        <p:nvSpPr>
          <p:cNvPr id="17" name="Shape 13"/>
          <p:cNvSpPr/>
          <p:nvPr/>
        </p:nvSpPr>
        <p:spPr>
          <a:xfrm>
            <a:off x="5852160" y="1554480"/>
            <a:ext cx="274320" cy="91440"/>
          </a:xfrm>
          <a:prstGeom prst="rect">
            <a:avLst/>
          </a:prstGeom>
          <a:solidFill>
            <a:srgbClr val="CBD5E1"/>
          </a:solidFill>
          <a:ln w="12700">
            <a:solidFill>
              <a:srgbClr val="CBD5E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Shape 14"/>
          <p:cNvSpPr/>
          <p:nvPr/>
        </p:nvSpPr>
        <p:spPr>
          <a:xfrm>
            <a:off x="6126480" y="1325880"/>
            <a:ext cx="2560320" cy="59436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9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63640" y="1389888"/>
            <a:ext cx="411480" cy="411480"/>
          </a:xfrm>
          <a:prstGeom prst="rect">
            <a:avLst/>
          </a:prstGeom>
        </p:spPr>
      </p:pic>
      <p:sp>
        <p:nvSpPr>
          <p:cNvPr id="20" name="Text 15"/>
          <p:cNvSpPr/>
          <p:nvPr/>
        </p:nvSpPr>
        <p:spPr>
          <a:xfrm>
            <a:off x="6720840" y="1325880"/>
            <a:ext cx="182880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[Layer 3]</a:t>
            </a:r>
            <a:endParaRPr lang="en-US" sz="1800" dirty="0"/>
          </a:p>
        </p:txBody>
      </p:sp>
      <p:sp>
        <p:nvSpPr>
          <p:cNvPr id="21" name="Shape 16"/>
          <p:cNvSpPr/>
          <p:nvPr/>
        </p:nvSpPr>
        <p:spPr>
          <a:xfrm>
            <a:off x="6126480" y="1993392"/>
            <a:ext cx="2560320" cy="105156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2" name="Text 17"/>
          <p:cNvSpPr/>
          <p:nvPr/>
        </p:nvSpPr>
        <p:spPr>
          <a:xfrm>
            <a:off x="6236208" y="2084832"/>
            <a:ext cx="237744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[Tech Name]</a:t>
            </a:r>
            <a:endParaRPr lang="en-US" sz="1200" dirty="0"/>
          </a:p>
        </p:txBody>
      </p:sp>
      <p:sp>
        <p:nvSpPr>
          <p:cNvPr id="23" name="Text 18"/>
          <p:cNvSpPr/>
          <p:nvPr/>
        </p:nvSpPr>
        <p:spPr>
          <a:xfrm>
            <a:off x="6236208" y="2395728"/>
            <a:ext cx="237744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[Key details about this layer]</a:t>
            </a:r>
            <a:endParaRPr lang="en-US" sz="1000" dirty="0"/>
          </a:p>
        </p:txBody>
      </p:sp>
      <p:sp>
        <p:nvSpPr>
          <p:cNvPr id="24" name="Shape 19"/>
          <p:cNvSpPr/>
          <p:nvPr/>
        </p:nvSpPr>
        <p:spPr>
          <a:xfrm>
            <a:off x="457200" y="3246120"/>
            <a:ext cx="8321040" cy="1554480"/>
          </a:xfrm>
          <a:prstGeom prst="rect">
            <a:avLst/>
          </a:prstGeom>
          <a:solidFill>
            <a:srgbClr val="1A1A2E"/>
          </a:solidFill>
          <a:ln w="12700">
            <a:solidFill>
              <a:srgbClr val="1A1A2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5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640080" y="3429000"/>
            <a:ext cx="502920" cy="502920"/>
          </a:xfrm>
          <a:prstGeom prst="rect">
            <a:avLst/>
          </a:prstGeom>
        </p:spPr>
      </p:pic>
      <p:sp>
        <p:nvSpPr>
          <p:cNvPr id="26" name="Text 20"/>
          <p:cNvSpPr/>
          <p:nvPr/>
        </p:nvSpPr>
        <p:spPr>
          <a:xfrm>
            <a:off x="1280160" y="3337560"/>
            <a:ext cx="457200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3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[CI/CD or Pipeline Title]</a:t>
            </a:r>
            <a:endParaRPr lang="en-US" sz="1300" dirty="0"/>
          </a:p>
        </p:txBody>
      </p:sp>
      <p:sp>
        <p:nvSpPr>
          <p:cNvPr id="27" name="Shape 21"/>
          <p:cNvSpPr/>
          <p:nvPr/>
        </p:nvSpPr>
        <p:spPr>
          <a:xfrm>
            <a:off x="1280160" y="3730752"/>
            <a:ext cx="2286000" cy="804672"/>
          </a:xfrm>
          <a:prstGeom prst="roundRect">
            <a:avLst>
              <a:gd name="adj" fmla="val 79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8" name="Shape 22"/>
          <p:cNvSpPr/>
          <p:nvPr/>
        </p:nvSpPr>
        <p:spPr>
          <a:xfrm>
            <a:off x="1417320" y="3822192"/>
            <a:ext cx="201168" cy="201168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9" name="Text 23"/>
          <p:cNvSpPr/>
          <p:nvPr/>
        </p:nvSpPr>
        <p:spPr>
          <a:xfrm>
            <a:off x="1664208" y="380390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[Pipeline Job 1]</a:t>
            </a:r>
            <a:endParaRPr lang="en-US" sz="1000" dirty="0"/>
          </a:p>
        </p:txBody>
      </p:sp>
      <p:sp>
        <p:nvSpPr>
          <p:cNvPr id="30" name="Shape 24"/>
          <p:cNvSpPr/>
          <p:nvPr/>
        </p:nvSpPr>
        <p:spPr>
          <a:xfrm>
            <a:off x="3749040" y="3730752"/>
            <a:ext cx="2286000" cy="804672"/>
          </a:xfrm>
          <a:prstGeom prst="roundRect">
            <a:avLst>
              <a:gd name="adj" fmla="val 79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1" name="Shape 25"/>
          <p:cNvSpPr/>
          <p:nvPr/>
        </p:nvSpPr>
        <p:spPr>
          <a:xfrm>
            <a:off x="3886200" y="3822192"/>
            <a:ext cx="201168" cy="201168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2" name="Text 26"/>
          <p:cNvSpPr/>
          <p:nvPr/>
        </p:nvSpPr>
        <p:spPr>
          <a:xfrm>
            <a:off x="4133088" y="380390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[Pipeline Job 2]</a:t>
            </a:r>
            <a:endParaRPr lang="en-US" sz="1000" dirty="0"/>
          </a:p>
        </p:txBody>
      </p:sp>
      <p:sp>
        <p:nvSpPr>
          <p:cNvPr id="33" name="Shape 27"/>
          <p:cNvSpPr/>
          <p:nvPr/>
        </p:nvSpPr>
        <p:spPr>
          <a:xfrm>
            <a:off x="6217920" y="3730752"/>
            <a:ext cx="2286000" cy="804672"/>
          </a:xfrm>
          <a:prstGeom prst="roundRect">
            <a:avLst>
              <a:gd name="adj" fmla="val 7955"/>
            </a:avLst>
          </a:prstGeom>
          <a:solidFill>
            <a:srgbClr val="1E293B"/>
          </a:solidFill>
          <a:ln w="12700">
            <a:solidFill>
              <a:srgbClr val="334155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4" name="Shape 28"/>
          <p:cNvSpPr/>
          <p:nvPr/>
        </p:nvSpPr>
        <p:spPr>
          <a:xfrm>
            <a:off x="6355080" y="3822192"/>
            <a:ext cx="201168" cy="201168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5" name="Text 29"/>
          <p:cNvSpPr/>
          <p:nvPr/>
        </p:nvSpPr>
        <p:spPr>
          <a:xfrm>
            <a:off x="6601968" y="3803904"/>
            <a:ext cx="178308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[Pipeline Job 3]</a:t>
            </a:r>
            <a:endParaRPr lang="en-US" sz="10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KEY FEATURES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What [Project Name] Delivers]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6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493776" y="1719072"/>
            <a:ext cx="347472" cy="347472"/>
          </a:xfrm>
          <a:prstGeom prst="rect">
            <a:avLst/>
          </a:prstGeom>
        </p:spPr>
      </p:pic>
      <p:sp>
        <p:nvSpPr>
          <p:cNvPr id="7" name="Text 4"/>
          <p:cNvSpPr/>
          <p:nvPr/>
        </p:nvSpPr>
        <p:spPr>
          <a:xfrm>
            <a:off x="914400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1]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93776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[Owner]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493776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[Point A]  ·  [Point B]  ·  [Point C]</a:t>
            </a:r>
            <a:endParaRPr lang="en-US" sz="900" dirty="0"/>
          </a:p>
        </p:txBody>
      </p:sp>
      <p:sp>
        <p:nvSpPr>
          <p:cNvPr id="10" name="Shape 7"/>
          <p:cNvSpPr/>
          <p:nvPr/>
        </p:nvSpPr>
        <p:spPr>
          <a:xfrm>
            <a:off x="3218688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1" name="Shape 8"/>
          <p:cNvSpPr/>
          <p:nvPr/>
        </p:nvSpPr>
        <p:spPr>
          <a:xfrm>
            <a:off x="3218688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2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46704" y="1719072"/>
            <a:ext cx="347472" cy="347472"/>
          </a:xfrm>
          <a:prstGeom prst="rect">
            <a:avLst/>
          </a:prstGeom>
        </p:spPr>
      </p:pic>
      <p:sp>
        <p:nvSpPr>
          <p:cNvPr id="13" name="Text 9"/>
          <p:cNvSpPr/>
          <p:nvPr/>
        </p:nvSpPr>
        <p:spPr>
          <a:xfrm>
            <a:off x="3767328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2]</a:t>
            </a:r>
            <a:endParaRPr lang="en-US" sz="1100" dirty="0"/>
          </a:p>
        </p:txBody>
      </p:sp>
      <p:sp>
        <p:nvSpPr>
          <p:cNvPr id="14" name="Text 10"/>
          <p:cNvSpPr/>
          <p:nvPr/>
        </p:nvSpPr>
        <p:spPr>
          <a:xfrm>
            <a:off x="3346704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[Owner]</a:t>
            </a:r>
            <a:endParaRPr lang="en-US" sz="800" dirty="0"/>
          </a:p>
        </p:txBody>
      </p:sp>
      <p:sp>
        <p:nvSpPr>
          <p:cNvPr id="15" name="Text 11"/>
          <p:cNvSpPr/>
          <p:nvPr/>
        </p:nvSpPr>
        <p:spPr>
          <a:xfrm>
            <a:off x="3346704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[Point A]  ·  [Point B]  ·  [Point C]</a:t>
            </a:r>
            <a:endParaRPr lang="en-US" sz="900" dirty="0"/>
          </a:p>
        </p:txBody>
      </p:sp>
      <p:sp>
        <p:nvSpPr>
          <p:cNvPr id="16" name="Shape 12"/>
          <p:cNvSpPr/>
          <p:nvPr/>
        </p:nvSpPr>
        <p:spPr>
          <a:xfrm>
            <a:off x="6071616" y="137160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3"/>
          <p:cNvSpPr/>
          <p:nvPr/>
        </p:nvSpPr>
        <p:spPr>
          <a:xfrm>
            <a:off x="6071616" y="137160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8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99632" y="1719072"/>
            <a:ext cx="347472" cy="347472"/>
          </a:xfrm>
          <a:prstGeom prst="rect">
            <a:avLst/>
          </a:prstGeom>
        </p:spPr>
      </p:pic>
      <p:sp>
        <p:nvSpPr>
          <p:cNvPr id="19" name="Text 14"/>
          <p:cNvSpPr/>
          <p:nvPr/>
        </p:nvSpPr>
        <p:spPr>
          <a:xfrm>
            <a:off x="6620256" y="164592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3]</a:t>
            </a:r>
            <a:endParaRPr lang="en-US" sz="1100" dirty="0"/>
          </a:p>
        </p:txBody>
      </p:sp>
      <p:sp>
        <p:nvSpPr>
          <p:cNvPr id="20" name="Text 15"/>
          <p:cNvSpPr/>
          <p:nvPr/>
        </p:nvSpPr>
        <p:spPr>
          <a:xfrm>
            <a:off x="6199632" y="212140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[Owner]</a:t>
            </a:r>
            <a:endParaRPr lang="en-US" sz="800" dirty="0"/>
          </a:p>
        </p:txBody>
      </p:sp>
      <p:sp>
        <p:nvSpPr>
          <p:cNvPr id="21" name="Text 16"/>
          <p:cNvSpPr/>
          <p:nvPr/>
        </p:nvSpPr>
        <p:spPr>
          <a:xfrm>
            <a:off x="6199632" y="234086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[Point A]  ·  [Point B]  ·  [Point C]</a:t>
            </a:r>
            <a:endParaRPr lang="en-US" sz="900" dirty="0"/>
          </a:p>
        </p:txBody>
      </p:sp>
      <p:sp>
        <p:nvSpPr>
          <p:cNvPr id="22" name="Shape 17"/>
          <p:cNvSpPr/>
          <p:nvPr/>
        </p:nvSpPr>
        <p:spPr>
          <a:xfrm>
            <a:off x="365760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3" name="Shape 18"/>
          <p:cNvSpPr/>
          <p:nvPr/>
        </p:nvSpPr>
        <p:spPr>
          <a:xfrm>
            <a:off x="365760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24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93776" y="3502152"/>
            <a:ext cx="347472" cy="347472"/>
          </a:xfrm>
          <a:prstGeom prst="rect">
            <a:avLst/>
          </a:prstGeom>
        </p:spPr>
      </p:pic>
      <p:sp>
        <p:nvSpPr>
          <p:cNvPr id="25" name="Text 19"/>
          <p:cNvSpPr/>
          <p:nvPr/>
        </p:nvSpPr>
        <p:spPr>
          <a:xfrm>
            <a:off x="914400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4]</a:t>
            </a:r>
            <a:endParaRPr lang="en-US" sz="1100" dirty="0"/>
          </a:p>
        </p:txBody>
      </p:sp>
      <p:sp>
        <p:nvSpPr>
          <p:cNvPr id="26" name="Text 20"/>
          <p:cNvSpPr/>
          <p:nvPr/>
        </p:nvSpPr>
        <p:spPr>
          <a:xfrm>
            <a:off x="493776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[Owner]</a:t>
            </a:r>
            <a:endParaRPr lang="en-US" sz="800" dirty="0"/>
          </a:p>
        </p:txBody>
      </p:sp>
      <p:sp>
        <p:nvSpPr>
          <p:cNvPr id="27" name="Text 21"/>
          <p:cNvSpPr/>
          <p:nvPr/>
        </p:nvSpPr>
        <p:spPr>
          <a:xfrm>
            <a:off x="493776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[Point A]  ·  [Point B]  ·  [Point C]</a:t>
            </a:r>
            <a:endParaRPr lang="en-US" sz="900" dirty="0"/>
          </a:p>
        </p:txBody>
      </p:sp>
      <p:sp>
        <p:nvSpPr>
          <p:cNvPr id="28" name="Shape 22"/>
          <p:cNvSpPr/>
          <p:nvPr/>
        </p:nvSpPr>
        <p:spPr>
          <a:xfrm>
            <a:off x="3218688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9" name="Shape 23"/>
          <p:cNvSpPr/>
          <p:nvPr/>
        </p:nvSpPr>
        <p:spPr>
          <a:xfrm>
            <a:off x="3218688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0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46704" y="3502152"/>
            <a:ext cx="347472" cy="347472"/>
          </a:xfrm>
          <a:prstGeom prst="rect">
            <a:avLst/>
          </a:prstGeom>
        </p:spPr>
      </p:pic>
      <p:sp>
        <p:nvSpPr>
          <p:cNvPr id="31" name="Text 24"/>
          <p:cNvSpPr/>
          <p:nvPr/>
        </p:nvSpPr>
        <p:spPr>
          <a:xfrm>
            <a:off x="3767328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5]</a:t>
            </a:r>
            <a:endParaRPr lang="en-US" sz="1100" dirty="0"/>
          </a:p>
        </p:txBody>
      </p:sp>
      <p:sp>
        <p:nvSpPr>
          <p:cNvPr id="32" name="Text 25"/>
          <p:cNvSpPr/>
          <p:nvPr/>
        </p:nvSpPr>
        <p:spPr>
          <a:xfrm>
            <a:off x="3346704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[Owner]</a:t>
            </a:r>
            <a:endParaRPr lang="en-US" sz="800" dirty="0"/>
          </a:p>
        </p:txBody>
      </p:sp>
      <p:sp>
        <p:nvSpPr>
          <p:cNvPr id="33" name="Text 26"/>
          <p:cNvSpPr/>
          <p:nvPr/>
        </p:nvSpPr>
        <p:spPr>
          <a:xfrm>
            <a:off x="3346704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[Point A]  ·  [Point B]  ·  [Point C]</a:t>
            </a:r>
            <a:endParaRPr lang="en-US" sz="900" dirty="0"/>
          </a:p>
        </p:txBody>
      </p:sp>
      <p:sp>
        <p:nvSpPr>
          <p:cNvPr id="34" name="Shape 27"/>
          <p:cNvSpPr/>
          <p:nvPr/>
        </p:nvSpPr>
        <p:spPr>
          <a:xfrm>
            <a:off x="6071616" y="3154680"/>
            <a:ext cx="2651760" cy="16276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Shape 28"/>
          <p:cNvSpPr/>
          <p:nvPr/>
        </p:nvSpPr>
        <p:spPr>
          <a:xfrm>
            <a:off x="6071616" y="3154680"/>
            <a:ext cx="2651760" cy="25603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6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199632" y="3502152"/>
            <a:ext cx="347472" cy="347472"/>
          </a:xfrm>
          <a:prstGeom prst="rect">
            <a:avLst/>
          </a:prstGeom>
        </p:spPr>
      </p:pic>
      <p:sp>
        <p:nvSpPr>
          <p:cNvPr id="37" name="Text 29"/>
          <p:cNvSpPr/>
          <p:nvPr/>
        </p:nvSpPr>
        <p:spPr>
          <a:xfrm>
            <a:off x="6620256" y="3429000"/>
            <a:ext cx="1965960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[Feature 6]</a:t>
            </a:r>
            <a:endParaRPr lang="en-US" sz="1100" dirty="0"/>
          </a:p>
        </p:txBody>
      </p:sp>
      <p:sp>
        <p:nvSpPr>
          <p:cNvPr id="38" name="Text 30"/>
          <p:cNvSpPr/>
          <p:nvPr/>
        </p:nvSpPr>
        <p:spPr>
          <a:xfrm>
            <a:off x="6199632" y="3904488"/>
            <a:ext cx="2377440" cy="2011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800" b="1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Owner: [Owner]</a:t>
            </a:r>
            <a:endParaRPr lang="en-US" sz="800" dirty="0"/>
          </a:p>
        </p:txBody>
      </p:sp>
      <p:sp>
        <p:nvSpPr>
          <p:cNvPr id="39" name="Text 31"/>
          <p:cNvSpPr/>
          <p:nvPr/>
        </p:nvSpPr>
        <p:spPr>
          <a:xfrm>
            <a:off x="6199632" y="4123944"/>
            <a:ext cx="23774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[Point A]  ·  [Point B]  ·  [Point C]</a:t>
            </a:r>
            <a:endParaRPr lang="en-US" sz="9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DEVELOPMENT HIGHLIGHTS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What We're Proud Of]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55064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102412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[Highlight 1 Title]</a:t>
            </a:r>
            <a:endParaRPr lang="en-US" sz="1200" dirty="0"/>
          </a:p>
        </p:txBody>
      </p:sp>
      <p:sp>
        <p:nvSpPr>
          <p:cNvPr id="7" name="Text 4"/>
          <p:cNvSpPr/>
          <p:nvPr/>
        </p:nvSpPr>
        <p:spPr>
          <a:xfrm>
            <a:off x="1024128" y="18105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4663440" y="135331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828032" y="1655064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5321808" y="146304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[Highlight 2 Title]</a:t>
            </a:r>
            <a:endParaRPr lang="en-US" sz="1200" dirty="0"/>
          </a:p>
        </p:txBody>
      </p:sp>
      <p:sp>
        <p:nvSpPr>
          <p:cNvPr id="11" name="Text 7"/>
          <p:cNvSpPr/>
          <p:nvPr/>
        </p:nvSpPr>
        <p:spPr>
          <a:xfrm>
            <a:off x="5321808" y="181051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36576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530352" y="2889504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102412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[Highlight 3 Title]</a:t>
            </a:r>
            <a:endParaRPr lang="en-US" sz="1200" dirty="0"/>
          </a:p>
        </p:txBody>
      </p:sp>
      <p:sp>
        <p:nvSpPr>
          <p:cNvPr id="15" name="Text 10"/>
          <p:cNvSpPr/>
          <p:nvPr/>
        </p:nvSpPr>
        <p:spPr>
          <a:xfrm>
            <a:off x="102412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4663440" y="258775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4828032" y="2889504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5321808" y="269748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[Highlight 4 Title]</a:t>
            </a:r>
            <a:endParaRPr lang="en-US" sz="1200" dirty="0"/>
          </a:p>
        </p:txBody>
      </p:sp>
      <p:sp>
        <p:nvSpPr>
          <p:cNvPr id="19" name="Text 13"/>
          <p:cNvSpPr/>
          <p:nvPr/>
        </p:nvSpPr>
        <p:spPr>
          <a:xfrm>
            <a:off x="5321808" y="304495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6576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530352" y="4123944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102412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[Highlight 5 Title]</a:t>
            </a:r>
            <a:endParaRPr lang="en-US" sz="1200" dirty="0"/>
          </a:p>
        </p:txBody>
      </p:sp>
      <p:sp>
        <p:nvSpPr>
          <p:cNvPr id="23" name="Text 16"/>
          <p:cNvSpPr/>
          <p:nvPr/>
        </p:nvSpPr>
        <p:spPr>
          <a:xfrm>
            <a:off x="102412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4663440" y="3822192"/>
            <a:ext cx="4069080" cy="10972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4828032" y="4123944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5321808" y="3931920"/>
            <a:ext cx="324612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[Highlight 6 Title]</a:t>
            </a:r>
            <a:endParaRPr lang="en-US" sz="1200" dirty="0"/>
          </a:p>
        </p:txBody>
      </p:sp>
      <p:sp>
        <p:nvSpPr>
          <p:cNvPr id="27" name="Text 19"/>
          <p:cNvSpPr/>
          <p:nvPr/>
        </p:nvSpPr>
        <p:spPr>
          <a:xfrm>
            <a:off x="5321808" y="4279392"/>
            <a:ext cx="3246120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this highlight. What did you do and why does it matter?]</a:t>
            </a:r>
            <a:endParaRPr lang="en-US" sz="95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TESTING &amp; QUALITY ASSURANCE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Our QA Strategy]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2606040" cy="502920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02920" y="1426464"/>
            <a:ext cx="347472" cy="347472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3268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Type 1]</a:t>
            </a:r>
            <a:endParaRPr lang="en-US" sz="1400" dirty="0"/>
          </a:p>
        </p:txBody>
      </p:sp>
      <p:sp>
        <p:nvSpPr>
          <p:cNvPr id="7" name="Shape 4"/>
          <p:cNvSpPr/>
          <p:nvPr/>
        </p:nvSpPr>
        <p:spPr>
          <a:xfrm>
            <a:off x="36576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8" name="Text 5"/>
          <p:cNvSpPr/>
          <p:nvPr/>
        </p:nvSpPr>
        <p:spPr>
          <a:xfrm>
            <a:off x="50292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7C3AE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[Tool name]</a:t>
            </a:r>
            <a:endParaRPr lang="en-US" sz="1000" dirty="0"/>
          </a:p>
        </p:txBody>
      </p:sp>
      <p:sp>
        <p:nvSpPr>
          <p:cNvPr id="9" name="Text 6"/>
          <p:cNvSpPr/>
          <p:nvPr/>
        </p:nvSpPr>
        <p:spPr>
          <a:xfrm>
            <a:off x="50292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detail A]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detail B]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detail C]</a:t>
            </a:r>
            <a:endParaRPr lang="en-US" sz="1000" dirty="0"/>
          </a:p>
        </p:txBody>
      </p:sp>
      <p:sp>
        <p:nvSpPr>
          <p:cNvPr id="10" name="Shape 7"/>
          <p:cNvSpPr/>
          <p:nvPr/>
        </p:nvSpPr>
        <p:spPr>
          <a:xfrm>
            <a:off x="3200400" y="1353312"/>
            <a:ext cx="2606040" cy="502920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1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37560" y="1426464"/>
            <a:ext cx="347472" cy="347472"/>
          </a:xfrm>
          <a:prstGeom prst="rect">
            <a:avLst/>
          </a:prstGeom>
        </p:spPr>
      </p:pic>
      <p:sp>
        <p:nvSpPr>
          <p:cNvPr id="12" name="Text 8"/>
          <p:cNvSpPr/>
          <p:nvPr/>
        </p:nvSpPr>
        <p:spPr>
          <a:xfrm>
            <a:off x="376732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Type 2]</a:t>
            </a:r>
            <a:endParaRPr lang="en-US" sz="1400" dirty="0"/>
          </a:p>
        </p:txBody>
      </p:sp>
      <p:sp>
        <p:nvSpPr>
          <p:cNvPr id="13" name="Shape 9"/>
          <p:cNvSpPr/>
          <p:nvPr/>
        </p:nvSpPr>
        <p:spPr>
          <a:xfrm>
            <a:off x="320040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4" name="Text 10"/>
          <p:cNvSpPr/>
          <p:nvPr/>
        </p:nvSpPr>
        <p:spPr>
          <a:xfrm>
            <a:off x="333756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[Tool name]</a:t>
            </a:r>
            <a:endParaRPr lang="en-US" sz="1000" dirty="0"/>
          </a:p>
        </p:txBody>
      </p:sp>
      <p:sp>
        <p:nvSpPr>
          <p:cNvPr id="15" name="Text 11"/>
          <p:cNvSpPr/>
          <p:nvPr/>
        </p:nvSpPr>
        <p:spPr>
          <a:xfrm>
            <a:off x="333756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detail A]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detail B]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detail C]</a:t>
            </a:r>
            <a:endParaRPr lang="en-US" sz="1000" dirty="0"/>
          </a:p>
        </p:txBody>
      </p:sp>
      <p:sp>
        <p:nvSpPr>
          <p:cNvPr id="16" name="Shape 12"/>
          <p:cNvSpPr/>
          <p:nvPr/>
        </p:nvSpPr>
        <p:spPr>
          <a:xfrm>
            <a:off x="6035040" y="1353312"/>
            <a:ext cx="2606040" cy="502920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17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172200" y="1426464"/>
            <a:ext cx="347472" cy="347472"/>
          </a:xfrm>
          <a:prstGeom prst="rect">
            <a:avLst/>
          </a:prstGeom>
        </p:spPr>
      </p:pic>
      <p:sp>
        <p:nvSpPr>
          <p:cNvPr id="18" name="Text 13"/>
          <p:cNvSpPr/>
          <p:nvPr/>
        </p:nvSpPr>
        <p:spPr>
          <a:xfrm>
            <a:off x="6601968" y="1353312"/>
            <a:ext cx="192024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Type 3]</a:t>
            </a:r>
            <a:endParaRPr lang="en-US" sz="1400" dirty="0"/>
          </a:p>
        </p:txBody>
      </p:sp>
      <p:sp>
        <p:nvSpPr>
          <p:cNvPr id="19" name="Shape 14"/>
          <p:cNvSpPr/>
          <p:nvPr/>
        </p:nvSpPr>
        <p:spPr>
          <a:xfrm>
            <a:off x="6035040" y="1920240"/>
            <a:ext cx="2606040" cy="137160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0" name="Text 15"/>
          <p:cNvSpPr/>
          <p:nvPr/>
        </p:nvSpPr>
        <p:spPr>
          <a:xfrm>
            <a:off x="6172200" y="2011680"/>
            <a:ext cx="233172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Tool: [Tool name]</a:t>
            </a:r>
            <a:endParaRPr lang="en-US" sz="1000" dirty="0"/>
          </a:p>
        </p:txBody>
      </p:sp>
      <p:sp>
        <p:nvSpPr>
          <p:cNvPr id="21" name="Text 16"/>
          <p:cNvSpPr/>
          <p:nvPr/>
        </p:nvSpPr>
        <p:spPr>
          <a:xfrm>
            <a:off x="6172200" y="2304288"/>
            <a:ext cx="233172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detail A]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detail B]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[Test detail C]</a:t>
            </a:r>
            <a:endParaRPr lang="en-US" sz="1000" dirty="0"/>
          </a:p>
        </p:txBody>
      </p:sp>
      <p:sp>
        <p:nvSpPr>
          <p:cNvPr id="22" name="Shape 17"/>
          <p:cNvSpPr/>
          <p:nvPr/>
        </p:nvSpPr>
        <p:spPr>
          <a:xfrm>
            <a:off x="365760" y="3493008"/>
            <a:ext cx="8412480" cy="1325880"/>
          </a:xfrm>
          <a:prstGeom prst="rect">
            <a:avLst/>
          </a:prstGeom>
          <a:solidFill>
            <a:srgbClr val="ECFDF5"/>
          </a:solidFill>
          <a:ln w="12700">
            <a:solidFill>
              <a:srgbClr val="6EE7B7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3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48640" y="3703320"/>
            <a:ext cx="438912" cy="438912"/>
          </a:xfrm>
          <a:prstGeom prst="rect">
            <a:avLst/>
          </a:prstGeom>
        </p:spPr>
      </p:pic>
      <p:sp>
        <p:nvSpPr>
          <p:cNvPr id="24" name="Text 18"/>
          <p:cNvSpPr/>
          <p:nvPr/>
        </p:nvSpPr>
        <p:spPr>
          <a:xfrm>
            <a:off x="1115568" y="3611880"/>
            <a:ext cx="3657600" cy="29260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[QA Lead Name]</a:t>
            </a:r>
            <a:endParaRPr lang="en-US" sz="1200" dirty="0"/>
          </a:p>
        </p:txBody>
      </p:sp>
      <p:sp>
        <p:nvSpPr>
          <p:cNvPr id="25" name="Text 19"/>
          <p:cNvSpPr/>
          <p:nvPr/>
        </p:nvSpPr>
        <p:spPr>
          <a:xfrm>
            <a:off x="1115568" y="3931920"/>
            <a:ext cx="7315200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about your QA lead's contributions, consistency, and what they owned across the project.]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DEPLOYMENT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CI/CD Pipeline &amp; Deployment]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47472" y="1417320"/>
            <a:ext cx="1298448" cy="658368"/>
          </a:xfrm>
          <a:prstGeom prst="rect">
            <a:avLst/>
          </a:prstGeom>
          <a:solidFill>
            <a:srgbClr val="64748B"/>
          </a:solidFill>
          <a:ln w="12700">
            <a:solidFill>
              <a:srgbClr val="64748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5" name="Text 3"/>
          <p:cNvSpPr/>
          <p:nvPr/>
        </p:nvSpPr>
        <p:spPr>
          <a:xfrm>
            <a:off x="34747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[Step 1]</a:t>
            </a:r>
            <a:endParaRPr lang="en-US" sz="950" dirty="0"/>
          </a:p>
        </p:txBody>
      </p:sp>
      <p:sp>
        <p:nvSpPr>
          <p:cNvPr id="6" name="Text 4"/>
          <p:cNvSpPr/>
          <p:nvPr/>
        </p:nvSpPr>
        <p:spPr>
          <a:xfrm>
            <a:off x="34747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[Description]</a:t>
            </a:r>
            <a:endParaRPr lang="en-US" sz="750" dirty="0"/>
          </a:p>
        </p:txBody>
      </p:sp>
      <p:sp>
        <p:nvSpPr>
          <p:cNvPr id="7" name="Shape 5"/>
          <p:cNvSpPr/>
          <p:nvPr/>
        </p:nvSpPr>
        <p:spPr>
          <a:xfrm>
            <a:off x="1645920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Shape 6"/>
          <p:cNvSpPr/>
          <p:nvPr/>
        </p:nvSpPr>
        <p:spPr>
          <a:xfrm>
            <a:off x="1783080" y="1417320"/>
            <a:ext cx="1298448" cy="658368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9" name="Text 7"/>
          <p:cNvSpPr/>
          <p:nvPr/>
        </p:nvSpPr>
        <p:spPr>
          <a:xfrm>
            <a:off x="1783080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[Step 2]</a:t>
            </a:r>
            <a:endParaRPr lang="en-US" sz="950" dirty="0"/>
          </a:p>
        </p:txBody>
      </p:sp>
      <p:sp>
        <p:nvSpPr>
          <p:cNvPr id="10" name="Text 8"/>
          <p:cNvSpPr/>
          <p:nvPr/>
        </p:nvSpPr>
        <p:spPr>
          <a:xfrm>
            <a:off x="1783080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[Description]</a:t>
            </a:r>
            <a:endParaRPr lang="en-US" sz="750" dirty="0"/>
          </a:p>
        </p:txBody>
      </p:sp>
      <p:sp>
        <p:nvSpPr>
          <p:cNvPr id="11" name="Shape 9"/>
          <p:cNvSpPr/>
          <p:nvPr/>
        </p:nvSpPr>
        <p:spPr>
          <a:xfrm>
            <a:off x="3081528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Shape 10"/>
          <p:cNvSpPr/>
          <p:nvPr/>
        </p:nvSpPr>
        <p:spPr>
          <a:xfrm>
            <a:off x="3218688" y="1417320"/>
            <a:ext cx="1298448" cy="658368"/>
          </a:xfrm>
          <a:prstGeom prst="rect">
            <a:avLst/>
          </a:prstGeom>
          <a:solidFill>
            <a:srgbClr val="7C3AED"/>
          </a:solidFill>
          <a:ln w="12700">
            <a:solidFill>
              <a:srgbClr val="7C3AED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3" name="Text 11"/>
          <p:cNvSpPr/>
          <p:nvPr/>
        </p:nvSpPr>
        <p:spPr>
          <a:xfrm>
            <a:off x="3218688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[Step 3]</a:t>
            </a:r>
            <a:endParaRPr lang="en-US" sz="950" dirty="0"/>
          </a:p>
        </p:txBody>
      </p:sp>
      <p:sp>
        <p:nvSpPr>
          <p:cNvPr id="14" name="Text 12"/>
          <p:cNvSpPr/>
          <p:nvPr/>
        </p:nvSpPr>
        <p:spPr>
          <a:xfrm>
            <a:off x="3218688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[Description]</a:t>
            </a:r>
            <a:endParaRPr lang="en-US" sz="750" dirty="0"/>
          </a:p>
        </p:txBody>
      </p:sp>
      <p:sp>
        <p:nvSpPr>
          <p:cNvPr id="15" name="Shape 13"/>
          <p:cNvSpPr/>
          <p:nvPr/>
        </p:nvSpPr>
        <p:spPr>
          <a:xfrm>
            <a:off x="4517136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6" name="Shape 14"/>
          <p:cNvSpPr/>
          <p:nvPr/>
        </p:nvSpPr>
        <p:spPr>
          <a:xfrm>
            <a:off x="4654296" y="1417320"/>
            <a:ext cx="1298448" cy="658368"/>
          </a:xfrm>
          <a:prstGeom prst="rect">
            <a:avLst/>
          </a:prstGeom>
          <a:solidFill>
            <a:srgbClr val="0EA5E9"/>
          </a:solidFill>
          <a:ln w="12700">
            <a:solidFill>
              <a:srgbClr val="0EA5E9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7" name="Text 15"/>
          <p:cNvSpPr/>
          <p:nvPr/>
        </p:nvSpPr>
        <p:spPr>
          <a:xfrm>
            <a:off x="4654296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[Step 4]</a:t>
            </a:r>
            <a:endParaRPr lang="en-US" sz="950" dirty="0"/>
          </a:p>
        </p:txBody>
      </p:sp>
      <p:sp>
        <p:nvSpPr>
          <p:cNvPr id="18" name="Text 16"/>
          <p:cNvSpPr/>
          <p:nvPr/>
        </p:nvSpPr>
        <p:spPr>
          <a:xfrm>
            <a:off x="4654296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[Description]</a:t>
            </a:r>
            <a:endParaRPr lang="en-US" sz="750" dirty="0"/>
          </a:p>
        </p:txBody>
      </p:sp>
      <p:sp>
        <p:nvSpPr>
          <p:cNvPr id="19" name="Shape 17"/>
          <p:cNvSpPr/>
          <p:nvPr/>
        </p:nvSpPr>
        <p:spPr>
          <a:xfrm>
            <a:off x="5952744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0" name="Shape 18"/>
          <p:cNvSpPr/>
          <p:nvPr/>
        </p:nvSpPr>
        <p:spPr>
          <a:xfrm>
            <a:off x="6089904" y="1417320"/>
            <a:ext cx="1298448" cy="658368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1" name="Text 19"/>
          <p:cNvSpPr/>
          <p:nvPr/>
        </p:nvSpPr>
        <p:spPr>
          <a:xfrm>
            <a:off x="6089904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[Step 5]</a:t>
            </a:r>
            <a:endParaRPr lang="en-US" sz="950" dirty="0"/>
          </a:p>
        </p:txBody>
      </p:sp>
      <p:sp>
        <p:nvSpPr>
          <p:cNvPr id="22" name="Text 20"/>
          <p:cNvSpPr/>
          <p:nvPr/>
        </p:nvSpPr>
        <p:spPr>
          <a:xfrm>
            <a:off x="6089904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[Description]</a:t>
            </a:r>
            <a:endParaRPr lang="en-US" sz="750" dirty="0"/>
          </a:p>
        </p:txBody>
      </p:sp>
      <p:sp>
        <p:nvSpPr>
          <p:cNvPr id="23" name="Shape 21"/>
          <p:cNvSpPr/>
          <p:nvPr/>
        </p:nvSpPr>
        <p:spPr>
          <a:xfrm>
            <a:off x="7388352" y="1709928"/>
            <a:ext cx="137160" cy="73152"/>
          </a:xfrm>
          <a:prstGeom prst="rect">
            <a:avLst/>
          </a:prstGeom>
          <a:solidFill>
            <a:srgbClr val="94A3B8"/>
          </a:solidFill>
          <a:ln w="12700">
            <a:solidFill>
              <a:srgbClr val="94A3B8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4" name="Shape 22"/>
          <p:cNvSpPr/>
          <p:nvPr/>
        </p:nvSpPr>
        <p:spPr>
          <a:xfrm>
            <a:off x="7525512" y="1417320"/>
            <a:ext cx="1298448" cy="658368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5" name="Text 23"/>
          <p:cNvSpPr/>
          <p:nvPr/>
        </p:nvSpPr>
        <p:spPr>
          <a:xfrm>
            <a:off x="7525512" y="1417320"/>
            <a:ext cx="1298448" cy="402336"/>
          </a:xfrm>
          <a:prstGeom prst="rect">
            <a:avLst/>
          </a:prstGeom>
          <a:noFill/>
          <a:ln/>
        </p:spPr>
        <p:txBody>
          <a:bodyPr wrap="square" lIns="25400" tIns="25400" rIns="25400" bIns="25400" rtlCol="0" anchor="b"/>
          <a:lstStyle/>
          <a:p>
            <a:pPr marL="0" indent="0" algn="ctr">
              <a:buNone/>
            </a:pPr>
            <a:r>
              <a:rPr lang="en-US" sz="95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[Step 6]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525512" y="1819656"/>
            <a:ext cx="1298448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ctr">
              <a:buNone/>
            </a:pPr>
            <a:r>
              <a:rPr lang="en-US" sz="750" dirty="0">
                <a:solidFill>
                  <a:srgbClr val="CBD5E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[Description]</a:t>
            </a:r>
            <a:endParaRPr lang="en-US" sz="750" dirty="0"/>
          </a:p>
        </p:txBody>
      </p:sp>
      <p:sp>
        <p:nvSpPr>
          <p:cNvPr id="27" name="Shape 25"/>
          <p:cNvSpPr/>
          <p:nvPr/>
        </p:nvSpPr>
        <p:spPr>
          <a:xfrm>
            <a:off x="365760" y="2331720"/>
            <a:ext cx="4114800" cy="1170432"/>
          </a:xfrm>
          <a:prstGeom prst="rect">
            <a:avLst/>
          </a:prstGeom>
          <a:solidFill>
            <a:srgbClr val="EFF6FF"/>
          </a:solidFill>
          <a:ln w="12700">
            <a:solidFill>
              <a:srgbClr val="BFDBFE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8" name="Text 26"/>
          <p:cNvSpPr/>
          <p:nvPr/>
        </p:nvSpPr>
        <p:spPr>
          <a:xfrm>
            <a:off x="548640" y="242316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[Callout Label — e.g. Seed Data]</a:t>
            </a:r>
            <a:endParaRPr lang="en-US" sz="1200" dirty="0"/>
          </a:p>
        </p:txBody>
      </p:sp>
      <p:sp>
        <p:nvSpPr>
          <p:cNvPr id="29" name="Text 27"/>
          <p:cNvSpPr/>
          <p:nvPr/>
        </p:nvSpPr>
        <p:spPr>
          <a:xfrm>
            <a:off x="548640" y="2743200"/>
            <a:ext cx="37490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dirty="0">
                <a:solidFill>
                  <a:srgbClr val="7C3AED"/>
                </a:solidFill>
                <a:latin typeface="Consolas" pitchFamily="34" charset="0"/>
                <a:ea typeface="Consolas" pitchFamily="34" charset="-122"/>
                <a:cs typeface="Consolas" pitchFamily="34" charset="-120"/>
              </a:rPr>
              <a:t>[command or technical detail goes here]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548640" y="3054096"/>
            <a:ext cx="3749040" cy="3200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sentence explaining what this command/detail does and why it matters.]</a:t>
            </a:r>
            <a:endParaRPr lang="en-US" sz="950" dirty="0"/>
          </a:p>
        </p:txBody>
      </p:sp>
      <p:sp>
        <p:nvSpPr>
          <p:cNvPr id="31" name="Shape 29"/>
          <p:cNvSpPr/>
          <p:nvPr/>
        </p:nvSpPr>
        <p:spPr>
          <a:xfrm>
            <a:off x="4709160" y="2331720"/>
            <a:ext cx="4069080" cy="1170432"/>
          </a:xfrm>
          <a:prstGeom prst="rect">
            <a:avLst/>
          </a:prstGeom>
          <a:solidFill>
            <a:srgbClr val="F0FDF4"/>
          </a:solidFill>
          <a:ln w="12700">
            <a:solidFill>
              <a:srgbClr val="86EFAC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2" name="Text 30"/>
          <p:cNvSpPr/>
          <p:nvPr/>
        </p:nvSpPr>
        <p:spPr>
          <a:xfrm>
            <a:off x="4892040" y="2423160"/>
            <a:ext cx="3200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[Deployment Target Label]</a:t>
            </a:r>
            <a:endParaRPr lang="en-US" sz="1200" dirty="0"/>
          </a:p>
        </p:txBody>
      </p:sp>
      <p:sp>
        <p:nvSpPr>
          <p:cNvPr id="33" name="Text 31"/>
          <p:cNvSpPr/>
          <p:nvPr/>
        </p:nvSpPr>
        <p:spPr>
          <a:xfrm>
            <a:off x="4892040" y="2743200"/>
            <a:ext cx="37490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[Hosting environment]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[Containerization or build detail]</a:t>
            </a:r>
            <a:endParaRPr lang="en-US" sz="1000" dirty="0"/>
          </a:p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[Secrets management approach]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365760" y="3657600"/>
            <a:ext cx="8412480" cy="117043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35" name="Text 33"/>
          <p:cNvSpPr/>
          <p:nvPr/>
        </p:nvSpPr>
        <p:spPr>
          <a:xfrm>
            <a:off x="548640" y="3749040"/>
            <a:ext cx="18288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[Branch / Workflow Strategy Label]:</a:t>
            </a:r>
            <a:endParaRPr lang="en-US" sz="1100" dirty="0"/>
          </a:p>
        </p:txBody>
      </p:sp>
      <p:sp>
        <p:nvSpPr>
          <p:cNvPr id="36" name="Text 34"/>
          <p:cNvSpPr/>
          <p:nvPr/>
        </p:nvSpPr>
        <p:spPr>
          <a:xfrm>
            <a:off x="548640" y="4059936"/>
            <a:ext cx="804672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[Describe your branching or workflow strategy in one sentence. e.g. main (protected) → feature branches → PR required → merge after CI green.]</a:t>
            </a:r>
            <a:endParaRPr lang="en-US" sz="10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USER FEEDBACK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Sprint Reviews &amp; Usability Observations]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5" name="Shape 3"/>
          <p:cNvSpPr/>
          <p:nvPr/>
        </p:nvSpPr>
        <p:spPr>
          <a:xfrm>
            <a:off x="365760" y="135331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5669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/ Source 1]</a:t>
            </a:r>
            <a:endParaRPr lang="en-US" sz="1000" dirty="0"/>
          </a:p>
        </p:txBody>
      </p:sp>
      <p:sp>
        <p:nvSpPr>
          <p:cNvPr id="7" name="Text 5"/>
          <p:cNvSpPr/>
          <p:nvPr/>
        </p:nvSpPr>
        <p:spPr>
          <a:xfrm>
            <a:off x="5669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[Feedback observation or quote. What did reviewers notice or say?]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4709160" y="135331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9" name="Shape 7"/>
          <p:cNvSpPr/>
          <p:nvPr/>
        </p:nvSpPr>
        <p:spPr>
          <a:xfrm>
            <a:off x="4709160" y="1353312"/>
            <a:ext cx="109728" cy="1078992"/>
          </a:xfrm>
          <a:prstGeom prst="rect">
            <a:avLst/>
          </a:prstGeom>
          <a:solidFill>
            <a:srgbClr val="F59E0B"/>
          </a:solidFill>
          <a:ln w="12700">
            <a:solidFill>
              <a:srgbClr val="F59E0B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4910328" y="144475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F59E0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/ Source 2]</a:t>
            </a:r>
            <a:endParaRPr lang="en-US" sz="1000" dirty="0"/>
          </a:p>
        </p:txBody>
      </p:sp>
      <p:sp>
        <p:nvSpPr>
          <p:cNvPr id="11" name="Text 9"/>
          <p:cNvSpPr/>
          <p:nvPr/>
        </p:nvSpPr>
        <p:spPr>
          <a:xfrm>
            <a:off x="4910328" y="171907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[Feedback observation or quote. What needed improvement?]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3657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3" name="Shape 11"/>
          <p:cNvSpPr/>
          <p:nvPr/>
        </p:nvSpPr>
        <p:spPr>
          <a:xfrm>
            <a:off x="3657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5669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/ Source 3]</a:t>
            </a:r>
            <a:endParaRPr lang="en-US" sz="1000" dirty="0"/>
          </a:p>
        </p:txBody>
      </p:sp>
      <p:sp>
        <p:nvSpPr>
          <p:cNvPr id="15" name="Text 13"/>
          <p:cNvSpPr/>
          <p:nvPr/>
        </p:nvSpPr>
        <p:spPr>
          <a:xfrm>
            <a:off x="5669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[Feedback observation or quote. Positive finding.]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709160" y="258775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17" name="Shape 15"/>
          <p:cNvSpPr/>
          <p:nvPr/>
        </p:nvSpPr>
        <p:spPr>
          <a:xfrm>
            <a:off x="4709160" y="258775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8" name="Text 16"/>
          <p:cNvSpPr/>
          <p:nvPr/>
        </p:nvSpPr>
        <p:spPr>
          <a:xfrm>
            <a:off x="4910328" y="267919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/ Source 4]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4910328" y="295351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[Feedback observation or quote. Positive finding.]</a:t>
            </a:r>
            <a:endParaRPr lang="en-US" sz="1000" dirty="0"/>
          </a:p>
        </p:txBody>
      </p:sp>
      <p:sp>
        <p:nvSpPr>
          <p:cNvPr id="20" name="Shape 18"/>
          <p:cNvSpPr/>
          <p:nvPr/>
        </p:nvSpPr>
        <p:spPr>
          <a:xfrm>
            <a:off x="3657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1" name="Shape 19"/>
          <p:cNvSpPr/>
          <p:nvPr/>
        </p:nvSpPr>
        <p:spPr>
          <a:xfrm>
            <a:off x="365760" y="3822192"/>
            <a:ext cx="109728" cy="1078992"/>
          </a:xfrm>
          <a:prstGeom prst="rect">
            <a:avLst/>
          </a:prstGeom>
          <a:solidFill>
            <a:srgbClr val="10B981"/>
          </a:solidFill>
          <a:ln w="12700">
            <a:solidFill>
              <a:srgbClr val="10B981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2" name="Text 20"/>
          <p:cNvSpPr/>
          <p:nvPr/>
        </p:nvSpPr>
        <p:spPr>
          <a:xfrm>
            <a:off x="5669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0B98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[Sprint / Source 5]</a:t>
            </a:r>
            <a:endParaRPr lang="en-US" sz="1000" dirty="0"/>
          </a:p>
        </p:txBody>
      </p:sp>
      <p:sp>
        <p:nvSpPr>
          <p:cNvPr id="23" name="Text 21"/>
          <p:cNvSpPr/>
          <p:nvPr/>
        </p:nvSpPr>
        <p:spPr>
          <a:xfrm>
            <a:off x="5669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[Feedback observation or quote. Positive finding.]</a:t>
            </a:r>
            <a:endParaRPr lang="en-US" sz="1000" dirty="0"/>
          </a:p>
        </p:txBody>
      </p:sp>
      <p:sp>
        <p:nvSpPr>
          <p:cNvPr id="24" name="Shape 22"/>
          <p:cNvSpPr/>
          <p:nvPr/>
        </p:nvSpPr>
        <p:spPr>
          <a:xfrm>
            <a:off x="4709160" y="3822192"/>
            <a:ext cx="4114800" cy="1078992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sp>
        <p:nvSpPr>
          <p:cNvPr id="25" name="Shape 23"/>
          <p:cNvSpPr/>
          <p:nvPr/>
        </p:nvSpPr>
        <p:spPr>
          <a:xfrm>
            <a:off x="4709160" y="3822192"/>
            <a:ext cx="109728" cy="1078992"/>
          </a:xfrm>
          <a:prstGeom prst="rect">
            <a:avLst/>
          </a:prstGeom>
          <a:solidFill>
            <a:srgbClr val="1B2B5E"/>
          </a:solidFill>
          <a:ln w="12700">
            <a:solidFill>
              <a:srgbClr val="1B2B5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26" name="Text 24"/>
          <p:cNvSpPr/>
          <p:nvPr/>
        </p:nvSpPr>
        <p:spPr>
          <a:xfrm>
            <a:off x="4910328" y="3913632"/>
            <a:ext cx="32004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[PM / Team Note]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910328" y="4187952"/>
            <a:ext cx="3794760" cy="5943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000" dirty="0">
                <a:solidFill>
                  <a:srgbClr val="374151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[A notable PM or team decision, tradeoff, or process note worth highlighting.]</a:t>
            </a:r>
            <a:endParaRPr lang="en-US" sz="10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4F6FB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164592"/>
            <a:ext cx="822960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FUTURE PLANS</a:t>
            </a:r>
            <a:endParaRPr lang="en-US" sz="900" dirty="0"/>
          </a:p>
        </p:txBody>
      </p:sp>
      <p:sp>
        <p:nvSpPr>
          <p:cNvPr id="3" name="Text 1"/>
          <p:cNvSpPr/>
          <p:nvPr/>
        </p:nvSpPr>
        <p:spPr>
          <a:xfrm>
            <a:off x="457200" y="475488"/>
            <a:ext cx="8229600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2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[Slide Title — e.g. What Would v1.1 Look Like?]</a:t>
            </a:r>
            <a:endParaRPr lang="en-US" sz="3200" dirty="0"/>
          </a:p>
        </p:txBody>
      </p:sp>
      <p:sp>
        <p:nvSpPr>
          <p:cNvPr id="4" name="Shape 2"/>
          <p:cNvSpPr/>
          <p:nvPr/>
        </p:nvSpPr>
        <p:spPr>
          <a:xfrm>
            <a:off x="365760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5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30352" y="1691640"/>
            <a:ext cx="365760" cy="365760"/>
          </a:xfrm>
          <a:prstGeom prst="rect">
            <a:avLst/>
          </a:prstGeom>
        </p:spPr>
      </p:pic>
      <p:sp>
        <p:nvSpPr>
          <p:cNvPr id="6" name="Text 3"/>
          <p:cNvSpPr/>
          <p:nvPr/>
        </p:nvSpPr>
        <p:spPr>
          <a:xfrm>
            <a:off x="987552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[Future Feature 1]</a:t>
            </a:r>
            <a:endParaRPr lang="en-US" sz="1100" dirty="0"/>
          </a:p>
        </p:txBody>
      </p:sp>
      <p:sp>
        <p:nvSpPr>
          <p:cNvPr id="7" name="Text 4"/>
          <p:cNvSpPr/>
          <p:nvPr/>
        </p:nvSpPr>
        <p:spPr>
          <a:xfrm>
            <a:off x="502920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why this was deferred and what it would add.]</a:t>
            </a:r>
            <a:endParaRPr lang="en-US" sz="950" dirty="0"/>
          </a:p>
        </p:txBody>
      </p:sp>
      <p:sp>
        <p:nvSpPr>
          <p:cNvPr id="8" name="Shape 5"/>
          <p:cNvSpPr/>
          <p:nvPr/>
        </p:nvSpPr>
        <p:spPr>
          <a:xfrm>
            <a:off x="3218688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9" name="Image 1" descr="preencoded.png"/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3383280" y="1691640"/>
            <a:ext cx="365760" cy="365760"/>
          </a:xfrm>
          <a:prstGeom prst="rect">
            <a:avLst/>
          </a:prstGeom>
        </p:spPr>
      </p:pic>
      <p:sp>
        <p:nvSpPr>
          <p:cNvPr id="10" name="Text 6"/>
          <p:cNvSpPr/>
          <p:nvPr/>
        </p:nvSpPr>
        <p:spPr>
          <a:xfrm>
            <a:off x="3840480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[Future Feature 2]</a:t>
            </a:r>
            <a:endParaRPr lang="en-US" sz="1100" dirty="0"/>
          </a:p>
        </p:txBody>
      </p:sp>
      <p:sp>
        <p:nvSpPr>
          <p:cNvPr id="11" name="Text 7"/>
          <p:cNvSpPr/>
          <p:nvPr/>
        </p:nvSpPr>
        <p:spPr>
          <a:xfrm>
            <a:off x="3355848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why this was deferred and what it would add.]</a:t>
            </a:r>
            <a:endParaRPr lang="en-US" sz="950" dirty="0"/>
          </a:p>
        </p:txBody>
      </p:sp>
      <p:sp>
        <p:nvSpPr>
          <p:cNvPr id="12" name="Shape 8"/>
          <p:cNvSpPr/>
          <p:nvPr/>
        </p:nvSpPr>
        <p:spPr>
          <a:xfrm>
            <a:off x="6071616" y="1371600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3" name="Image 2" descr="preencoded.png"/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6236208" y="1691640"/>
            <a:ext cx="365760" cy="365760"/>
          </a:xfrm>
          <a:prstGeom prst="rect">
            <a:avLst/>
          </a:prstGeom>
        </p:spPr>
      </p:pic>
      <p:sp>
        <p:nvSpPr>
          <p:cNvPr id="14" name="Text 9"/>
          <p:cNvSpPr/>
          <p:nvPr/>
        </p:nvSpPr>
        <p:spPr>
          <a:xfrm>
            <a:off x="6693408" y="1572768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[Future Feature 3]</a:t>
            </a:r>
            <a:endParaRPr lang="en-US" sz="1100" dirty="0"/>
          </a:p>
        </p:txBody>
      </p:sp>
      <p:sp>
        <p:nvSpPr>
          <p:cNvPr id="15" name="Text 10"/>
          <p:cNvSpPr/>
          <p:nvPr/>
        </p:nvSpPr>
        <p:spPr>
          <a:xfrm>
            <a:off x="6208776" y="2194560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why this was deferred and what it would add.]</a:t>
            </a:r>
            <a:endParaRPr lang="en-US" sz="950" dirty="0"/>
          </a:p>
        </p:txBody>
      </p:sp>
      <p:sp>
        <p:nvSpPr>
          <p:cNvPr id="16" name="Shape 11"/>
          <p:cNvSpPr/>
          <p:nvPr/>
        </p:nvSpPr>
        <p:spPr>
          <a:xfrm>
            <a:off x="365760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17" name="Image 3" descr="preencoded.png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530352" y="3447288"/>
            <a:ext cx="365760" cy="365760"/>
          </a:xfrm>
          <a:prstGeom prst="rect">
            <a:avLst/>
          </a:prstGeom>
        </p:spPr>
      </p:pic>
      <p:sp>
        <p:nvSpPr>
          <p:cNvPr id="18" name="Text 12"/>
          <p:cNvSpPr/>
          <p:nvPr/>
        </p:nvSpPr>
        <p:spPr>
          <a:xfrm>
            <a:off x="987552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[Future Feature 4]</a:t>
            </a:r>
            <a:endParaRPr lang="en-US" sz="1100" dirty="0"/>
          </a:p>
        </p:txBody>
      </p:sp>
      <p:sp>
        <p:nvSpPr>
          <p:cNvPr id="19" name="Text 13"/>
          <p:cNvSpPr/>
          <p:nvPr/>
        </p:nvSpPr>
        <p:spPr>
          <a:xfrm>
            <a:off x="502920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why this was deferred and what it would add.]</a:t>
            </a:r>
            <a:endParaRPr lang="en-US" sz="950" dirty="0"/>
          </a:p>
        </p:txBody>
      </p:sp>
      <p:sp>
        <p:nvSpPr>
          <p:cNvPr id="20" name="Shape 14"/>
          <p:cNvSpPr/>
          <p:nvPr/>
        </p:nvSpPr>
        <p:spPr>
          <a:xfrm>
            <a:off x="3218688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1" name="Image 4" descr="preencoded.png"/>
          <p:cNvPicPr>
            <a:picLocks noChangeAspect="1"/>
          </p:cNvPicPr>
          <p:nvPr/>
        </p:nvPicPr>
        <p:blipFill>
          <a:blip r:embed="rId7"/>
          <a:stretch>
            <a:fillRect/>
          </a:stretch>
        </p:blipFill>
        <p:spPr>
          <a:xfrm>
            <a:off x="3383280" y="3447288"/>
            <a:ext cx="365760" cy="365760"/>
          </a:xfrm>
          <a:prstGeom prst="rect">
            <a:avLst/>
          </a:prstGeom>
        </p:spPr>
      </p:pic>
      <p:sp>
        <p:nvSpPr>
          <p:cNvPr id="22" name="Text 15"/>
          <p:cNvSpPr/>
          <p:nvPr/>
        </p:nvSpPr>
        <p:spPr>
          <a:xfrm>
            <a:off x="3840480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[Future Feature 5]</a:t>
            </a:r>
            <a:endParaRPr lang="en-US" sz="1100" dirty="0"/>
          </a:p>
        </p:txBody>
      </p:sp>
      <p:sp>
        <p:nvSpPr>
          <p:cNvPr id="23" name="Text 16"/>
          <p:cNvSpPr/>
          <p:nvPr/>
        </p:nvSpPr>
        <p:spPr>
          <a:xfrm>
            <a:off x="3355848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why this was deferred and what it would add.]</a:t>
            </a:r>
            <a:endParaRPr lang="en-US" sz="950" dirty="0"/>
          </a:p>
        </p:txBody>
      </p:sp>
      <p:sp>
        <p:nvSpPr>
          <p:cNvPr id="24" name="Shape 17"/>
          <p:cNvSpPr/>
          <p:nvPr/>
        </p:nvSpPr>
        <p:spPr>
          <a:xfrm>
            <a:off x="6071616" y="3127248"/>
            <a:ext cx="2633472" cy="1554480"/>
          </a:xfrm>
          <a:prstGeom prst="rect">
            <a:avLst/>
          </a:prstGeom>
          <a:solidFill>
            <a:srgbClr val="FFFFFF"/>
          </a:solidFill>
          <a:ln w="12700">
            <a:solidFill>
              <a:srgbClr val="E5E7EB"/>
            </a:solidFill>
            <a:prstDash val="solid"/>
          </a:ln>
          <a:effectLst>
            <a:outerShdw blurRad="101600" dist="25400" dir="8100000" algn="bl" rotWithShape="0">
              <a:srgbClr val="000000">
                <a:alpha val="7000"/>
              </a:srgbClr>
            </a:outerShdw>
          </a:effectLst>
        </p:spPr>
        <p:txBody>
          <a:bodyPr/>
          <a:lstStyle/>
          <a:p>
            <a:endParaRPr lang="en-US"/>
          </a:p>
        </p:txBody>
      </p:sp>
      <p:pic>
        <p:nvPicPr>
          <p:cNvPr id="25" name="Image 5" descr="preencoded.png"/>
          <p:cNvPicPr>
            <a:picLocks noChangeAspect="1"/>
          </p:cNvPicPr>
          <p:nvPr/>
        </p:nvPicPr>
        <p:blipFill>
          <a:blip r:embed="rId8"/>
          <a:stretch>
            <a:fillRect/>
          </a:stretch>
        </p:blipFill>
        <p:spPr>
          <a:xfrm>
            <a:off x="6236208" y="3447288"/>
            <a:ext cx="365760" cy="365760"/>
          </a:xfrm>
          <a:prstGeom prst="rect">
            <a:avLst/>
          </a:prstGeom>
        </p:spPr>
      </p:pic>
      <p:sp>
        <p:nvSpPr>
          <p:cNvPr id="26" name="Text 18"/>
          <p:cNvSpPr/>
          <p:nvPr/>
        </p:nvSpPr>
        <p:spPr>
          <a:xfrm>
            <a:off x="6693408" y="3328416"/>
            <a:ext cx="187452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100" b="1" dirty="0">
                <a:solidFill>
                  <a:srgbClr val="1B2B5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[Future Feature 6]</a:t>
            </a:r>
            <a:endParaRPr lang="en-US" sz="1100" dirty="0"/>
          </a:p>
        </p:txBody>
      </p:sp>
      <p:sp>
        <p:nvSpPr>
          <p:cNvPr id="27" name="Text 19"/>
          <p:cNvSpPr/>
          <p:nvPr/>
        </p:nvSpPr>
        <p:spPr>
          <a:xfrm>
            <a:off x="6208776" y="3950208"/>
            <a:ext cx="2377440" cy="62179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95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[One to two sentences describing why this was deferred and what it would add.]</a:t>
            </a:r>
            <a:endParaRPr lang="en-US" sz="95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3" name="Text 1"/>
          <p:cNvSpPr/>
          <p:nvPr/>
        </p:nvSpPr>
        <p:spPr>
          <a:xfrm>
            <a:off x="457200" y="411480"/>
            <a:ext cx="8229600" cy="34747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100" b="1" kern="0" spc="300" dirty="0">
                <a:solidFill>
                  <a:srgbClr val="3BB77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Conclusion</a:t>
            </a:r>
            <a:endParaRPr lang="en-US" sz="1100" dirty="0"/>
          </a:p>
        </p:txBody>
      </p:sp>
      <p:sp>
        <p:nvSpPr>
          <p:cNvPr id="4" name="Text 2"/>
          <p:cNvSpPr/>
          <p:nvPr/>
        </p:nvSpPr>
        <p:spPr>
          <a:xfrm>
            <a:off x="457200" y="822960"/>
            <a:ext cx="8412480" cy="7315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3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What We Built. What We Learned.</a:t>
            </a:r>
            <a:endParaRPr lang="en-US" sz="3800" dirty="0"/>
          </a:p>
        </p:txBody>
      </p:sp>
      <p:sp>
        <p:nvSpPr>
          <p:cNvPr id="5" name="Shape 3"/>
          <p:cNvSpPr/>
          <p:nvPr/>
        </p:nvSpPr>
        <p:spPr>
          <a:xfrm>
            <a:off x="457200" y="1737360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6" name="Text 4"/>
          <p:cNvSpPr/>
          <p:nvPr/>
        </p:nvSpPr>
        <p:spPr>
          <a:xfrm>
            <a:off x="749808" y="1691640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[Closing point 1 — e.g. what you delivered at the highest level]</a:t>
            </a:r>
            <a:endParaRPr lang="en-US" sz="1200" dirty="0"/>
          </a:p>
        </p:txBody>
      </p:sp>
      <p:sp>
        <p:nvSpPr>
          <p:cNvPr id="7" name="Shape 5"/>
          <p:cNvSpPr/>
          <p:nvPr/>
        </p:nvSpPr>
        <p:spPr>
          <a:xfrm>
            <a:off x="457200" y="2304288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8" name="Text 6"/>
          <p:cNvSpPr/>
          <p:nvPr/>
        </p:nvSpPr>
        <p:spPr>
          <a:xfrm>
            <a:off x="749808" y="2258568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[Closing point 2 — e.g. a key engineering or process practice you applied]</a:t>
            </a:r>
            <a:endParaRPr lang="en-US" sz="1200" dirty="0"/>
          </a:p>
        </p:txBody>
      </p:sp>
      <p:sp>
        <p:nvSpPr>
          <p:cNvPr id="9" name="Shape 7"/>
          <p:cNvSpPr/>
          <p:nvPr/>
        </p:nvSpPr>
        <p:spPr>
          <a:xfrm>
            <a:off x="457200" y="2871216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0" name="Text 8"/>
          <p:cNvSpPr/>
          <p:nvPr/>
        </p:nvSpPr>
        <p:spPr>
          <a:xfrm>
            <a:off x="749808" y="2825496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[Closing point 3 — e.g. what your sprint execution model enabled]</a:t>
            </a:r>
            <a:endParaRPr lang="en-US" sz="1200" dirty="0"/>
          </a:p>
        </p:txBody>
      </p:sp>
      <p:sp>
        <p:nvSpPr>
          <p:cNvPr id="11" name="Shape 9"/>
          <p:cNvSpPr/>
          <p:nvPr/>
        </p:nvSpPr>
        <p:spPr>
          <a:xfrm>
            <a:off x="457200" y="3438144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2" name="Text 10"/>
          <p:cNvSpPr/>
          <p:nvPr/>
        </p:nvSpPr>
        <p:spPr>
          <a:xfrm>
            <a:off x="749808" y="3392424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[Closing point 4 — e.g. a hard call you made as a PM or team]</a:t>
            </a:r>
            <a:endParaRPr lang="en-US" sz="1200" dirty="0"/>
          </a:p>
        </p:txBody>
      </p:sp>
      <p:sp>
        <p:nvSpPr>
          <p:cNvPr id="13" name="Shape 11"/>
          <p:cNvSpPr/>
          <p:nvPr/>
        </p:nvSpPr>
        <p:spPr>
          <a:xfrm>
            <a:off x="457200" y="4005072"/>
            <a:ext cx="164592" cy="164592"/>
          </a:xfrm>
          <a:prstGeom prst="ellipse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14" name="Text 12"/>
          <p:cNvSpPr/>
          <p:nvPr/>
        </p:nvSpPr>
        <p:spPr>
          <a:xfrm>
            <a:off x="749808" y="3959352"/>
            <a:ext cx="7772400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[Closing point 5 — e.g. a reflection on what the project meant]</a:t>
            </a:r>
            <a:endParaRPr lang="en-US" sz="1200" dirty="0"/>
          </a:p>
        </p:txBody>
      </p:sp>
      <p:sp>
        <p:nvSpPr>
          <p:cNvPr id="15" name="Text 13"/>
          <p:cNvSpPr/>
          <p:nvPr/>
        </p:nvSpPr>
        <p:spPr>
          <a:xfrm>
            <a:off x="457200" y="4773168"/>
            <a:ext cx="8412480" cy="25603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900" dirty="0">
                <a:solidFill>
                  <a:srgbClr val="64748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[Team Name]  ·  [Course]  ·  [Institution]  ·  [Date]</a:t>
            </a:r>
            <a:endParaRPr lang="en-US" sz="9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1B2B5E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164592" cy="5143500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pic>
        <p:nvPicPr>
          <p:cNvPr id="3" name="Image 0" descr="preencode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58000" y="914400"/>
            <a:ext cx="1645920" cy="1645920"/>
          </a:xfrm>
          <a:prstGeom prst="rect">
            <a:avLst/>
          </a:prstGeom>
        </p:spPr>
      </p:pic>
      <p:sp>
        <p:nvSpPr>
          <p:cNvPr id="4" name="Text 1"/>
          <p:cNvSpPr/>
          <p:nvPr/>
        </p:nvSpPr>
        <p:spPr>
          <a:xfrm>
            <a:off x="457200" y="1371600"/>
            <a:ext cx="6400800" cy="10058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6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Questions?</a:t>
            </a:r>
            <a:endParaRPr lang="en-US" sz="6800" dirty="0"/>
          </a:p>
        </p:txBody>
      </p:sp>
      <p:sp>
        <p:nvSpPr>
          <p:cNvPr id="5" name="Text 2"/>
          <p:cNvSpPr/>
          <p:nvPr/>
        </p:nvSpPr>
        <p:spPr>
          <a:xfrm>
            <a:off x="457200" y="2487168"/>
            <a:ext cx="7315200" cy="5029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600" i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[Optional closing line — e.g. We'd love to walk you through a demo or answer any questions.]</a:t>
            </a:r>
            <a:endParaRPr lang="en-US" sz="1600" dirty="0"/>
          </a:p>
        </p:txBody>
      </p:sp>
      <p:sp>
        <p:nvSpPr>
          <p:cNvPr id="6" name="Shape 3"/>
          <p:cNvSpPr/>
          <p:nvPr/>
        </p:nvSpPr>
        <p:spPr>
          <a:xfrm>
            <a:off x="457200" y="3108960"/>
            <a:ext cx="4114800" cy="36576"/>
          </a:xfrm>
          <a:prstGeom prst="rect">
            <a:avLst/>
          </a:prstGeom>
          <a:solidFill>
            <a:srgbClr val="3BB77E"/>
          </a:solidFill>
          <a:ln w="12700">
            <a:solidFill>
              <a:srgbClr val="3BB77E"/>
            </a:solidFill>
            <a:prstDash val="solid"/>
          </a:ln>
        </p:spPr>
        <p:txBody>
          <a:bodyPr/>
          <a:lstStyle/>
          <a:p>
            <a:endParaRPr lang="en-US"/>
          </a:p>
        </p:txBody>
      </p:sp>
      <p:sp>
        <p:nvSpPr>
          <p:cNvPr id="7" name="Text 4"/>
          <p:cNvSpPr/>
          <p:nvPr/>
        </p:nvSpPr>
        <p:spPr>
          <a:xfrm>
            <a:off x="457200" y="3246120"/>
            <a:ext cx="7772400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marL="0" indent="0" algn="l">
              <a:buNone/>
            </a:pPr>
            <a:r>
              <a:rPr lang="en-US" sz="1200" b="1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Serina Rodriguez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Scrum Master / Project Manager — Team 7</a:t>
            </a:r>
            <a:endParaRPr lang="en-US" sz="1200" dirty="0"/>
          </a:p>
          <a:p>
            <a:pPr marL="0" indent="0" algn="l">
              <a:buNone/>
            </a:pPr>
            <a:r>
              <a:rPr lang="en-US" sz="1200" dirty="0">
                <a:solidFill>
                  <a:srgbClr val="CADCFC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CSC 289.0001 ·  Wake Technical Community College</a:t>
            </a:r>
            <a:endParaRPr lang="en-US" sz="12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12</TotalTime>
  <Words>1431</Words>
  <Application>Microsoft Macintosh PowerPoint</Application>
  <PresentationFormat>On-screen Show (16:9)</PresentationFormat>
  <Paragraphs>204</Paragraphs>
  <Slides>13</Slides>
  <Notes>13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13</vt:i4>
      </vt:variant>
    </vt:vector>
  </HeadingPairs>
  <TitlesOfParts>
    <vt:vector size="17" baseType="lpstr">
      <vt:lpstr>Arial</vt:lpstr>
      <vt:lpstr>Calibri</vt:lpstr>
      <vt:lpstr>Consolas</vt:lpstr>
      <vt:lpstr>Office Theme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  <vt:lpstr>PowerPoint Presentation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Orderly — Presentation Template</dc:title>
  <dc:subject>PptxGenJS Presentation</dc:subject>
  <dc:creator>[Your Name]</dc:creator>
  <cp:lastModifiedBy>Serina Rodriguez</cp:lastModifiedBy>
  <cp:revision>2</cp:revision>
  <dcterms:created xsi:type="dcterms:W3CDTF">2026-04-23T04:42:28Z</dcterms:created>
  <dcterms:modified xsi:type="dcterms:W3CDTF">2026-04-23T04:58:31Z</dcterms:modified>
</cp:coreProperties>
</file>