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9" r:id="rId4"/>
    <p:sldId id="261" r:id="rId5"/>
    <p:sldId id="272" r:id="rId6"/>
    <p:sldId id="273" r:id="rId7"/>
    <p:sldId id="262" r:id="rId8"/>
    <p:sldId id="269" r:id="rId9"/>
    <p:sldId id="270" r:id="rId10"/>
    <p:sldId id="271" r:id="rId11"/>
    <p:sldId id="260" r:id="rId12"/>
    <p:sldId id="264" r:id="rId13"/>
    <p:sldId id="263" r:id="rId14"/>
    <p:sldId id="274" r:id="rId15"/>
    <p:sldId id="265" r:id="rId16"/>
    <p:sldId id="266" r:id="rId17"/>
    <p:sldId id="267" r:id="rId18"/>
    <p:sldId id="268"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1A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61"/>
    <p:restoredTop sz="60000"/>
  </p:normalViewPr>
  <p:slideViewPr>
    <p:cSldViewPr snapToGrid="0" snapToObjects="1">
      <p:cViewPr varScale="1">
        <p:scale>
          <a:sx n="98" d="100"/>
          <a:sy n="98" d="100"/>
        </p:scale>
        <p:origin x="912"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2677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a:t>
            </a:r>
            <a:r>
              <a:rPr lang="en-US" b="1" dirty="0"/>
              <a:t>SERINA</a:t>
            </a:r>
          </a:p>
          <a:p>
            <a:endParaRPr lang="en-US" dirty="0"/>
          </a:p>
          <a:p>
            <a:r>
              <a:rPr lang="en-US" dirty="0"/>
              <a:t>Hello, and welcome.</a:t>
            </a:r>
          </a:p>
          <a:p>
            <a:endParaRPr lang="en-US" dirty="0"/>
          </a:p>
          <a:p>
            <a:r>
              <a:rPr lang="en-US" dirty="0"/>
              <a:t>Today is a big milestone for our team — and we are truly excited to share what we've built.</a:t>
            </a:r>
          </a:p>
          <a:p>
            <a:endParaRPr lang="en-US" dirty="0"/>
          </a:p>
          <a:p>
            <a:r>
              <a:rPr lang="en-US" dirty="0"/>
              <a:t>My name is Serina </a:t>
            </a:r>
          </a:p>
          <a:p>
            <a:r>
              <a:rPr lang="en-US" dirty="0"/>
              <a:t>And I am the Project Manager </a:t>
            </a:r>
            <a:r>
              <a:rPr lang="en-US" b="1" dirty="0"/>
              <a:t>and</a:t>
            </a:r>
            <a:r>
              <a:rPr lang="en-US" dirty="0"/>
              <a:t> Scrum Master for Team 7: a group of six student developers formed together at Wake Tech Community College.</a:t>
            </a:r>
          </a:p>
          <a:p>
            <a:endParaRPr lang="en-US" dirty="0"/>
          </a:p>
          <a:p>
            <a:r>
              <a:rPr lang="en-US" dirty="0"/>
              <a:t>As “PM”, I was the </a:t>
            </a:r>
            <a:r>
              <a:rPr lang="en-US" i="1" dirty="0"/>
              <a:t>main</a:t>
            </a:r>
            <a:r>
              <a:rPr lang="en-US" dirty="0"/>
              <a:t> facilitator for our </a:t>
            </a:r>
            <a:r>
              <a:rPr lang="en-US" b="1" dirty="0"/>
              <a:t>entire</a:t>
            </a:r>
            <a:r>
              <a:rPr lang="en-US" dirty="0"/>
              <a:t> development process </a:t>
            </a:r>
          </a:p>
          <a:p>
            <a:r>
              <a:rPr lang="en-US" dirty="0"/>
              <a:t>— keeping us </a:t>
            </a:r>
            <a:r>
              <a:rPr lang="en-US" i="1" dirty="0"/>
              <a:t>aligned</a:t>
            </a:r>
            <a:r>
              <a:rPr lang="en-US" dirty="0"/>
              <a:t>, </a:t>
            </a:r>
            <a:r>
              <a:rPr lang="en-US" b="1" i="1" dirty="0"/>
              <a:t>moving</a:t>
            </a:r>
            <a:r>
              <a:rPr lang="en-US" dirty="0"/>
              <a:t>, </a:t>
            </a:r>
            <a:r>
              <a:rPr lang="en-US" i="1" dirty="0"/>
              <a:t>and accountable</a:t>
            </a:r>
            <a:r>
              <a:rPr lang="en-US" dirty="0"/>
              <a:t> from the our first planning meeting.. </a:t>
            </a:r>
            <a:r>
              <a:rPr lang="en-US" b="1" i="1" dirty="0"/>
              <a:t>all</a:t>
            </a:r>
            <a:r>
              <a:rPr lang="en-US" i="1" dirty="0"/>
              <a:t> the way </a:t>
            </a:r>
            <a:r>
              <a:rPr lang="en-US" dirty="0"/>
              <a:t>to </a:t>
            </a:r>
            <a:r>
              <a:rPr lang="en-US" b="1" dirty="0"/>
              <a:t>shipping</a:t>
            </a:r>
            <a:r>
              <a:rPr lang="en-US" dirty="0"/>
              <a:t>: version </a:t>
            </a:r>
            <a:r>
              <a:rPr lang="en-US" b="1" dirty="0"/>
              <a:t>1.0.0</a:t>
            </a:r>
            <a:r>
              <a:rPr lang="en-US" dirty="0"/>
              <a:t> this week.</a:t>
            </a:r>
          </a:p>
          <a:p>
            <a:endParaRPr lang="en-US" dirty="0"/>
          </a:p>
          <a:p>
            <a:r>
              <a:rPr lang="en-US" dirty="0"/>
              <a:t>But before I talk about </a:t>
            </a:r>
            <a:r>
              <a:rPr lang="en-US" i="1" dirty="0"/>
              <a:t>how</a:t>
            </a:r>
            <a:r>
              <a:rPr lang="en-US" dirty="0"/>
              <a:t> we built it — let me tell you </a:t>
            </a:r>
            <a:r>
              <a:rPr lang="en-US" i="1" dirty="0"/>
              <a:t>what</a:t>
            </a:r>
            <a:r>
              <a:rPr lang="en-US" dirty="0"/>
              <a:t> we built…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SERINA (continues..)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 READ the room: </a:t>
            </a:r>
          </a:p>
          <a:p>
            <a:r>
              <a:rPr lang="en-US" sz="1200" b="0" i="0" kern="1200" dirty="0">
                <a:solidFill>
                  <a:schemeClr val="tx1"/>
                </a:solidFill>
                <a:effectLst/>
                <a:latin typeface="+mn-lt"/>
                <a:ea typeface="+mn-ea"/>
                <a:cs typeface="+mn-cs"/>
              </a:rPr>
              <a:t>|  “Wait, so before I continue… </a:t>
            </a:r>
          </a:p>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let’s welcome </a:t>
            </a:r>
            <a:r>
              <a:rPr lang="en-US" sz="1200" b="0" i="0" kern="1200" dirty="0">
                <a:solidFill>
                  <a:schemeClr val="tx1"/>
                </a:solidFill>
                <a:effectLst/>
                <a:latin typeface="+mn-lt"/>
                <a:ea typeface="+mn-ea"/>
                <a:cs typeface="+mn-cs"/>
              </a:rPr>
              <a:t>Professor Tabbal </a:t>
            </a:r>
            <a:r>
              <a:rPr lang="en-US" sz="1200" b="1" i="0" kern="1200" dirty="0">
                <a:solidFill>
                  <a:schemeClr val="tx1"/>
                </a:solidFill>
                <a:effectLst/>
                <a:latin typeface="+mn-lt"/>
                <a:ea typeface="+mn-ea"/>
                <a:cs typeface="+mn-cs"/>
              </a:rPr>
              <a:t>and</a:t>
            </a:r>
            <a:r>
              <a:rPr lang="en-US" sz="1200" b="0" i="0" kern="1200" dirty="0">
                <a:solidFill>
                  <a:schemeClr val="tx1"/>
                </a:solidFill>
                <a:effectLst/>
                <a:latin typeface="+mn-lt"/>
                <a:ea typeface="+mn-ea"/>
                <a:cs typeface="+mn-cs"/>
              </a:rPr>
              <a:t> our spectators 😊 </a:t>
            </a:r>
          </a:p>
          <a:p>
            <a:r>
              <a:rPr lang="en-US" sz="1200" b="0" i="0" kern="1200" dirty="0">
                <a:solidFill>
                  <a:schemeClr val="tx1"/>
                </a:solidFill>
                <a:effectLst/>
                <a:latin typeface="+mn-lt"/>
                <a:ea typeface="+mn-ea"/>
                <a:cs typeface="+mn-cs"/>
              </a:rPr>
              <a:t>|  We’re glad to have you here, thank you.”</a:t>
            </a:r>
          </a:p>
          <a:p>
            <a:endParaRPr lang="en-US" sz="1200" b="0" i="0" kern="1200" dirty="0">
              <a:solidFill>
                <a:schemeClr val="tx1"/>
              </a:solidFill>
              <a:effectLst/>
              <a:latin typeface="+mn-lt"/>
              <a:ea typeface="+mn-ea"/>
              <a:cs typeface="+mn-cs"/>
            </a:endParaRPr>
          </a:p>
          <a:p>
            <a:r>
              <a:rPr lang="en-US" dirty="0"/>
              <a:t>So — </a:t>
            </a:r>
            <a:r>
              <a:rPr lang="en-US" b="1" dirty="0"/>
              <a:t>what exactly </a:t>
            </a:r>
            <a:r>
              <a:rPr lang="en-US" b="1" i="1" dirty="0"/>
              <a:t>is…</a:t>
            </a:r>
            <a:r>
              <a:rPr lang="en-US" b="1" dirty="0"/>
              <a:t> </a:t>
            </a:r>
            <a:r>
              <a:rPr lang="en-US" dirty="0"/>
              <a:t>“Orderly”?</a:t>
            </a:r>
          </a:p>
          <a:p>
            <a:endParaRPr lang="en-US" dirty="0"/>
          </a:p>
          <a:p>
            <a:r>
              <a:rPr lang="en-US" dirty="0"/>
              <a:t>At the start of this semester…</a:t>
            </a:r>
          </a:p>
          <a:p>
            <a:r>
              <a:rPr lang="en-US" dirty="0"/>
              <a:t>our class was surveyed, grouped, and handed.. </a:t>
            </a:r>
          </a:p>
          <a:p>
            <a:r>
              <a:rPr lang="en-US" dirty="0"/>
              <a:t>a </a:t>
            </a:r>
            <a:r>
              <a:rPr lang="en-US" b="1" dirty="0"/>
              <a:t>Software Requirements Specification </a:t>
            </a:r>
            <a:r>
              <a:rPr lang="en-US" dirty="0"/>
              <a:t>developed by a </a:t>
            </a:r>
            <a:r>
              <a:rPr lang="en-US" b="1" dirty="0"/>
              <a:t>separate group</a:t>
            </a:r>
            <a:r>
              <a:rPr lang="en-US" b="1" i="1" dirty="0"/>
              <a:t> </a:t>
            </a:r>
            <a:r>
              <a:rPr lang="en-US" i="1" dirty="0"/>
              <a:t>in </a:t>
            </a:r>
            <a:r>
              <a:rPr lang="en-US" b="1" dirty="0"/>
              <a:t>previous semester</a:t>
            </a:r>
            <a:r>
              <a:rPr lang="en-US" dirty="0"/>
              <a:t>. </a:t>
            </a:r>
          </a:p>
          <a:p>
            <a:endParaRPr lang="en-US" dirty="0"/>
          </a:p>
          <a:p>
            <a:r>
              <a:rPr lang="en-US" dirty="0"/>
              <a:t>…Our challenge was simple: </a:t>
            </a:r>
            <a:r>
              <a:rPr lang="en-US" b="1" dirty="0"/>
              <a:t>make it happen</a:t>
            </a:r>
            <a:r>
              <a:rPr lang="en-US" dirty="0"/>
              <a:t>.</a:t>
            </a:r>
          </a:p>
          <a:p>
            <a:endParaRPr lang="en-US" dirty="0"/>
          </a:p>
          <a:p>
            <a:r>
              <a:rPr lang="en-US" dirty="0"/>
              <a:t>What we were handed was a </a:t>
            </a:r>
            <a:r>
              <a:rPr lang="en-US" i="1" dirty="0"/>
              <a:t>vision</a:t>
            </a:r>
            <a:r>
              <a:rPr lang="en-US" dirty="0"/>
              <a:t> for a </a:t>
            </a:r>
            <a:r>
              <a:rPr lang="en-US" b="1" dirty="0"/>
              <a:t>centralized</a:t>
            </a:r>
            <a:r>
              <a:rPr lang="en-US" dirty="0"/>
              <a:t> </a:t>
            </a:r>
            <a:r>
              <a:rPr lang="en-US" i="1" dirty="0"/>
              <a:t>web application </a:t>
            </a:r>
            <a:r>
              <a:rPr lang="en-US" dirty="0"/>
              <a:t>— </a:t>
            </a:r>
          </a:p>
          <a:p>
            <a:r>
              <a:rPr lang="en-US" dirty="0"/>
              <a:t>one designed to solve a </a:t>
            </a:r>
            <a:r>
              <a:rPr lang="en-US" b="1" dirty="0"/>
              <a:t>very real problem </a:t>
            </a:r>
            <a:r>
              <a:rPr lang="en-US" dirty="0"/>
              <a:t>for </a:t>
            </a:r>
            <a:r>
              <a:rPr lang="en-US" i="1" dirty="0"/>
              <a:t>small to mid-sized </a:t>
            </a:r>
            <a:r>
              <a:rPr lang="en-US" dirty="0"/>
              <a:t>businesses. </a:t>
            </a:r>
          </a:p>
          <a:p>
            <a:endParaRPr lang="en-US" dirty="0"/>
          </a:p>
          <a:p>
            <a:r>
              <a:rPr lang="en-US" dirty="0"/>
              <a:t>Business owners were managing orders on paper</a:t>
            </a:r>
            <a:r>
              <a:rPr lang="en-US" b="1" dirty="0"/>
              <a:t>, tracking inventory</a:t>
            </a:r>
            <a:r>
              <a:rPr lang="en-US" dirty="0"/>
              <a:t> in spreadsheets, </a:t>
            </a:r>
            <a:r>
              <a:rPr lang="en-US" b="1" dirty="0"/>
              <a:t>juggling tools </a:t>
            </a:r>
            <a:r>
              <a:rPr lang="en-US" dirty="0"/>
              <a:t>that were NEVER meant to work together.. </a:t>
            </a:r>
          </a:p>
          <a:p>
            <a:endParaRPr lang="en-US" dirty="0"/>
          </a:p>
          <a:p>
            <a:r>
              <a:rPr lang="en-US" dirty="0"/>
              <a:t>.. This meant manual processes.. missed orders.. and </a:t>
            </a:r>
            <a:r>
              <a:rPr lang="en-US" b="1" dirty="0"/>
              <a:t>no</a:t>
            </a:r>
            <a:r>
              <a:rPr lang="en-US" dirty="0"/>
              <a:t> </a:t>
            </a:r>
            <a:r>
              <a:rPr lang="en-US" i="1" dirty="0"/>
              <a:t>real-time</a:t>
            </a:r>
            <a:r>
              <a:rPr lang="en-US" dirty="0"/>
              <a:t> visibility.</a:t>
            </a:r>
          </a:p>
          <a:p>
            <a:endParaRPr lang="en-US" dirty="0"/>
          </a:p>
          <a:p>
            <a:r>
              <a:rPr lang="en-US" b="1" dirty="0"/>
              <a:t>Our job </a:t>
            </a:r>
            <a:r>
              <a:rPr lang="en-US" dirty="0"/>
              <a:t>was to take that vision off the page… </a:t>
            </a:r>
            <a:r>
              <a:rPr lang="en-US" b="1" dirty="0"/>
              <a:t>and then build it</a:t>
            </a:r>
            <a:r>
              <a:rPr lang="en-US" dirty="0"/>
              <a:t>.</a:t>
            </a:r>
          </a:p>
          <a:p>
            <a:endParaRPr lang="en-US" dirty="0"/>
          </a:p>
          <a:p>
            <a:r>
              <a:rPr lang="en-US" b="1" dirty="0"/>
              <a:t>The final result? </a:t>
            </a:r>
          </a:p>
          <a:p>
            <a:r>
              <a:rPr lang="en-US" dirty="0"/>
              <a:t>Our software that stands today.. Orderly. </a:t>
            </a:r>
          </a:p>
          <a:p>
            <a:endParaRPr lang="en-US" dirty="0"/>
          </a:p>
          <a:p>
            <a:r>
              <a:rPr lang="en-US" dirty="0"/>
              <a:t>A </a:t>
            </a:r>
            <a:r>
              <a:rPr lang="en-US" i="1" dirty="0"/>
              <a:t>flexible</a:t>
            </a:r>
            <a:r>
              <a:rPr lang="en-US" dirty="0"/>
              <a:t>, </a:t>
            </a:r>
            <a:r>
              <a:rPr lang="en-US" b="1" dirty="0"/>
              <a:t>self-service..</a:t>
            </a:r>
            <a:r>
              <a:rPr lang="en-US" dirty="0"/>
              <a:t> ordering </a:t>
            </a:r>
            <a:r>
              <a:rPr lang="en-US" b="1" dirty="0"/>
              <a:t>and</a:t>
            </a:r>
            <a:r>
              <a:rPr lang="en-US" dirty="0"/>
              <a:t> business management </a:t>
            </a:r>
            <a:r>
              <a:rPr lang="en-US" b="1" dirty="0"/>
              <a:t>platform</a:t>
            </a:r>
            <a:r>
              <a:rPr lang="en-US" dirty="0"/>
              <a:t> — </a:t>
            </a:r>
          </a:p>
          <a:p>
            <a:r>
              <a:rPr lang="en-US" b="1" dirty="0"/>
              <a:t>With ✨</a:t>
            </a:r>
            <a:r>
              <a:rPr lang="en-US" dirty="0"/>
              <a:t> a </a:t>
            </a:r>
            <a:r>
              <a:rPr lang="en-US" i="1" dirty="0"/>
              <a:t>customer-facing</a:t>
            </a:r>
            <a:r>
              <a:rPr lang="en-US" dirty="0"/>
              <a:t> </a:t>
            </a:r>
            <a:r>
              <a:rPr lang="en-US" b="1" dirty="0"/>
              <a:t>storefront</a:t>
            </a:r>
            <a:r>
              <a:rPr lang="en-US" dirty="0"/>
              <a:t> </a:t>
            </a:r>
            <a:r>
              <a:rPr lang="en-US" i="1" dirty="0"/>
              <a:t>and</a:t>
            </a:r>
            <a:r>
              <a:rPr lang="en-US" dirty="0"/>
              <a:t> a</a:t>
            </a:r>
            <a:r>
              <a:rPr lang="en-US" b="1" dirty="0"/>
              <a:t> full business admin portal… built..</a:t>
            </a:r>
            <a:r>
              <a:rPr lang="en-US" dirty="0"/>
              <a:t> from the </a:t>
            </a:r>
            <a:r>
              <a:rPr lang="en-US" i="1" dirty="0"/>
              <a:t>ground</a:t>
            </a:r>
            <a:r>
              <a:rPr lang="en-US" dirty="0"/>
              <a:t> up..</a:t>
            </a:r>
          </a:p>
          <a:p>
            <a:r>
              <a:rPr lang="en-US" b="1" dirty="0"/>
              <a:t>Across Five</a:t>
            </a:r>
            <a:r>
              <a:rPr lang="en-US" dirty="0"/>
              <a:t> sprints. </a:t>
            </a:r>
          </a:p>
          <a:p>
            <a:r>
              <a:rPr lang="en-US" b="1" dirty="0"/>
              <a:t>Six</a:t>
            </a:r>
            <a:r>
              <a:rPr lang="en-US" dirty="0"/>
              <a:t> team members. </a:t>
            </a:r>
          </a:p>
          <a:p>
            <a:r>
              <a:rPr lang="en-US" dirty="0"/>
              <a:t>And </a:t>
            </a:r>
            <a:r>
              <a:rPr lang="en-US" b="1" dirty="0"/>
              <a:t>over fifteen user </a:t>
            </a:r>
            <a:r>
              <a:rPr lang="en-US" dirty="0"/>
              <a:t>features </a:t>
            </a:r>
            <a:r>
              <a:rPr lang="en-US" b="1" dirty="0"/>
              <a:t>delivered</a:t>
            </a:r>
            <a:r>
              <a:rPr lang="en-US" dirty="0"/>
              <a:t>.</a:t>
            </a:r>
          </a:p>
          <a:p>
            <a:endParaRPr lang="en-US" dirty="0"/>
          </a:p>
          <a:p>
            <a:r>
              <a:rPr lang="en-US" dirty="0"/>
              <a:t>Now, Let me walk you through </a:t>
            </a:r>
            <a:r>
              <a:rPr lang="en-US" i="1" dirty="0"/>
              <a:t>exactly </a:t>
            </a:r>
            <a:r>
              <a:rPr lang="en-US" b="1" dirty="0"/>
              <a:t>how</a:t>
            </a:r>
            <a:r>
              <a:rPr lang="en-US" dirty="0"/>
              <a:t> we got there.</a:t>
            </a:r>
            <a:br>
              <a:rPr lang="en-US" dirty="0"/>
            </a:br>
            <a:br>
              <a:rPr lang="en-US" dirty="0"/>
            </a:br>
            <a:r>
              <a:rPr lang="en-US" dirty="0"/>
              <a:t>-🌿 -- Breathe -- 🍃</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SERINA (continues..)</a:t>
            </a:r>
          </a:p>
          <a:p>
            <a:r>
              <a:rPr lang="en-US" b="1" u="sng" dirty="0"/>
              <a:t>Script</a:t>
            </a:r>
            <a:r>
              <a:rPr lang="en-US" dirty="0"/>
              <a:t>:</a:t>
            </a:r>
          </a:p>
          <a:p>
            <a:endParaRPr lang="en-US" dirty="0"/>
          </a:p>
          <a:p>
            <a:r>
              <a:rPr lang="en-US" dirty="0"/>
              <a:t>Alright. So..</a:t>
            </a:r>
          </a:p>
          <a:p>
            <a:r>
              <a:rPr lang="en-US" dirty="0"/>
              <a:t>We followed an </a:t>
            </a:r>
            <a:r>
              <a:rPr lang="en-US" b="1" dirty="0"/>
              <a:t>Agile Scrum </a:t>
            </a:r>
            <a:r>
              <a:rPr lang="en-US" dirty="0"/>
              <a:t>methodology across </a:t>
            </a:r>
            <a:r>
              <a:rPr lang="en-US" b="1" dirty="0"/>
              <a:t>five</a:t>
            </a:r>
            <a:r>
              <a:rPr lang="en-US" dirty="0"/>
              <a:t> “</a:t>
            </a:r>
            <a:r>
              <a:rPr lang="en-US" i="1" dirty="0"/>
              <a:t>two-week</a:t>
            </a:r>
            <a:r>
              <a:rPr lang="en-US" dirty="0"/>
              <a:t> sprints”.. running from January through April. </a:t>
            </a:r>
          </a:p>
          <a:p>
            <a:endParaRPr lang="en-US" dirty="0"/>
          </a:p>
          <a:p>
            <a:r>
              <a:rPr lang="en-US" dirty="0"/>
              <a:t>Each sprint had a clear focus — </a:t>
            </a:r>
          </a:p>
          <a:p>
            <a:r>
              <a:rPr lang="en-US" dirty="0"/>
              <a:t>we started with Foundation: laying out our software </a:t>
            </a:r>
            <a:r>
              <a:rPr lang="en-US" b="1" dirty="0"/>
              <a:t>architecture</a:t>
            </a:r>
            <a:r>
              <a:rPr lang="en-US" dirty="0"/>
              <a:t>, team </a:t>
            </a:r>
            <a:r>
              <a:rPr lang="en-US" b="1" dirty="0"/>
              <a:t>standards</a:t>
            </a:r>
            <a:r>
              <a:rPr lang="en-US" dirty="0"/>
              <a:t>, and </a:t>
            </a:r>
            <a:r>
              <a:rPr lang="en-US" b="1" dirty="0"/>
              <a:t>development environment</a:t>
            </a:r>
            <a:r>
              <a:rPr lang="en-US" dirty="0"/>
              <a:t>. </a:t>
            </a:r>
          </a:p>
          <a:p>
            <a:endParaRPr lang="en-US" dirty="0"/>
          </a:p>
          <a:p>
            <a:r>
              <a:rPr lang="en-US" dirty="0"/>
              <a:t>From there, we </a:t>
            </a:r>
            <a:r>
              <a:rPr lang="en-US" i="1" dirty="0"/>
              <a:t>built up </a:t>
            </a:r>
            <a:r>
              <a:rPr lang="en-US" dirty="0"/>
              <a:t>our </a:t>
            </a:r>
            <a:r>
              <a:rPr lang="en-US" b="1" dirty="0"/>
              <a:t>data layer… </a:t>
            </a:r>
            <a:r>
              <a:rPr lang="en-US" dirty="0"/>
              <a:t>then our </a:t>
            </a:r>
            <a:r>
              <a:rPr lang="en-US" b="1" dirty="0"/>
              <a:t>engineering backbone</a:t>
            </a:r>
            <a:r>
              <a:rPr lang="en-US" dirty="0"/>
              <a:t>.. then the </a:t>
            </a:r>
            <a:r>
              <a:rPr lang="en-US" b="1" dirty="0"/>
              <a:t>full</a:t>
            </a:r>
            <a:r>
              <a:rPr lang="en-US" dirty="0"/>
              <a:t> customer experience…  and then finally </a:t>
            </a:r>
            <a:r>
              <a:rPr lang="en-US" b="1" dirty="0"/>
              <a:t>the business </a:t>
            </a:r>
            <a:r>
              <a:rPr lang="en-US" dirty="0"/>
              <a:t>admin tools.</a:t>
            </a:r>
          </a:p>
          <a:p>
            <a:endParaRPr lang="en-US" dirty="0"/>
          </a:p>
          <a:p>
            <a:r>
              <a:rPr lang="en-US" dirty="0"/>
              <a:t>The timeline on this slide tells that exact story.</a:t>
            </a:r>
          </a:p>
          <a:p>
            <a:r>
              <a:rPr lang="en-US" dirty="0"/>
              <a:t> </a:t>
            </a:r>
          </a:p>
          <a:p>
            <a:r>
              <a:rPr lang="en-US" dirty="0"/>
              <a:t>You can see.. the </a:t>
            </a:r>
            <a:r>
              <a:rPr lang="en-US" b="1" dirty="0"/>
              <a:t>sprint milestones</a:t>
            </a:r>
            <a:r>
              <a:rPr lang="en-US" dirty="0"/>
              <a:t>, our </a:t>
            </a:r>
            <a:r>
              <a:rPr lang="en-US" b="1" dirty="0"/>
              <a:t>spring break</a:t>
            </a:r>
            <a:r>
              <a:rPr lang="en-US" dirty="0"/>
              <a:t>, and then.. the </a:t>
            </a:r>
            <a:r>
              <a:rPr lang="en-US" b="1" dirty="0"/>
              <a:t>final push </a:t>
            </a:r>
            <a:r>
              <a:rPr lang="en-US" dirty="0"/>
              <a:t>— </a:t>
            </a:r>
          </a:p>
          <a:p>
            <a:r>
              <a:rPr lang="en-US" dirty="0"/>
              <a:t>Which Included a </a:t>
            </a:r>
            <a:r>
              <a:rPr lang="en-US" b="1" dirty="0"/>
              <a:t>hard code freeze </a:t>
            </a:r>
            <a:r>
              <a:rPr lang="en-US" dirty="0"/>
              <a:t>on </a:t>
            </a:r>
            <a:r>
              <a:rPr lang="en-US" i="1" dirty="0"/>
              <a:t>April 24th</a:t>
            </a:r>
            <a:r>
              <a:rPr lang="en-US" dirty="0"/>
              <a:t>, deployment on the 25th, and then… </a:t>
            </a:r>
            <a:r>
              <a:rPr lang="en-US" b="1" dirty="0"/>
              <a:t>here</a:t>
            </a:r>
            <a:r>
              <a:rPr lang="en-US" dirty="0"/>
              <a:t>.. where we stand today.</a:t>
            </a:r>
          </a:p>
          <a:p>
            <a:endParaRPr lang="en-US" dirty="0"/>
          </a:p>
          <a:p>
            <a:r>
              <a:rPr lang="en-US" dirty="0"/>
              <a:t>This was all built across </a:t>
            </a:r>
            <a:r>
              <a:rPr lang="en-US" b="1" dirty="0"/>
              <a:t>Fourteen weeks </a:t>
            </a:r>
            <a:r>
              <a:rPr lang="en-US" dirty="0"/>
              <a:t>where our team held </a:t>
            </a:r>
            <a:r>
              <a:rPr lang="en-US" b="1" dirty="0"/>
              <a:t>Five sprint reviews</a:t>
            </a:r>
            <a:r>
              <a:rPr lang="en-US" dirty="0"/>
              <a:t> </a:t>
            </a:r>
            <a:r>
              <a:rPr lang="en-US" i="1" dirty="0"/>
              <a:t>and five more</a:t>
            </a:r>
            <a:r>
              <a:rPr lang="en-US" dirty="0"/>
              <a:t> </a:t>
            </a:r>
            <a:r>
              <a:rPr lang="en-US" b="1" dirty="0"/>
              <a:t>retrospectives</a:t>
            </a:r>
            <a:r>
              <a:rPr lang="en-US" b="0" dirty="0"/>
              <a:t>, </a:t>
            </a:r>
          </a:p>
          <a:p>
            <a:r>
              <a:rPr lang="en-US" b="0" dirty="0"/>
              <a:t>Where I as PM facilitated</a:t>
            </a:r>
            <a:r>
              <a:rPr lang="en-US" b="1" dirty="0"/>
              <a:t> over </a:t>
            </a:r>
            <a:r>
              <a:rPr lang="en-US" b="0" i="1" dirty="0"/>
              <a:t>thirty</a:t>
            </a:r>
            <a:r>
              <a:rPr lang="en-US" b="1" dirty="0"/>
              <a:t> team meetings </a:t>
            </a:r>
            <a:r>
              <a:rPr lang="en-US" dirty="0"/>
              <a:t>using </a:t>
            </a:r>
            <a:r>
              <a:rPr lang="en-US" b="1" dirty="0"/>
              <a:t>two “</a:t>
            </a:r>
            <a:r>
              <a:rPr lang="en-US" b="0" i="1" dirty="0"/>
              <a:t>Kanban Trello boards</a:t>
            </a:r>
            <a:r>
              <a:rPr lang="en-US" b="0" dirty="0"/>
              <a:t>” that </a:t>
            </a:r>
            <a:r>
              <a:rPr lang="en-US" b="0" i="1" dirty="0"/>
              <a:t>served</a:t>
            </a:r>
            <a:r>
              <a:rPr lang="en-US" b="0" dirty="0"/>
              <a:t> </a:t>
            </a:r>
            <a:r>
              <a:rPr lang="en-US" dirty="0"/>
              <a:t>as our Team’s “process organization”. </a:t>
            </a:r>
            <a:br>
              <a:rPr lang="en-US" dirty="0"/>
            </a:br>
            <a:endParaRPr lang="en-US" dirty="0"/>
          </a:p>
          <a:p>
            <a:r>
              <a:rPr lang="en-US" i="1" dirty="0"/>
              <a:t>Iteratively built</a:t>
            </a:r>
            <a:r>
              <a:rPr lang="en-US" dirty="0"/>
              <a:t>, from the ground up.. All under one </a:t>
            </a:r>
            <a:r>
              <a:rPr lang="en-US" b="1" dirty="0"/>
              <a:t>product development plan.</a:t>
            </a:r>
            <a:br>
              <a:rPr lang="en-US" dirty="0"/>
            </a:br>
            <a:endParaRPr lang="en-US" dirty="0"/>
          </a:p>
          <a:p>
            <a:r>
              <a:rPr lang="en-US" dirty="0"/>
              <a:t>I'll now hand it over to Kim, our Product Owner, </a:t>
            </a:r>
          </a:p>
          <a:p>
            <a:r>
              <a:rPr lang="en-US" dirty="0"/>
              <a:t>to walk you through </a:t>
            </a:r>
            <a:r>
              <a:rPr lang="en-US" b="1" dirty="0"/>
              <a:t>what</a:t>
            </a:r>
            <a:r>
              <a:rPr lang="en-US" dirty="0"/>
              <a:t> we delivered and </a:t>
            </a:r>
            <a:r>
              <a:rPr lang="en-US" b="1" i="1" dirty="0"/>
              <a:t>how </a:t>
            </a:r>
            <a:r>
              <a:rPr lang="en-US" dirty="0"/>
              <a:t>we scoped it all out!</a:t>
            </a:r>
          </a:p>
          <a:p>
            <a:endParaRPr lang="en-US" dirty="0"/>
          </a:p>
          <a:p>
            <a:r>
              <a:rPr lang="en-US" dirty="0"/>
              <a:t>Kim, if you could please 🙂‍↔️</a:t>
            </a:r>
          </a:p>
          <a:p>
            <a:endParaRPr lang="en-US" dirty="0"/>
          </a:p>
          <a:p>
            <a:r>
              <a:rPr lang="en-US" b="1" dirty="0"/>
              <a:t>⏭️ UP NEXT: </a:t>
            </a:r>
            <a:r>
              <a:rPr lang="en-US" dirty="0"/>
              <a:t>KIM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a:p>
            <a:r>
              <a:rPr lang="en-US" dirty="0"/>
              <a:t>Hi…! I’m Kim Mayo. ✨</a:t>
            </a:r>
          </a:p>
          <a:p>
            <a:r>
              <a:rPr lang="en-US" b="1" dirty="0"/>
              <a:t>Product Owner </a:t>
            </a:r>
            <a:r>
              <a:rPr lang="en-US" dirty="0"/>
              <a:t>and </a:t>
            </a:r>
            <a:r>
              <a:rPr lang="en-US" b="1" dirty="0"/>
              <a:t>Full Stack </a:t>
            </a:r>
            <a:r>
              <a:rPr lang="en-US" dirty="0"/>
              <a:t>Developer for </a:t>
            </a:r>
            <a:r>
              <a:rPr lang="en-US" b="1" dirty="0"/>
              <a:t>Orderly</a:t>
            </a:r>
            <a:r>
              <a:rPr lang="en-US" dirty="0"/>
              <a:t>.</a:t>
            </a:r>
          </a:p>
          <a:p>
            <a:endParaRPr lang="en-US" dirty="0"/>
          </a:p>
          <a:p>
            <a:r>
              <a:rPr lang="en-US" dirty="0"/>
              <a:t>.. Let’s take a look at some of the </a:t>
            </a:r>
            <a:r>
              <a:rPr lang="en-US" i="1" dirty="0"/>
              <a:t>key features </a:t>
            </a:r>
            <a:r>
              <a:rPr lang="en-US" dirty="0"/>
              <a:t>that make up its system..</a:t>
            </a:r>
          </a:p>
          <a:p>
            <a:endParaRPr lang="en-US" dirty="0"/>
          </a:p>
          <a:p>
            <a:r>
              <a:rPr lang="en-US" dirty="0"/>
              <a:t>Orderly is designed around </a:t>
            </a:r>
            <a:r>
              <a:rPr lang="en-US" b="1" dirty="0"/>
              <a:t>two</a:t>
            </a:r>
            <a:r>
              <a:rPr lang="en-US" dirty="0"/>
              <a:t> main types of users: </a:t>
            </a:r>
          </a:p>
          <a:p>
            <a:r>
              <a:rPr lang="en-US" b="1" dirty="0"/>
              <a:t>customers</a:t>
            </a:r>
            <a:r>
              <a:rPr lang="en-US" dirty="0"/>
              <a:t> </a:t>
            </a:r>
            <a:r>
              <a:rPr lang="en-US" i="1" dirty="0"/>
              <a:t>and</a:t>
            </a:r>
            <a:r>
              <a:rPr lang="en-US" dirty="0"/>
              <a:t> </a:t>
            </a:r>
            <a:r>
              <a:rPr lang="en-US" b="1" dirty="0"/>
              <a:t>business users</a:t>
            </a:r>
            <a:r>
              <a:rPr lang="en-US" dirty="0"/>
              <a:t>.</a:t>
            </a:r>
          </a:p>
          <a:p>
            <a:endParaRPr lang="en-US" dirty="0"/>
          </a:p>
          <a:p>
            <a:r>
              <a:rPr lang="en-US" dirty="0"/>
              <a:t>Orderly allows customers to </a:t>
            </a:r>
            <a:r>
              <a:rPr lang="en-US" b="1" dirty="0"/>
              <a:t>browse products</a:t>
            </a:r>
            <a:r>
              <a:rPr lang="en-US" dirty="0"/>
              <a:t>, </a:t>
            </a:r>
            <a:r>
              <a:rPr lang="en-US" i="1" dirty="0"/>
              <a:t>customize items</a:t>
            </a:r>
            <a:r>
              <a:rPr lang="en-US" dirty="0"/>
              <a:t>, and </a:t>
            </a:r>
            <a:r>
              <a:rPr lang="en-US" b="1" dirty="0"/>
              <a:t>place orders</a:t>
            </a:r>
            <a:r>
              <a:rPr lang="en-US" dirty="0"/>
              <a:t> with real-time updates.</a:t>
            </a:r>
          </a:p>
          <a:p>
            <a:endParaRPr lang="en-US" dirty="0"/>
          </a:p>
          <a:p>
            <a:r>
              <a:rPr lang="en-US" dirty="0"/>
              <a:t>For business users, we built an </a:t>
            </a:r>
            <a:r>
              <a:rPr lang="en-US" b="1" dirty="0"/>
              <a:t>admin dashboard</a:t>
            </a:r>
            <a:r>
              <a:rPr lang="en-US" dirty="0"/>
              <a:t> that provides a </a:t>
            </a:r>
            <a:r>
              <a:rPr lang="en-US" i="1" dirty="0"/>
              <a:t>centralized view </a:t>
            </a:r>
            <a:r>
              <a:rPr lang="en-US" dirty="0"/>
              <a:t>of the system, with </a:t>
            </a:r>
            <a:r>
              <a:rPr lang="en-US" b="1" dirty="0"/>
              <a:t>role-based access</a:t>
            </a:r>
            <a:r>
              <a:rPr lang="en-US" dirty="0"/>
              <a:t> and </a:t>
            </a:r>
            <a:r>
              <a:rPr lang="en-US" i="1" dirty="0"/>
              <a:t>quick</a:t>
            </a:r>
            <a:r>
              <a:rPr lang="en-US" dirty="0"/>
              <a:t> </a:t>
            </a:r>
            <a:r>
              <a:rPr lang="en-US" b="1" dirty="0"/>
              <a:t>navigation</a:t>
            </a:r>
            <a:r>
              <a:rPr lang="en-US" dirty="0"/>
              <a:t>.</a:t>
            </a:r>
          </a:p>
          <a:p>
            <a:endParaRPr lang="en-US" dirty="0"/>
          </a:p>
          <a:p>
            <a:r>
              <a:rPr lang="en-US" b="1" dirty="0"/>
              <a:t>Admins</a:t>
            </a:r>
            <a:r>
              <a:rPr lang="en-US" dirty="0"/>
              <a:t> can </a:t>
            </a:r>
            <a:r>
              <a:rPr lang="en-US" i="1" dirty="0"/>
              <a:t>manage products</a:t>
            </a:r>
            <a:r>
              <a:rPr lang="en-US" dirty="0"/>
              <a:t>, </a:t>
            </a:r>
            <a:r>
              <a:rPr lang="en-US" b="1" dirty="0"/>
              <a:t>inventory</a:t>
            </a:r>
            <a:r>
              <a:rPr lang="en-US" dirty="0"/>
              <a:t>, </a:t>
            </a:r>
            <a:r>
              <a:rPr lang="en-US" i="1" dirty="0"/>
              <a:t>and..</a:t>
            </a:r>
            <a:r>
              <a:rPr lang="en-US" dirty="0"/>
              <a:t> orders, including </a:t>
            </a:r>
            <a:r>
              <a:rPr lang="en-US" i="1" dirty="0"/>
              <a:t>updating</a:t>
            </a:r>
            <a:r>
              <a:rPr lang="en-US" dirty="0"/>
              <a:t> </a:t>
            </a:r>
            <a:r>
              <a:rPr lang="en-US" b="1" dirty="0"/>
              <a:t>stock levels </a:t>
            </a:r>
            <a:r>
              <a:rPr lang="en-US" dirty="0"/>
              <a:t>and </a:t>
            </a:r>
            <a:r>
              <a:rPr lang="en-US" i="1" dirty="0"/>
              <a:t>tracking</a:t>
            </a:r>
            <a:r>
              <a:rPr lang="en-US" dirty="0"/>
              <a:t> </a:t>
            </a:r>
            <a:r>
              <a:rPr lang="en-US" b="1" dirty="0"/>
              <a:t>order activity</a:t>
            </a:r>
            <a:r>
              <a:rPr lang="en-US" dirty="0"/>
              <a:t>.</a:t>
            </a:r>
          </a:p>
          <a:p>
            <a:endParaRPr lang="en-US" dirty="0"/>
          </a:p>
          <a:p>
            <a:r>
              <a:rPr lang="en-US" dirty="0"/>
              <a:t>We also included a sales dashboard </a:t>
            </a:r>
          </a:p>
          <a:p>
            <a:r>
              <a:rPr lang="en-US" dirty="0"/>
              <a:t>… to provide insights like </a:t>
            </a:r>
            <a:r>
              <a:rPr lang="en-US" b="1" dirty="0"/>
              <a:t>revenue and order trends</a:t>
            </a:r>
            <a:r>
              <a:rPr lang="en-US" dirty="0"/>
              <a:t>, helping to support </a:t>
            </a:r>
            <a:r>
              <a:rPr lang="en-US" b="1" dirty="0"/>
              <a:t>better</a:t>
            </a:r>
            <a:r>
              <a:rPr lang="en-US" dirty="0"/>
              <a:t> </a:t>
            </a:r>
            <a:r>
              <a:rPr lang="en-US" i="1" dirty="0"/>
              <a:t>business decisions ✨</a:t>
            </a:r>
          </a:p>
          <a:p>
            <a:endParaRPr lang="en-US" i="1" dirty="0"/>
          </a:p>
          <a:p>
            <a:endParaRPr lang="en-US" dirty="0"/>
          </a:p>
          <a:p>
            <a:endParaRPr lang="en-US" dirty="0"/>
          </a:p>
          <a:p>
            <a:r>
              <a:rPr lang="en-US" dirty="0"/>
              <a:t>🎬 NEXT  SLIDE.. 😌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EFC71-D3EF-62C9-F514-B1DECA46A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EC32F-F70E-F27D-912B-F0BF686019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C33A61-3977-F9A5-EB8D-E09495503881}"/>
              </a:ext>
            </a:extLst>
          </p:cNvPr>
          <p:cNvSpPr>
            <a:spLocks noGrp="1"/>
          </p:cNvSpPr>
          <p:nvPr>
            <p:ph type="body" idx="1"/>
          </p:nvPr>
        </p:nvSpPr>
        <p:spPr/>
        <p:txBody>
          <a:bodyPr/>
          <a:lstStyle/>
          <a:p>
            <a:endParaRPr lang="en-US" dirty="0"/>
          </a:p>
          <a:p>
            <a:r>
              <a:rPr lang="en-US" sz="1200" kern="1200" dirty="0">
                <a:solidFill>
                  <a:schemeClr val="tx1"/>
                </a:solidFill>
                <a:effectLst/>
                <a:latin typeface="+mn-lt"/>
                <a:ea typeface="+mn-ea"/>
                <a:cs typeface="+mn-cs"/>
              </a:rPr>
              <a:t>Now that we’ve looked at what Orderly does from a </a:t>
            </a:r>
            <a:r>
              <a:rPr lang="en-US" sz="1200" b="1" kern="1200" dirty="0">
                <a:solidFill>
                  <a:schemeClr val="tx1"/>
                </a:solidFill>
                <a:effectLst/>
                <a:latin typeface="+mn-lt"/>
                <a:ea typeface="+mn-ea"/>
                <a:cs typeface="+mn-cs"/>
              </a:rPr>
              <a:t>user perspective</a:t>
            </a:r>
            <a:r>
              <a:rPr lang="en-US" sz="1200" kern="1200" dirty="0">
                <a:solidFill>
                  <a:schemeClr val="tx1"/>
                </a:solidFill>
                <a:effectLst/>
                <a:latin typeface="+mn-lt"/>
                <a:ea typeface="+mn-ea"/>
                <a:cs typeface="+mn-cs"/>
              </a:rPr>
              <a:t>, let’s take a step back and look at the </a:t>
            </a:r>
            <a:r>
              <a:rPr lang="en-US" sz="1200" b="1" kern="1200" dirty="0">
                <a:solidFill>
                  <a:schemeClr val="tx1"/>
                </a:solidFill>
                <a:effectLst/>
                <a:latin typeface="+mn-lt"/>
                <a:ea typeface="+mn-ea"/>
                <a:cs typeface="+mn-cs"/>
              </a:rPr>
              <a:t>overall scope</a:t>
            </a:r>
            <a:r>
              <a:rPr lang="en-US" sz="1200" kern="1200" dirty="0">
                <a:solidFill>
                  <a:schemeClr val="tx1"/>
                </a:solidFill>
                <a:effectLst/>
                <a:latin typeface="+mn-lt"/>
                <a:ea typeface="+mn-ea"/>
                <a:cs typeface="+mn-cs"/>
              </a:rPr>
              <a:t> of the project.</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O</a:t>
            </a:r>
            <a:r>
              <a:rPr lang="en-US" sz="1200" kern="1200" dirty="0">
                <a:solidFill>
                  <a:schemeClr val="tx1"/>
                </a:solidFill>
                <a:effectLst/>
                <a:latin typeface="+mn-lt"/>
                <a:ea typeface="+mn-ea"/>
                <a:cs typeface="+mn-cs"/>
              </a:rPr>
              <a:t>rderly is a </a:t>
            </a:r>
            <a:r>
              <a:rPr lang="en-US" sz="1200" b="1" kern="1200" dirty="0">
                <a:solidFill>
                  <a:schemeClr val="tx1"/>
                </a:solidFill>
                <a:effectLst/>
                <a:latin typeface="+mn-lt"/>
                <a:ea typeface="+mn-ea"/>
                <a:cs typeface="+mn-cs"/>
              </a:rPr>
              <a:t>full-stack</a:t>
            </a:r>
            <a:r>
              <a:rPr lang="en-US" sz="1200" kern="1200" dirty="0">
                <a:solidFill>
                  <a:schemeClr val="tx1"/>
                </a:solidFill>
                <a:effectLst/>
                <a:latin typeface="+mn-lt"/>
                <a:ea typeface="+mn-ea"/>
                <a:cs typeface="+mn-cs"/>
              </a:rPr>
              <a:t> system designed to be </a:t>
            </a:r>
            <a:r>
              <a:rPr lang="en-US" sz="1200" b="1" kern="1200" dirty="0">
                <a:solidFill>
                  <a:schemeClr val="tx1"/>
                </a:solidFill>
                <a:effectLst/>
                <a:latin typeface="+mn-lt"/>
                <a:ea typeface="+mn-ea"/>
                <a:cs typeface="+mn-cs"/>
              </a:rPr>
              <a:t>flexible</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scalable</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e worked across four major epics and delivered over </a:t>
            </a:r>
            <a:r>
              <a:rPr lang="en-US" sz="1200" b="1" kern="1200" dirty="0">
                <a:solidFill>
                  <a:schemeClr val="tx1"/>
                </a:solidFill>
                <a:effectLst/>
                <a:latin typeface="+mn-lt"/>
                <a:ea typeface="+mn-ea"/>
                <a:cs typeface="+mn-cs"/>
              </a:rPr>
              <a:t>25 user stories</a:t>
            </a:r>
            <a:r>
              <a:rPr lang="en-US" sz="1200" kern="1200" dirty="0">
                <a:solidFill>
                  <a:schemeClr val="tx1"/>
                </a:solidFill>
                <a:effectLst/>
                <a:latin typeface="+mn-lt"/>
                <a:ea typeface="+mn-ea"/>
                <a:cs typeface="+mn-cs"/>
              </a:rPr>
              <a:t> supporting both </a:t>
            </a:r>
            <a:r>
              <a:rPr lang="en-US" sz="1200" b="1" kern="1200" dirty="0">
                <a:solidFill>
                  <a:schemeClr val="tx1"/>
                </a:solidFill>
                <a:effectLst/>
                <a:latin typeface="+mn-lt"/>
                <a:ea typeface="+mn-ea"/>
                <a:cs typeface="+mn-cs"/>
              </a:rPr>
              <a:t>customers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business</a:t>
            </a:r>
            <a:r>
              <a:rPr lang="en-US" sz="1200" kern="1200" dirty="0">
                <a:solidFill>
                  <a:schemeClr val="tx1"/>
                </a:solidFill>
                <a:effectLst/>
                <a:latin typeface="+mn-lt"/>
                <a:ea typeface="+mn-ea"/>
                <a:cs typeface="+mn-cs"/>
              </a:rPr>
              <a:t> users.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As a team, we made over </a:t>
            </a:r>
            <a:r>
              <a:rPr lang="en-US" sz="1200" b="1" kern="1200" dirty="0">
                <a:solidFill>
                  <a:schemeClr val="tx1"/>
                </a:solidFill>
                <a:effectLst/>
                <a:latin typeface="+mn-lt"/>
                <a:ea typeface="+mn-ea"/>
                <a:cs typeface="+mn-cs"/>
              </a:rPr>
              <a:t>800 code</a:t>
            </a:r>
            <a:r>
              <a:rPr lang="en-US" sz="1200" kern="1200" dirty="0">
                <a:solidFill>
                  <a:schemeClr val="tx1"/>
                </a:solidFill>
                <a:effectLst/>
                <a:latin typeface="+mn-lt"/>
                <a:ea typeface="+mn-ea"/>
                <a:cs typeface="+mn-cs"/>
              </a:rPr>
              <a:t> commits, reflecting strong </a:t>
            </a:r>
            <a:r>
              <a:rPr lang="en-US" sz="1200" b="1" kern="1200" dirty="0">
                <a:solidFill>
                  <a:schemeClr val="tx1"/>
                </a:solidFill>
                <a:effectLst/>
                <a:latin typeface="+mn-lt"/>
                <a:ea typeface="+mn-ea"/>
                <a:cs typeface="+mn-cs"/>
              </a:rPr>
              <a:t>collaboration</a:t>
            </a:r>
            <a:r>
              <a:rPr lang="en-US" sz="1200" kern="1200" dirty="0">
                <a:solidFill>
                  <a:schemeClr val="tx1"/>
                </a:solidFill>
                <a:effectLst/>
                <a:latin typeface="+mn-lt"/>
                <a:ea typeface="+mn-ea"/>
                <a:cs typeface="+mn-cs"/>
              </a:rPr>
              <a:t> throughout the project.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also developed over </a:t>
            </a:r>
            <a:r>
              <a:rPr lang="en-US" sz="1200" b="1" kern="1200" dirty="0">
                <a:solidFill>
                  <a:schemeClr val="tx1"/>
                </a:solidFill>
                <a:effectLst/>
                <a:latin typeface="+mn-lt"/>
                <a:ea typeface="+mn-ea"/>
                <a:cs typeface="+mn-cs"/>
              </a:rPr>
              <a:t>50 API endpoints</a:t>
            </a:r>
            <a:r>
              <a:rPr lang="en-US" sz="1200" kern="1200" dirty="0">
                <a:solidFill>
                  <a:schemeClr val="tx1"/>
                </a:solidFill>
                <a:effectLst/>
                <a:latin typeface="+mn-lt"/>
                <a:ea typeface="+mn-ea"/>
                <a:cs typeface="+mn-cs"/>
              </a:rPr>
              <a:t> and supported them with </a:t>
            </a:r>
            <a:r>
              <a:rPr lang="en-US" sz="1200" b="1" kern="1200" dirty="0">
                <a:solidFill>
                  <a:schemeClr val="tx1"/>
                </a:solidFill>
                <a:effectLst/>
                <a:latin typeface="+mn-lt"/>
                <a:ea typeface="+mn-ea"/>
                <a:cs typeface="+mn-cs"/>
              </a:rPr>
              <a:t>automated testing</a:t>
            </a:r>
            <a:r>
              <a:rPr lang="en-US" sz="1200" kern="1200" dirty="0">
                <a:solidFill>
                  <a:schemeClr val="tx1"/>
                </a:solidFill>
                <a:effectLst/>
                <a:latin typeface="+mn-lt"/>
                <a:ea typeface="+mn-ea"/>
                <a:cs typeface="+mn-cs"/>
              </a:rPr>
              <a:t> to ensure </a:t>
            </a:r>
            <a:r>
              <a:rPr lang="en-US" sz="1200" b="1" kern="1200" dirty="0">
                <a:solidFill>
                  <a:schemeClr val="tx1"/>
                </a:solidFill>
                <a:effectLst/>
                <a:latin typeface="+mn-lt"/>
                <a:ea typeface="+mn-ea"/>
                <a:cs typeface="+mn-cs"/>
              </a:rPr>
              <a:t>system reliability</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Finally, we maintained a living </a:t>
            </a:r>
            <a:r>
              <a:rPr lang="en-US" sz="1200" b="1" kern="1200" dirty="0">
                <a:solidFill>
                  <a:schemeClr val="tx1"/>
                </a:solidFill>
                <a:effectLst/>
                <a:latin typeface="+mn-lt"/>
                <a:ea typeface="+mn-ea"/>
                <a:cs typeface="+mn-cs"/>
              </a:rPr>
              <a:t>backlog</a:t>
            </a:r>
            <a:r>
              <a:rPr lang="en-US" sz="1200" kern="1200" dirty="0">
                <a:solidFill>
                  <a:schemeClr val="tx1"/>
                </a:solidFill>
                <a:effectLst/>
                <a:latin typeface="+mn-lt"/>
                <a:ea typeface="+mn-ea"/>
                <a:cs typeface="+mn-cs"/>
              </a:rPr>
              <a:t> to keep </a:t>
            </a:r>
            <a:r>
              <a:rPr lang="en-US" sz="1200" b="1" kern="1200" dirty="0">
                <a:solidFill>
                  <a:schemeClr val="tx1"/>
                </a:solidFill>
                <a:effectLst/>
                <a:latin typeface="+mn-lt"/>
                <a:ea typeface="+mn-ea"/>
                <a:cs typeface="+mn-cs"/>
              </a:rPr>
              <a:t>development align</a:t>
            </a:r>
            <a:r>
              <a:rPr lang="en-US" sz="1200" kern="1200" dirty="0">
                <a:solidFill>
                  <a:schemeClr val="tx1"/>
                </a:solidFill>
                <a:effectLst/>
                <a:latin typeface="+mn-lt"/>
                <a:ea typeface="+mn-ea"/>
                <a:cs typeface="+mn-cs"/>
              </a:rPr>
              <a:t>ed and up to date.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a:p>
            <a:endParaRPr lang="en-US" dirty="0"/>
          </a:p>
        </p:txBody>
      </p:sp>
      <p:sp>
        <p:nvSpPr>
          <p:cNvPr id="4" name="Slide Number Placeholder 3">
            <a:extLst>
              <a:ext uri="{FF2B5EF4-FFF2-40B4-BE49-F238E27FC236}">
                <a16:creationId xmlns:a16="http://schemas.microsoft.com/office/drawing/2014/main" id="{35C08A93-D3B1-553D-59F7-C75B65EB15E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554595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697F1-FF6F-4CDB-30EF-033C349BC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1898E-722F-11D0-8A99-9047D15CD2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E28768-93E5-C1DD-D817-9A47E54D9034}"/>
              </a:ext>
            </a:extLst>
          </p:cNvPr>
          <p:cNvSpPr>
            <a:spLocks noGrp="1"/>
          </p:cNvSpPr>
          <p:nvPr>
            <p:ph type="body" idx="1"/>
          </p:nvPr>
        </p:nvSpPr>
        <p:spPr/>
        <p:txBody>
          <a:bodyPr/>
          <a:lstStyle/>
          <a:p>
            <a:endParaRPr lang="en-US" b="0" dirty="0"/>
          </a:p>
          <a:p>
            <a:r>
              <a:rPr lang="en-US" sz="1200" kern="1200" dirty="0">
                <a:solidFill>
                  <a:schemeClr val="tx1"/>
                </a:solidFill>
                <a:effectLst/>
                <a:latin typeface="+mn-lt"/>
                <a:ea typeface="+mn-ea"/>
                <a:cs typeface="+mn-cs"/>
              </a:rPr>
              <a:t>To make all of that possible, we had to be </a:t>
            </a:r>
            <a:r>
              <a:rPr lang="en-US" sz="1200" b="1" kern="1200" dirty="0">
                <a:solidFill>
                  <a:schemeClr val="tx1"/>
                </a:solidFill>
                <a:effectLst/>
                <a:latin typeface="+mn-lt"/>
                <a:ea typeface="+mn-ea"/>
                <a:cs typeface="+mn-cs"/>
              </a:rPr>
              <a:t>very intentional</a:t>
            </a:r>
            <a:r>
              <a:rPr lang="en-US" sz="1200" kern="1200" dirty="0">
                <a:solidFill>
                  <a:schemeClr val="tx1"/>
                </a:solidFill>
                <a:effectLst/>
                <a:latin typeface="+mn-lt"/>
                <a:ea typeface="+mn-ea"/>
                <a:cs typeface="+mn-cs"/>
              </a:rPr>
              <a:t> about how we managed </a:t>
            </a:r>
            <a:r>
              <a:rPr lang="en-US" sz="1200" b="1" kern="1200" dirty="0">
                <a:solidFill>
                  <a:schemeClr val="tx1"/>
                </a:solidFill>
                <a:effectLst/>
                <a:latin typeface="+mn-lt"/>
                <a:ea typeface="+mn-ea"/>
                <a:cs typeface="+mn-cs"/>
              </a:rPr>
              <a:t>scope</a:t>
            </a:r>
            <a:r>
              <a:rPr lang="en-US" sz="1200" kern="1200" dirty="0">
                <a:solidFill>
                  <a:schemeClr val="tx1"/>
                </a:solidFill>
                <a:effectLst/>
                <a:latin typeface="+mn-lt"/>
                <a:ea typeface="+mn-ea"/>
                <a:cs typeface="+mn-cs"/>
              </a:rPr>
              <a:t> and made </a:t>
            </a:r>
            <a:r>
              <a:rPr lang="en-US" sz="1200" b="1" kern="1200" dirty="0">
                <a:solidFill>
                  <a:schemeClr val="tx1"/>
                </a:solidFill>
                <a:effectLst/>
                <a:latin typeface="+mn-lt"/>
                <a:ea typeface="+mn-ea"/>
                <a:cs typeface="+mn-cs"/>
              </a:rPr>
              <a:t>product decisions</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kept the project </a:t>
            </a:r>
            <a:r>
              <a:rPr lang="en-US" sz="1200" b="1" kern="1200" dirty="0">
                <a:solidFill>
                  <a:schemeClr val="tx1"/>
                </a:solidFill>
                <a:effectLst/>
                <a:latin typeface="+mn-lt"/>
                <a:ea typeface="+mn-ea"/>
                <a:cs typeface="+mn-cs"/>
              </a:rPr>
              <a:t>focused</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deliverable</a:t>
            </a:r>
            <a:r>
              <a:rPr lang="en-US" sz="1200" kern="1200" dirty="0">
                <a:solidFill>
                  <a:schemeClr val="tx1"/>
                </a:solidFill>
                <a:effectLst/>
                <a:latin typeface="+mn-lt"/>
                <a:ea typeface="+mn-ea"/>
                <a:cs typeface="+mn-cs"/>
              </a:rPr>
              <a:t> throughout development.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used </a:t>
            </a:r>
            <a:r>
              <a:rPr lang="en-US" sz="1200" b="1" kern="1200" dirty="0">
                <a:solidFill>
                  <a:schemeClr val="tx1"/>
                </a:solidFill>
                <a:effectLst/>
                <a:latin typeface="+mn-lt"/>
                <a:ea typeface="+mn-ea"/>
                <a:cs typeface="+mn-cs"/>
              </a:rPr>
              <a:t>Moscow</a:t>
            </a:r>
            <a:r>
              <a:rPr lang="en-US" sz="1200" kern="1200" dirty="0">
                <a:solidFill>
                  <a:schemeClr val="tx1"/>
                </a:solidFill>
                <a:effectLst/>
                <a:latin typeface="+mn-lt"/>
                <a:ea typeface="+mn-ea"/>
                <a:cs typeface="+mn-cs"/>
              </a:rPr>
              <a:t> to ensure </a:t>
            </a:r>
            <a:r>
              <a:rPr lang="en-US" sz="1200" b="1" kern="1200" dirty="0">
                <a:solidFill>
                  <a:schemeClr val="tx1"/>
                </a:solidFill>
                <a:effectLst/>
                <a:latin typeface="+mn-lt"/>
                <a:ea typeface="+mn-ea"/>
                <a:cs typeface="+mn-cs"/>
              </a:rPr>
              <a:t>critical features</a:t>
            </a:r>
            <a:r>
              <a:rPr lang="en-US" sz="1200" kern="1200" dirty="0">
                <a:solidFill>
                  <a:schemeClr val="tx1"/>
                </a:solidFill>
                <a:effectLst/>
                <a:latin typeface="+mn-lt"/>
                <a:ea typeface="+mn-ea"/>
                <a:cs typeface="+mn-cs"/>
              </a:rPr>
              <a:t> were completed </a:t>
            </a:r>
            <a:r>
              <a:rPr lang="en-US" sz="1200" b="1" kern="1200" dirty="0">
                <a:solidFill>
                  <a:schemeClr val="tx1"/>
                </a:solidFill>
                <a:effectLst/>
                <a:latin typeface="+mn-lt"/>
                <a:ea typeface="+mn-ea"/>
                <a:cs typeface="+mn-cs"/>
              </a:rPr>
              <a:t>first</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also followed a </a:t>
            </a:r>
            <a:r>
              <a:rPr lang="en-US" sz="1200" b="1" kern="1200" dirty="0">
                <a:solidFill>
                  <a:schemeClr val="tx1"/>
                </a:solidFill>
                <a:effectLst/>
                <a:latin typeface="+mn-lt"/>
                <a:ea typeface="+mn-ea"/>
                <a:cs typeface="+mn-cs"/>
              </a:rPr>
              <a:t>wave-based</a:t>
            </a:r>
            <a:r>
              <a:rPr lang="en-US" sz="1200" kern="1200" dirty="0">
                <a:solidFill>
                  <a:schemeClr val="tx1"/>
                </a:solidFill>
                <a:effectLst/>
                <a:latin typeface="+mn-lt"/>
                <a:ea typeface="+mn-ea"/>
                <a:cs typeface="+mn-cs"/>
              </a:rPr>
              <a:t> approach, completing </a:t>
            </a:r>
            <a:r>
              <a:rPr lang="en-US" sz="1200" b="1" kern="1200" dirty="0">
                <a:solidFill>
                  <a:schemeClr val="tx1"/>
                </a:solidFill>
                <a:effectLst/>
                <a:latin typeface="+mn-lt"/>
                <a:ea typeface="+mn-ea"/>
                <a:cs typeface="+mn-cs"/>
              </a:rPr>
              <a:t>backend APIs</a:t>
            </a:r>
            <a:r>
              <a:rPr lang="en-US" sz="1200" kern="1200" dirty="0">
                <a:solidFill>
                  <a:schemeClr val="tx1"/>
                </a:solidFill>
                <a:effectLst/>
                <a:latin typeface="+mn-lt"/>
                <a:ea typeface="+mn-ea"/>
                <a:cs typeface="+mn-cs"/>
              </a:rPr>
              <a:t> before </a:t>
            </a:r>
            <a:r>
              <a:rPr lang="en-US" sz="1200" b="1" kern="1200" dirty="0">
                <a:solidFill>
                  <a:schemeClr val="tx1"/>
                </a:solidFill>
                <a:effectLst/>
                <a:latin typeface="+mn-lt"/>
                <a:ea typeface="+mn-ea"/>
                <a:cs typeface="+mn-cs"/>
              </a:rPr>
              <a:t>frontend</a:t>
            </a:r>
            <a:r>
              <a:rPr lang="en-US" sz="1200" kern="1200" dirty="0">
                <a:solidFill>
                  <a:schemeClr val="tx1"/>
                </a:solidFill>
                <a:effectLst/>
                <a:latin typeface="+mn-lt"/>
                <a:ea typeface="+mn-ea"/>
                <a:cs typeface="+mn-cs"/>
              </a:rPr>
              <a:t> integration to reduce </a:t>
            </a:r>
            <a:r>
              <a:rPr lang="en-US" sz="1200" b="1" kern="1200" dirty="0">
                <a:solidFill>
                  <a:schemeClr val="tx1"/>
                </a:solidFill>
                <a:effectLst/>
                <a:latin typeface="+mn-lt"/>
                <a:ea typeface="+mn-ea"/>
                <a:cs typeface="+mn-cs"/>
              </a:rPr>
              <a:t>blockers</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made sure every </a:t>
            </a:r>
            <a:r>
              <a:rPr lang="en-US" sz="1200" b="1" kern="1200" dirty="0">
                <a:solidFill>
                  <a:schemeClr val="tx1"/>
                </a:solidFill>
                <a:effectLst/>
                <a:latin typeface="+mn-lt"/>
                <a:ea typeface="+mn-ea"/>
                <a:cs typeface="+mn-cs"/>
              </a:rPr>
              <a:t>feature</a:t>
            </a:r>
            <a:r>
              <a:rPr lang="en-US" sz="1200" kern="1200" dirty="0">
                <a:solidFill>
                  <a:schemeClr val="tx1"/>
                </a:solidFill>
                <a:effectLst/>
                <a:latin typeface="+mn-lt"/>
                <a:ea typeface="+mn-ea"/>
                <a:cs typeface="+mn-cs"/>
              </a:rPr>
              <a:t> had clear </a:t>
            </a:r>
            <a:r>
              <a:rPr lang="en-US" sz="1200" b="1" kern="1200" dirty="0">
                <a:solidFill>
                  <a:schemeClr val="tx1"/>
                </a:solidFill>
                <a:effectLst/>
                <a:latin typeface="+mn-lt"/>
                <a:ea typeface="+mn-ea"/>
                <a:cs typeface="+mn-cs"/>
              </a:rPr>
              <a:t>requirements</a:t>
            </a:r>
            <a:r>
              <a:rPr lang="en-US" sz="1200" kern="1200" dirty="0">
                <a:solidFill>
                  <a:schemeClr val="tx1"/>
                </a:solidFill>
                <a:effectLst/>
                <a:latin typeface="+mn-lt"/>
                <a:ea typeface="+mn-ea"/>
                <a:cs typeface="+mn-cs"/>
              </a:rPr>
              <a:t> before </a:t>
            </a:r>
            <a:r>
              <a:rPr lang="en-US" sz="1200" b="1" kern="1200" dirty="0">
                <a:solidFill>
                  <a:schemeClr val="tx1"/>
                </a:solidFill>
                <a:effectLst/>
                <a:latin typeface="+mn-lt"/>
                <a:ea typeface="+mn-ea"/>
                <a:cs typeface="+mn-cs"/>
              </a:rPr>
              <a:t>development</a:t>
            </a:r>
            <a:r>
              <a:rPr lang="en-US" sz="1200" kern="1200" dirty="0">
                <a:solidFill>
                  <a:schemeClr val="tx1"/>
                </a:solidFill>
                <a:effectLst/>
                <a:latin typeface="+mn-lt"/>
                <a:ea typeface="+mn-ea"/>
                <a:cs typeface="+mn-cs"/>
              </a:rPr>
              <a:t> began.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These decisions helped us stay </a:t>
            </a:r>
            <a:r>
              <a:rPr lang="en-US" sz="1200" b="1" kern="1200" dirty="0">
                <a:solidFill>
                  <a:schemeClr val="tx1"/>
                </a:solidFill>
                <a:effectLst/>
                <a:latin typeface="+mn-lt"/>
                <a:ea typeface="+mn-ea"/>
                <a:cs typeface="+mn-cs"/>
              </a:rPr>
              <a:t>organized</a:t>
            </a:r>
            <a:r>
              <a:rPr lang="en-US" sz="1200" kern="1200" dirty="0">
                <a:solidFill>
                  <a:schemeClr val="tx1"/>
                </a:solidFill>
                <a:effectLst/>
                <a:latin typeface="+mn-lt"/>
                <a:ea typeface="+mn-ea"/>
                <a:cs typeface="+mn-cs"/>
              </a:rPr>
              <a:t> and deliver a </a:t>
            </a:r>
            <a:r>
              <a:rPr lang="en-US" sz="1200" b="1" kern="1200" dirty="0">
                <a:solidFill>
                  <a:schemeClr val="tx1"/>
                </a:solidFill>
                <a:effectLst/>
                <a:latin typeface="+mn-lt"/>
                <a:ea typeface="+mn-ea"/>
                <a:cs typeface="+mn-cs"/>
              </a:rPr>
              <a:t>complete system</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a:p>
            <a:endParaRPr lang="en-US" b="1" dirty="0"/>
          </a:p>
        </p:txBody>
      </p:sp>
      <p:sp>
        <p:nvSpPr>
          <p:cNvPr id="4" name="Slide Number Placeholder 3">
            <a:extLst>
              <a:ext uri="{FF2B5EF4-FFF2-40B4-BE49-F238E27FC236}">
                <a16:creationId xmlns:a16="http://schemas.microsoft.com/office/drawing/2014/main" id="{08CE45D6-9F3E-D6F6-C871-6BF3A3BF1AB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60731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b="1" dirty="0"/>
          </a:p>
          <a:p>
            <a:r>
              <a:rPr lang="en-US" sz="1200" kern="1200" dirty="0">
                <a:solidFill>
                  <a:schemeClr val="tx1"/>
                </a:solidFill>
                <a:effectLst/>
                <a:latin typeface="+mn-lt"/>
                <a:ea typeface="+mn-ea"/>
                <a:cs typeface="+mn-cs"/>
              </a:rPr>
              <a:t>Beyond </a:t>
            </a:r>
            <a:r>
              <a:rPr lang="en-US" sz="1200" b="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we built the system, we also want to </a:t>
            </a:r>
            <a:r>
              <a:rPr lang="en-US" sz="1200" b="1" kern="1200" dirty="0">
                <a:solidFill>
                  <a:schemeClr val="tx1"/>
                </a:solidFill>
                <a:effectLst/>
                <a:latin typeface="+mn-lt"/>
                <a:ea typeface="+mn-ea"/>
                <a:cs typeface="+mn-cs"/>
              </a:rPr>
              <a:t>highlight</a:t>
            </a:r>
            <a:r>
              <a:rPr lang="en-US" sz="1200" kern="1200" dirty="0">
                <a:solidFill>
                  <a:schemeClr val="tx1"/>
                </a:solidFill>
                <a:effectLst/>
                <a:latin typeface="+mn-lt"/>
                <a:ea typeface="+mn-ea"/>
                <a:cs typeface="+mn-cs"/>
              </a:rPr>
              <a:t> how we </a:t>
            </a:r>
            <a:r>
              <a:rPr lang="en-US" sz="1200" b="1" kern="1200" dirty="0">
                <a:solidFill>
                  <a:schemeClr val="tx1"/>
                </a:solidFill>
                <a:effectLst/>
                <a:latin typeface="+mn-lt"/>
                <a:ea typeface="+mn-ea"/>
                <a:cs typeface="+mn-cs"/>
              </a:rPr>
              <a:t>worked</a:t>
            </a:r>
            <a:r>
              <a:rPr lang="en-US" sz="1200" kern="1200" dirty="0">
                <a:solidFill>
                  <a:schemeClr val="tx1"/>
                </a:solidFill>
                <a:effectLst/>
                <a:latin typeface="+mn-lt"/>
                <a:ea typeface="+mn-ea"/>
                <a:cs typeface="+mn-cs"/>
              </a:rPr>
              <a:t> as a </a:t>
            </a:r>
            <a:r>
              <a:rPr lang="en-US" sz="1200" b="1" kern="1200" dirty="0">
                <a:solidFill>
                  <a:schemeClr val="tx1"/>
                </a:solidFill>
                <a:effectLst/>
                <a:latin typeface="+mn-lt"/>
                <a:ea typeface="+mn-ea"/>
                <a:cs typeface="+mn-cs"/>
              </a:rPr>
              <a:t>team</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One of our biggest </a:t>
            </a:r>
            <a:r>
              <a:rPr lang="en-US" sz="1200" b="1" kern="1200" dirty="0">
                <a:solidFill>
                  <a:schemeClr val="tx1"/>
                </a:solidFill>
                <a:effectLst/>
                <a:latin typeface="+mn-lt"/>
                <a:ea typeface="+mn-ea"/>
                <a:cs typeface="+mn-cs"/>
              </a:rPr>
              <a:t>strengths</a:t>
            </a:r>
            <a:r>
              <a:rPr lang="en-US" sz="1200" kern="1200" dirty="0">
                <a:solidFill>
                  <a:schemeClr val="tx1"/>
                </a:solidFill>
                <a:effectLst/>
                <a:latin typeface="+mn-lt"/>
                <a:ea typeface="+mn-ea"/>
                <a:cs typeface="+mn-cs"/>
              </a:rPr>
              <a:t> was maintaining a </a:t>
            </a:r>
            <a:r>
              <a:rPr lang="en-US" sz="1200" b="1" kern="1200" dirty="0">
                <a:solidFill>
                  <a:schemeClr val="tx1"/>
                </a:solidFill>
                <a:effectLst/>
                <a:latin typeface="+mn-lt"/>
                <a:ea typeface="+mn-ea"/>
                <a:cs typeface="+mn-cs"/>
              </a:rPr>
              <a:t>clear API contract</a:t>
            </a:r>
            <a:r>
              <a:rPr lang="en-US" sz="1200" kern="1200" dirty="0">
                <a:solidFill>
                  <a:schemeClr val="tx1"/>
                </a:solidFill>
                <a:effectLst/>
                <a:latin typeface="+mn-lt"/>
                <a:ea typeface="+mn-ea"/>
                <a:cs typeface="+mn-cs"/>
              </a:rPr>
              <a:t>, which kept the frontend and backend </a:t>
            </a:r>
            <a:r>
              <a:rPr lang="en-US" sz="1200" b="1" kern="1200" dirty="0">
                <a:solidFill>
                  <a:schemeClr val="tx1"/>
                </a:solidFill>
                <a:effectLst/>
                <a:latin typeface="+mn-lt"/>
                <a:ea typeface="+mn-ea"/>
                <a:cs typeface="+mn-cs"/>
              </a:rPr>
              <a:t>aligned</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also followed strong development </a:t>
            </a:r>
            <a:r>
              <a:rPr lang="en-US" sz="1200" b="1" kern="1200" dirty="0">
                <a:solidFill>
                  <a:schemeClr val="tx1"/>
                </a:solidFill>
                <a:effectLst/>
                <a:latin typeface="+mn-lt"/>
                <a:ea typeface="+mn-ea"/>
                <a:cs typeface="+mn-cs"/>
              </a:rPr>
              <a:t>practices</a:t>
            </a:r>
            <a:r>
              <a:rPr lang="en-US" sz="1200" kern="1200" dirty="0">
                <a:solidFill>
                  <a:schemeClr val="tx1"/>
                </a:solidFill>
                <a:effectLst/>
                <a:latin typeface="+mn-lt"/>
                <a:ea typeface="+mn-ea"/>
                <a:cs typeface="+mn-cs"/>
              </a:rPr>
              <a:t>, including </a:t>
            </a:r>
            <a:r>
              <a:rPr lang="en-US" sz="1200" b="1" kern="1200" dirty="0">
                <a:solidFill>
                  <a:schemeClr val="tx1"/>
                </a:solidFill>
                <a:effectLst/>
                <a:latin typeface="+mn-lt"/>
                <a:ea typeface="+mn-ea"/>
                <a:cs typeface="+mn-cs"/>
              </a:rPr>
              <a:t>code reviews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testing</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before</a:t>
            </a:r>
            <a:r>
              <a:rPr lang="en-US" sz="1200" kern="1200" dirty="0">
                <a:solidFill>
                  <a:schemeClr val="tx1"/>
                </a:solidFill>
                <a:effectLst/>
                <a:latin typeface="+mn-lt"/>
                <a:ea typeface="+mn-ea"/>
                <a:cs typeface="+mn-cs"/>
              </a:rPr>
              <a:t> merging </a:t>
            </a:r>
            <a:r>
              <a:rPr lang="en-US" sz="1200" b="1" kern="1200" dirty="0">
                <a:solidFill>
                  <a:schemeClr val="tx1"/>
                </a:solidFill>
                <a:effectLst/>
                <a:latin typeface="+mn-lt"/>
                <a:ea typeface="+mn-ea"/>
                <a:cs typeface="+mn-cs"/>
              </a:rPr>
              <a:t>changes</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Our team </a:t>
            </a:r>
            <a:r>
              <a:rPr lang="en-US" sz="1200" b="1" kern="1200" dirty="0">
                <a:solidFill>
                  <a:schemeClr val="tx1"/>
                </a:solidFill>
                <a:effectLst/>
                <a:latin typeface="+mn-lt"/>
                <a:ea typeface="+mn-ea"/>
                <a:cs typeface="+mn-cs"/>
              </a:rPr>
              <a:t>collaborated</a:t>
            </a:r>
            <a:r>
              <a:rPr lang="en-US" sz="1200" kern="1200" dirty="0">
                <a:solidFill>
                  <a:schemeClr val="tx1"/>
                </a:solidFill>
                <a:effectLst/>
                <a:latin typeface="+mn-lt"/>
                <a:ea typeface="+mn-ea"/>
                <a:cs typeface="+mn-cs"/>
              </a:rPr>
              <a:t> closely, </a:t>
            </a:r>
            <a:r>
              <a:rPr lang="en-US" sz="1200" b="1" kern="1200" dirty="0">
                <a:solidFill>
                  <a:schemeClr val="tx1"/>
                </a:solidFill>
                <a:effectLst/>
                <a:latin typeface="+mn-lt"/>
                <a:ea typeface="+mn-ea"/>
                <a:cs typeface="+mn-cs"/>
              </a:rPr>
              <a:t>supporting</a:t>
            </a:r>
            <a:r>
              <a:rPr lang="en-US" sz="1200" kern="1200" dirty="0">
                <a:solidFill>
                  <a:schemeClr val="tx1"/>
                </a:solidFill>
                <a:effectLst/>
                <a:latin typeface="+mn-lt"/>
                <a:ea typeface="+mn-ea"/>
                <a:cs typeface="+mn-cs"/>
              </a:rPr>
              <a:t> each other and </a:t>
            </a:r>
            <a:r>
              <a:rPr lang="en-US" sz="1200" b="1" kern="1200" dirty="0">
                <a:solidFill>
                  <a:schemeClr val="tx1"/>
                </a:solidFill>
                <a:effectLst/>
                <a:latin typeface="+mn-lt"/>
                <a:ea typeface="+mn-ea"/>
                <a:cs typeface="+mn-cs"/>
              </a:rPr>
              <a:t>adapting</a:t>
            </a:r>
            <a:r>
              <a:rPr lang="en-US" sz="1200" kern="1200" dirty="0">
                <a:solidFill>
                  <a:schemeClr val="tx1"/>
                </a:solidFill>
                <a:effectLst/>
                <a:latin typeface="+mn-lt"/>
                <a:ea typeface="+mn-ea"/>
                <a:cs typeface="+mn-cs"/>
              </a:rPr>
              <a:t> quickly when needed.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From a </a:t>
            </a:r>
            <a:r>
              <a:rPr lang="en-US" sz="1200" b="1" kern="1200" dirty="0">
                <a:solidFill>
                  <a:schemeClr val="tx1"/>
                </a:solidFill>
                <a:effectLst/>
                <a:latin typeface="+mn-lt"/>
                <a:ea typeface="+mn-ea"/>
                <a:cs typeface="+mn-cs"/>
              </a:rPr>
              <a:t>personal standpoint</a:t>
            </a:r>
            <a:r>
              <a:rPr lang="en-US" sz="1200" kern="1200" dirty="0">
                <a:solidFill>
                  <a:schemeClr val="tx1"/>
                </a:solidFill>
                <a:effectLst/>
                <a:latin typeface="+mn-lt"/>
                <a:ea typeface="+mn-ea"/>
                <a:cs typeface="+mn-cs"/>
              </a:rPr>
              <a:t>, I worked across both the </a:t>
            </a:r>
            <a:r>
              <a:rPr lang="en-US" sz="1200" b="1" kern="1200" dirty="0">
                <a:solidFill>
                  <a:schemeClr val="tx1"/>
                </a:solidFill>
                <a:effectLst/>
                <a:latin typeface="+mn-lt"/>
                <a:ea typeface="+mn-ea"/>
                <a:cs typeface="+mn-cs"/>
              </a:rPr>
              <a:t>backend and frontend</a:t>
            </a:r>
            <a:r>
              <a:rPr lang="en-US" sz="1200" kern="1200" dirty="0">
                <a:solidFill>
                  <a:schemeClr val="tx1"/>
                </a:solidFill>
                <a:effectLst/>
                <a:latin typeface="+mn-lt"/>
                <a:ea typeface="+mn-ea"/>
                <a:cs typeface="+mn-cs"/>
              </a:rPr>
              <a:t>, contributing to </a:t>
            </a:r>
            <a:r>
              <a:rPr lang="en-US" sz="1200" b="1" kern="1200" dirty="0">
                <a:solidFill>
                  <a:schemeClr val="tx1"/>
                </a:solidFill>
                <a:effectLst/>
                <a:latin typeface="+mn-lt"/>
                <a:ea typeface="+mn-ea"/>
                <a:cs typeface="+mn-cs"/>
              </a:rPr>
              <a:t>API development</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frontend integration</a:t>
            </a:r>
            <a:r>
              <a:rPr lang="en-US" sz="1200" kern="1200" dirty="0">
                <a:solidFill>
                  <a:schemeClr val="tx1"/>
                </a:solidFill>
                <a:effectLst/>
                <a:latin typeface="+mn-lt"/>
                <a:ea typeface="+mn-ea"/>
                <a:cs typeface="+mn-cs"/>
              </a:rPr>
              <a:t>. I also helped ensure that </a:t>
            </a:r>
            <a:r>
              <a:rPr lang="en-US" sz="1200" b="1" kern="1200" dirty="0">
                <a:solidFill>
                  <a:schemeClr val="tx1"/>
                </a:solidFill>
                <a:effectLst/>
                <a:latin typeface="+mn-lt"/>
                <a:ea typeface="+mn-ea"/>
                <a:cs typeface="+mn-cs"/>
              </a:rPr>
              <a:t>features</a:t>
            </a:r>
            <a:r>
              <a:rPr lang="en-US" sz="1200" kern="1200" dirty="0">
                <a:solidFill>
                  <a:schemeClr val="tx1"/>
                </a:solidFill>
                <a:effectLst/>
                <a:latin typeface="+mn-lt"/>
                <a:ea typeface="+mn-ea"/>
                <a:cs typeface="+mn-cs"/>
              </a:rPr>
              <a:t> worked together </a:t>
            </a:r>
            <a:r>
              <a:rPr lang="en-US" sz="1200" b="1" kern="1200" dirty="0">
                <a:solidFill>
                  <a:schemeClr val="tx1"/>
                </a:solidFill>
                <a:effectLst/>
                <a:latin typeface="+mn-lt"/>
                <a:ea typeface="+mn-ea"/>
                <a:cs typeface="+mn-cs"/>
              </a:rPr>
              <a:t>end-to-end</a:t>
            </a:r>
            <a:r>
              <a:rPr lang="en-US" sz="1200" kern="1200" dirty="0">
                <a:solidFill>
                  <a:schemeClr val="tx1"/>
                </a:solidFill>
                <a:effectLst/>
                <a:latin typeface="+mn-lt"/>
                <a:ea typeface="+mn-ea"/>
                <a:cs typeface="+mn-cs"/>
              </a:rPr>
              <a:t>, focusing on </a:t>
            </a:r>
            <a:r>
              <a:rPr lang="en-US" sz="1200" b="1" kern="1200" dirty="0">
                <a:solidFill>
                  <a:schemeClr val="tx1"/>
                </a:solidFill>
                <a:effectLst/>
                <a:latin typeface="+mn-lt"/>
                <a:ea typeface="+mn-ea"/>
                <a:cs typeface="+mn-cs"/>
              </a:rPr>
              <a:t>connecting components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maintaining consistency</a:t>
            </a:r>
            <a:r>
              <a:rPr lang="en-US" sz="1200" kern="1200" dirty="0">
                <a:solidFill>
                  <a:schemeClr val="tx1"/>
                </a:solidFill>
                <a:effectLst/>
                <a:latin typeface="+mn-lt"/>
                <a:ea typeface="+mn-ea"/>
                <a:cs typeface="+mn-cs"/>
              </a:rPr>
              <a:t> across the system.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Overall, what we’re most </a:t>
            </a:r>
            <a:r>
              <a:rPr lang="en-US" sz="1200" b="1" kern="1200" dirty="0">
                <a:solidFill>
                  <a:schemeClr val="tx1"/>
                </a:solidFill>
                <a:effectLst/>
                <a:latin typeface="+mn-lt"/>
                <a:ea typeface="+mn-ea"/>
                <a:cs typeface="+mn-cs"/>
              </a:rPr>
              <a:t>proud</a:t>
            </a:r>
            <a:r>
              <a:rPr lang="en-US" sz="1200" kern="1200" dirty="0">
                <a:solidFill>
                  <a:schemeClr val="tx1"/>
                </a:solidFill>
                <a:effectLst/>
                <a:latin typeface="+mn-lt"/>
                <a:ea typeface="+mn-ea"/>
                <a:cs typeface="+mn-cs"/>
              </a:rPr>
              <a:t> of is that this </a:t>
            </a:r>
            <a:r>
              <a:rPr lang="en-US" sz="1200" b="1" kern="1200" dirty="0">
                <a:solidFill>
                  <a:schemeClr val="tx1"/>
                </a:solidFill>
                <a:effectLst/>
                <a:latin typeface="+mn-lt"/>
                <a:ea typeface="+mn-ea"/>
                <a:cs typeface="+mn-cs"/>
              </a:rPr>
              <a:t>idea</a:t>
            </a:r>
            <a:r>
              <a:rPr lang="en-US" sz="1200" kern="1200" dirty="0">
                <a:solidFill>
                  <a:schemeClr val="tx1"/>
                </a:solidFill>
                <a:effectLst/>
                <a:latin typeface="+mn-lt"/>
                <a:ea typeface="+mn-ea"/>
                <a:cs typeface="+mn-cs"/>
              </a:rPr>
              <a:t> became a </a:t>
            </a:r>
            <a:r>
              <a:rPr lang="en-US" sz="1200" b="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—a </a:t>
            </a:r>
            <a:r>
              <a:rPr lang="en-US" sz="1200" b="1" kern="1200" dirty="0">
                <a:solidFill>
                  <a:schemeClr val="tx1"/>
                </a:solidFill>
                <a:effectLst/>
                <a:latin typeface="+mn-lt"/>
                <a:ea typeface="+mn-ea"/>
                <a:cs typeface="+mn-cs"/>
              </a:rPr>
              <a:t>complete platform</a:t>
            </a:r>
            <a:r>
              <a:rPr lang="en-US" sz="1200" kern="1200" dirty="0">
                <a:solidFill>
                  <a:schemeClr val="tx1"/>
                </a:solidFill>
                <a:effectLst/>
                <a:latin typeface="+mn-lt"/>
                <a:ea typeface="+mn-ea"/>
                <a:cs typeface="+mn-cs"/>
              </a:rPr>
              <a:t> with both a </a:t>
            </a:r>
            <a:r>
              <a:rPr lang="en-US" sz="1200" b="1" kern="1200" dirty="0">
                <a:solidFill>
                  <a:schemeClr val="tx1"/>
                </a:solidFill>
                <a:effectLst/>
                <a:latin typeface="+mn-lt"/>
                <a:ea typeface="+mn-ea"/>
                <a:cs typeface="+mn-cs"/>
              </a:rPr>
              <a:t>customer interface</a:t>
            </a:r>
            <a:r>
              <a:rPr lang="en-US" sz="1200" kern="1200" dirty="0">
                <a:solidFill>
                  <a:schemeClr val="tx1"/>
                </a:solidFill>
                <a:effectLst/>
                <a:latin typeface="+mn-lt"/>
                <a:ea typeface="+mn-ea"/>
                <a:cs typeface="+mn-cs"/>
              </a:rPr>
              <a:t> and an </a:t>
            </a:r>
            <a:r>
              <a:rPr lang="en-US" sz="1200" b="1" kern="1200" dirty="0">
                <a:solidFill>
                  <a:schemeClr val="tx1"/>
                </a:solidFill>
                <a:effectLst/>
                <a:latin typeface="+mn-lt"/>
                <a:ea typeface="+mn-ea"/>
                <a:cs typeface="+mn-cs"/>
              </a:rPr>
              <a:t>admin portal</a:t>
            </a:r>
            <a:r>
              <a:rPr lang="en-US" sz="1200" kern="1200" dirty="0">
                <a:solidFill>
                  <a:schemeClr val="tx1"/>
                </a:solidFill>
                <a:effectLst/>
                <a:latin typeface="+mn-lt"/>
                <a:ea typeface="+mn-ea"/>
                <a:cs typeface="+mn-cs"/>
              </a:rPr>
              <a:t> that work together </a:t>
            </a:r>
            <a:r>
              <a:rPr lang="en-US" sz="1200" b="1" kern="1200" dirty="0">
                <a:solidFill>
                  <a:schemeClr val="tx1"/>
                </a:solidFill>
                <a:effectLst/>
                <a:latin typeface="+mn-lt"/>
                <a:ea typeface="+mn-ea"/>
                <a:cs typeface="+mn-cs"/>
              </a:rPr>
              <a:t>seamlessly</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Now, I’ll hand off to </a:t>
            </a:r>
            <a:r>
              <a:rPr lang="en-US" sz="1200" b="1" kern="1200" dirty="0">
                <a:solidFill>
                  <a:schemeClr val="tx1"/>
                </a:solidFill>
                <a:effectLst/>
                <a:latin typeface="+mn-lt"/>
                <a:ea typeface="+mn-ea"/>
                <a:cs typeface="+mn-cs"/>
              </a:rPr>
              <a:t>Rachel</a:t>
            </a:r>
            <a:r>
              <a:rPr lang="en-US" sz="1200" kern="1200" dirty="0">
                <a:solidFill>
                  <a:schemeClr val="tx1"/>
                </a:solidFill>
                <a:effectLst/>
                <a:latin typeface="+mn-lt"/>
                <a:ea typeface="+mn-ea"/>
                <a:cs typeface="+mn-cs"/>
              </a:rPr>
              <a:t>.</a:t>
            </a:r>
          </a:p>
          <a:p>
            <a:endParaRPr lang="en-US" b="1" dirty="0"/>
          </a:p>
          <a:p>
            <a:endParaRPr lang="en-US" b="1" dirty="0"/>
          </a:p>
          <a:p>
            <a:endParaRPr lang="en-US" b="0" dirty="0"/>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2E6DE-8B90-9BDF-389D-709C4BB34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9010D-58EE-84EA-365D-C435E8697DC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1CB2B0-48EB-ED34-5047-6D87712303E5}"/>
              </a:ext>
            </a:extLst>
          </p:cNvPr>
          <p:cNvSpPr>
            <a:spLocks noGrp="1"/>
          </p:cNvSpPr>
          <p:nvPr>
            <p:ph type="body" idx="1"/>
          </p:nvPr>
        </p:nvSpPr>
        <p:spPr/>
        <p:txBody>
          <a:bodyPr/>
          <a:lstStyle/>
          <a:p>
            <a:r>
              <a:rPr lang="en-US" b="1" dirty="0"/>
              <a:t>🟡 RACHEL:</a:t>
            </a:r>
            <a:endParaRPr lang="en-US" b="0" dirty="0"/>
          </a:p>
          <a:p>
            <a:endParaRPr lang="en-US" b="0" dirty="0"/>
          </a:p>
          <a:p>
            <a:r>
              <a:rPr lang="en-US" b="0" dirty="0"/>
              <a:t>As the UI/UX and frontend lead for Orderly, my work spanned the full customer-facing experience as well as the admin side of the application.</a:t>
            </a:r>
          </a:p>
          <a:p>
            <a:endParaRPr lang="en-US" b="0" dirty="0"/>
          </a:p>
          <a:p>
            <a:r>
              <a:rPr lang="en-US" b="0" dirty="0"/>
              <a:t>On the customer side, I built the storefront from the ground up — that's the page customers actually use to browse and order. </a:t>
            </a:r>
          </a:p>
          <a:p>
            <a:r>
              <a:rPr lang="en-US" b="0" dirty="0"/>
              <a:t>It features a product grid with category filtering, so customers can quickly find what they're looking for. </a:t>
            </a:r>
          </a:p>
          <a:p>
            <a:endParaRPr lang="en-US" b="0" dirty="0"/>
          </a:p>
          <a:p>
            <a:r>
              <a:rPr lang="en-US" b="0" dirty="0"/>
              <a:t>Each product has its own dedicated page where customers can customize their order — choosing modifiers like size, add-ons, or preparation options — before adding it to their cart. </a:t>
            </a:r>
          </a:p>
          <a:p>
            <a:endParaRPr lang="en-US" b="0" dirty="0"/>
          </a:p>
          <a:p>
            <a:r>
              <a:rPr lang="en-US" b="0" dirty="0"/>
              <a:t>I built the shopping cart with full modifier and pricing support, followed by checkout and order confirmation. Customers can also view their order history and cancel orders directly from the storefront.</a:t>
            </a:r>
          </a:p>
          <a:p>
            <a:endParaRPr lang="en-US" b="0" dirty="0"/>
          </a:p>
          <a:p>
            <a:r>
              <a:rPr lang="en-US" b="0" dirty="0"/>
              <a:t>On the admin side, I built a full suite of management tools. </a:t>
            </a:r>
          </a:p>
          <a:p>
            <a:endParaRPr lang="en-US" b="0" dirty="0"/>
          </a:p>
          <a:p>
            <a:r>
              <a:rPr lang="en-US" b="0" dirty="0"/>
              <a:t>The product catalog lets business owners add and edit products, manage variants, and set up modifier groups and options — all through a clean, guided form interface. </a:t>
            </a:r>
          </a:p>
          <a:p>
            <a:endParaRPr lang="en-US" b="0" dirty="0"/>
          </a:p>
          <a:p>
            <a:r>
              <a:rPr lang="en-US" b="0" dirty="0"/>
              <a:t>The supplier management pages let admins add and edit their supplier records with similar ease.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p:txBody>
      </p:sp>
      <p:sp>
        <p:nvSpPr>
          <p:cNvPr id="4" name="Slide Number Placeholder 3">
            <a:extLst>
              <a:ext uri="{FF2B5EF4-FFF2-40B4-BE49-F238E27FC236}">
                <a16:creationId xmlns:a16="http://schemas.microsoft.com/office/drawing/2014/main" id="{4D3E0945-90EF-9518-F33A-4F132A214BA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6423997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BCE08-5870-D4A2-0392-DE4725798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EBB60-46CF-369D-877E-0174F5153AE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20D29F-F877-2DB6-3517-EDFF9567A65D}"/>
              </a:ext>
            </a:extLst>
          </p:cNvPr>
          <p:cNvSpPr>
            <a:spLocks noGrp="1"/>
          </p:cNvSpPr>
          <p:nvPr>
            <p:ph type="body" idx="1"/>
          </p:nvPr>
        </p:nvSpPr>
        <p:spPr/>
        <p:txBody>
          <a:bodyPr/>
          <a:lstStyle/>
          <a:p>
            <a:r>
              <a:rPr lang="en-US" b="1" dirty="0"/>
              <a:t>🟡 RACHEL</a:t>
            </a:r>
            <a:r>
              <a:rPr lang="en-US" b="0" dirty="0"/>
              <a:t> </a:t>
            </a:r>
          </a:p>
          <a:p>
            <a:endParaRPr lang="en-US" b="0" dirty="0"/>
          </a:p>
          <a:p>
            <a:r>
              <a:rPr lang="en-US" b="0" dirty="0"/>
              <a:t>The inventory management page gives admins visibility into stock levels, handles ingredient dependencies, and surfaces low-stock alerts both inline and on the dashboard. </a:t>
            </a:r>
          </a:p>
          <a:p>
            <a:endParaRPr lang="en-US" b="0" dirty="0"/>
          </a:p>
          <a:p>
            <a:r>
              <a:rPr lang="en-US" b="0" dirty="0"/>
              <a:t>When items are running low, the admin dashboard flags them immediately, so nothing slips through.</a:t>
            </a:r>
          </a:p>
          <a:p>
            <a:endParaRPr lang="en-US" b="0" dirty="0"/>
          </a:p>
          <a:p>
            <a:r>
              <a:rPr lang="en-US" b="0" dirty="0"/>
              <a:t>I also built the sales and reporting features — including a sales summary dashboard with bar chart visualizations, month and year filtering, and a sortable product performance table. </a:t>
            </a:r>
          </a:p>
          <a:p>
            <a:endParaRPr lang="en-US" b="0" dirty="0"/>
          </a:p>
          <a:p>
            <a:r>
              <a:rPr lang="en-US" b="0" dirty="0"/>
              <a:t>Admins can export data and print reports directly from these pages.</a:t>
            </a:r>
          </a:p>
          <a:p>
            <a:endParaRPr lang="en-US" b="0" dirty="0"/>
          </a:p>
          <a:p>
            <a:r>
              <a:rPr lang="en-US" b="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a:p>
            <a:endParaRPr lang="en-US" b="1" dirty="0"/>
          </a:p>
        </p:txBody>
      </p:sp>
      <p:sp>
        <p:nvSpPr>
          <p:cNvPr id="4" name="Slide Number Placeholder 3">
            <a:extLst>
              <a:ext uri="{FF2B5EF4-FFF2-40B4-BE49-F238E27FC236}">
                <a16:creationId xmlns:a16="http://schemas.microsoft.com/office/drawing/2014/main" id="{6D69AD2B-CEEE-2FBB-15BC-B1BFC90C3E5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21439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F97C8-49CB-4741-C080-08FE9BDF8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65F94-B72F-3FFB-B242-FE36CD4251A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BD5F05F-3AC1-3A38-DADF-E47159D2A990}"/>
              </a:ext>
            </a:extLst>
          </p:cNvPr>
          <p:cNvSpPr>
            <a:spLocks noGrp="1"/>
          </p:cNvSpPr>
          <p:nvPr>
            <p:ph type="body" idx="1"/>
          </p:nvPr>
        </p:nvSpPr>
        <p:spPr/>
        <p:txBody>
          <a:bodyPr/>
          <a:lstStyle/>
          <a:p>
            <a:r>
              <a:rPr lang="en-US" b="1" dirty="0"/>
              <a:t>🟡 RACHEL</a:t>
            </a:r>
            <a:r>
              <a:rPr lang="en-US" b="0" dirty="0"/>
              <a:t>:</a:t>
            </a:r>
          </a:p>
          <a:p>
            <a:endParaRPr lang="en-US" b="0" dirty="0"/>
          </a:p>
          <a:p>
            <a:r>
              <a:rPr lang="en-US" b="0" dirty="0"/>
              <a:t>Beyond the feature pages, I handled the settings hub — business information, storefront branding and appearance, and account management </a:t>
            </a:r>
          </a:p>
          <a:p>
            <a:r>
              <a:rPr lang="en-US" b="0" dirty="0"/>
              <a:t>— all of which feed into the live storefront experience.</a:t>
            </a:r>
          </a:p>
          <a:p>
            <a:endParaRPr lang="en-US" b="0" dirty="0"/>
          </a:p>
          <a:p>
            <a:r>
              <a:rPr lang="en-US" b="0" dirty="0"/>
              <a:t>Finally, I built out a full in-app user manual accessible from the admin dashboard, covering every major section of the application with annotated screenshots and step-by-step guidance.</a:t>
            </a:r>
          </a:p>
          <a:p>
            <a:endParaRPr lang="en-US" b="0" dirty="0"/>
          </a:p>
          <a:p>
            <a:r>
              <a:rPr lang="en-US" b="0" dirty="0"/>
              <a:t>Throughout, I wrote and maintained frontend unit tests and automated UI tests using Robot Framework to make sure all of this held up as the application grew. </a:t>
            </a:r>
          </a:p>
          <a:p>
            <a:endParaRPr lang="en-US" b="0" dirty="0"/>
          </a:p>
          <a:p>
            <a:r>
              <a:rPr lang="en-US" b="0" dirty="0"/>
              <a:t>Thank you. </a:t>
            </a:r>
          </a:p>
          <a:p>
            <a:endParaRPr lang="en-US" b="0" dirty="0"/>
          </a:p>
          <a:p>
            <a:r>
              <a:rPr lang="en-US" b="0" dirty="0"/>
              <a:t>Frontend had to start somewhere, in the backend! Let’s hear from Tristin about how it all worked behind the scenes of UI..</a:t>
            </a:r>
          </a:p>
          <a:p>
            <a:endParaRPr lang="en-US" b="0" dirty="0"/>
          </a:p>
          <a:p>
            <a:r>
              <a:rPr lang="en-US" b="0" dirty="0"/>
              <a:t>----------</a:t>
            </a:r>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b="1" dirty="0"/>
              <a:t> ⏭️ Up Next: </a:t>
            </a:r>
            <a:r>
              <a:rPr lang="en-US" b="0" dirty="0"/>
              <a:t>Tristin Takes Control</a:t>
            </a:r>
            <a:endParaRPr lang="en-US" b="1" dirty="0"/>
          </a:p>
        </p:txBody>
      </p:sp>
      <p:sp>
        <p:nvSpPr>
          <p:cNvPr id="4" name="Slide Number Placeholder 3">
            <a:extLst>
              <a:ext uri="{FF2B5EF4-FFF2-40B4-BE49-F238E27FC236}">
                <a16:creationId xmlns:a16="http://schemas.microsoft.com/office/drawing/2014/main" id="{D0A18B05-99CA-48B4-9FA3-6606A495746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22704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 TRISTIN: </a:t>
            </a:r>
            <a:endParaRPr lang="en-US" b="0" dirty="0"/>
          </a:p>
          <a:p>
            <a:endParaRPr lang="en-US" b="0" dirty="0"/>
          </a:p>
          <a:p>
            <a:r>
              <a:rPr lang="en-US" sz="1200" b="0" i="0" u="none" strike="noStrike" kern="1200" dirty="0">
                <a:solidFill>
                  <a:schemeClr val="tx1"/>
                </a:solidFill>
                <a:effectLst/>
                <a:latin typeface="+mn-lt"/>
                <a:ea typeface="+mn-ea"/>
                <a:cs typeface="+mn-cs"/>
              </a:rPr>
              <a:t>Thanks Rachel and good afternoon, everybody. I'm Tristin and I am the software architect for Orderly. </a:t>
            </a:r>
          </a:p>
          <a:p>
            <a:r>
              <a:rPr lang="en-US" sz="1200" b="0" i="0" u="none" strike="noStrike" kern="1200" dirty="0">
                <a:solidFill>
                  <a:schemeClr val="tx1"/>
                </a:solidFill>
                <a:effectLst/>
                <a:latin typeface="+mn-lt"/>
                <a:ea typeface="+mn-ea"/>
                <a:cs typeface="+mn-cs"/>
              </a:rPr>
              <a:t>My responsibilities included articulating the software architecture to the team, designing APIs, and full stack development skewing towards the backend.</a:t>
            </a:r>
          </a:p>
          <a:p>
            <a:endParaRPr lang="en-US" sz="1200" b="0" i="0" u="none" strike="noStrike"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Orderly uses a RESTful, decoupled architecture with JSON token authentication. </a:t>
            </a:r>
          </a:p>
          <a:p>
            <a:r>
              <a:rPr lang="en-US" sz="1200" b="0" i="0" kern="1200" dirty="0">
                <a:solidFill>
                  <a:schemeClr val="tx1"/>
                </a:solidFill>
                <a:effectLst/>
                <a:latin typeface="+mn-lt"/>
                <a:ea typeface="+mn-ea"/>
                <a:cs typeface="+mn-cs"/>
              </a:rPr>
              <a:t>The front and back ends communicate entirely through API calls. </a:t>
            </a:r>
          </a:p>
          <a:p>
            <a:r>
              <a:rPr lang="en-US" sz="1200" b="0" i="0" kern="1200" dirty="0">
                <a:solidFill>
                  <a:schemeClr val="tx1"/>
                </a:solidFill>
                <a:effectLst/>
                <a:latin typeface="+mn-lt"/>
                <a:ea typeface="+mn-ea"/>
                <a:cs typeface="+mn-cs"/>
              </a:rPr>
              <a:t>This puts Orderly in a good position for future integration with other systems, namely point-of-sale systems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backend receives API calls, runs business logic, accesses the database, and returns data in JSON format.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frontend accepts user input, makes API calls, receives data, and constructs the UI to display that data.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Throughout development I designed about 50 APIs and implemented about one third of those in the backend. Those APIs drive all of Orderly's functionality from user registration to inventory management.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While most of the data model for Orderly was designed prior, I did make a second pass to ensure it could support user roles, product customization, and inventory tracking for products and product components.</a:t>
            </a:r>
          </a:p>
          <a:p>
            <a:endParaRPr lang="en-US" sz="1200" b="0" i="0" u="none" strike="noStrike" kern="1200" dirty="0">
              <a:solidFill>
                <a:schemeClr val="tx1"/>
              </a:solidFill>
              <a:effectLst/>
              <a:latin typeface="+mn-lt"/>
              <a:ea typeface="+mn-ea"/>
              <a:cs typeface="+mn-cs"/>
            </a:endParaRPr>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deployment and distribution, we opted to use Docker for its ability to replicate our development environment.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Currently, our distribution model includes the source code and Docker files. Installation is as simple as downloading the code, running a few docker commands, and configuring environment variables.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Towards the end of development, I deployed Orderly to AWS cloud infrastructure utilizing an EC2 Instance, a managed RDS, and two ECRs. </a:t>
            </a:r>
          </a:p>
          <a:p>
            <a:r>
              <a:rPr lang="en-US" sz="1200" b="0" i="0" kern="1200" dirty="0">
                <a:solidFill>
                  <a:schemeClr val="tx1"/>
                </a:solidFill>
                <a:effectLst/>
                <a:latin typeface="+mn-lt"/>
                <a:ea typeface="+mn-ea"/>
                <a:cs typeface="+mn-cs"/>
              </a:rPr>
              <a:t>This deployment was not as refined as we'd like and misses some features, such as product images.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Orderly is live at the URL on screen and you're welcome to visit and explore Orderly's customer functionality.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With that, I'll pass it off to Kenny for quality assurance.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b="1" dirty="0"/>
              <a:t> ⏭️Up Next: </a:t>
            </a:r>
            <a:r>
              <a:rPr lang="en-US" b="0" dirty="0"/>
              <a:t>QA Practice (Kenny)</a:t>
            </a:r>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KENNY: </a:t>
            </a:r>
            <a:endParaRPr lang="en-US" dirty="0"/>
          </a:p>
          <a:p>
            <a:r>
              <a:rPr lang="en-US" dirty="0"/>
              <a:t>Thanks, Tristan — and thanks everyone.</a:t>
            </a:r>
          </a:p>
          <a:p>
            <a:endParaRPr lang="en-US" dirty="0"/>
          </a:p>
          <a:p>
            <a:r>
              <a:rPr lang="en-US" dirty="0"/>
              <a:t>Hi, I’m Kenny, and I served as the QA Lead for our project.</a:t>
            </a:r>
          </a:p>
          <a:p>
            <a:r>
              <a:rPr lang="en-US" dirty="0"/>
              <a:t>My role focused on developing and executing our testing and quality assurance strategy across all sprints to help ensure the system was stable, functional, and release ready.</a:t>
            </a:r>
          </a:p>
          <a:p>
            <a:endParaRPr lang="en-US" dirty="0"/>
          </a:p>
          <a:p>
            <a:r>
              <a:rPr lang="en-US" dirty="0"/>
              <a:t>Our testing approach used three layers of validation: frontend testing, backend/API testing, and end-to-end regression testing.</a:t>
            </a:r>
          </a:p>
          <a:p>
            <a:r>
              <a:rPr lang="en-US" dirty="0"/>
              <a:t>On the frontend, I built automated component and integration tests using Jest and React Testing Library, where we executed over </a:t>
            </a:r>
            <a:r>
              <a:rPr lang="en-US" b="1" dirty="0"/>
              <a:t>600 automated tests</a:t>
            </a:r>
            <a:r>
              <a:rPr lang="en-US" dirty="0"/>
              <a:t>, maintaining over </a:t>
            </a:r>
            <a:r>
              <a:rPr lang="en-US" b="1" dirty="0"/>
              <a:t>90% test coverage</a:t>
            </a:r>
            <a:r>
              <a:rPr lang="en-US" dirty="0"/>
              <a:t> while validating UI behavior, routing, and admin functionality.</a:t>
            </a:r>
          </a:p>
          <a:p>
            <a:endParaRPr lang="en-US" dirty="0"/>
          </a:p>
          <a:p>
            <a:r>
              <a:rPr lang="en-US" dirty="0"/>
              <a:t>For backend and API testing, I developed over </a:t>
            </a:r>
            <a:r>
              <a:rPr lang="en-US" b="1" dirty="0"/>
              <a:t>300 automated tests</a:t>
            </a:r>
            <a:r>
              <a:rPr lang="en-US" dirty="0"/>
              <a:t>, also with </a:t>
            </a:r>
            <a:r>
              <a:rPr lang="en-US" b="1" dirty="0"/>
              <a:t>90%+ coverage</a:t>
            </a:r>
            <a:r>
              <a:rPr lang="en-US" dirty="0"/>
              <a:t>, covering validation, role-based access control, inventory logic, reporting endpoints, and edge-case scenarios.</a:t>
            </a:r>
          </a:p>
          <a:p>
            <a:endParaRPr lang="en-US" dirty="0"/>
          </a:p>
          <a:p>
            <a:r>
              <a:rPr lang="en-US" dirty="0"/>
              <a:t>For end-to-end testing, I built and ran </a:t>
            </a:r>
            <a:r>
              <a:rPr lang="en-US" b="1" dirty="0"/>
              <a:t>166 Robot Framework tests</a:t>
            </a:r>
            <a:r>
              <a:rPr lang="en-US" dirty="0"/>
              <a:t>, validating critical customer workflows, admin regression scenarios, and full system interactions, with a </a:t>
            </a:r>
            <a:r>
              <a:rPr lang="en-US" b="1" dirty="0"/>
              <a:t>100 percent pass rate</a:t>
            </a:r>
            <a:r>
              <a:rPr lang="en-US" dirty="0"/>
              <a:t>.</a:t>
            </a:r>
          </a:p>
          <a:p>
            <a:endParaRPr lang="en-US" dirty="0"/>
          </a:p>
          <a:p>
            <a:r>
              <a:rPr lang="en-US" dirty="0"/>
              <a:t>In addition to automation, I led QA coordination by creating test plans, test cases, testing matrices, acceptance coverage reports, and supporting CI regression validation to help drive release readiness with no critical defects open.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show how that worked in practice, here’s one example from our Role Based Access Control testing.</a:t>
            </a:r>
          </a:p>
          <a:p>
            <a:endParaRPr lang="en-US" dirty="0"/>
          </a:p>
          <a:p>
            <a:r>
              <a:rPr lang="en-US" dirty="0"/>
              <a:t>During admin access validation, I identified a defect where logged-out users could directly access an admin route instead of being redirected to login, which introduced a security risk.</a:t>
            </a:r>
          </a:p>
          <a:p>
            <a:endParaRPr lang="en-US" dirty="0"/>
          </a:p>
          <a:p>
            <a:r>
              <a:rPr lang="en-US" dirty="0"/>
              <a:t>I documented the issue through a bug report with reproduction steps and impact. The issue was traced to route protection logic and a fix was implemented. Afterward, I validated the solution through manual retesting and automated regression testing. Then, just as importantly, we added test cases and expanded coverage so the issue wouldn’t reappear.</a:t>
            </a:r>
          </a:p>
          <a:p>
            <a:endParaRPr lang="en-US" dirty="0"/>
          </a:p>
          <a:p>
            <a:r>
              <a:rPr lang="en-US" dirty="0"/>
              <a:t>That reflects our QA workflow:</a:t>
            </a:r>
            <a:br>
              <a:rPr lang="en-US" dirty="0"/>
            </a:br>
            <a:r>
              <a:rPr lang="en-US" b="1" dirty="0"/>
              <a:t>Discover, Report, Fix, Retest, and Expand Test Coverage.</a:t>
            </a:r>
          </a:p>
          <a:p>
            <a:r>
              <a:rPr lang="en-US" dirty="0"/>
              <a:t>For me, that captures how QA supported the project — not just identifying issues, but improving long-term reliability throughout development.</a:t>
            </a:r>
          </a:p>
          <a:p>
            <a:endParaRPr lang="en-US" dirty="0"/>
          </a:p>
          <a:p>
            <a:r>
              <a:rPr lang="en-US" dirty="0"/>
              <a:t>And with that, I’ll hand it over to Caleb, who will walk through </a:t>
            </a:r>
            <a:r>
              <a:rPr lang="en-US" b="1" dirty="0"/>
              <a:t>User Feedback</a:t>
            </a:r>
            <a:r>
              <a:rPr lang="en-US" dirty="0"/>
              <a:t>. Thank you.</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b="1" dirty="0"/>
              <a:t> ⏭️Up Next: </a:t>
            </a:r>
            <a:r>
              <a:rPr lang="en-US" b="0" dirty="0"/>
              <a:t>Caleb</a:t>
            </a:r>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CALEB: </a:t>
            </a:r>
            <a:r>
              <a:rPr lang="en-US" b="0" i="1" dirty="0"/>
              <a:t>two slides total! One more after this one.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1"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1"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1" dirty="0"/>
              <a:t>NOTE: Transition to your next slide please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NEXT  SLIDE..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CALEB: </a:t>
            </a:r>
            <a:r>
              <a:rPr lang="en-US" b="0" i="1" dirty="0"/>
              <a:t>last slide!</a:t>
            </a:r>
          </a:p>
          <a:p>
            <a:endParaRPr lang="en-US" b="1" dirty="0"/>
          </a:p>
          <a:p>
            <a:r>
              <a:rPr lang="en-US" b="1" dirty="0"/>
              <a:t>“””</a:t>
            </a:r>
          </a:p>
          <a:p>
            <a:endParaRPr lang="en-US" b="1" dirty="0"/>
          </a:p>
          <a:p>
            <a:endParaRPr lang="en-US" b="1" dirty="0"/>
          </a:p>
          <a:p>
            <a:r>
              <a:rPr lang="en-US" b="1" dirty="0"/>
              <a:t>“””</a:t>
            </a:r>
          </a:p>
          <a:p>
            <a:endParaRPr lang="en-US" b="1" dirty="0"/>
          </a:p>
          <a:p>
            <a:r>
              <a:rPr lang="en-US" b="0" dirty="0"/>
              <a:t>”Now back to our PM as she guides us through our final messages ”… </a:t>
            </a:r>
            <a:endParaRPr lang="en-US" b="1" dirty="0"/>
          </a:p>
          <a:p>
            <a:endParaRPr lang="en-US" b="1" dirty="0"/>
          </a:p>
          <a:p>
            <a:r>
              <a:rPr lang="en-US" dirty="0"/>
              <a:t>🎬</a:t>
            </a:r>
            <a:r>
              <a:rPr lang="en-US" b="1" dirty="0"/>
              <a:t>⏭️ Up Next: </a:t>
            </a:r>
            <a:r>
              <a:rPr lang="en-US" b="0" dirty="0"/>
              <a:t>Wrap UP (Serina)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 SERINA: </a:t>
            </a:r>
            <a:r>
              <a:rPr lang="en-US" b="0" i="1" dirty="0"/>
              <a:t>This slide, then demo, then questions!</a:t>
            </a:r>
          </a:p>
          <a:p>
            <a:endParaRPr lang="en-US" b="1" dirty="0"/>
          </a:p>
          <a:p>
            <a:r>
              <a:rPr lang="en-US" b="1" dirty="0"/>
              <a:t>Thank you </a:t>
            </a:r>
            <a:r>
              <a:rPr lang="en-US" b="0" dirty="0"/>
              <a:t>so much Caleb, and to my </a:t>
            </a:r>
            <a:r>
              <a:rPr lang="en-US" b="1" dirty="0"/>
              <a:t>entire Orderly team</a:t>
            </a:r>
            <a:r>
              <a:rPr lang="en-US" b="0" dirty="0"/>
              <a:t> for bringing us to this </a:t>
            </a:r>
            <a:r>
              <a:rPr lang="en-US" b="0" i="1" dirty="0"/>
              <a:t>closing moment</a:t>
            </a:r>
            <a:r>
              <a:rPr lang="en-US" b="0" dirty="0"/>
              <a:t>.</a:t>
            </a:r>
          </a:p>
          <a:p>
            <a:endParaRPr lang="en-US" b="0" dirty="0"/>
          </a:p>
          <a:p>
            <a:r>
              <a:rPr lang="en-US" dirty="0"/>
              <a:t>Now, before we present a live demo of our software </a:t>
            </a:r>
            <a:r>
              <a:rPr lang="en-US" i="1" dirty="0"/>
              <a:t>and then.. </a:t>
            </a:r>
            <a:r>
              <a:rPr lang="en-US" dirty="0"/>
              <a:t>open the floor for questions… </a:t>
            </a:r>
          </a:p>
          <a:p>
            <a:r>
              <a:rPr lang="en-US" dirty="0"/>
              <a:t>I want to close out with </a:t>
            </a:r>
            <a:r>
              <a:rPr lang="en-US" b="1" dirty="0"/>
              <a:t>what this experience </a:t>
            </a:r>
            <a:r>
              <a:rPr lang="en-US" i="1" dirty="0"/>
              <a:t>actually</a:t>
            </a:r>
            <a:r>
              <a:rPr lang="en-US" dirty="0"/>
              <a:t> taught us.</a:t>
            </a:r>
          </a:p>
          <a:p>
            <a:endParaRPr lang="en-US" dirty="0"/>
          </a:p>
          <a:p>
            <a:r>
              <a:rPr lang="en-US" dirty="0"/>
              <a:t>To start our list..</a:t>
            </a:r>
          </a:p>
          <a:p>
            <a:r>
              <a:rPr lang="en-US" b="1" dirty="0"/>
              <a:t>Dependency-first planning </a:t>
            </a:r>
            <a:r>
              <a:rPr lang="en-US" i="1" dirty="0"/>
              <a:t>changed</a:t>
            </a:r>
            <a:r>
              <a:rPr lang="en-US" dirty="0"/>
              <a:t> how we worked. </a:t>
            </a:r>
          </a:p>
          <a:p>
            <a:r>
              <a:rPr lang="en-US" dirty="0"/>
              <a:t>..early in the project, we learned </a:t>
            </a:r>
            <a:r>
              <a:rPr lang="en-US" b="1" dirty="0"/>
              <a:t>the hard way </a:t>
            </a:r>
            <a:r>
              <a:rPr lang="en-US" dirty="0"/>
              <a:t>that when one piece arrives late</a:t>
            </a:r>
            <a:r>
              <a:rPr lang="en-US" i="1" dirty="0"/>
              <a:t>… everything downstream </a:t>
            </a:r>
            <a:r>
              <a:rPr lang="en-US" b="1" dirty="0"/>
              <a:t>stalls</a:t>
            </a:r>
            <a:r>
              <a:rPr lang="en-US" dirty="0"/>
              <a:t>. </a:t>
            </a:r>
          </a:p>
          <a:p>
            <a:endParaRPr lang="en-US" b="1" dirty="0"/>
          </a:p>
          <a:p>
            <a:r>
              <a:rPr lang="en-US" b="1" dirty="0"/>
              <a:t>.. Wave-based delivery </a:t>
            </a:r>
            <a:r>
              <a:rPr lang="en-US" dirty="0"/>
              <a:t>fixed exactly that — and it's something I’ll remember in every project I manage moving forward</a:t>
            </a:r>
            <a:r>
              <a:rPr lang="en-US" b="1" dirty="0"/>
              <a:t>, </a:t>
            </a:r>
          </a:p>
          <a:p>
            <a:r>
              <a:rPr lang="en-US" b="1" dirty="0"/>
              <a:t>or at the very least…</a:t>
            </a:r>
            <a:r>
              <a:rPr lang="en-US" dirty="0"/>
              <a:t> having a contingency plan and map for dependencies.</a:t>
            </a:r>
            <a:br>
              <a:rPr lang="en-US" dirty="0"/>
            </a:br>
            <a:endParaRPr lang="en-US" dirty="0"/>
          </a:p>
          <a:p>
            <a:r>
              <a:rPr lang="en-US" dirty="0"/>
              <a:t>..Another moment showed us that..</a:t>
            </a:r>
          </a:p>
          <a:p>
            <a:r>
              <a:rPr lang="en-US" b="1" dirty="0"/>
              <a:t>Vocabulary matters a lot more than we expected</a:t>
            </a:r>
            <a:r>
              <a:rPr lang="en-US" dirty="0"/>
              <a:t>. Understanding the language of APIs, endpoints, and contracts much earlier would have saved us </a:t>
            </a:r>
            <a:r>
              <a:rPr lang="en-US" i="1" dirty="0"/>
              <a:t>real time</a:t>
            </a:r>
            <a:r>
              <a:rPr lang="en-US" dirty="0"/>
              <a:t> </a:t>
            </a:r>
            <a:r>
              <a:rPr lang="en-US" b="1" dirty="0"/>
              <a:t>across</a:t>
            </a:r>
            <a:r>
              <a:rPr lang="en-US" dirty="0"/>
              <a:t> the team. </a:t>
            </a:r>
          </a:p>
          <a:p>
            <a:r>
              <a:rPr lang="en-US" dirty="0"/>
              <a:t>It is understood that communication only works when everyone is speaking the </a:t>
            </a:r>
            <a:r>
              <a:rPr lang="en-US" b="1" dirty="0"/>
              <a:t>same</a:t>
            </a:r>
            <a:r>
              <a:rPr lang="en-US" dirty="0"/>
              <a:t> language.</a:t>
            </a:r>
          </a:p>
          <a:p>
            <a:endParaRPr lang="en-US" dirty="0"/>
          </a:p>
          <a:p>
            <a:r>
              <a:rPr lang="en-US" i="1" dirty="0"/>
              <a:t>Next, a lesson I found crucial: </a:t>
            </a:r>
          </a:p>
          <a:p>
            <a:r>
              <a:rPr lang="en-US" i="1" dirty="0"/>
              <a:t>Collaborative development </a:t>
            </a:r>
            <a:r>
              <a:rPr lang="en-US" b="1" i="1" dirty="0"/>
              <a:t>is</a:t>
            </a:r>
            <a:r>
              <a:rPr lang="en-US" i="1" dirty="0"/>
              <a:t> </a:t>
            </a:r>
            <a:r>
              <a:rPr lang="en-US" b="1" i="1" dirty="0"/>
              <a:t>a skill </a:t>
            </a:r>
            <a:r>
              <a:rPr lang="en-US" dirty="0"/>
              <a:t>— and it's one that we built </a:t>
            </a:r>
            <a:r>
              <a:rPr lang="en-US" b="1" dirty="0"/>
              <a:t>sprint over sprint</a:t>
            </a:r>
            <a:r>
              <a:rPr lang="en-US" dirty="0"/>
              <a:t>. </a:t>
            </a:r>
          </a:p>
          <a:p>
            <a:r>
              <a:rPr lang="en-US" dirty="0"/>
              <a:t>This </a:t>
            </a:r>
            <a:r>
              <a:rPr lang="en-US" b="1" dirty="0"/>
              <a:t>surfaced</a:t>
            </a:r>
            <a:r>
              <a:rPr lang="en-US" dirty="0"/>
              <a:t> in better </a:t>
            </a:r>
            <a:r>
              <a:rPr lang="en-US" b="1" dirty="0"/>
              <a:t>PR habits</a:t>
            </a:r>
            <a:r>
              <a:rPr lang="en-US" dirty="0"/>
              <a:t>, better </a:t>
            </a:r>
            <a:r>
              <a:rPr lang="en-US" b="1" dirty="0"/>
              <a:t>communication</a:t>
            </a:r>
            <a:r>
              <a:rPr lang="en-US" dirty="0"/>
              <a:t>, and.. better </a:t>
            </a:r>
            <a:r>
              <a:rPr lang="en-US" b="1" dirty="0"/>
              <a:t>problem-solving </a:t>
            </a:r>
            <a:r>
              <a:rPr lang="en-US" dirty="0"/>
              <a:t>and it didn't happen overnight…. but </a:t>
            </a:r>
            <a:r>
              <a:rPr lang="en-US" b="1" i="1" dirty="0"/>
              <a:t>it</a:t>
            </a:r>
            <a:r>
              <a:rPr lang="en-US" dirty="0"/>
              <a:t> </a:t>
            </a:r>
            <a:r>
              <a:rPr lang="en-US" b="1" i="1" dirty="0"/>
              <a:t>happened</a:t>
            </a:r>
            <a:r>
              <a:rPr lang="en-US" dirty="0"/>
              <a:t>.</a:t>
            </a:r>
          </a:p>
          <a:p>
            <a:endParaRPr lang="en-US" dirty="0"/>
          </a:p>
          <a:p>
            <a:r>
              <a:rPr lang="en-US" dirty="0"/>
              <a:t>And lastly…</a:t>
            </a:r>
          </a:p>
          <a:p>
            <a:r>
              <a:rPr lang="en-US" dirty="0"/>
              <a:t>Agile works when the team </a:t>
            </a:r>
            <a:r>
              <a:rPr lang="en-US" b="1" dirty="0"/>
              <a:t>owns</a:t>
            </a:r>
            <a:r>
              <a:rPr lang="en-US" dirty="0"/>
              <a:t> it. </a:t>
            </a:r>
          </a:p>
          <a:p>
            <a:r>
              <a:rPr lang="en-US" dirty="0"/>
              <a:t>We didn't just note our retrospective actions. We </a:t>
            </a:r>
            <a:r>
              <a:rPr lang="en-US" b="1" dirty="0"/>
              <a:t>acted on </a:t>
            </a:r>
            <a:r>
              <a:rPr lang="en-US" dirty="0"/>
              <a:t>them. </a:t>
            </a:r>
            <a:r>
              <a:rPr lang="en-US" b="1" dirty="0"/>
              <a:t>Every</a:t>
            </a:r>
            <a:r>
              <a:rPr lang="en-US" dirty="0"/>
              <a:t> </a:t>
            </a:r>
            <a:r>
              <a:rPr lang="en-US" b="0" dirty="0"/>
              <a:t>sprint</a:t>
            </a:r>
            <a:r>
              <a:rPr lang="en-US" dirty="0"/>
              <a:t> closed </a:t>
            </a:r>
            <a:r>
              <a:rPr lang="en-US" i="1" dirty="0"/>
              <a:t>better than</a:t>
            </a:r>
            <a:r>
              <a:rPr lang="en-US" dirty="0"/>
              <a:t> the one before it.</a:t>
            </a:r>
          </a:p>
          <a:p>
            <a:endParaRPr lang="en-US" dirty="0"/>
          </a:p>
          <a:p>
            <a:r>
              <a:rPr lang="en-US" dirty="0"/>
              <a:t>Together, we built something </a:t>
            </a:r>
            <a:r>
              <a:rPr lang="en-US" b="1" dirty="0"/>
              <a:t>real</a:t>
            </a:r>
            <a:r>
              <a:rPr lang="en-US" dirty="0"/>
              <a:t>. A platform that </a:t>
            </a:r>
            <a:r>
              <a:rPr lang="en-US" b="1" dirty="0"/>
              <a:t>looks</a:t>
            </a:r>
            <a:r>
              <a:rPr lang="en-US" dirty="0"/>
              <a:t>, </a:t>
            </a:r>
            <a:r>
              <a:rPr lang="en-US" b="1" dirty="0"/>
              <a:t>works</a:t>
            </a:r>
            <a:r>
              <a:rPr lang="en-US" dirty="0"/>
              <a:t>, </a:t>
            </a:r>
            <a:r>
              <a:rPr lang="en-US" i="1" dirty="0"/>
              <a:t>and</a:t>
            </a:r>
            <a:r>
              <a:rPr lang="en-US" dirty="0"/>
              <a:t> </a:t>
            </a:r>
            <a:r>
              <a:rPr lang="en-US" b="1" dirty="0"/>
              <a:t>ships</a:t>
            </a:r>
            <a:r>
              <a:rPr lang="en-US" dirty="0"/>
              <a:t> like professional software. </a:t>
            </a:r>
          </a:p>
          <a:p>
            <a:r>
              <a:rPr lang="en-US" dirty="0"/>
              <a:t>And we built it together — as </a:t>
            </a:r>
            <a:r>
              <a:rPr lang="en-US" b="1" dirty="0"/>
              <a:t>academic</a:t>
            </a:r>
            <a:r>
              <a:rPr lang="en-US" dirty="0"/>
              <a:t> </a:t>
            </a:r>
            <a:r>
              <a:rPr lang="en-US" i="1" dirty="0"/>
              <a:t>software developers</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built and delivered by your team of dedicated Project Capstone students.</a:t>
            </a:r>
          </a:p>
          <a:p>
            <a:endParaRPr lang="en-US" dirty="0"/>
          </a:p>
          <a:p>
            <a:endParaRPr lang="en-US" dirty="0"/>
          </a:p>
          <a:p>
            <a:r>
              <a:rPr lang="en-US" dirty="0"/>
              <a:t>Thank you. </a:t>
            </a:r>
          </a:p>
          <a:p>
            <a:r>
              <a:rPr lang="en-US" dirty="0"/>
              <a:t>Before we open the floor for questions, We'll now bring everything together with a demo, brought to you by our frontend lead, Rachel Mizer—</a:t>
            </a:r>
            <a:endParaRPr lang="en-US" b="1" dirty="0"/>
          </a:p>
          <a:p>
            <a:r>
              <a:rPr lang="en-US" b="0" i="1" dirty="0"/>
              <a:t>… Please let it be known that at this point, after our demo, we should have about ~_____ minutes for questions. (add 5 minutes to current time!)</a:t>
            </a:r>
          </a:p>
          <a:p>
            <a:endParaRPr lang="en-US" b="0" i="1" dirty="0"/>
          </a:p>
          <a:p>
            <a:r>
              <a:rPr lang="en-US" b="0" i="1" dirty="0"/>
              <a:t>Rachel, when you’re ready…</a:t>
            </a:r>
          </a:p>
          <a:p>
            <a:endParaRPr lang="en-US" b="0" i="1" dirty="0"/>
          </a:p>
          <a:p>
            <a:endParaRPr lang="en-US" b="1" dirty="0"/>
          </a:p>
          <a:p>
            <a:r>
              <a:rPr lang="en-US" dirty="0"/>
              <a:t>🎬</a:t>
            </a:r>
            <a:r>
              <a:rPr lang="en-US" b="1" dirty="0"/>
              <a:t>⏭️ Up Next: </a:t>
            </a:r>
            <a:r>
              <a:rPr lang="en-US" b="0" dirty="0"/>
              <a:t>Rachel with our demo! </a:t>
            </a:r>
          </a:p>
          <a:p>
            <a:endParaRPr lang="en-US" b="0" i="1" dirty="0"/>
          </a:p>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All team members should be prepared to step forward to answer any questions respectively</a:t>
            </a:r>
          </a:p>
          <a:p>
            <a:endParaRPr lang="en-US" dirty="0"/>
          </a:p>
          <a:p>
            <a:endParaRPr lang="en-US" dirty="0"/>
          </a:p>
          <a:p>
            <a:r>
              <a:rPr lang="en-US" b="1" dirty="0"/>
              <a:t>🟢 SERINA: [Take control — advance to Questions slide]</a:t>
            </a:r>
          </a:p>
          <a:p>
            <a:endParaRPr lang="en-US" dirty="0"/>
          </a:p>
          <a:p>
            <a:r>
              <a:rPr lang="en-US" dirty="0"/>
              <a:t>Thank you, Rachel — for not only putting that together, but for running it live in front of everyone today.</a:t>
            </a:r>
          </a:p>
          <a:p>
            <a:endParaRPr lang="en-US" dirty="0"/>
          </a:p>
          <a:p>
            <a:r>
              <a:rPr lang="en-US" dirty="0"/>
              <a:t>That demo represents what this whole project has been about. Real software, built by a real team, working exactly as intended.</a:t>
            </a:r>
          </a:p>
          <a:p>
            <a:r>
              <a:rPr lang="en-US" dirty="0"/>
              <a:t>And </a:t>
            </a:r>
            <a:r>
              <a:rPr lang="en-US" b="1" dirty="0"/>
              <a:t>with that</a:t>
            </a:r>
            <a:r>
              <a:rPr lang="en-US" dirty="0"/>
              <a:t>, Team 7 is </a:t>
            </a:r>
            <a:r>
              <a:rPr lang="en-US" b="1" dirty="0"/>
              <a:t>ready</a:t>
            </a:r>
            <a:r>
              <a:rPr lang="en-US" dirty="0"/>
              <a:t> for your questions.</a:t>
            </a:r>
          </a:p>
          <a:p>
            <a:endParaRPr lang="en-US" dirty="0"/>
          </a:p>
          <a:p>
            <a:r>
              <a:rPr lang="en-US" dirty="0"/>
              <a:t>I'll be directing questions to whoever is best positioned to answer — so don't hesitate to ask about any part of what you've seen today, whether that's the product, our process, or how we got here.</a:t>
            </a:r>
          </a:p>
          <a:p>
            <a:endParaRPr lang="en-US" dirty="0"/>
          </a:p>
          <a:p>
            <a:r>
              <a:rPr lang="en-US" dirty="0"/>
              <a:t>We have approximately </a:t>
            </a:r>
            <a:r>
              <a:rPr lang="en-US" b="1" dirty="0"/>
              <a:t>_____</a:t>
            </a:r>
            <a:r>
              <a:rPr lang="en-US" dirty="0"/>
              <a:t> minutes. The floor is yours Professor.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9.png"/><Relationship Id="rId7"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B5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BB77E"/>
          </a:solidFill>
          <a:ln w="12700">
            <a:solidFill>
              <a:srgbClr val="3BB77E"/>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502920" y="914400"/>
            <a:ext cx="1005840" cy="1005840"/>
          </a:xfrm>
          <a:prstGeom prst="rect">
            <a:avLst/>
          </a:prstGeom>
        </p:spPr>
      </p:pic>
      <p:sp>
        <p:nvSpPr>
          <p:cNvPr id="4" name="Text 1"/>
          <p:cNvSpPr/>
          <p:nvPr/>
        </p:nvSpPr>
        <p:spPr>
          <a:xfrm>
            <a:off x="457200" y="2011680"/>
            <a:ext cx="7315200" cy="1005840"/>
          </a:xfrm>
          <a:prstGeom prst="rect">
            <a:avLst/>
          </a:prstGeom>
          <a:noFill/>
          <a:ln/>
        </p:spPr>
        <p:txBody>
          <a:bodyPr wrap="square" lIns="0" tIns="0" rIns="0" bIns="0" rtlCol="0" anchor="ctr"/>
          <a:lstStyle/>
          <a:p>
            <a:pPr marL="0" indent="0" algn="l">
              <a:buNone/>
            </a:pPr>
            <a:r>
              <a:rPr lang="en-US" sz="7200" b="1" dirty="0">
                <a:solidFill>
                  <a:srgbClr val="FFFFFF"/>
                </a:solidFill>
                <a:latin typeface="Calibri" pitchFamily="34" charset="0"/>
                <a:ea typeface="Calibri" pitchFamily="34" charset="-122"/>
                <a:cs typeface="Calibri" pitchFamily="34" charset="-120"/>
              </a:rPr>
              <a:t>Orderly</a:t>
            </a:r>
            <a:endParaRPr lang="en-US" sz="7200" dirty="0"/>
          </a:p>
        </p:txBody>
      </p:sp>
      <p:sp>
        <p:nvSpPr>
          <p:cNvPr id="5" name="Text 2"/>
          <p:cNvSpPr/>
          <p:nvPr/>
        </p:nvSpPr>
        <p:spPr>
          <a:xfrm>
            <a:off x="457200" y="3063240"/>
            <a:ext cx="7772400" cy="457200"/>
          </a:xfrm>
          <a:prstGeom prst="rect">
            <a:avLst/>
          </a:prstGeom>
          <a:noFill/>
          <a:ln/>
        </p:spPr>
        <p:txBody>
          <a:bodyPr wrap="square" lIns="0" tIns="0" rIns="0" bIns="0" rtlCol="0" anchor="ctr"/>
          <a:lstStyle/>
          <a:p>
            <a:pPr marL="0" indent="0" algn="l">
              <a:buNone/>
            </a:pPr>
            <a:r>
              <a:rPr lang="en-US" sz="2000" i="1" dirty="0">
                <a:solidFill>
                  <a:srgbClr val="CADCFC"/>
                </a:solidFill>
                <a:latin typeface="Calibri" pitchFamily="34" charset="0"/>
                <a:ea typeface="Calibri" pitchFamily="34" charset="-122"/>
                <a:cs typeface="Calibri" pitchFamily="34" charset="-120"/>
              </a:rPr>
              <a:t>Fast, flexible ordering for any business</a:t>
            </a:r>
            <a:endParaRPr lang="en-US" sz="2000" dirty="0"/>
          </a:p>
        </p:txBody>
      </p:sp>
      <p:sp>
        <p:nvSpPr>
          <p:cNvPr id="6" name="Shape 3"/>
          <p:cNvSpPr/>
          <p:nvPr/>
        </p:nvSpPr>
        <p:spPr>
          <a:xfrm>
            <a:off x="457200" y="3611880"/>
            <a:ext cx="4114800" cy="36576"/>
          </a:xfrm>
          <a:prstGeom prst="rect">
            <a:avLst/>
          </a:prstGeom>
          <a:solidFill>
            <a:srgbClr val="3BB77E"/>
          </a:solidFill>
          <a:ln w="12700">
            <a:solidFill>
              <a:srgbClr val="3BB77E"/>
            </a:solidFill>
            <a:prstDash val="solid"/>
          </a:ln>
        </p:spPr>
        <p:txBody>
          <a:bodyPr/>
          <a:lstStyle/>
          <a:p>
            <a:endParaRPr lang="en-US"/>
          </a:p>
        </p:txBody>
      </p:sp>
      <p:sp>
        <p:nvSpPr>
          <p:cNvPr id="7" name="Text 4"/>
          <p:cNvSpPr/>
          <p:nvPr/>
        </p:nvSpPr>
        <p:spPr>
          <a:xfrm>
            <a:off x="457200" y="3749040"/>
            <a:ext cx="8229600" cy="822960"/>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Team 7 |  Programming Capstone Project | CSC 289.0001 | April 30</a:t>
            </a:r>
            <a:r>
              <a:rPr lang="en-US" sz="1100" baseline="30000" dirty="0">
                <a:solidFill>
                  <a:srgbClr val="CADCFC"/>
                </a:solidFill>
                <a:latin typeface="Calibri" pitchFamily="34" charset="0"/>
                <a:ea typeface="Calibri" pitchFamily="34" charset="-122"/>
                <a:cs typeface="Calibri" pitchFamily="34" charset="-120"/>
              </a:rPr>
              <a:t>th</a:t>
            </a:r>
            <a:r>
              <a:rPr lang="en-US" sz="1100" dirty="0">
                <a:solidFill>
                  <a:srgbClr val="CADCFC"/>
                </a:solidFill>
                <a:latin typeface="Calibri" pitchFamily="34" charset="0"/>
                <a:ea typeface="Calibri" pitchFamily="34" charset="-122"/>
                <a:cs typeface="Calibri" pitchFamily="34" charset="-120"/>
              </a:rPr>
              <a:t>, 2026 </a:t>
            </a:r>
            <a:endParaRPr lang="en-US" sz="1100" dirty="0"/>
          </a:p>
          <a:p>
            <a:r>
              <a:rPr lang="en-US" sz="1100" dirty="0">
                <a:solidFill>
                  <a:srgbClr val="CADCFC"/>
                </a:solidFill>
                <a:latin typeface="Calibri" pitchFamily="34" charset="0"/>
                <a:ea typeface="Calibri" pitchFamily="34" charset="-122"/>
                <a:cs typeface="Calibri" pitchFamily="34" charset="-120"/>
              </a:rPr>
              <a:t>Kim Mayo · Kenny Bacdayan · Rachel Mizer · Tristin Gatt · Caleb Fowlkes · Serina Rodriguez (PM/SCRUM Master)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INTRODUCTION</a:t>
            </a:r>
            <a:endParaRPr lang="en-US" sz="90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marL="0" indent="0" algn="l">
              <a:buNone/>
            </a:pPr>
            <a:r>
              <a:rPr lang="en-US" sz="3200" b="1" dirty="0">
                <a:solidFill>
                  <a:srgbClr val="1B2B5E"/>
                </a:solidFill>
                <a:latin typeface="Calibri" pitchFamily="34" charset="0"/>
                <a:ea typeface="Calibri" pitchFamily="34" charset="-122"/>
                <a:cs typeface="Calibri" pitchFamily="34" charset="-120"/>
              </a:rPr>
              <a:t>What is Orderly?</a:t>
            </a:r>
            <a:endParaRPr lang="en-US" sz="3200" dirty="0"/>
          </a:p>
        </p:txBody>
      </p:sp>
      <p:sp>
        <p:nvSpPr>
          <p:cNvPr id="4" name="Shape 2"/>
          <p:cNvSpPr/>
          <p:nvPr/>
        </p:nvSpPr>
        <p:spPr>
          <a:xfrm>
            <a:off x="365760" y="1280160"/>
            <a:ext cx="3931920" cy="342900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dirty="0"/>
          </a:p>
        </p:txBody>
      </p:sp>
      <p:sp>
        <p:nvSpPr>
          <p:cNvPr id="5" name="Text 3"/>
          <p:cNvSpPr/>
          <p:nvPr/>
        </p:nvSpPr>
        <p:spPr>
          <a:xfrm>
            <a:off x="594360" y="2035263"/>
            <a:ext cx="3474720" cy="320040"/>
          </a:xfrm>
          <a:prstGeom prst="rect">
            <a:avLst/>
          </a:prstGeom>
          <a:noFill/>
          <a:ln/>
        </p:spPr>
        <p:txBody>
          <a:bodyPr wrap="square" lIns="0" tIns="0" rIns="0" bIns="0" rtlCol="0" anchor="ctr"/>
          <a:lstStyle/>
          <a:p>
            <a:pPr marL="0" indent="0">
              <a:buNone/>
            </a:pPr>
            <a:r>
              <a:rPr lang="en-US" sz="1300" b="1" dirty="0">
                <a:solidFill>
                  <a:srgbClr val="1B2B5E"/>
                </a:solidFill>
                <a:latin typeface="Calibri" pitchFamily="34" charset="0"/>
                <a:ea typeface="Calibri" pitchFamily="34" charset="-122"/>
                <a:cs typeface="Calibri" pitchFamily="34" charset="-120"/>
              </a:rPr>
              <a:t>The Problem</a:t>
            </a:r>
            <a:endParaRPr lang="en-US" sz="1300" dirty="0"/>
          </a:p>
        </p:txBody>
      </p:sp>
      <p:sp>
        <p:nvSpPr>
          <p:cNvPr id="6" name="Text 4"/>
          <p:cNvSpPr/>
          <p:nvPr/>
        </p:nvSpPr>
        <p:spPr>
          <a:xfrm>
            <a:off x="594360" y="2346160"/>
            <a:ext cx="3474720" cy="1069848"/>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Small and mid-sized businesses lack affordable, efficient, and unified tools for managing orders, inventory, and customer-facing menus. </a:t>
            </a:r>
          </a:p>
          <a:p>
            <a:pPr marL="0" indent="0">
              <a:buNone/>
            </a:pPr>
            <a:endParaRPr lang="en-US" sz="1200" dirty="0">
              <a:solidFill>
                <a:srgbClr val="374151"/>
              </a:solidFill>
              <a:latin typeface="Calibri" pitchFamily="34" charset="0"/>
              <a:cs typeface="Calibri" pitchFamily="34" charset="-120"/>
            </a:endParaRPr>
          </a:p>
          <a:p>
            <a:pPr marL="0" indent="0">
              <a:buNone/>
            </a:pPr>
            <a:r>
              <a:rPr lang="en-US" sz="1200" dirty="0">
                <a:solidFill>
                  <a:srgbClr val="374151"/>
                </a:solidFill>
                <a:latin typeface="Calibri" pitchFamily="34" charset="0"/>
                <a:cs typeface="Calibri" pitchFamily="34" charset="-120"/>
              </a:rPr>
              <a:t>The result: </a:t>
            </a:r>
            <a:r>
              <a:rPr lang="en-US" sz="1200" i="1" dirty="0">
                <a:solidFill>
                  <a:srgbClr val="374151"/>
                </a:solidFill>
                <a:latin typeface="Calibri" pitchFamily="34" charset="0"/>
                <a:cs typeface="Calibri" pitchFamily="34" charset="-120"/>
              </a:rPr>
              <a:t>manual processes, spreadsheet chaos, and no real-time visibility.</a:t>
            </a:r>
            <a:endParaRPr lang="en-US" sz="1200" i="1" dirty="0"/>
          </a:p>
        </p:txBody>
      </p:sp>
      <p:sp>
        <p:nvSpPr>
          <p:cNvPr id="7" name="Shape 5"/>
          <p:cNvSpPr/>
          <p:nvPr/>
        </p:nvSpPr>
        <p:spPr>
          <a:xfrm>
            <a:off x="594360" y="3520440"/>
            <a:ext cx="3474720" cy="36576"/>
          </a:xfrm>
          <a:prstGeom prst="rect">
            <a:avLst/>
          </a:prstGeom>
          <a:solidFill>
            <a:srgbClr val="3BB77E"/>
          </a:solidFill>
          <a:ln w="12700">
            <a:solidFill>
              <a:srgbClr val="3BB77E"/>
            </a:solidFill>
            <a:prstDash val="solid"/>
          </a:ln>
        </p:spPr>
        <p:txBody>
          <a:bodyPr/>
          <a:lstStyle/>
          <a:p>
            <a:endParaRPr lang="en-US"/>
          </a:p>
        </p:txBody>
      </p:sp>
      <p:sp>
        <p:nvSpPr>
          <p:cNvPr id="8" name="Text 6"/>
          <p:cNvSpPr/>
          <p:nvPr/>
        </p:nvSpPr>
        <p:spPr>
          <a:xfrm>
            <a:off x="594360" y="3630168"/>
            <a:ext cx="3474720" cy="320040"/>
          </a:xfrm>
          <a:prstGeom prst="rect">
            <a:avLst/>
          </a:prstGeom>
          <a:noFill/>
          <a:ln/>
        </p:spPr>
        <p:txBody>
          <a:bodyPr wrap="square" lIns="0" tIns="0" rIns="0" bIns="0" rtlCol="0" anchor="ctr"/>
          <a:lstStyle/>
          <a:p>
            <a:pPr marL="0" indent="0">
              <a:buNone/>
            </a:pPr>
            <a:r>
              <a:rPr lang="en-US" sz="1300" b="1" dirty="0">
                <a:solidFill>
                  <a:srgbClr val="1B2B5E"/>
                </a:solidFill>
                <a:latin typeface="Calibri" pitchFamily="34" charset="0"/>
                <a:ea typeface="Calibri" pitchFamily="34" charset="-122"/>
                <a:cs typeface="Calibri" pitchFamily="34" charset="-120"/>
              </a:rPr>
              <a:t>Our Solution</a:t>
            </a:r>
            <a:endParaRPr lang="en-US" sz="1300" dirty="0"/>
          </a:p>
        </p:txBody>
      </p:sp>
      <p:sp>
        <p:nvSpPr>
          <p:cNvPr id="9" name="Text 7"/>
          <p:cNvSpPr/>
          <p:nvPr/>
        </p:nvSpPr>
        <p:spPr>
          <a:xfrm>
            <a:off x="594360" y="3886200"/>
            <a:ext cx="3474720" cy="685800"/>
          </a:xfrm>
          <a:prstGeom prst="rect">
            <a:avLst/>
          </a:prstGeom>
          <a:noFill/>
          <a:ln/>
        </p:spPr>
        <p:txBody>
          <a:bodyPr wrap="square" lIns="0" tIns="0" rIns="0" bIns="0" rtlCol="0" anchor="ctr"/>
          <a:lstStyle/>
          <a:p>
            <a:pPr marL="0" indent="0">
              <a:buNone/>
            </a:pPr>
            <a:r>
              <a:rPr lang="en-US" sz="1200" dirty="0">
                <a:solidFill>
                  <a:schemeClr val="accent2"/>
                </a:solidFill>
                <a:latin typeface="Calibri" pitchFamily="34" charset="0"/>
                <a:cs typeface="Calibri" pitchFamily="34" charset="-120"/>
              </a:rPr>
              <a:t>A </a:t>
            </a:r>
            <a:r>
              <a:rPr lang="en-US" sz="1200" b="1" dirty="0">
                <a:solidFill>
                  <a:schemeClr val="accent2"/>
                </a:solidFill>
                <a:latin typeface="Calibri" pitchFamily="34" charset="0"/>
                <a:cs typeface="Calibri" pitchFamily="34" charset="-120"/>
              </a:rPr>
              <a:t>flexible</a:t>
            </a:r>
            <a:r>
              <a:rPr lang="en-US" sz="1200" dirty="0">
                <a:solidFill>
                  <a:schemeClr val="accent2"/>
                </a:solidFill>
                <a:latin typeface="Calibri" pitchFamily="34" charset="0"/>
                <a:cs typeface="Calibri" pitchFamily="34" charset="-120"/>
              </a:rPr>
              <a:t>, </a:t>
            </a:r>
            <a:r>
              <a:rPr lang="en-US" sz="1200" dirty="0">
                <a:solidFill>
                  <a:schemeClr val="accent3"/>
                </a:solidFill>
                <a:latin typeface="Calibri" pitchFamily="34" charset="0"/>
                <a:cs typeface="Calibri" pitchFamily="34" charset="-120"/>
              </a:rPr>
              <a:t>full-stack</a:t>
            </a:r>
            <a:r>
              <a:rPr lang="en-US" sz="1200" dirty="0">
                <a:solidFill>
                  <a:schemeClr val="accent2"/>
                </a:solidFill>
                <a:latin typeface="Calibri" pitchFamily="34" charset="0"/>
                <a:cs typeface="Calibri" pitchFamily="34" charset="-120"/>
              </a:rPr>
              <a:t> </a:t>
            </a:r>
            <a:r>
              <a:rPr lang="en-US" sz="1200" b="1" dirty="0">
                <a:solidFill>
                  <a:schemeClr val="accent2"/>
                </a:solidFill>
                <a:latin typeface="Calibri" pitchFamily="34" charset="0"/>
                <a:cs typeface="Calibri" pitchFamily="34" charset="-120"/>
              </a:rPr>
              <a:t>self-service</a:t>
            </a:r>
            <a:r>
              <a:rPr lang="en-US" sz="1200" dirty="0">
                <a:solidFill>
                  <a:schemeClr val="accent2"/>
                </a:solidFill>
                <a:latin typeface="Calibri" pitchFamily="34" charset="0"/>
                <a:cs typeface="Calibri" pitchFamily="34" charset="-120"/>
              </a:rPr>
              <a:t> </a:t>
            </a:r>
            <a:r>
              <a:rPr lang="en-US" sz="1200" dirty="0">
                <a:solidFill>
                  <a:schemeClr val="accent3"/>
                </a:solidFill>
                <a:latin typeface="Calibri" pitchFamily="34" charset="0"/>
                <a:cs typeface="Calibri" pitchFamily="34" charset="-120"/>
              </a:rPr>
              <a:t>ordering and business </a:t>
            </a:r>
            <a:r>
              <a:rPr lang="en-US" sz="1200" b="1" dirty="0">
                <a:solidFill>
                  <a:schemeClr val="accent2"/>
                </a:solidFill>
                <a:latin typeface="Calibri" pitchFamily="34" charset="0"/>
                <a:cs typeface="Calibri" pitchFamily="34" charset="-120"/>
              </a:rPr>
              <a:t>management platform </a:t>
            </a:r>
            <a:r>
              <a:rPr lang="en-US" sz="1200" dirty="0">
                <a:solidFill>
                  <a:schemeClr val="accent3"/>
                </a:solidFill>
                <a:latin typeface="Calibri" pitchFamily="34" charset="0"/>
                <a:cs typeface="Calibri" pitchFamily="34" charset="-120"/>
              </a:rPr>
              <a:t>– built for real businesses, by a team of student developers. </a:t>
            </a:r>
            <a:endParaRPr lang="en-US" sz="1200" dirty="0">
              <a:solidFill>
                <a:schemeClr val="accent3"/>
              </a:solidFill>
            </a:endParaRPr>
          </a:p>
        </p:txBody>
      </p:sp>
      <p:sp>
        <p:nvSpPr>
          <p:cNvPr id="10" name="Shape 8"/>
          <p:cNvSpPr/>
          <p:nvPr/>
        </p:nvSpPr>
        <p:spPr>
          <a:xfrm>
            <a:off x="4663440" y="1280160"/>
            <a:ext cx="4023360" cy="100584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11" name="Text 9"/>
          <p:cNvSpPr/>
          <p:nvPr/>
        </p:nvSpPr>
        <p:spPr>
          <a:xfrm>
            <a:off x="4846320" y="1325880"/>
            <a:ext cx="914400" cy="914400"/>
          </a:xfrm>
          <a:prstGeom prst="rect">
            <a:avLst/>
          </a:prstGeom>
          <a:noFill/>
          <a:ln/>
        </p:spPr>
        <p:txBody>
          <a:bodyPr wrap="square" lIns="0" tIns="0" rIns="0" bIns="0" rtlCol="0" anchor="ctr"/>
          <a:lstStyle/>
          <a:p>
            <a:pPr marL="0" indent="0" algn="ctr">
              <a:buNone/>
            </a:pPr>
            <a:r>
              <a:rPr lang="en-US" sz="4800" b="1" dirty="0">
                <a:solidFill>
                  <a:srgbClr val="3BB77E"/>
                </a:solidFill>
                <a:latin typeface="Calibri" pitchFamily="34" charset="0"/>
                <a:cs typeface="Calibri" pitchFamily="34" charset="-120"/>
              </a:rPr>
              <a:t>5</a:t>
            </a:r>
            <a:endParaRPr lang="en-US" sz="4800" dirty="0"/>
          </a:p>
        </p:txBody>
      </p:sp>
      <p:sp>
        <p:nvSpPr>
          <p:cNvPr id="12" name="Text 10"/>
          <p:cNvSpPr/>
          <p:nvPr/>
        </p:nvSpPr>
        <p:spPr>
          <a:xfrm>
            <a:off x="5852160" y="1572768"/>
            <a:ext cx="2560320" cy="457200"/>
          </a:xfrm>
          <a:prstGeom prst="rect">
            <a:avLst/>
          </a:prstGeom>
          <a:noFill/>
          <a:ln/>
        </p:spPr>
        <p:txBody>
          <a:bodyPr wrap="square" lIns="0" tIns="0" rIns="0" bIns="0" rtlCol="0" anchor="ctr"/>
          <a:lstStyle/>
          <a:p>
            <a:pPr marL="0" indent="0">
              <a:buNone/>
            </a:pPr>
            <a:r>
              <a:rPr lang="en-US" sz="1600" b="1" dirty="0">
                <a:solidFill>
                  <a:srgbClr val="1B2B5E"/>
                </a:solidFill>
                <a:latin typeface="Calibri" pitchFamily="34" charset="0"/>
                <a:cs typeface="Calibri" pitchFamily="34" charset="-120"/>
              </a:rPr>
              <a:t>Agile Sprints</a:t>
            </a:r>
            <a:endParaRPr lang="en-US" sz="1600" dirty="0"/>
          </a:p>
        </p:txBody>
      </p:sp>
      <p:sp>
        <p:nvSpPr>
          <p:cNvPr id="13" name="Shape 11"/>
          <p:cNvSpPr/>
          <p:nvPr/>
        </p:nvSpPr>
        <p:spPr>
          <a:xfrm>
            <a:off x="4663440" y="2468880"/>
            <a:ext cx="4023360" cy="1005840"/>
          </a:xfrm>
          <a:prstGeom prst="rect">
            <a:avLst/>
          </a:prstGeom>
          <a:solidFill>
            <a:srgbClr val="1B2B5E"/>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14" name="Text 12"/>
          <p:cNvSpPr/>
          <p:nvPr/>
        </p:nvSpPr>
        <p:spPr>
          <a:xfrm>
            <a:off x="4846320" y="2514600"/>
            <a:ext cx="914400" cy="914400"/>
          </a:xfrm>
          <a:prstGeom prst="rect">
            <a:avLst/>
          </a:prstGeom>
          <a:noFill/>
          <a:ln/>
        </p:spPr>
        <p:txBody>
          <a:bodyPr wrap="square" lIns="0" tIns="0" rIns="0" bIns="0" rtlCol="0" anchor="ctr"/>
          <a:lstStyle/>
          <a:p>
            <a:pPr marL="0" indent="0" algn="ctr">
              <a:buNone/>
            </a:pPr>
            <a:r>
              <a:rPr lang="en-US" sz="4800" b="1" dirty="0">
                <a:solidFill>
                  <a:srgbClr val="3BB77E"/>
                </a:solidFill>
                <a:latin typeface="Calibri" pitchFamily="34" charset="0"/>
                <a:ea typeface="Calibri" pitchFamily="34" charset="-122"/>
                <a:cs typeface="Calibri" pitchFamily="34" charset="-120"/>
              </a:rPr>
              <a:t>6</a:t>
            </a:r>
            <a:endParaRPr lang="en-US" sz="4800" dirty="0"/>
          </a:p>
        </p:txBody>
      </p:sp>
      <p:sp>
        <p:nvSpPr>
          <p:cNvPr id="15" name="Text 13"/>
          <p:cNvSpPr/>
          <p:nvPr/>
        </p:nvSpPr>
        <p:spPr>
          <a:xfrm>
            <a:off x="5852160" y="2761488"/>
            <a:ext cx="256032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Team Members</a:t>
            </a:r>
            <a:endParaRPr lang="en-US" sz="1600" dirty="0"/>
          </a:p>
        </p:txBody>
      </p:sp>
      <p:sp>
        <p:nvSpPr>
          <p:cNvPr id="16" name="Shape 14"/>
          <p:cNvSpPr/>
          <p:nvPr/>
        </p:nvSpPr>
        <p:spPr>
          <a:xfrm>
            <a:off x="4663440" y="3657600"/>
            <a:ext cx="4023360" cy="100584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17" name="Text 15"/>
          <p:cNvSpPr/>
          <p:nvPr/>
        </p:nvSpPr>
        <p:spPr>
          <a:xfrm>
            <a:off x="4762195" y="3703320"/>
            <a:ext cx="998525" cy="914400"/>
          </a:xfrm>
          <a:prstGeom prst="rect">
            <a:avLst/>
          </a:prstGeom>
          <a:noFill/>
          <a:ln/>
        </p:spPr>
        <p:txBody>
          <a:bodyPr wrap="square" lIns="0" tIns="0" rIns="0" bIns="0" rtlCol="0" anchor="ctr"/>
          <a:lstStyle/>
          <a:p>
            <a:pPr marL="0" indent="0" algn="ctr">
              <a:buNone/>
            </a:pPr>
            <a:r>
              <a:rPr lang="en-US" sz="4800" b="1" dirty="0">
                <a:solidFill>
                  <a:srgbClr val="3BB77E"/>
                </a:solidFill>
                <a:latin typeface="Calibri" pitchFamily="34" charset="0"/>
                <a:cs typeface="Calibri" pitchFamily="34" charset="-120"/>
              </a:rPr>
              <a:t>15</a:t>
            </a:r>
            <a:r>
              <a:rPr lang="en-US" sz="3600" b="1" dirty="0">
                <a:solidFill>
                  <a:srgbClr val="3BB77E"/>
                </a:solidFill>
                <a:latin typeface="Calibri" pitchFamily="34" charset="0"/>
                <a:cs typeface="Calibri" pitchFamily="34" charset="-120"/>
              </a:rPr>
              <a:t>+</a:t>
            </a:r>
            <a:endParaRPr lang="en-US" sz="4800" dirty="0"/>
          </a:p>
        </p:txBody>
      </p:sp>
      <p:sp>
        <p:nvSpPr>
          <p:cNvPr id="18" name="Text 16"/>
          <p:cNvSpPr/>
          <p:nvPr/>
        </p:nvSpPr>
        <p:spPr>
          <a:xfrm>
            <a:off x="5852160" y="3950208"/>
            <a:ext cx="2560320" cy="457200"/>
          </a:xfrm>
          <a:prstGeom prst="rect">
            <a:avLst/>
          </a:prstGeom>
          <a:noFill/>
          <a:ln/>
        </p:spPr>
        <p:txBody>
          <a:bodyPr wrap="square" lIns="0" tIns="0" rIns="0" bIns="0" rtlCol="0" anchor="ctr"/>
          <a:lstStyle/>
          <a:p>
            <a:pPr marL="0" indent="0">
              <a:buNone/>
            </a:pPr>
            <a:r>
              <a:rPr lang="en-US" sz="1600" b="1" dirty="0">
                <a:solidFill>
                  <a:srgbClr val="1B2B5E"/>
                </a:solidFill>
                <a:latin typeface="Calibri" pitchFamily="34" charset="0"/>
                <a:cs typeface="Calibri" pitchFamily="34" charset="-120"/>
              </a:rPr>
              <a:t>User Features Done 🎉</a:t>
            </a:r>
            <a:endParaRPr lang="en-US" sz="1600" dirty="0"/>
          </a:p>
        </p:txBody>
      </p:sp>
      <p:sp>
        <p:nvSpPr>
          <p:cNvPr id="19" name="Text 4">
            <a:extLst>
              <a:ext uri="{FF2B5EF4-FFF2-40B4-BE49-F238E27FC236}">
                <a16:creationId xmlns:a16="http://schemas.microsoft.com/office/drawing/2014/main" id="{E6A7EF37-E701-B089-536B-846DD2F90B82}"/>
              </a:ext>
            </a:extLst>
          </p:cNvPr>
          <p:cNvSpPr/>
          <p:nvPr/>
        </p:nvSpPr>
        <p:spPr>
          <a:xfrm>
            <a:off x="548640" y="1389889"/>
            <a:ext cx="3474720" cy="736092"/>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A </a:t>
            </a:r>
            <a:r>
              <a:rPr lang="en-US" sz="1200" b="1" dirty="0">
                <a:solidFill>
                  <a:srgbClr val="374151"/>
                </a:solidFill>
                <a:latin typeface="Calibri" pitchFamily="34" charset="0"/>
                <a:ea typeface="Calibri" pitchFamily="34" charset="-122"/>
                <a:cs typeface="Calibri" pitchFamily="34" charset="-120"/>
              </a:rPr>
              <a:t>centralized web application </a:t>
            </a:r>
            <a:r>
              <a:rPr lang="en-US" sz="1200" dirty="0">
                <a:solidFill>
                  <a:srgbClr val="374151"/>
                </a:solidFill>
                <a:latin typeface="Calibri" pitchFamily="34" charset="0"/>
                <a:ea typeface="Calibri" pitchFamily="34" charset="-122"/>
                <a:cs typeface="Calibri" pitchFamily="34" charset="-120"/>
              </a:rPr>
              <a:t>designed to streamline operations for small to mid-sized businesses.</a:t>
            </a:r>
            <a:endParaRPr lang="en-US" sz="1200" dirty="0"/>
          </a:p>
        </p:txBody>
      </p:sp>
      <p:sp>
        <p:nvSpPr>
          <p:cNvPr id="20" name="Text 2">
            <a:extLst>
              <a:ext uri="{FF2B5EF4-FFF2-40B4-BE49-F238E27FC236}">
                <a16:creationId xmlns:a16="http://schemas.microsoft.com/office/drawing/2014/main" id="{9F7911BB-5986-21B9-D273-1041466AAE32}"/>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Serina Rodriguez</a:t>
            </a:r>
            <a:endParaRPr lang="en-US" sz="800" dirty="0"/>
          </a:p>
        </p:txBody>
      </p:sp>
      <p:sp>
        <p:nvSpPr>
          <p:cNvPr id="21" name="Text 3">
            <a:extLst>
              <a:ext uri="{FF2B5EF4-FFF2-40B4-BE49-F238E27FC236}">
                <a16:creationId xmlns:a16="http://schemas.microsoft.com/office/drawing/2014/main" id="{A998996D-EB5B-A159-A1A7-1982757F401D}"/>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PM | SCRUM Master</a:t>
            </a:r>
            <a:endParaRPr lang="en-US" sz="700" dirty="0"/>
          </a:p>
        </p:txBody>
      </p:sp>
    </p:spTree>
  </p:cSld>
  <p:clrMapOvr>
    <a:masterClrMapping/>
  </p:clrMapOvr>
  <mc:AlternateContent xmlns:mc="http://schemas.openxmlformats.org/markup-compatibility/2006" xmlns:p14="http://schemas.microsoft.com/office/powerpoint/2010/main">
    <mc:Choice Requires="p14">
      <p:transition spd="slow" p14:dur="1750">
        <p:pull/>
      </p:transition>
    </mc:Choice>
    <mc:Fallback xmlns="">
      <p:transition spd="slow">
        <p:pull/>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40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par>
                              <p:cTn id="12" fill="hold">
                                <p:stCondLst>
                                  <p:cond delay="5150"/>
                                </p:stCondLst>
                                <p:childTnLst>
                                  <p:par>
                                    <p:cTn id="13" presetID="37" presetClass="entr" presetSubtype="0" fill="hold" grpId="0" nodeType="afterEffect">
                                      <p:stCondLst>
                                        <p:cond delay="100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900" decel="100000" fill="hold"/>
                                            <p:tgtEl>
                                              <p:spTgt spid="8"/>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par>
                              <p:cTn id="19" fill="hold">
                                <p:stCondLst>
                                  <p:cond delay="16150"/>
                                </p:stCondLst>
                                <p:childTnLst>
                                  <p:par>
                                    <p:cTn id="20" presetID="37" presetClass="entr" presetSubtype="0" fill="hold" grpId="0" nodeType="afterEffect">
                                      <p:stCondLst>
                                        <p:cond delay="10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900" decel="100000" fill="hold"/>
                                            <p:tgtEl>
                                              <p:spTgt spid="9"/>
                                            </p:tgtEl>
                                            <p:attrNameLst>
                                              <p:attrName>ppt_y</p:attrName>
                                            </p:attrNameLst>
                                          </p:cBhvr>
                                          <p:tavLst>
                                            <p:tav tm="0">
                                              <p:val>
                                                <p:strVal val="#ppt_y+1"/>
                                              </p:val>
                                            </p:tav>
                                            <p:tav tm="100000">
                                              <p:val>
                                                <p:strVal val="#ppt_y-.03"/>
                                              </p:val>
                                            </p:tav>
                                          </p:tavLst>
                                        </p:anim>
                                        <p:anim calcmode="lin" valueType="num">
                                          <p:cBhvr>
                                            <p:cTn id="25"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par>
                              <p:cTn id="26" fill="hold">
                                <p:stCondLst>
                                  <p:cond delay="18150"/>
                                </p:stCondLst>
                                <p:childTnLst>
                                  <p:par>
                                    <p:cTn id="27" presetID="2" presetClass="entr" presetSubtype="2" fill="hold" nodeType="afterEffect" p14:presetBounceEnd="50000">
                                      <p:stCondLst>
                                        <p:cond delay="35000"/>
                                      </p:stCondLst>
                                      <p:childTnLst>
                                        <p:set>
                                          <p:cBhvr>
                                            <p:cTn id="28" dur="1" fill="hold">
                                              <p:stCondLst>
                                                <p:cond delay="0"/>
                                              </p:stCondLst>
                                            </p:cTn>
                                            <p:tgtEl>
                                              <p:spTgt spid="11">
                                                <p:txEl>
                                                  <p:pRg st="0" end="0"/>
                                                </p:txEl>
                                              </p:spTgt>
                                            </p:tgtEl>
                                            <p:attrNameLst>
                                              <p:attrName>style.visibility</p:attrName>
                                            </p:attrNameLst>
                                          </p:cBhvr>
                                          <p:to>
                                            <p:strVal val="visible"/>
                                          </p:to>
                                        </p:set>
                                        <p:anim calcmode="lin" valueType="num" p14:bounceEnd="50000">
                                          <p:cBhvr additive="base">
                                            <p:cTn id="29" dur="500" fill="hold"/>
                                            <p:tgtEl>
                                              <p:spTgt spid="11">
                                                <p:txEl>
                                                  <p:pRg st="0" end="0"/>
                                                </p:txEl>
                                              </p:spTgt>
                                            </p:tgtEl>
                                            <p:attrNameLst>
                                              <p:attrName>ppt_x</p:attrName>
                                            </p:attrNameLst>
                                          </p:cBhvr>
                                          <p:tavLst>
                                            <p:tav tm="0">
                                              <p:val>
                                                <p:strVal val="1+#ppt_w/2"/>
                                              </p:val>
                                            </p:tav>
                                            <p:tav tm="100000">
                                              <p:val>
                                                <p:strVal val="#ppt_x"/>
                                              </p:val>
                                            </p:tav>
                                          </p:tavLst>
                                        </p:anim>
                                        <p:anim calcmode="lin" valueType="num" p14:bounceEnd="50000">
                                          <p:cBhvr additive="base">
                                            <p:cTn id="30"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par>
                              <p:cTn id="31" fill="hold">
                                <p:stCondLst>
                                  <p:cond delay="53650"/>
                                </p:stCondLst>
                                <p:childTnLst>
                                  <p:par>
                                    <p:cTn id="32" presetID="2" presetClass="entr" presetSubtype="2" fill="hold" grpId="0" nodeType="afterEffect" p14:presetBounceEnd="50000">
                                      <p:stCondLst>
                                        <p:cond delay="1000"/>
                                      </p:stCondLst>
                                      <p:childTnLst>
                                        <p:set>
                                          <p:cBhvr>
                                            <p:cTn id="33" dur="1" fill="hold">
                                              <p:stCondLst>
                                                <p:cond delay="0"/>
                                              </p:stCondLst>
                                            </p:cTn>
                                            <p:tgtEl>
                                              <p:spTgt spid="14"/>
                                            </p:tgtEl>
                                            <p:attrNameLst>
                                              <p:attrName>style.visibility</p:attrName>
                                            </p:attrNameLst>
                                          </p:cBhvr>
                                          <p:to>
                                            <p:strVal val="visible"/>
                                          </p:to>
                                        </p:set>
                                        <p:anim calcmode="lin" valueType="num" p14:bounceEnd="50000">
                                          <p:cBhvr additive="base">
                                            <p:cTn id="34" dur="500" fill="hold"/>
                                            <p:tgtEl>
                                              <p:spTgt spid="14"/>
                                            </p:tgtEl>
                                            <p:attrNameLst>
                                              <p:attrName>ppt_x</p:attrName>
                                            </p:attrNameLst>
                                          </p:cBhvr>
                                          <p:tavLst>
                                            <p:tav tm="0">
                                              <p:val>
                                                <p:strVal val="1+#ppt_w/2"/>
                                              </p:val>
                                            </p:tav>
                                            <p:tav tm="100000">
                                              <p:val>
                                                <p:strVal val="#ppt_x"/>
                                              </p:val>
                                            </p:tav>
                                          </p:tavLst>
                                        </p:anim>
                                        <p:anim calcmode="lin" valueType="num" p14:bounceEnd="50000">
                                          <p:cBhvr additive="base">
                                            <p:cTn id="35" dur="500" fill="hold"/>
                                            <p:tgtEl>
                                              <p:spTgt spid="14"/>
                                            </p:tgtEl>
                                            <p:attrNameLst>
                                              <p:attrName>ppt_y</p:attrName>
                                            </p:attrNameLst>
                                          </p:cBhvr>
                                          <p:tavLst>
                                            <p:tav tm="0">
                                              <p:val>
                                                <p:strVal val="#ppt_y"/>
                                              </p:val>
                                            </p:tav>
                                            <p:tav tm="100000">
                                              <p:val>
                                                <p:strVal val="#ppt_y"/>
                                              </p:val>
                                            </p:tav>
                                          </p:tavLst>
                                        </p:anim>
                                      </p:childTnLst>
                                    </p:cTn>
                                  </p:par>
                                </p:childTnLst>
                              </p:cTn>
                            </p:par>
                            <p:par>
                              <p:cTn id="36" fill="hold">
                                <p:stCondLst>
                                  <p:cond delay="55150"/>
                                </p:stCondLst>
                                <p:childTnLst>
                                  <p:par>
                                    <p:cTn id="37" presetID="2" presetClass="entr" presetSubtype="2" fill="hold" grpId="0" nodeType="afterEffect" p14:presetBounceEnd="50000">
                                      <p:stCondLst>
                                        <p:cond delay="1000"/>
                                      </p:stCondLst>
                                      <p:childTnLst>
                                        <p:set>
                                          <p:cBhvr>
                                            <p:cTn id="38" dur="1" fill="hold">
                                              <p:stCondLst>
                                                <p:cond delay="0"/>
                                              </p:stCondLst>
                                            </p:cTn>
                                            <p:tgtEl>
                                              <p:spTgt spid="17"/>
                                            </p:tgtEl>
                                            <p:attrNameLst>
                                              <p:attrName>style.visibility</p:attrName>
                                            </p:attrNameLst>
                                          </p:cBhvr>
                                          <p:to>
                                            <p:strVal val="visible"/>
                                          </p:to>
                                        </p:set>
                                        <p:anim calcmode="lin" valueType="num" p14:bounceEnd="50000">
                                          <p:cBhvr additive="base">
                                            <p:cTn id="39" dur="500" fill="hold"/>
                                            <p:tgtEl>
                                              <p:spTgt spid="17"/>
                                            </p:tgtEl>
                                            <p:attrNameLst>
                                              <p:attrName>ppt_x</p:attrName>
                                            </p:attrNameLst>
                                          </p:cBhvr>
                                          <p:tavLst>
                                            <p:tav tm="0">
                                              <p:val>
                                                <p:strVal val="1+#ppt_w/2"/>
                                              </p:val>
                                            </p:tav>
                                            <p:tav tm="100000">
                                              <p:val>
                                                <p:strVal val="#ppt_x"/>
                                              </p:val>
                                            </p:tav>
                                          </p:tavLst>
                                        </p:anim>
                                        <p:anim calcmode="lin" valueType="num" p14:bounceEnd="50000">
                                          <p:cBhvr additive="base">
                                            <p:cTn id="40"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4" grpId="0" animBg="1"/>
          <p:bldP spid="17"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40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par>
                              <p:cTn id="12" fill="hold">
                                <p:stCondLst>
                                  <p:cond delay="5150"/>
                                </p:stCondLst>
                                <p:childTnLst>
                                  <p:par>
                                    <p:cTn id="13" presetID="37" presetClass="entr" presetSubtype="0" fill="hold" grpId="0" nodeType="afterEffect">
                                      <p:stCondLst>
                                        <p:cond delay="100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900" decel="100000" fill="hold"/>
                                            <p:tgtEl>
                                              <p:spTgt spid="8"/>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par>
                              <p:cTn id="19" fill="hold">
                                <p:stCondLst>
                                  <p:cond delay="16150"/>
                                </p:stCondLst>
                                <p:childTnLst>
                                  <p:par>
                                    <p:cTn id="20" presetID="37" presetClass="entr" presetSubtype="0" fill="hold" grpId="0" nodeType="afterEffect">
                                      <p:stCondLst>
                                        <p:cond delay="10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900" decel="100000" fill="hold"/>
                                            <p:tgtEl>
                                              <p:spTgt spid="9"/>
                                            </p:tgtEl>
                                            <p:attrNameLst>
                                              <p:attrName>ppt_y</p:attrName>
                                            </p:attrNameLst>
                                          </p:cBhvr>
                                          <p:tavLst>
                                            <p:tav tm="0">
                                              <p:val>
                                                <p:strVal val="#ppt_y+1"/>
                                              </p:val>
                                            </p:tav>
                                            <p:tav tm="100000">
                                              <p:val>
                                                <p:strVal val="#ppt_y-.03"/>
                                              </p:val>
                                            </p:tav>
                                          </p:tavLst>
                                        </p:anim>
                                        <p:anim calcmode="lin" valueType="num">
                                          <p:cBhvr>
                                            <p:cTn id="25"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par>
                              <p:cTn id="26" fill="hold">
                                <p:stCondLst>
                                  <p:cond delay="18150"/>
                                </p:stCondLst>
                                <p:childTnLst>
                                  <p:par>
                                    <p:cTn id="27" presetID="2" presetClass="entr" presetSubtype="2" fill="hold" nodeType="afterEffect">
                                      <p:stCondLst>
                                        <p:cond delay="35000"/>
                                      </p:stCondLst>
                                      <p:childTnLst>
                                        <p:set>
                                          <p:cBhvr>
                                            <p:cTn id="28" dur="1" fill="hold">
                                              <p:stCondLst>
                                                <p:cond delay="0"/>
                                              </p:stCondLst>
                                            </p:cTn>
                                            <p:tgtEl>
                                              <p:spTgt spid="11">
                                                <p:txEl>
                                                  <p:pRg st="0" end="0"/>
                                                </p:txEl>
                                              </p:spTgt>
                                            </p:tgtEl>
                                            <p:attrNameLst>
                                              <p:attrName>style.visibility</p:attrName>
                                            </p:attrNameLst>
                                          </p:cBhvr>
                                          <p:to>
                                            <p:strVal val="visible"/>
                                          </p:to>
                                        </p:set>
                                        <p:anim calcmode="lin" valueType="num">
                                          <p:cBhvr additive="base">
                                            <p:cTn id="29" dur="5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par>
                              <p:cTn id="31" fill="hold">
                                <p:stCondLst>
                                  <p:cond delay="53650"/>
                                </p:stCondLst>
                                <p:childTnLst>
                                  <p:par>
                                    <p:cTn id="32" presetID="2" presetClass="entr" presetSubtype="2" fill="hold" grpId="0" nodeType="afterEffect">
                                      <p:stCondLst>
                                        <p:cond delay="100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1+#ppt_w/2"/>
                                              </p:val>
                                            </p:tav>
                                            <p:tav tm="100000">
                                              <p:val>
                                                <p:strVal val="#ppt_x"/>
                                              </p:val>
                                            </p:tav>
                                          </p:tavLst>
                                        </p:anim>
                                        <p:anim calcmode="lin" valueType="num">
                                          <p:cBhvr additive="base">
                                            <p:cTn id="35" dur="500" fill="hold"/>
                                            <p:tgtEl>
                                              <p:spTgt spid="14"/>
                                            </p:tgtEl>
                                            <p:attrNameLst>
                                              <p:attrName>ppt_y</p:attrName>
                                            </p:attrNameLst>
                                          </p:cBhvr>
                                          <p:tavLst>
                                            <p:tav tm="0">
                                              <p:val>
                                                <p:strVal val="#ppt_y"/>
                                              </p:val>
                                            </p:tav>
                                            <p:tav tm="100000">
                                              <p:val>
                                                <p:strVal val="#ppt_y"/>
                                              </p:val>
                                            </p:tav>
                                          </p:tavLst>
                                        </p:anim>
                                      </p:childTnLst>
                                    </p:cTn>
                                  </p:par>
                                </p:childTnLst>
                              </p:cTn>
                            </p:par>
                            <p:par>
                              <p:cTn id="36" fill="hold">
                                <p:stCondLst>
                                  <p:cond delay="55150"/>
                                </p:stCondLst>
                                <p:childTnLst>
                                  <p:par>
                                    <p:cTn id="37" presetID="2" presetClass="entr" presetSubtype="2" fill="hold" grpId="0" nodeType="afterEffect">
                                      <p:stCondLst>
                                        <p:cond delay="100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fill="hold"/>
                                            <p:tgtEl>
                                              <p:spTgt spid="17"/>
                                            </p:tgtEl>
                                            <p:attrNameLst>
                                              <p:attrName>ppt_x</p:attrName>
                                            </p:attrNameLst>
                                          </p:cBhvr>
                                          <p:tavLst>
                                            <p:tav tm="0">
                                              <p:val>
                                                <p:strVal val="1+#ppt_w/2"/>
                                              </p:val>
                                            </p:tav>
                                            <p:tav tm="100000">
                                              <p:val>
                                                <p:strVal val="#ppt_x"/>
                                              </p:val>
                                            </p:tav>
                                          </p:tavLst>
                                        </p:anim>
                                        <p:anim calcmode="lin" valueType="num">
                                          <p:cBhvr additive="base">
                                            <p:cTn id="40"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4" grpId="0" animBg="1"/>
          <p:bldP spid="17" grpId="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DEVELOPMENT PROCESS</a:t>
            </a:r>
            <a:endParaRPr lang="en-US" sz="90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marL="0" indent="0" algn="l">
              <a:buNone/>
            </a:pPr>
            <a:r>
              <a:rPr lang="en-US" sz="3200" b="1" dirty="0">
                <a:solidFill>
                  <a:srgbClr val="1B2B5E"/>
                </a:solidFill>
                <a:latin typeface="Calibri" pitchFamily="34" charset="0"/>
                <a:ea typeface="Calibri" pitchFamily="34" charset="-122"/>
                <a:cs typeface="Calibri" pitchFamily="34" charset="-120"/>
              </a:rPr>
              <a:t>Agile Workflow &amp; Sprint Structure</a:t>
            </a:r>
            <a:endParaRPr lang="en-US" sz="3200" dirty="0"/>
          </a:p>
        </p:txBody>
      </p:sp>
      <p:sp>
        <p:nvSpPr>
          <p:cNvPr id="4" name="Shape 2"/>
          <p:cNvSpPr/>
          <p:nvPr/>
        </p:nvSpPr>
        <p:spPr>
          <a:xfrm>
            <a:off x="365760" y="1417320"/>
            <a:ext cx="1554480" cy="658368"/>
          </a:xfrm>
          <a:prstGeom prst="rect">
            <a:avLst/>
          </a:prstGeom>
          <a:solidFill>
            <a:srgbClr val="1B2B5E"/>
          </a:solidFill>
          <a:ln w="12700">
            <a:solidFill>
              <a:srgbClr val="1B2B5E"/>
            </a:solidFill>
            <a:prstDash val="solid"/>
          </a:ln>
        </p:spPr>
        <p:txBody>
          <a:bodyPr/>
          <a:lstStyle/>
          <a:p>
            <a:endParaRPr lang="en-US"/>
          </a:p>
        </p:txBody>
      </p:sp>
      <p:sp>
        <p:nvSpPr>
          <p:cNvPr id="5" name="Text 3"/>
          <p:cNvSpPr/>
          <p:nvPr/>
        </p:nvSpPr>
        <p:spPr>
          <a:xfrm>
            <a:off x="365760" y="1417320"/>
            <a:ext cx="1554480"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S1</a:t>
            </a:r>
            <a:endParaRPr lang="en-US" sz="2200" dirty="0"/>
          </a:p>
        </p:txBody>
      </p:sp>
      <p:sp>
        <p:nvSpPr>
          <p:cNvPr id="6" name="Text 4"/>
          <p:cNvSpPr/>
          <p:nvPr/>
        </p:nvSpPr>
        <p:spPr>
          <a:xfrm>
            <a:off x="320040" y="2130552"/>
            <a:ext cx="1645920" cy="274320"/>
          </a:xfrm>
          <a:prstGeom prst="rect">
            <a:avLst/>
          </a:prstGeom>
          <a:noFill/>
          <a:ln/>
        </p:spPr>
        <p:txBody>
          <a:bodyPr wrap="square" lIns="0" tIns="0" rIns="0" bIns="0" rtlCol="0" anchor="ctr"/>
          <a:lstStyle/>
          <a:p>
            <a:pPr marL="0" indent="0" algn="ctr">
              <a:buNone/>
            </a:pPr>
            <a:r>
              <a:rPr lang="en-US" sz="1100" b="1" dirty="0">
                <a:solidFill>
                  <a:srgbClr val="1B2B5E"/>
                </a:solidFill>
                <a:latin typeface="Calibri" pitchFamily="34" charset="0"/>
                <a:ea typeface="Calibri" pitchFamily="34" charset="-122"/>
                <a:cs typeface="Calibri" pitchFamily="34" charset="-120"/>
              </a:rPr>
              <a:t>Foundation</a:t>
            </a:r>
            <a:endParaRPr lang="en-US" sz="1100" dirty="0"/>
          </a:p>
        </p:txBody>
      </p:sp>
      <p:sp>
        <p:nvSpPr>
          <p:cNvPr id="7" name="Text 5"/>
          <p:cNvSpPr/>
          <p:nvPr/>
        </p:nvSpPr>
        <p:spPr>
          <a:xfrm>
            <a:off x="320040" y="2404872"/>
            <a:ext cx="1645920" cy="4572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cs typeface="Calibri" pitchFamily="34" charset="-120"/>
              </a:rPr>
              <a:t>Architecture, Planning, Standards, Development Environment</a:t>
            </a:r>
            <a:endParaRPr lang="en-US" sz="900" dirty="0"/>
          </a:p>
        </p:txBody>
      </p:sp>
      <p:sp>
        <p:nvSpPr>
          <p:cNvPr id="8" name="Shape 6"/>
          <p:cNvSpPr/>
          <p:nvPr/>
        </p:nvSpPr>
        <p:spPr>
          <a:xfrm>
            <a:off x="1920240" y="1709928"/>
            <a:ext cx="164592" cy="73152"/>
          </a:xfrm>
          <a:prstGeom prst="rect">
            <a:avLst/>
          </a:prstGeom>
          <a:solidFill>
            <a:srgbClr val="CBD5E1"/>
          </a:solidFill>
          <a:ln w="12700">
            <a:solidFill>
              <a:srgbClr val="CBD5E1"/>
            </a:solidFill>
            <a:prstDash val="solid"/>
          </a:ln>
        </p:spPr>
        <p:txBody>
          <a:bodyPr/>
          <a:lstStyle/>
          <a:p>
            <a:endParaRPr lang="en-US" dirty="0"/>
          </a:p>
        </p:txBody>
      </p:sp>
      <p:sp>
        <p:nvSpPr>
          <p:cNvPr id="9" name="Shape 7"/>
          <p:cNvSpPr/>
          <p:nvPr/>
        </p:nvSpPr>
        <p:spPr>
          <a:xfrm>
            <a:off x="2084832" y="1417320"/>
            <a:ext cx="1554480" cy="658368"/>
          </a:xfrm>
          <a:prstGeom prst="rect">
            <a:avLst/>
          </a:prstGeom>
          <a:solidFill>
            <a:srgbClr val="1B2B5E"/>
          </a:solidFill>
          <a:ln w="12700">
            <a:solidFill>
              <a:srgbClr val="1B2B5E"/>
            </a:solidFill>
            <a:prstDash val="solid"/>
          </a:ln>
        </p:spPr>
        <p:txBody>
          <a:bodyPr/>
          <a:lstStyle/>
          <a:p>
            <a:endParaRPr lang="en-US"/>
          </a:p>
        </p:txBody>
      </p:sp>
      <p:sp>
        <p:nvSpPr>
          <p:cNvPr id="10" name="Text 8"/>
          <p:cNvSpPr/>
          <p:nvPr/>
        </p:nvSpPr>
        <p:spPr>
          <a:xfrm>
            <a:off x="2084832" y="1417320"/>
            <a:ext cx="1554480"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S2</a:t>
            </a:r>
            <a:endParaRPr lang="en-US" sz="2200" dirty="0"/>
          </a:p>
        </p:txBody>
      </p:sp>
      <p:sp>
        <p:nvSpPr>
          <p:cNvPr id="11" name="Text 9"/>
          <p:cNvSpPr/>
          <p:nvPr/>
        </p:nvSpPr>
        <p:spPr>
          <a:xfrm>
            <a:off x="2039112" y="2130552"/>
            <a:ext cx="1645920" cy="274320"/>
          </a:xfrm>
          <a:prstGeom prst="rect">
            <a:avLst/>
          </a:prstGeom>
          <a:noFill/>
          <a:ln/>
        </p:spPr>
        <p:txBody>
          <a:bodyPr wrap="square" lIns="0" tIns="0" rIns="0" bIns="0" rtlCol="0" anchor="ctr"/>
          <a:lstStyle/>
          <a:p>
            <a:pPr marL="0" indent="0" algn="ctr">
              <a:buNone/>
            </a:pPr>
            <a:r>
              <a:rPr lang="en-US" sz="1100" b="1" dirty="0">
                <a:solidFill>
                  <a:srgbClr val="1B2B5E"/>
                </a:solidFill>
                <a:latin typeface="Calibri" pitchFamily="34" charset="0"/>
                <a:ea typeface="Calibri" pitchFamily="34" charset="-122"/>
                <a:cs typeface="Calibri" pitchFamily="34" charset="-120"/>
              </a:rPr>
              <a:t>Infrastructure &amp; Data Layer</a:t>
            </a:r>
            <a:endParaRPr lang="en-US" sz="1100" dirty="0"/>
          </a:p>
        </p:txBody>
      </p:sp>
      <p:sp>
        <p:nvSpPr>
          <p:cNvPr id="12" name="Text 10"/>
          <p:cNvSpPr/>
          <p:nvPr/>
        </p:nvSpPr>
        <p:spPr>
          <a:xfrm>
            <a:off x="2039112" y="2404872"/>
            <a:ext cx="1645920" cy="4572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Authentication, Database Management, UI shell</a:t>
            </a:r>
            <a:endParaRPr lang="en-US" sz="900" dirty="0"/>
          </a:p>
        </p:txBody>
      </p:sp>
      <p:sp>
        <p:nvSpPr>
          <p:cNvPr id="13" name="Shape 11"/>
          <p:cNvSpPr/>
          <p:nvPr/>
        </p:nvSpPr>
        <p:spPr>
          <a:xfrm>
            <a:off x="3639312" y="1709928"/>
            <a:ext cx="164592" cy="73152"/>
          </a:xfrm>
          <a:prstGeom prst="rect">
            <a:avLst/>
          </a:prstGeom>
          <a:solidFill>
            <a:srgbClr val="CBD5E1"/>
          </a:solidFill>
          <a:ln w="12700">
            <a:solidFill>
              <a:srgbClr val="CBD5E1"/>
            </a:solidFill>
            <a:prstDash val="solid"/>
          </a:ln>
        </p:spPr>
        <p:txBody>
          <a:bodyPr/>
          <a:lstStyle/>
          <a:p>
            <a:endParaRPr lang="en-US"/>
          </a:p>
        </p:txBody>
      </p:sp>
      <p:sp>
        <p:nvSpPr>
          <p:cNvPr id="14" name="Shape 12"/>
          <p:cNvSpPr/>
          <p:nvPr/>
        </p:nvSpPr>
        <p:spPr>
          <a:xfrm>
            <a:off x="3803904" y="1417320"/>
            <a:ext cx="1554480" cy="658368"/>
          </a:xfrm>
          <a:prstGeom prst="rect">
            <a:avLst/>
          </a:prstGeom>
          <a:solidFill>
            <a:srgbClr val="1B2B5E"/>
          </a:solidFill>
          <a:ln w="12700">
            <a:solidFill>
              <a:srgbClr val="1B2B5E"/>
            </a:solidFill>
            <a:prstDash val="solid"/>
          </a:ln>
        </p:spPr>
        <p:txBody>
          <a:bodyPr/>
          <a:lstStyle/>
          <a:p>
            <a:endParaRPr lang="en-US"/>
          </a:p>
        </p:txBody>
      </p:sp>
      <p:sp>
        <p:nvSpPr>
          <p:cNvPr id="15" name="Text 13"/>
          <p:cNvSpPr/>
          <p:nvPr/>
        </p:nvSpPr>
        <p:spPr>
          <a:xfrm>
            <a:off x="3803904" y="1417320"/>
            <a:ext cx="1554480"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S3</a:t>
            </a:r>
            <a:endParaRPr lang="en-US" sz="2200" dirty="0"/>
          </a:p>
        </p:txBody>
      </p:sp>
      <p:sp>
        <p:nvSpPr>
          <p:cNvPr id="16" name="Text 14"/>
          <p:cNvSpPr/>
          <p:nvPr/>
        </p:nvSpPr>
        <p:spPr>
          <a:xfrm>
            <a:off x="3758184" y="2130552"/>
            <a:ext cx="1645920" cy="274320"/>
          </a:xfrm>
          <a:prstGeom prst="rect">
            <a:avLst/>
          </a:prstGeom>
          <a:noFill/>
          <a:ln/>
        </p:spPr>
        <p:txBody>
          <a:bodyPr wrap="square" lIns="0" tIns="0" rIns="0" bIns="0" rtlCol="0" anchor="ctr"/>
          <a:lstStyle/>
          <a:p>
            <a:pPr marL="0" indent="0" algn="ctr">
              <a:buNone/>
            </a:pPr>
            <a:r>
              <a:rPr lang="en-US" sz="1100" b="1" dirty="0">
                <a:solidFill>
                  <a:srgbClr val="1B2B5E"/>
                </a:solidFill>
                <a:latin typeface="Calibri" pitchFamily="34" charset="0"/>
                <a:ea typeface="Calibri" pitchFamily="34" charset="-122"/>
                <a:cs typeface="Calibri" pitchFamily="34" charset="-120"/>
              </a:rPr>
              <a:t>Engineering Backbone</a:t>
            </a:r>
            <a:endParaRPr lang="en-US" sz="1100" dirty="0"/>
          </a:p>
        </p:txBody>
      </p:sp>
      <p:sp>
        <p:nvSpPr>
          <p:cNvPr id="17" name="Text 15"/>
          <p:cNvSpPr/>
          <p:nvPr/>
        </p:nvSpPr>
        <p:spPr>
          <a:xfrm>
            <a:off x="3758184" y="2404872"/>
            <a:ext cx="1645920" cy="4572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cs typeface="Calibri" pitchFamily="34" charset="-120"/>
              </a:rPr>
              <a:t>APIs, Authentication, Process Improvements &amp; CI Pipeline</a:t>
            </a:r>
            <a:endParaRPr lang="en-US" sz="900" dirty="0"/>
          </a:p>
        </p:txBody>
      </p:sp>
      <p:sp>
        <p:nvSpPr>
          <p:cNvPr id="18" name="Shape 16"/>
          <p:cNvSpPr/>
          <p:nvPr/>
        </p:nvSpPr>
        <p:spPr>
          <a:xfrm>
            <a:off x="5358384" y="1709928"/>
            <a:ext cx="164592" cy="73152"/>
          </a:xfrm>
          <a:prstGeom prst="rect">
            <a:avLst/>
          </a:prstGeom>
          <a:solidFill>
            <a:srgbClr val="CBD5E1"/>
          </a:solidFill>
          <a:ln w="12700">
            <a:solidFill>
              <a:srgbClr val="CBD5E1"/>
            </a:solidFill>
            <a:prstDash val="solid"/>
          </a:ln>
        </p:spPr>
        <p:txBody>
          <a:bodyPr/>
          <a:lstStyle/>
          <a:p>
            <a:endParaRPr lang="en-US"/>
          </a:p>
        </p:txBody>
      </p:sp>
      <p:sp>
        <p:nvSpPr>
          <p:cNvPr id="19" name="Shape 17"/>
          <p:cNvSpPr/>
          <p:nvPr/>
        </p:nvSpPr>
        <p:spPr>
          <a:xfrm>
            <a:off x="5522976" y="1417320"/>
            <a:ext cx="1554480" cy="658368"/>
          </a:xfrm>
          <a:prstGeom prst="rect">
            <a:avLst/>
          </a:prstGeom>
          <a:solidFill>
            <a:srgbClr val="1B2B5E"/>
          </a:solidFill>
          <a:ln w="12700">
            <a:solidFill>
              <a:srgbClr val="1B2B5E"/>
            </a:solidFill>
            <a:prstDash val="solid"/>
          </a:ln>
        </p:spPr>
        <p:txBody>
          <a:bodyPr/>
          <a:lstStyle/>
          <a:p>
            <a:endParaRPr lang="en-US"/>
          </a:p>
        </p:txBody>
      </p:sp>
      <p:sp>
        <p:nvSpPr>
          <p:cNvPr id="20" name="Text 18"/>
          <p:cNvSpPr/>
          <p:nvPr/>
        </p:nvSpPr>
        <p:spPr>
          <a:xfrm>
            <a:off x="5522976" y="1417320"/>
            <a:ext cx="1554480"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S4</a:t>
            </a:r>
            <a:endParaRPr lang="en-US" sz="2200" dirty="0"/>
          </a:p>
        </p:txBody>
      </p:sp>
      <p:sp>
        <p:nvSpPr>
          <p:cNvPr id="21" name="Text 19"/>
          <p:cNvSpPr/>
          <p:nvPr/>
        </p:nvSpPr>
        <p:spPr>
          <a:xfrm>
            <a:off x="5477256" y="2130552"/>
            <a:ext cx="1645920" cy="274320"/>
          </a:xfrm>
          <a:prstGeom prst="rect">
            <a:avLst/>
          </a:prstGeom>
          <a:noFill/>
          <a:ln/>
        </p:spPr>
        <p:txBody>
          <a:bodyPr wrap="square" lIns="0" tIns="0" rIns="0" bIns="0" rtlCol="0" anchor="ctr"/>
          <a:lstStyle/>
          <a:p>
            <a:pPr marL="0" indent="0" algn="ctr">
              <a:buNone/>
            </a:pPr>
            <a:r>
              <a:rPr lang="en-US" sz="1100" b="1" dirty="0">
                <a:solidFill>
                  <a:srgbClr val="1B2B5E"/>
                </a:solidFill>
                <a:latin typeface="Calibri" pitchFamily="34" charset="0"/>
                <a:cs typeface="Calibri" pitchFamily="34" charset="-120"/>
              </a:rPr>
              <a:t>Customer Experience</a:t>
            </a:r>
            <a:endParaRPr lang="en-US" sz="1100" dirty="0"/>
          </a:p>
        </p:txBody>
      </p:sp>
      <p:sp>
        <p:nvSpPr>
          <p:cNvPr id="22" name="Text 20"/>
          <p:cNvSpPr/>
          <p:nvPr/>
        </p:nvSpPr>
        <p:spPr>
          <a:xfrm>
            <a:off x="5477256" y="2404872"/>
            <a:ext cx="1645920" cy="4572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cs typeface="Calibri" pitchFamily="34" charset="-120"/>
              </a:rPr>
              <a:t>Storefront Page, Customer Order Flow, RBAC</a:t>
            </a:r>
            <a:endParaRPr lang="en-US" sz="900" dirty="0"/>
          </a:p>
        </p:txBody>
      </p:sp>
      <p:sp>
        <p:nvSpPr>
          <p:cNvPr id="23" name="Shape 21"/>
          <p:cNvSpPr/>
          <p:nvPr/>
        </p:nvSpPr>
        <p:spPr>
          <a:xfrm>
            <a:off x="7077456" y="1709928"/>
            <a:ext cx="164592" cy="73152"/>
          </a:xfrm>
          <a:prstGeom prst="rect">
            <a:avLst/>
          </a:prstGeom>
          <a:solidFill>
            <a:srgbClr val="CBD5E1"/>
          </a:solidFill>
          <a:ln w="12700">
            <a:solidFill>
              <a:srgbClr val="CBD5E1"/>
            </a:solidFill>
            <a:prstDash val="solid"/>
          </a:ln>
        </p:spPr>
        <p:txBody>
          <a:bodyPr/>
          <a:lstStyle/>
          <a:p>
            <a:endParaRPr lang="en-US"/>
          </a:p>
        </p:txBody>
      </p:sp>
      <p:sp>
        <p:nvSpPr>
          <p:cNvPr id="24" name="Shape 22"/>
          <p:cNvSpPr/>
          <p:nvPr/>
        </p:nvSpPr>
        <p:spPr>
          <a:xfrm>
            <a:off x="7242048" y="1417320"/>
            <a:ext cx="1554480" cy="658368"/>
          </a:xfrm>
          <a:prstGeom prst="rect">
            <a:avLst/>
          </a:prstGeom>
          <a:solidFill>
            <a:srgbClr val="3BB77E"/>
          </a:solidFill>
          <a:ln w="12700">
            <a:solidFill>
              <a:srgbClr val="3BB77E"/>
            </a:solidFill>
            <a:prstDash val="solid"/>
          </a:ln>
        </p:spPr>
        <p:txBody>
          <a:bodyPr/>
          <a:lstStyle/>
          <a:p>
            <a:endParaRPr lang="en-US"/>
          </a:p>
        </p:txBody>
      </p:sp>
      <p:sp>
        <p:nvSpPr>
          <p:cNvPr id="25" name="Text 23"/>
          <p:cNvSpPr/>
          <p:nvPr/>
        </p:nvSpPr>
        <p:spPr>
          <a:xfrm>
            <a:off x="7242048" y="1417320"/>
            <a:ext cx="1554480"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S5</a:t>
            </a:r>
            <a:endParaRPr lang="en-US" sz="2200" dirty="0"/>
          </a:p>
        </p:txBody>
      </p:sp>
      <p:sp>
        <p:nvSpPr>
          <p:cNvPr id="26" name="Text 24"/>
          <p:cNvSpPr/>
          <p:nvPr/>
        </p:nvSpPr>
        <p:spPr>
          <a:xfrm>
            <a:off x="7196328" y="2130552"/>
            <a:ext cx="1645920" cy="274320"/>
          </a:xfrm>
          <a:prstGeom prst="rect">
            <a:avLst/>
          </a:prstGeom>
          <a:noFill/>
          <a:ln/>
        </p:spPr>
        <p:txBody>
          <a:bodyPr wrap="square" lIns="0" tIns="0" rIns="0" bIns="0" rtlCol="0" anchor="ctr"/>
          <a:lstStyle/>
          <a:p>
            <a:pPr marL="0" indent="0" algn="ctr">
              <a:buNone/>
            </a:pPr>
            <a:r>
              <a:rPr lang="en-US" sz="1100" b="1" dirty="0">
                <a:solidFill>
                  <a:srgbClr val="1B2B5E"/>
                </a:solidFill>
                <a:latin typeface="Calibri" pitchFamily="34" charset="0"/>
                <a:cs typeface="Calibri" pitchFamily="34" charset="-120"/>
              </a:rPr>
              <a:t>Business Admin</a:t>
            </a:r>
            <a:endParaRPr lang="en-US" sz="1100" dirty="0"/>
          </a:p>
        </p:txBody>
      </p:sp>
      <p:sp>
        <p:nvSpPr>
          <p:cNvPr id="27" name="Text 25"/>
          <p:cNvSpPr/>
          <p:nvPr/>
        </p:nvSpPr>
        <p:spPr>
          <a:xfrm>
            <a:off x="7196328" y="2404872"/>
            <a:ext cx="1730696" cy="457200"/>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Dashboard, Admin Settings, </a:t>
            </a:r>
            <a:br>
              <a:rPr lang="en-US" sz="900" dirty="0">
                <a:solidFill>
                  <a:srgbClr val="6B7280"/>
                </a:solidFill>
                <a:latin typeface="Calibri" pitchFamily="34" charset="0"/>
                <a:ea typeface="Calibri" pitchFamily="34" charset="-122"/>
                <a:cs typeface="Calibri" pitchFamily="34" charset="-120"/>
              </a:rPr>
            </a:br>
            <a:r>
              <a:rPr lang="en-US" sz="900" dirty="0">
                <a:solidFill>
                  <a:srgbClr val="6B7280"/>
                </a:solidFill>
                <a:latin typeface="Calibri" pitchFamily="34" charset="0"/>
                <a:ea typeface="Calibri" pitchFamily="34" charset="-122"/>
                <a:cs typeface="Calibri" pitchFamily="34" charset="-120"/>
              </a:rPr>
              <a:t>Product &amp; Inventory Operations,</a:t>
            </a:r>
            <a:br>
              <a:rPr lang="en-US" sz="900" dirty="0">
                <a:solidFill>
                  <a:srgbClr val="6B7280"/>
                </a:solidFill>
                <a:latin typeface="Calibri" pitchFamily="34" charset="0"/>
                <a:ea typeface="Calibri" pitchFamily="34" charset="-122"/>
                <a:cs typeface="Calibri" pitchFamily="34" charset="-120"/>
              </a:rPr>
            </a:br>
            <a:r>
              <a:rPr lang="en-US" sz="900" dirty="0">
                <a:solidFill>
                  <a:srgbClr val="6B7280"/>
                </a:solidFill>
                <a:latin typeface="Calibri" pitchFamily="34" charset="0"/>
                <a:ea typeface="Calibri" pitchFamily="34" charset="-122"/>
                <a:cs typeface="Calibri" pitchFamily="34" charset="-120"/>
              </a:rPr>
              <a:t>Order Management &amp; Sales Analytics </a:t>
            </a:r>
            <a:endParaRPr lang="en-US" sz="900" dirty="0"/>
          </a:p>
        </p:txBody>
      </p:sp>
      <p:sp>
        <p:nvSpPr>
          <p:cNvPr id="43" name="Shape 41"/>
          <p:cNvSpPr/>
          <p:nvPr/>
        </p:nvSpPr>
        <p:spPr>
          <a:xfrm>
            <a:off x="365760" y="3951348"/>
            <a:ext cx="8412480" cy="822960"/>
          </a:xfrm>
          <a:prstGeom prst="rect">
            <a:avLst/>
          </a:prstGeom>
          <a:solidFill>
            <a:srgbClr val="EFF6FF"/>
          </a:solidFill>
          <a:ln w="12700">
            <a:solidFill>
              <a:srgbClr val="BFDBFE"/>
            </a:solidFill>
            <a:prstDash val="solid"/>
          </a:ln>
          <a:effectLst>
            <a:outerShdw blurRad="101600" dist="25400" dir="8100000" algn="bl" rotWithShape="0">
              <a:srgbClr val="000000">
                <a:alpha val="7000"/>
              </a:srgbClr>
            </a:outerShdw>
          </a:effectLst>
        </p:spPr>
        <p:txBody>
          <a:bodyPr/>
          <a:lstStyle/>
          <a:p>
            <a:endParaRPr lang="en-US" dirty="0"/>
          </a:p>
        </p:txBody>
      </p:sp>
      <p:sp>
        <p:nvSpPr>
          <p:cNvPr id="48" name="TL_Track">
            <a:extLst>
              <a:ext uri="{FF2B5EF4-FFF2-40B4-BE49-F238E27FC236}">
                <a16:creationId xmlns:a16="http://schemas.microsoft.com/office/drawing/2014/main" id="{1CCCF149-763F-A5B5-78E2-07C7C04ED3CE}"/>
              </a:ext>
            </a:extLst>
          </p:cNvPr>
          <p:cNvSpPr/>
          <p:nvPr/>
        </p:nvSpPr>
        <p:spPr>
          <a:xfrm>
            <a:off x="355208" y="3360421"/>
            <a:ext cx="8412480" cy="60960"/>
          </a:xfrm>
          <a:prstGeom prst="rect">
            <a:avLst/>
          </a:prstGeom>
          <a:solidFill>
            <a:srgbClr val="CBD5E1"/>
          </a:solidFill>
          <a:ln>
            <a:noFill/>
          </a:ln>
        </p:spPr>
        <p:txBody>
          <a:bodyPr/>
          <a:lstStyle/>
          <a:p>
            <a:endParaRPr lang="en-US"/>
          </a:p>
        </p:txBody>
      </p:sp>
      <p:sp>
        <p:nvSpPr>
          <p:cNvPr id="49" name="TL_S1_dot">
            <a:extLst>
              <a:ext uri="{FF2B5EF4-FFF2-40B4-BE49-F238E27FC236}">
                <a16:creationId xmlns:a16="http://schemas.microsoft.com/office/drawing/2014/main" id="{477F04EF-DE87-4B33-6658-21185A3D22E9}"/>
              </a:ext>
            </a:extLst>
          </p:cNvPr>
          <p:cNvSpPr/>
          <p:nvPr/>
        </p:nvSpPr>
        <p:spPr>
          <a:xfrm>
            <a:off x="396240" y="3321625"/>
            <a:ext cx="121920" cy="121920"/>
          </a:xfrm>
          <a:prstGeom prst="ellipse">
            <a:avLst/>
          </a:prstGeom>
          <a:solidFill>
            <a:srgbClr val="1B2B5E"/>
          </a:solidFill>
          <a:ln>
            <a:noFill/>
          </a:ln>
        </p:spPr>
        <p:txBody>
          <a:bodyPr/>
          <a:lstStyle/>
          <a:p>
            <a:endParaRPr lang="en-US"/>
          </a:p>
        </p:txBody>
      </p:sp>
      <p:sp>
        <p:nvSpPr>
          <p:cNvPr id="50" name="TL_S1_lbl">
            <a:extLst>
              <a:ext uri="{FF2B5EF4-FFF2-40B4-BE49-F238E27FC236}">
                <a16:creationId xmlns:a16="http://schemas.microsoft.com/office/drawing/2014/main" id="{D7DE4412-E18E-4B5A-6A3C-E5BEAF41DE50}"/>
              </a:ext>
            </a:extLst>
          </p:cNvPr>
          <p:cNvSpPr/>
          <p:nvPr/>
        </p:nvSpPr>
        <p:spPr>
          <a:xfrm>
            <a:off x="241134" y="3192834"/>
            <a:ext cx="457200" cy="120000"/>
          </a:xfrm>
          <a:prstGeom prst="rect">
            <a:avLst/>
          </a:prstGeom>
          <a:noFill/>
          <a:ln>
            <a:noFill/>
          </a:ln>
        </p:spPr>
        <p:txBody>
          <a:bodyPr wrap="square" lIns="0" tIns="0" rIns="0" bIns="0" rtlCol="0" anchor="ctr"/>
          <a:lstStyle/>
          <a:p>
            <a:pPr algn="ctr">
              <a:buNone/>
            </a:pPr>
            <a:r>
              <a:rPr lang="en-US" sz="700" b="1" dirty="0">
                <a:solidFill>
                  <a:srgbClr val="1B2B5E"/>
                </a:solidFill>
                <a:latin typeface="Calibri"/>
              </a:rPr>
              <a:t>S1</a:t>
            </a:r>
          </a:p>
        </p:txBody>
      </p:sp>
      <p:sp>
        <p:nvSpPr>
          <p:cNvPr id="51" name="TL_S1_date">
            <a:extLst>
              <a:ext uri="{FF2B5EF4-FFF2-40B4-BE49-F238E27FC236}">
                <a16:creationId xmlns:a16="http://schemas.microsoft.com/office/drawing/2014/main" id="{5E33277C-34EB-EF05-33F9-4D355904870E}"/>
              </a:ext>
            </a:extLst>
          </p:cNvPr>
          <p:cNvSpPr/>
          <p:nvPr/>
        </p:nvSpPr>
        <p:spPr>
          <a:xfrm>
            <a:off x="146273" y="3488341"/>
            <a:ext cx="640080" cy="110000"/>
          </a:xfrm>
          <a:prstGeom prst="rect">
            <a:avLst/>
          </a:prstGeom>
          <a:noFill/>
          <a:ln>
            <a:noFill/>
          </a:ln>
        </p:spPr>
        <p:txBody>
          <a:bodyPr wrap="square" lIns="0" tIns="0" rIns="0" bIns="0" rtlCol="0" anchor="ctr"/>
          <a:lstStyle/>
          <a:p>
            <a:pPr algn="ctr">
              <a:buNone/>
            </a:pPr>
            <a:r>
              <a:rPr lang="en-US" sz="600" dirty="0">
                <a:solidFill>
                  <a:srgbClr val="6B7280"/>
                </a:solidFill>
                <a:latin typeface="Calibri"/>
              </a:rPr>
              <a:t>Jan 31</a:t>
            </a:r>
          </a:p>
        </p:txBody>
      </p:sp>
      <p:sp>
        <p:nvSpPr>
          <p:cNvPr id="52" name="TL_S2_dot">
            <a:extLst>
              <a:ext uri="{FF2B5EF4-FFF2-40B4-BE49-F238E27FC236}">
                <a16:creationId xmlns:a16="http://schemas.microsoft.com/office/drawing/2014/main" id="{4B2D0CE8-F4C3-9462-2F85-D88E5E517431}"/>
              </a:ext>
            </a:extLst>
          </p:cNvPr>
          <p:cNvSpPr/>
          <p:nvPr/>
        </p:nvSpPr>
        <p:spPr>
          <a:xfrm>
            <a:off x="1755128" y="3329461"/>
            <a:ext cx="121920" cy="121920"/>
          </a:xfrm>
          <a:prstGeom prst="ellipse">
            <a:avLst/>
          </a:prstGeom>
          <a:solidFill>
            <a:srgbClr val="1B2B5E"/>
          </a:solidFill>
          <a:ln>
            <a:noFill/>
          </a:ln>
        </p:spPr>
        <p:txBody>
          <a:bodyPr/>
          <a:lstStyle/>
          <a:p>
            <a:endParaRPr lang="en-US"/>
          </a:p>
        </p:txBody>
      </p:sp>
      <p:sp>
        <p:nvSpPr>
          <p:cNvPr id="53" name="TL_S2_lbl">
            <a:extLst>
              <a:ext uri="{FF2B5EF4-FFF2-40B4-BE49-F238E27FC236}">
                <a16:creationId xmlns:a16="http://schemas.microsoft.com/office/drawing/2014/main" id="{08BDC6FB-077B-87FC-60A1-3555F78C31D8}"/>
              </a:ext>
            </a:extLst>
          </p:cNvPr>
          <p:cNvSpPr/>
          <p:nvPr/>
        </p:nvSpPr>
        <p:spPr>
          <a:xfrm>
            <a:off x="1587488" y="3185813"/>
            <a:ext cx="457200" cy="120000"/>
          </a:xfrm>
          <a:prstGeom prst="rect">
            <a:avLst/>
          </a:prstGeom>
          <a:noFill/>
          <a:ln>
            <a:noFill/>
          </a:ln>
        </p:spPr>
        <p:txBody>
          <a:bodyPr wrap="square" lIns="0" tIns="0" rIns="0" bIns="0" rtlCol="0" anchor="ctr"/>
          <a:lstStyle/>
          <a:p>
            <a:pPr algn="ctr">
              <a:buNone/>
            </a:pPr>
            <a:r>
              <a:rPr lang="en-US" sz="700" b="1" dirty="0">
                <a:solidFill>
                  <a:srgbClr val="1B2B5E"/>
                </a:solidFill>
                <a:latin typeface="Calibri"/>
              </a:rPr>
              <a:t>S2</a:t>
            </a:r>
          </a:p>
        </p:txBody>
      </p:sp>
      <p:sp>
        <p:nvSpPr>
          <p:cNvPr id="54" name="TL_S2_date">
            <a:extLst>
              <a:ext uri="{FF2B5EF4-FFF2-40B4-BE49-F238E27FC236}">
                <a16:creationId xmlns:a16="http://schemas.microsoft.com/office/drawing/2014/main" id="{D74263D3-2CD9-4A83-C80B-67F88276B918}"/>
              </a:ext>
            </a:extLst>
          </p:cNvPr>
          <p:cNvSpPr/>
          <p:nvPr/>
        </p:nvSpPr>
        <p:spPr>
          <a:xfrm>
            <a:off x="1464961" y="3507430"/>
            <a:ext cx="640080" cy="110000"/>
          </a:xfrm>
          <a:prstGeom prst="rect">
            <a:avLst/>
          </a:prstGeom>
          <a:noFill/>
          <a:ln>
            <a:noFill/>
          </a:ln>
        </p:spPr>
        <p:txBody>
          <a:bodyPr wrap="square" lIns="0" tIns="0" rIns="0" bIns="0" rtlCol="0" anchor="ctr"/>
          <a:lstStyle/>
          <a:p>
            <a:pPr algn="ctr">
              <a:buNone/>
            </a:pPr>
            <a:r>
              <a:rPr lang="en-US" sz="600" dirty="0">
                <a:solidFill>
                  <a:srgbClr val="6B7280"/>
                </a:solidFill>
                <a:latin typeface="Calibri"/>
              </a:rPr>
              <a:t>Feb 14</a:t>
            </a:r>
          </a:p>
        </p:txBody>
      </p:sp>
      <p:sp>
        <p:nvSpPr>
          <p:cNvPr id="55" name="TL_S3_dot">
            <a:extLst>
              <a:ext uri="{FF2B5EF4-FFF2-40B4-BE49-F238E27FC236}">
                <a16:creationId xmlns:a16="http://schemas.microsoft.com/office/drawing/2014/main" id="{DB51A5CB-2961-6753-31BC-A87CFAF37128}"/>
              </a:ext>
            </a:extLst>
          </p:cNvPr>
          <p:cNvSpPr/>
          <p:nvPr/>
        </p:nvSpPr>
        <p:spPr>
          <a:xfrm>
            <a:off x="3155048" y="3329461"/>
            <a:ext cx="121920" cy="121920"/>
          </a:xfrm>
          <a:prstGeom prst="ellipse">
            <a:avLst/>
          </a:prstGeom>
          <a:solidFill>
            <a:srgbClr val="1B2B5E"/>
          </a:solidFill>
          <a:ln>
            <a:noFill/>
          </a:ln>
        </p:spPr>
        <p:txBody>
          <a:bodyPr/>
          <a:lstStyle/>
          <a:p>
            <a:endParaRPr lang="en-US"/>
          </a:p>
        </p:txBody>
      </p:sp>
      <p:sp>
        <p:nvSpPr>
          <p:cNvPr id="56" name="TL_S3_lbl">
            <a:extLst>
              <a:ext uri="{FF2B5EF4-FFF2-40B4-BE49-F238E27FC236}">
                <a16:creationId xmlns:a16="http://schemas.microsoft.com/office/drawing/2014/main" id="{C4BFA7C0-CA77-165D-2795-5FA26D456F3E}"/>
              </a:ext>
            </a:extLst>
          </p:cNvPr>
          <p:cNvSpPr/>
          <p:nvPr/>
        </p:nvSpPr>
        <p:spPr>
          <a:xfrm>
            <a:off x="2993080" y="3192834"/>
            <a:ext cx="457200" cy="120000"/>
          </a:xfrm>
          <a:prstGeom prst="rect">
            <a:avLst/>
          </a:prstGeom>
          <a:noFill/>
          <a:ln>
            <a:noFill/>
          </a:ln>
        </p:spPr>
        <p:txBody>
          <a:bodyPr wrap="square" lIns="0" tIns="0" rIns="0" bIns="0" rtlCol="0" anchor="ctr"/>
          <a:lstStyle/>
          <a:p>
            <a:pPr algn="ctr">
              <a:buNone/>
            </a:pPr>
            <a:r>
              <a:rPr lang="en-US" sz="700" b="1" dirty="0">
                <a:solidFill>
                  <a:srgbClr val="1B2B5E"/>
                </a:solidFill>
                <a:latin typeface="Calibri"/>
              </a:rPr>
              <a:t>S3</a:t>
            </a:r>
          </a:p>
        </p:txBody>
      </p:sp>
      <p:sp>
        <p:nvSpPr>
          <p:cNvPr id="57" name="TL_S3_date">
            <a:extLst>
              <a:ext uri="{FF2B5EF4-FFF2-40B4-BE49-F238E27FC236}">
                <a16:creationId xmlns:a16="http://schemas.microsoft.com/office/drawing/2014/main" id="{EE407D33-F8A8-6D38-5BDC-B4A967AAECDC}"/>
              </a:ext>
            </a:extLst>
          </p:cNvPr>
          <p:cNvSpPr/>
          <p:nvPr/>
        </p:nvSpPr>
        <p:spPr>
          <a:xfrm>
            <a:off x="2905968" y="3506750"/>
            <a:ext cx="640080" cy="110000"/>
          </a:xfrm>
          <a:prstGeom prst="rect">
            <a:avLst/>
          </a:prstGeom>
          <a:noFill/>
          <a:ln>
            <a:noFill/>
          </a:ln>
        </p:spPr>
        <p:txBody>
          <a:bodyPr wrap="square" lIns="0" tIns="0" rIns="0" bIns="0" rtlCol="0" anchor="ctr"/>
          <a:lstStyle/>
          <a:p>
            <a:pPr algn="ctr">
              <a:buNone/>
            </a:pPr>
            <a:r>
              <a:rPr lang="en-US" sz="600" dirty="0">
                <a:solidFill>
                  <a:srgbClr val="6B7280"/>
                </a:solidFill>
                <a:latin typeface="Calibri"/>
              </a:rPr>
              <a:t>Feb 28</a:t>
            </a:r>
          </a:p>
        </p:txBody>
      </p:sp>
      <p:sp>
        <p:nvSpPr>
          <p:cNvPr id="58" name="TL_Break_bar">
            <a:extLst>
              <a:ext uri="{FF2B5EF4-FFF2-40B4-BE49-F238E27FC236}">
                <a16:creationId xmlns:a16="http://schemas.microsoft.com/office/drawing/2014/main" id="{EE14E628-AEDD-493F-857D-AD1B302B7EC6}"/>
              </a:ext>
            </a:extLst>
          </p:cNvPr>
          <p:cNvSpPr/>
          <p:nvPr/>
        </p:nvSpPr>
        <p:spPr>
          <a:xfrm>
            <a:off x="3874354" y="3356947"/>
            <a:ext cx="304800" cy="40000"/>
          </a:xfrm>
          <a:prstGeom prst="rect">
            <a:avLst/>
          </a:prstGeom>
          <a:solidFill>
            <a:srgbClr val="F59E0B"/>
          </a:solidFill>
          <a:ln>
            <a:noFill/>
          </a:ln>
        </p:spPr>
        <p:txBody>
          <a:bodyPr/>
          <a:lstStyle/>
          <a:p>
            <a:endParaRPr lang="en-US"/>
          </a:p>
        </p:txBody>
      </p:sp>
      <p:sp>
        <p:nvSpPr>
          <p:cNvPr id="59" name="TL_Break_lbl">
            <a:extLst>
              <a:ext uri="{FF2B5EF4-FFF2-40B4-BE49-F238E27FC236}">
                <a16:creationId xmlns:a16="http://schemas.microsoft.com/office/drawing/2014/main" id="{3A655CB8-C811-9635-03C4-3B3FC877B822}"/>
              </a:ext>
            </a:extLst>
          </p:cNvPr>
          <p:cNvSpPr/>
          <p:nvPr/>
        </p:nvSpPr>
        <p:spPr>
          <a:xfrm>
            <a:off x="3763687" y="3429505"/>
            <a:ext cx="530000" cy="110000"/>
          </a:xfrm>
          <a:prstGeom prst="rect">
            <a:avLst/>
          </a:prstGeom>
          <a:noFill/>
          <a:ln>
            <a:noFill/>
          </a:ln>
        </p:spPr>
        <p:txBody>
          <a:bodyPr wrap="square" lIns="0" tIns="0" rIns="0" bIns="0" rtlCol="0" anchor="ctr"/>
          <a:lstStyle/>
          <a:p>
            <a:pPr algn="ctr">
              <a:buNone/>
            </a:pPr>
            <a:r>
              <a:rPr lang="en-US" sz="550" b="1" dirty="0">
                <a:solidFill>
                  <a:srgbClr val="F59E0B"/>
                </a:solidFill>
                <a:latin typeface="Calibri"/>
              </a:rPr>
              <a:t>Break</a:t>
            </a:r>
          </a:p>
        </p:txBody>
      </p:sp>
      <p:sp>
        <p:nvSpPr>
          <p:cNvPr id="60" name="TL_S4_dot">
            <a:extLst>
              <a:ext uri="{FF2B5EF4-FFF2-40B4-BE49-F238E27FC236}">
                <a16:creationId xmlns:a16="http://schemas.microsoft.com/office/drawing/2014/main" id="{548FEB90-9705-9621-11E8-5C5F044C83E9}"/>
              </a:ext>
            </a:extLst>
          </p:cNvPr>
          <p:cNvSpPr/>
          <p:nvPr/>
        </p:nvSpPr>
        <p:spPr>
          <a:xfrm>
            <a:off x="4739640" y="3321625"/>
            <a:ext cx="121920" cy="121920"/>
          </a:xfrm>
          <a:prstGeom prst="ellipse">
            <a:avLst/>
          </a:prstGeom>
          <a:solidFill>
            <a:srgbClr val="1B2B5E"/>
          </a:solidFill>
          <a:ln>
            <a:noFill/>
          </a:ln>
        </p:spPr>
        <p:txBody>
          <a:bodyPr/>
          <a:lstStyle/>
          <a:p>
            <a:endParaRPr lang="en-US"/>
          </a:p>
        </p:txBody>
      </p:sp>
      <p:sp>
        <p:nvSpPr>
          <p:cNvPr id="61" name="TL_S4_lbl">
            <a:extLst>
              <a:ext uri="{FF2B5EF4-FFF2-40B4-BE49-F238E27FC236}">
                <a16:creationId xmlns:a16="http://schemas.microsoft.com/office/drawing/2014/main" id="{54987736-CD40-8D15-FE3C-791F5D12BE7F}"/>
              </a:ext>
            </a:extLst>
          </p:cNvPr>
          <p:cNvSpPr/>
          <p:nvPr/>
        </p:nvSpPr>
        <p:spPr>
          <a:xfrm>
            <a:off x="4572000" y="3192834"/>
            <a:ext cx="457200" cy="120000"/>
          </a:xfrm>
          <a:prstGeom prst="rect">
            <a:avLst/>
          </a:prstGeom>
          <a:noFill/>
          <a:ln>
            <a:noFill/>
          </a:ln>
        </p:spPr>
        <p:txBody>
          <a:bodyPr wrap="square" lIns="0" tIns="0" rIns="0" bIns="0" rtlCol="0" anchor="ctr"/>
          <a:lstStyle/>
          <a:p>
            <a:pPr algn="ctr">
              <a:buNone/>
            </a:pPr>
            <a:r>
              <a:rPr lang="en-US" sz="700" b="1" dirty="0">
                <a:solidFill>
                  <a:srgbClr val="1B2B5E"/>
                </a:solidFill>
                <a:latin typeface="Calibri"/>
              </a:rPr>
              <a:t>S4</a:t>
            </a:r>
          </a:p>
        </p:txBody>
      </p:sp>
      <p:sp>
        <p:nvSpPr>
          <p:cNvPr id="62" name="TL_S4_date">
            <a:extLst>
              <a:ext uri="{FF2B5EF4-FFF2-40B4-BE49-F238E27FC236}">
                <a16:creationId xmlns:a16="http://schemas.microsoft.com/office/drawing/2014/main" id="{460EDA01-7315-26DB-89D1-004B7E9EF140}"/>
              </a:ext>
            </a:extLst>
          </p:cNvPr>
          <p:cNvSpPr/>
          <p:nvPr/>
        </p:nvSpPr>
        <p:spPr>
          <a:xfrm>
            <a:off x="4490375" y="3484505"/>
            <a:ext cx="640080" cy="110000"/>
          </a:xfrm>
          <a:prstGeom prst="rect">
            <a:avLst/>
          </a:prstGeom>
          <a:noFill/>
          <a:ln>
            <a:noFill/>
          </a:ln>
        </p:spPr>
        <p:txBody>
          <a:bodyPr wrap="square" lIns="0" tIns="0" rIns="0" bIns="0" rtlCol="0" anchor="ctr"/>
          <a:lstStyle/>
          <a:p>
            <a:pPr algn="ctr">
              <a:buNone/>
            </a:pPr>
            <a:r>
              <a:rPr lang="en-US" sz="600" dirty="0">
                <a:solidFill>
                  <a:srgbClr val="6B7280"/>
                </a:solidFill>
                <a:latin typeface="Calibri"/>
              </a:rPr>
              <a:t>Mar 21</a:t>
            </a:r>
          </a:p>
        </p:txBody>
      </p:sp>
      <p:sp>
        <p:nvSpPr>
          <p:cNvPr id="63" name="TL_S5_dot">
            <a:extLst>
              <a:ext uri="{FF2B5EF4-FFF2-40B4-BE49-F238E27FC236}">
                <a16:creationId xmlns:a16="http://schemas.microsoft.com/office/drawing/2014/main" id="{43B6A58A-1D88-8581-31F5-7F46238AC892}"/>
              </a:ext>
            </a:extLst>
          </p:cNvPr>
          <p:cNvSpPr/>
          <p:nvPr/>
        </p:nvSpPr>
        <p:spPr>
          <a:xfrm>
            <a:off x="5969768" y="3329461"/>
            <a:ext cx="121920" cy="121920"/>
          </a:xfrm>
          <a:prstGeom prst="ellipse">
            <a:avLst/>
          </a:prstGeom>
          <a:solidFill>
            <a:srgbClr val="1B2B5E"/>
          </a:solidFill>
          <a:ln>
            <a:noFill/>
          </a:ln>
        </p:spPr>
        <p:txBody>
          <a:bodyPr/>
          <a:lstStyle/>
          <a:p>
            <a:endParaRPr lang="en-US"/>
          </a:p>
        </p:txBody>
      </p:sp>
      <p:sp>
        <p:nvSpPr>
          <p:cNvPr id="64" name="TL_S5_lbl">
            <a:extLst>
              <a:ext uri="{FF2B5EF4-FFF2-40B4-BE49-F238E27FC236}">
                <a16:creationId xmlns:a16="http://schemas.microsoft.com/office/drawing/2014/main" id="{1F5A13EB-A0AF-DEA3-7EBA-DB9FDDDED293}"/>
              </a:ext>
            </a:extLst>
          </p:cNvPr>
          <p:cNvSpPr/>
          <p:nvPr/>
        </p:nvSpPr>
        <p:spPr>
          <a:xfrm>
            <a:off x="5802128" y="3192834"/>
            <a:ext cx="457200" cy="120000"/>
          </a:xfrm>
          <a:prstGeom prst="rect">
            <a:avLst/>
          </a:prstGeom>
          <a:noFill/>
          <a:ln>
            <a:noFill/>
          </a:ln>
        </p:spPr>
        <p:txBody>
          <a:bodyPr wrap="square" lIns="0" tIns="0" rIns="0" bIns="0" rtlCol="0" anchor="ctr"/>
          <a:lstStyle/>
          <a:p>
            <a:pPr algn="ctr">
              <a:buNone/>
            </a:pPr>
            <a:r>
              <a:rPr lang="en-US" sz="700" b="1" dirty="0">
                <a:solidFill>
                  <a:srgbClr val="1B2B5E"/>
                </a:solidFill>
                <a:latin typeface="Calibri"/>
              </a:rPr>
              <a:t>S5</a:t>
            </a:r>
          </a:p>
        </p:txBody>
      </p:sp>
      <p:sp>
        <p:nvSpPr>
          <p:cNvPr id="65" name="TL_S5_date">
            <a:extLst>
              <a:ext uri="{FF2B5EF4-FFF2-40B4-BE49-F238E27FC236}">
                <a16:creationId xmlns:a16="http://schemas.microsoft.com/office/drawing/2014/main" id="{42E47CFC-CF73-9158-6354-8FEDAE7CFDB2}"/>
              </a:ext>
            </a:extLst>
          </p:cNvPr>
          <p:cNvSpPr/>
          <p:nvPr/>
        </p:nvSpPr>
        <p:spPr>
          <a:xfrm>
            <a:off x="5710688" y="3492379"/>
            <a:ext cx="640080" cy="110000"/>
          </a:xfrm>
          <a:prstGeom prst="rect">
            <a:avLst/>
          </a:prstGeom>
          <a:noFill/>
          <a:ln>
            <a:noFill/>
          </a:ln>
        </p:spPr>
        <p:txBody>
          <a:bodyPr wrap="square" lIns="0" tIns="0" rIns="0" bIns="0" rtlCol="0" anchor="ctr"/>
          <a:lstStyle/>
          <a:p>
            <a:pPr algn="ctr">
              <a:buNone/>
            </a:pPr>
            <a:r>
              <a:rPr lang="en-US" sz="600" dirty="0">
                <a:solidFill>
                  <a:srgbClr val="6B7280"/>
                </a:solidFill>
                <a:latin typeface="Calibri"/>
              </a:rPr>
              <a:t>Apr 4</a:t>
            </a:r>
          </a:p>
        </p:txBody>
      </p:sp>
      <p:sp>
        <p:nvSpPr>
          <p:cNvPr id="67" name="TL_P4_date">
            <a:extLst>
              <a:ext uri="{FF2B5EF4-FFF2-40B4-BE49-F238E27FC236}">
                <a16:creationId xmlns:a16="http://schemas.microsoft.com/office/drawing/2014/main" id="{8647019D-2240-6132-55CE-34C07FD5A3AD}"/>
              </a:ext>
            </a:extLst>
          </p:cNvPr>
          <p:cNvSpPr/>
          <p:nvPr/>
        </p:nvSpPr>
        <p:spPr>
          <a:xfrm>
            <a:off x="8080368" y="3598670"/>
            <a:ext cx="640080" cy="110000"/>
          </a:xfrm>
          <a:prstGeom prst="rect">
            <a:avLst/>
          </a:prstGeom>
          <a:noFill/>
          <a:ln>
            <a:noFill/>
          </a:ln>
        </p:spPr>
        <p:txBody>
          <a:bodyPr wrap="square" lIns="0" tIns="0" rIns="0" bIns="0" rtlCol="0" anchor="ctr"/>
          <a:lstStyle/>
          <a:p>
            <a:pPr algn="ctr">
              <a:buNone/>
            </a:pPr>
            <a:r>
              <a:rPr lang="en-US" sz="600" dirty="0">
                <a:solidFill>
                  <a:srgbClr val="3BB77E"/>
                </a:solidFill>
                <a:latin typeface="Calibri"/>
              </a:rPr>
              <a:t>April 30</a:t>
            </a:r>
            <a:br>
              <a:rPr lang="en-US" sz="600" dirty="0">
                <a:solidFill>
                  <a:srgbClr val="3BB77E"/>
                </a:solidFill>
                <a:latin typeface="Calibri"/>
              </a:rPr>
            </a:br>
            <a:r>
              <a:rPr lang="en-US" sz="600" b="1" dirty="0">
                <a:solidFill>
                  <a:srgbClr val="3BB77E"/>
                </a:solidFill>
                <a:latin typeface="Calibri"/>
              </a:rPr>
              <a:t>Presentation</a:t>
            </a:r>
            <a:br>
              <a:rPr lang="en-US" sz="600" b="1" dirty="0">
                <a:solidFill>
                  <a:srgbClr val="3BB77E"/>
                </a:solidFill>
                <a:latin typeface="Calibri"/>
              </a:rPr>
            </a:br>
            <a:r>
              <a:rPr lang="en-US" sz="600" b="1" dirty="0">
                <a:solidFill>
                  <a:srgbClr val="3BB77E"/>
                </a:solidFill>
                <a:latin typeface="Calibri"/>
              </a:rPr>
              <a:t>&amp; Demo</a:t>
            </a:r>
          </a:p>
        </p:txBody>
      </p:sp>
      <p:sp>
        <p:nvSpPr>
          <p:cNvPr id="68" name="TL_CF_diamond">
            <a:extLst>
              <a:ext uri="{FF2B5EF4-FFF2-40B4-BE49-F238E27FC236}">
                <a16:creationId xmlns:a16="http://schemas.microsoft.com/office/drawing/2014/main" id="{1070B717-8419-287F-EF0B-0E237466906C}"/>
              </a:ext>
            </a:extLst>
          </p:cNvPr>
          <p:cNvSpPr>
            <a:spLocks noChangeAspect="1"/>
          </p:cNvSpPr>
          <p:nvPr/>
        </p:nvSpPr>
        <p:spPr>
          <a:xfrm rot="2700000">
            <a:off x="7443939" y="3334495"/>
            <a:ext cx="125003" cy="125003"/>
          </a:xfrm>
          <a:prstGeom prst="rect">
            <a:avLst/>
          </a:prstGeom>
          <a:solidFill>
            <a:srgbClr val="EF4444"/>
          </a:solidFill>
          <a:ln>
            <a:noFill/>
          </a:ln>
        </p:spPr>
        <p:txBody>
          <a:bodyPr/>
          <a:lstStyle/>
          <a:p>
            <a:endParaRPr lang="en-US"/>
          </a:p>
        </p:txBody>
      </p:sp>
      <p:sp>
        <p:nvSpPr>
          <p:cNvPr id="69" name="TL_CF_date">
            <a:extLst>
              <a:ext uri="{FF2B5EF4-FFF2-40B4-BE49-F238E27FC236}">
                <a16:creationId xmlns:a16="http://schemas.microsoft.com/office/drawing/2014/main" id="{7FE53BD2-3391-EE04-3FC1-61C00B533499}"/>
              </a:ext>
            </a:extLst>
          </p:cNvPr>
          <p:cNvSpPr/>
          <p:nvPr/>
        </p:nvSpPr>
        <p:spPr>
          <a:xfrm>
            <a:off x="7232904" y="3558008"/>
            <a:ext cx="530000" cy="213623"/>
          </a:xfrm>
          <a:prstGeom prst="rect">
            <a:avLst/>
          </a:prstGeom>
          <a:noFill/>
          <a:ln>
            <a:noFill/>
          </a:ln>
        </p:spPr>
        <p:txBody>
          <a:bodyPr wrap="square" lIns="0" tIns="0" rIns="0" bIns="0" rtlCol="0" anchor="ctr"/>
          <a:lstStyle/>
          <a:p>
            <a:pPr algn="ctr">
              <a:buNone/>
            </a:pPr>
            <a:r>
              <a:rPr lang="en-US" sz="600" dirty="0">
                <a:solidFill>
                  <a:srgbClr val="EF4444"/>
                </a:solidFill>
                <a:latin typeface="Calibri"/>
              </a:rPr>
              <a:t>Apr 24</a:t>
            </a:r>
            <a:br>
              <a:rPr lang="en-US" sz="600" dirty="0">
                <a:solidFill>
                  <a:srgbClr val="EF4444"/>
                </a:solidFill>
                <a:latin typeface="Calibri"/>
              </a:rPr>
            </a:br>
            <a:r>
              <a:rPr lang="en-US" sz="600" dirty="0">
                <a:solidFill>
                  <a:srgbClr val="EF4444"/>
                </a:solidFill>
                <a:latin typeface="Calibri"/>
              </a:rPr>
              <a:t>Code Freeze</a:t>
            </a:r>
          </a:p>
        </p:txBody>
      </p:sp>
      <p:sp>
        <p:nvSpPr>
          <p:cNvPr id="70" name="TL_Deploy_diamond">
            <a:extLst>
              <a:ext uri="{FF2B5EF4-FFF2-40B4-BE49-F238E27FC236}">
                <a16:creationId xmlns:a16="http://schemas.microsoft.com/office/drawing/2014/main" id="{2E84DF80-0523-D79F-6C2F-94D93579CEAA}"/>
              </a:ext>
            </a:extLst>
          </p:cNvPr>
          <p:cNvSpPr>
            <a:spLocks noChangeAspect="1"/>
          </p:cNvSpPr>
          <p:nvPr/>
        </p:nvSpPr>
        <p:spPr>
          <a:xfrm rot="2700000">
            <a:off x="7879504" y="3332448"/>
            <a:ext cx="129095" cy="129095"/>
          </a:xfrm>
          <a:prstGeom prst="rect">
            <a:avLst/>
          </a:prstGeom>
          <a:solidFill>
            <a:srgbClr val="3BB77E"/>
          </a:solidFill>
          <a:ln>
            <a:noFill/>
          </a:ln>
        </p:spPr>
        <p:txBody>
          <a:bodyPr/>
          <a:lstStyle/>
          <a:p>
            <a:endParaRPr lang="en-US"/>
          </a:p>
        </p:txBody>
      </p:sp>
      <p:sp>
        <p:nvSpPr>
          <p:cNvPr id="71" name="TL_Deploy_lbl">
            <a:extLst>
              <a:ext uri="{FF2B5EF4-FFF2-40B4-BE49-F238E27FC236}">
                <a16:creationId xmlns:a16="http://schemas.microsoft.com/office/drawing/2014/main" id="{C95C77BA-0EB4-7A9A-451C-4AA6F11F6124}"/>
              </a:ext>
            </a:extLst>
          </p:cNvPr>
          <p:cNvSpPr/>
          <p:nvPr/>
        </p:nvSpPr>
        <p:spPr>
          <a:xfrm>
            <a:off x="7715451" y="3598029"/>
            <a:ext cx="457200" cy="110000"/>
          </a:xfrm>
          <a:prstGeom prst="rect">
            <a:avLst/>
          </a:prstGeom>
          <a:noFill/>
          <a:ln>
            <a:noFill/>
          </a:ln>
        </p:spPr>
        <p:txBody>
          <a:bodyPr wrap="square" lIns="0" tIns="0" rIns="0" bIns="0" rtlCol="0" anchor="ctr"/>
          <a:lstStyle/>
          <a:p>
            <a:pPr algn="ctr">
              <a:buNone/>
            </a:pPr>
            <a:r>
              <a:rPr lang="en-US" sz="600" b="1" dirty="0">
                <a:solidFill>
                  <a:srgbClr val="3BB77E"/>
                </a:solidFill>
                <a:latin typeface="Calibri"/>
              </a:rPr>
              <a:t>Apr 25</a:t>
            </a:r>
            <a:br>
              <a:rPr lang="en-US" sz="600" b="1" dirty="0">
                <a:solidFill>
                  <a:srgbClr val="3BB77E"/>
                </a:solidFill>
                <a:latin typeface="Calibri"/>
              </a:rPr>
            </a:br>
            <a:r>
              <a:rPr lang="en-US" sz="600" b="1" dirty="0">
                <a:solidFill>
                  <a:srgbClr val="3BB77E"/>
                </a:solidFill>
                <a:latin typeface="Calibri"/>
              </a:rPr>
              <a:t>Deployed</a:t>
            </a:r>
          </a:p>
        </p:txBody>
      </p:sp>
      <p:sp>
        <p:nvSpPr>
          <p:cNvPr id="72" name="TL_S5_dot">
            <a:extLst>
              <a:ext uri="{FF2B5EF4-FFF2-40B4-BE49-F238E27FC236}">
                <a16:creationId xmlns:a16="http://schemas.microsoft.com/office/drawing/2014/main" id="{0A944DAF-64E4-041E-08A4-655642322C1D}"/>
              </a:ext>
            </a:extLst>
          </p:cNvPr>
          <p:cNvSpPr/>
          <p:nvPr/>
        </p:nvSpPr>
        <p:spPr>
          <a:xfrm>
            <a:off x="6907860" y="3319461"/>
            <a:ext cx="121920" cy="121920"/>
          </a:xfrm>
          <a:prstGeom prst="ellipse">
            <a:avLst/>
          </a:prstGeom>
          <a:solidFill>
            <a:srgbClr val="1B2B5E"/>
          </a:solidFill>
          <a:ln>
            <a:noFill/>
          </a:ln>
        </p:spPr>
        <p:txBody>
          <a:bodyPr/>
          <a:lstStyle/>
          <a:p>
            <a:endParaRPr lang="en-US"/>
          </a:p>
        </p:txBody>
      </p:sp>
      <p:sp>
        <p:nvSpPr>
          <p:cNvPr id="74" name="TL_S5_lbl">
            <a:extLst>
              <a:ext uri="{FF2B5EF4-FFF2-40B4-BE49-F238E27FC236}">
                <a16:creationId xmlns:a16="http://schemas.microsoft.com/office/drawing/2014/main" id="{69A61A27-5772-B1EF-6624-6788079957B8}"/>
              </a:ext>
            </a:extLst>
          </p:cNvPr>
          <p:cNvSpPr/>
          <p:nvPr/>
        </p:nvSpPr>
        <p:spPr>
          <a:xfrm>
            <a:off x="6740946" y="3199423"/>
            <a:ext cx="457200" cy="120000"/>
          </a:xfrm>
          <a:prstGeom prst="rect">
            <a:avLst/>
          </a:prstGeom>
          <a:noFill/>
          <a:ln>
            <a:noFill/>
          </a:ln>
        </p:spPr>
        <p:txBody>
          <a:bodyPr wrap="square" lIns="0" tIns="0" rIns="0" bIns="0" rtlCol="0" anchor="ctr"/>
          <a:lstStyle/>
          <a:p>
            <a:pPr algn="ctr">
              <a:buNone/>
            </a:pPr>
            <a:r>
              <a:rPr lang="en-US" sz="700" b="1" dirty="0">
                <a:solidFill>
                  <a:srgbClr val="1B2B5E"/>
                </a:solidFill>
                <a:latin typeface="Calibri"/>
              </a:rPr>
              <a:t>Phase 4</a:t>
            </a:r>
          </a:p>
        </p:txBody>
      </p:sp>
      <p:sp>
        <p:nvSpPr>
          <p:cNvPr id="77" name="Text 2">
            <a:extLst>
              <a:ext uri="{FF2B5EF4-FFF2-40B4-BE49-F238E27FC236}">
                <a16:creationId xmlns:a16="http://schemas.microsoft.com/office/drawing/2014/main" id="{57775A8E-BD17-2284-2E97-DC72A9F63C4D}"/>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Serina Rodriguez</a:t>
            </a:r>
            <a:endParaRPr lang="en-US" sz="800" dirty="0"/>
          </a:p>
        </p:txBody>
      </p:sp>
      <p:sp>
        <p:nvSpPr>
          <p:cNvPr id="78" name="Text 3">
            <a:extLst>
              <a:ext uri="{FF2B5EF4-FFF2-40B4-BE49-F238E27FC236}">
                <a16:creationId xmlns:a16="http://schemas.microsoft.com/office/drawing/2014/main" id="{6EAFBBB2-5296-A534-2442-3E220C5226F3}"/>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PM | SCRUM Master</a:t>
            </a:r>
            <a:endParaRPr lang="en-US" sz="700" dirty="0"/>
          </a:p>
        </p:txBody>
      </p:sp>
      <p:sp>
        <p:nvSpPr>
          <p:cNvPr id="79" name="Text 2">
            <a:extLst>
              <a:ext uri="{FF2B5EF4-FFF2-40B4-BE49-F238E27FC236}">
                <a16:creationId xmlns:a16="http://schemas.microsoft.com/office/drawing/2014/main" id="{97E38EA9-5035-6828-9439-18AA09C3F2B5}"/>
              </a:ext>
            </a:extLst>
          </p:cNvPr>
          <p:cNvSpPr/>
          <p:nvPr/>
        </p:nvSpPr>
        <p:spPr>
          <a:xfrm>
            <a:off x="457200" y="1086611"/>
            <a:ext cx="7315200" cy="201168"/>
          </a:xfrm>
          <a:prstGeom prst="rect">
            <a:avLst/>
          </a:prstGeom>
          <a:noFill/>
          <a:ln/>
        </p:spPr>
        <p:txBody>
          <a:bodyPr wrap="square" lIns="0" tIns="0" rIns="0" bIns="0" rtlCol="0" anchor="ctr"/>
          <a:lstStyle/>
          <a:p>
            <a:pPr marL="0" indent="0">
              <a:buNone/>
            </a:pPr>
            <a:r>
              <a:rPr lang="en-US" sz="1100" i="1" dirty="0">
                <a:solidFill>
                  <a:srgbClr val="4A5568"/>
                </a:solidFill>
              </a:rPr>
              <a:t>Iteratively built from the ground up.</a:t>
            </a:r>
            <a:endParaRPr lang="en-US" sz="1100" dirty="0"/>
          </a:p>
        </p:txBody>
      </p:sp>
      <p:pic>
        <p:nvPicPr>
          <p:cNvPr id="81" name="Graphic 80" descr="Star with solid fill">
            <a:extLst>
              <a:ext uri="{FF2B5EF4-FFF2-40B4-BE49-F238E27FC236}">
                <a16:creationId xmlns:a16="http://schemas.microsoft.com/office/drawing/2014/main" id="{FB34FF6D-8A94-72F5-2F8C-C215EF4760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63808" y="3218709"/>
            <a:ext cx="269632" cy="269632"/>
          </a:xfrm>
          <a:prstGeom prst="rect">
            <a:avLst/>
          </a:prstGeom>
        </p:spPr>
      </p:pic>
      <p:sp>
        <p:nvSpPr>
          <p:cNvPr id="82" name="Text 83">
            <a:extLst>
              <a:ext uri="{FF2B5EF4-FFF2-40B4-BE49-F238E27FC236}">
                <a16:creationId xmlns:a16="http://schemas.microsoft.com/office/drawing/2014/main" id="{D71B48C3-318D-5ADE-4EFB-637A5ECC5B02}"/>
              </a:ext>
            </a:extLst>
          </p:cNvPr>
          <p:cNvSpPr/>
          <p:nvPr/>
        </p:nvSpPr>
        <p:spPr>
          <a:xfrm>
            <a:off x="2121408" y="4059936"/>
            <a:ext cx="1051560" cy="365760"/>
          </a:xfrm>
          <a:prstGeom prst="rect">
            <a:avLst/>
          </a:prstGeom>
          <a:noFill/>
          <a:ln/>
        </p:spPr>
        <p:txBody>
          <a:bodyPr wrap="square" lIns="0" tIns="0" rIns="0" bIns="0" rtlCol="0" anchor="ctr"/>
          <a:lstStyle/>
          <a:p>
            <a:pPr marL="0" indent="0" algn="ctr">
              <a:buNone/>
            </a:pPr>
            <a:r>
              <a:rPr lang="en-US" sz="2200" b="1" dirty="0">
                <a:solidFill>
                  <a:schemeClr val="accent1"/>
                </a:solidFill>
              </a:rPr>
              <a:t>14</a:t>
            </a:r>
            <a:endParaRPr lang="en-US" sz="2200" dirty="0">
              <a:solidFill>
                <a:schemeClr val="accent1"/>
              </a:solidFill>
            </a:endParaRPr>
          </a:p>
        </p:txBody>
      </p:sp>
      <p:sp>
        <p:nvSpPr>
          <p:cNvPr id="83" name="Text 84">
            <a:extLst>
              <a:ext uri="{FF2B5EF4-FFF2-40B4-BE49-F238E27FC236}">
                <a16:creationId xmlns:a16="http://schemas.microsoft.com/office/drawing/2014/main" id="{2D19C59F-729C-31D4-8C58-13A6548F93B2}"/>
              </a:ext>
            </a:extLst>
          </p:cNvPr>
          <p:cNvSpPr/>
          <p:nvPr/>
        </p:nvSpPr>
        <p:spPr>
          <a:xfrm>
            <a:off x="2121408" y="4426424"/>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Weeks</a:t>
            </a:r>
            <a:endParaRPr lang="en-US" sz="750" dirty="0"/>
          </a:p>
        </p:txBody>
      </p:sp>
      <p:sp>
        <p:nvSpPr>
          <p:cNvPr id="84" name="Text 85">
            <a:extLst>
              <a:ext uri="{FF2B5EF4-FFF2-40B4-BE49-F238E27FC236}">
                <a16:creationId xmlns:a16="http://schemas.microsoft.com/office/drawing/2014/main" id="{EFB5E5EE-F0F1-B14C-29FC-9F757B95D92C}"/>
              </a:ext>
            </a:extLst>
          </p:cNvPr>
          <p:cNvSpPr/>
          <p:nvPr/>
        </p:nvSpPr>
        <p:spPr>
          <a:xfrm>
            <a:off x="3465576" y="4059936"/>
            <a:ext cx="1051560" cy="365760"/>
          </a:xfrm>
          <a:prstGeom prst="rect">
            <a:avLst/>
          </a:prstGeom>
          <a:noFill/>
          <a:ln/>
        </p:spPr>
        <p:txBody>
          <a:bodyPr wrap="square" lIns="0" tIns="0" rIns="0" bIns="0" rtlCol="0" anchor="ctr"/>
          <a:lstStyle/>
          <a:p>
            <a:pPr marL="0" indent="0" algn="ctr">
              <a:buNone/>
            </a:pPr>
            <a:r>
              <a:rPr lang="en-US" sz="2200" b="1" dirty="0">
                <a:solidFill>
                  <a:schemeClr val="accent1"/>
                </a:solidFill>
              </a:rPr>
              <a:t>5 </a:t>
            </a:r>
            <a:endParaRPr lang="en-US" sz="2200" dirty="0">
              <a:solidFill>
                <a:schemeClr val="accent1"/>
              </a:solidFill>
            </a:endParaRPr>
          </a:p>
        </p:txBody>
      </p:sp>
      <p:sp>
        <p:nvSpPr>
          <p:cNvPr id="85" name="Text 86">
            <a:extLst>
              <a:ext uri="{FF2B5EF4-FFF2-40B4-BE49-F238E27FC236}">
                <a16:creationId xmlns:a16="http://schemas.microsoft.com/office/drawing/2014/main" id="{1308E730-981E-F06C-6C5C-A67E56F5F287}"/>
              </a:ext>
            </a:extLst>
          </p:cNvPr>
          <p:cNvSpPr/>
          <p:nvPr/>
        </p:nvSpPr>
        <p:spPr>
          <a:xfrm>
            <a:off x="3460982" y="4422649"/>
            <a:ext cx="1051560" cy="164592"/>
          </a:xfrm>
          <a:prstGeom prst="rect">
            <a:avLst/>
          </a:prstGeom>
          <a:noFill/>
          <a:ln/>
        </p:spPr>
        <p:txBody>
          <a:bodyPr wrap="square" lIns="0" tIns="0" rIns="0" bIns="0" rtlCol="0" anchor="ctr"/>
          <a:lstStyle/>
          <a:p>
            <a:pPr algn="ctr"/>
            <a:r>
              <a:rPr lang="en-US" sz="750" dirty="0">
                <a:solidFill>
                  <a:srgbClr val="9DB4C0"/>
                </a:solidFill>
              </a:rPr>
              <a:t>Sprint Reviews</a:t>
            </a:r>
            <a:br>
              <a:rPr lang="en-US" sz="750" dirty="0">
                <a:solidFill>
                  <a:srgbClr val="9DB4C0"/>
                </a:solidFill>
              </a:rPr>
            </a:br>
            <a:r>
              <a:rPr lang="en-US" sz="750" dirty="0">
                <a:solidFill>
                  <a:srgbClr val="9DB4C0"/>
                </a:solidFill>
              </a:rPr>
              <a:t>&amp; Retrospectives</a:t>
            </a:r>
            <a:endParaRPr lang="en-US" sz="750" dirty="0"/>
          </a:p>
        </p:txBody>
      </p:sp>
      <p:sp>
        <p:nvSpPr>
          <p:cNvPr id="86" name="Text 87">
            <a:extLst>
              <a:ext uri="{FF2B5EF4-FFF2-40B4-BE49-F238E27FC236}">
                <a16:creationId xmlns:a16="http://schemas.microsoft.com/office/drawing/2014/main" id="{6D357E94-CB6E-A24E-67CA-91A61A2ABEA1}"/>
              </a:ext>
            </a:extLst>
          </p:cNvPr>
          <p:cNvSpPr/>
          <p:nvPr/>
        </p:nvSpPr>
        <p:spPr>
          <a:xfrm>
            <a:off x="4809744" y="4059936"/>
            <a:ext cx="1051560" cy="365760"/>
          </a:xfrm>
          <a:prstGeom prst="rect">
            <a:avLst/>
          </a:prstGeom>
          <a:noFill/>
          <a:ln/>
        </p:spPr>
        <p:txBody>
          <a:bodyPr wrap="square" lIns="0" tIns="0" rIns="0" bIns="0" rtlCol="0" anchor="ctr"/>
          <a:lstStyle/>
          <a:p>
            <a:pPr marL="0" indent="0" algn="ctr">
              <a:buNone/>
            </a:pPr>
            <a:r>
              <a:rPr lang="en-US" sz="2200" b="1" dirty="0">
                <a:solidFill>
                  <a:schemeClr val="accent1"/>
                </a:solidFill>
              </a:rPr>
              <a:t>30+</a:t>
            </a:r>
            <a:endParaRPr lang="en-US" sz="2200" dirty="0">
              <a:solidFill>
                <a:schemeClr val="accent1"/>
              </a:solidFill>
            </a:endParaRPr>
          </a:p>
        </p:txBody>
      </p:sp>
      <p:sp>
        <p:nvSpPr>
          <p:cNvPr id="87" name="Text 88">
            <a:extLst>
              <a:ext uri="{FF2B5EF4-FFF2-40B4-BE49-F238E27FC236}">
                <a16:creationId xmlns:a16="http://schemas.microsoft.com/office/drawing/2014/main" id="{A3F640B9-BAA4-A7F8-BD79-9A8700F1A6C2}"/>
              </a:ext>
            </a:extLst>
          </p:cNvPr>
          <p:cNvSpPr/>
          <p:nvPr/>
        </p:nvSpPr>
        <p:spPr>
          <a:xfrm>
            <a:off x="4809744" y="4422649"/>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Team Meetings</a:t>
            </a:r>
            <a:br>
              <a:rPr lang="en-US" sz="750" dirty="0">
                <a:solidFill>
                  <a:srgbClr val="9DB4C0"/>
                </a:solidFill>
              </a:rPr>
            </a:br>
            <a:r>
              <a:rPr lang="en-US" sz="750" dirty="0">
                <a:solidFill>
                  <a:srgbClr val="9DB4C0"/>
                </a:solidFill>
              </a:rPr>
              <a:t>~60 Daily Standups</a:t>
            </a:r>
            <a:endParaRPr lang="en-US" sz="750" dirty="0"/>
          </a:p>
        </p:txBody>
      </p:sp>
      <p:sp>
        <p:nvSpPr>
          <p:cNvPr id="88" name="Text 89">
            <a:extLst>
              <a:ext uri="{FF2B5EF4-FFF2-40B4-BE49-F238E27FC236}">
                <a16:creationId xmlns:a16="http://schemas.microsoft.com/office/drawing/2014/main" id="{43055205-C65F-3FC6-50E1-0C1EB7AFDC42}"/>
              </a:ext>
            </a:extLst>
          </p:cNvPr>
          <p:cNvSpPr/>
          <p:nvPr/>
        </p:nvSpPr>
        <p:spPr>
          <a:xfrm>
            <a:off x="6153912" y="4059936"/>
            <a:ext cx="1051560" cy="365760"/>
          </a:xfrm>
          <a:prstGeom prst="rect">
            <a:avLst/>
          </a:prstGeom>
          <a:noFill/>
          <a:ln/>
        </p:spPr>
        <p:txBody>
          <a:bodyPr wrap="square" lIns="0" tIns="0" rIns="0" bIns="0" rtlCol="0" anchor="ctr"/>
          <a:lstStyle/>
          <a:p>
            <a:pPr marL="0" indent="0" algn="ctr">
              <a:buNone/>
            </a:pPr>
            <a:r>
              <a:rPr lang="en-US" sz="2200" b="1" dirty="0">
                <a:solidFill>
                  <a:schemeClr val="accent1"/>
                </a:solidFill>
              </a:rPr>
              <a:t>2</a:t>
            </a:r>
            <a:endParaRPr lang="en-US" sz="2200" dirty="0">
              <a:solidFill>
                <a:schemeClr val="accent1"/>
              </a:solidFill>
            </a:endParaRPr>
          </a:p>
        </p:txBody>
      </p:sp>
      <p:sp>
        <p:nvSpPr>
          <p:cNvPr id="89" name="Text 90">
            <a:extLst>
              <a:ext uri="{FF2B5EF4-FFF2-40B4-BE49-F238E27FC236}">
                <a16:creationId xmlns:a16="http://schemas.microsoft.com/office/drawing/2014/main" id="{C124BA3B-1A1B-39F1-D80C-8604F7984630}"/>
              </a:ext>
            </a:extLst>
          </p:cNvPr>
          <p:cNvSpPr/>
          <p:nvPr/>
        </p:nvSpPr>
        <p:spPr>
          <a:xfrm>
            <a:off x="6153912" y="4425696"/>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Trello Boards</a:t>
            </a:r>
            <a:endParaRPr lang="en-US" sz="750" dirty="0"/>
          </a:p>
        </p:txBody>
      </p:sp>
      <p:sp>
        <p:nvSpPr>
          <p:cNvPr id="90" name="Text 91">
            <a:extLst>
              <a:ext uri="{FF2B5EF4-FFF2-40B4-BE49-F238E27FC236}">
                <a16:creationId xmlns:a16="http://schemas.microsoft.com/office/drawing/2014/main" id="{4258402A-124D-8EF3-2077-AD5AC63B72AE}"/>
              </a:ext>
            </a:extLst>
          </p:cNvPr>
          <p:cNvSpPr/>
          <p:nvPr/>
        </p:nvSpPr>
        <p:spPr>
          <a:xfrm>
            <a:off x="7498080" y="4059936"/>
            <a:ext cx="1051560" cy="365760"/>
          </a:xfrm>
          <a:prstGeom prst="rect">
            <a:avLst/>
          </a:prstGeom>
          <a:noFill/>
          <a:ln/>
        </p:spPr>
        <p:txBody>
          <a:bodyPr wrap="square" lIns="0" tIns="0" rIns="0" bIns="0" rtlCol="0" anchor="ctr"/>
          <a:lstStyle/>
          <a:p>
            <a:pPr marL="0" indent="0" algn="ctr">
              <a:buNone/>
            </a:pPr>
            <a:r>
              <a:rPr lang="en-US" sz="2200" b="1" dirty="0">
                <a:solidFill>
                  <a:schemeClr val="accent1"/>
                </a:solidFill>
              </a:rPr>
              <a:t>1</a:t>
            </a:r>
            <a:endParaRPr lang="en-US" sz="2200" dirty="0">
              <a:solidFill>
                <a:schemeClr val="accent1"/>
              </a:solidFill>
            </a:endParaRPr>
          </a:p>
        </p:txBody>
      </p:sp>
      <p:sp>
        <p:nvSpPr>
          <p:cNvPr id="91" name="Text 92">
            <a:extLst>
              <a:ext uri="{FF2B5EF4-FFF2-40B4-BE49-F238E27FC236}">
                <a16:creationId xmlns:a16="http://schemas.microsoft.com/office/drawing/2014/main" id="{FD971F3D-60E2-4217-2B60-36F1A7264173}"/>
              </a:ext>
            </a:extLst>
          </p:cNvPr>
          <p:cNvSpPr/>
          <p:nvPr/>
        </p:nvSpPr>
        <p:spPr>
          <a:xfrm>
            <a:off x="7498080" y="4425696"/>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Product Development Plan</a:t>
            </a:r>
            <a:endParaRPr lang="en-US" sz="750" dirty="0"/>
          </a:p>
        </p:txBody>
      </p:sp>
      <p:sp>
        <p:nvSpPr>
          <p:cNvPr id="92" name="Text 91">
            <a:extLst>
              <a:ext uri="{FF2B5EF4-FFF2-40B4-BE49-F238E27FC236}">
                <a16:creationId xmlns:a16="http://schemas.microsoft.com/office/drawing/2014/main" id="{03E485CA-3A53-CB69-2D49-67F5DBD40AA7}"/>
              </a:ext>
            </a:extLst>
          </p:cNvPr>
          <p:cNvSpPr/>
          <p:nvPr/>
        </p:nvSpPr>
        <p:spPr>
          <a:xfrm>
            <a:off x="841248" y="4063266"/>
            <a:ext cx="1051560" cy="365760"/>
          </a:xfrm>
          <a:prstGeom prst="rect">
            <a:avLst/>
          </a:prstGeom>
          <a:noFill/>
          <a:ln/>
        </p:spPr>
        <p:txBody>
          <a:bodyPr wrap="square" lIns="0" tIns="0" rIns="0" bIns="0" rtlCol="0" anchor="ctr"/>
          <a:lstStyle/>
          <a:p>
            <a:pPr marL="0" indent="0" algn="ctr">
              <a:buNone/>
            </a:pPr>
            <a:r>
              <a:rPr lang="en-US" sz="2200" b="1" dirty="0">
                <a:solidFill>
                  <a:schemeClr val="accent1"/>
                </a:solidFill>
              </a:rPr>
              <a:t>5</a:t>
            </a:r>
            <a:endParaRPr lang="en-US" sz="2200" dirty="0">
              <a:solidFill>
                <a:schemeClr val="accent1"/>
              </a:solidFill>
            </a:endParaRPr>
          </a:p>
        </p:txBody>
      </p:sp>
      <p:sp>
        <p:nvSpPr>
          <p:cNvPr id="93" name="Text 92">
            <a:extLst>
              <a:ext uri="{FF2B5EF4-FFF2-40B4-BE49-F238E27FC236}">
                <a16:creationId xmlns:a16="http://schemas.microsoft.com/office/drawing/2014/main" id="{B0265780-4740-F7E3-CA66-640F5E363AD1}"/>
              </a:ext>
            </a:extLst>
          </p:cNvPr>
          <p:cNvSpPr/>
          <p:nvPr/>
        </p:nvSpPr>
        <p:spPr>
          <a:xfrm>
            <a:off x="820430" y="4430650"/>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Sprints</a:t>
            </a:r>
            <a:endParaRPr lang="en-US" sz="750" dirty="0"/>
          </a:p>
        </p:txBody>
      </p:sp>
      <p:sp>
        <p:nvSpPr>
          <p:cNvPr id="94" name="TL_S5_date">
            <a:extLst>
              <a:ext uri="{FF2B5EF4-FFF2-40B4-BE49-F238E27FC236}">
                <a16:creationId xmlns:a16="http://schemas.microsoft.com/office/drawing/2014/main" id="{6F817826-8778-9F9A-311C-B25E600C1225}"/>
              </a:ext>
            </a:extLst>
          </p:cNvPr>
          <p:cNvSpPr/>
          <p:nvPr/>
        </p:nvSpPr>
        <p:spPr>
          <a:xfrm>
            <a:off x="6648780" y="3484505"/>
            <a:ext cx="640080" cy="110000"/>
          </a:xfrm>
          <a:prstGeom prst="rect">
            <a:avLst/>
          </a:prstGeom>
          <a:noFill/>
          <a:ln>
            <a:noFill/>
          </a:ln>
        </p:spPr>
        <p:txBody>
          <a:bodyPr wrap="square" lIns="0" tIns="0" rIns="0" bIns="0" rtlCol="0" anchor="ctr"/>
          <a:lstStyle/>
          <a:p>
            <a:pPr algn="ctr">
              <a:buNone/>
            </a:pPr>
            <a:r>
              <a:rPr lang="en-US" sz="600" dirty="0">
                <a:solidFill>
                  <a:srgbClr val="6B7280"/>
                </a:solidFill>
                <a:latin typeface="Calibri"/>
              </a:rPr>
              <a:t>Apr 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8000"/>
                                  </p:stCondLst>
                                  <p:childTnLst>
                                    <p:set>
                                      <p:cBhvr>
                                        <p:cTn id="6" dur="1" fill="hold">
                                          <p:stCondLst>
                                            <p:cond delay="0"/>
                                          </p:stCondLst>
                                        </p:cTn>
                                        <p:tgtEl>
                                          <p:spTgt spid="49"/>
                                        </p:tgtEl>
                                        <p:attrNameLst>
                                          <p:attrName>style.visibility</p:attrName>
                                        </p:attrNameLst>
                                      </p:cBhvr>
                                      <p:to>
                                        <p:strVal val="visible"/>
                                      </p:to>
                                    </p:set>
                                  </p:childTnLst>
                                </p:cTn>
                              </p:par>
                            </p:childTnLst>
                          </p:cTn>
                        </p:par>
                        <p:par>
                          <p:cTn id="7" fill="hold">
                            <p:stCondLst>
                              <p:cond delay="18000"/>
                            </p:stCondLst>
                            <p:childTnLst>
                              <p:par>
                                <p:cTn id="8" presetID="1" presetClass="entr" presetSubtype="0" fill="hold" grpId="0" nodeType="afterEffect">
                                  <p:stCondLst>
                                    <p:cond delay="2000"/>
                                  </p:stCondLst>
                                  <p:childTnLst>
                                    <p:set>
                                      <p:cBhvr>
                                        <p:cTn id="9" dur="1" fill="hold">
                                          <p:stCondLst>
                                            <p:cond delay="0"/>
                                          </p:stCondLst>
                                        </p:cTn>
                                        <p:tgtEl>
                                          <p:spTgt spid="52"/>
                                        </p:tgtEl>
                                        <p:attrNameLst>
                                          <p:attrName>style.visibility</p:attrName>
                                        </p:attrNameLst>
                                      </p:cBhvr>
                                      <p:to>
                                        <p:strVal val="visible"/>
                                      </p:to>
                                    </p:set>
                                  </p:childTnLst>
                                </p:cTn>
                              </p:par>
                            </p:childTnLst>
                          </p:cTn>
                        </p:par>
                        <p:par>
                          <p:cTn id="10" fill="hold">
                            <p:stCondLst>
                              <p:cond delay="20000"/>
                            </p:stCondLst>
                            <p:childTnLst>
                              <p:par>
                                <p:cTn id="11" presetID="1" presetClass="entr" presetSubtype="0" fill="hold" grpId="0" nodeType="afterEffect">
                                  <p:stCondLst>
                                    <p:cond delay="2000"/>
                                  </p:stCondLst>
                                  <p:childTnLst>
                                    <p:set>
                                      <p:cBhvr>
                                        <p:cTn id="12" dur="1" fill="hold">
                                          <p:stCondLst>
                                            <p:cond delay="0"/>
                                          </p:stCondLst>
                                        </p:cTn>
                                        <p:tgtEl>
                                          <p:spTgt spid="55"/>
                                        </p:tgtEl>
                                        <p:attrNameLst>
                                          <p:attrName>style.visibility</p:attrName>
                                        </p:attrNameLst>
                                      </p:cBhvr>
                                      <p:to>
                                        <p:strVal val="visible"/>
                                      </p:to>
                                    </p:set>
                                  </p:childTnLst>
                                </p:cTn>
                              </p:par>
                            </p:childTnLst>
                          </p:cTn>
                        </p:par>
                        <p:par>
                          <p:cTn id="13" fill="hold">
                            <p:stCondLst>
                              <p:cond delay="22000"/>
                            </p:stCondLst>
                            <p:childTnLst>
                              <p:par>
                                <p:cTn id="14" presetID="1" presetClass="entr" presetSubtype="0" fill="hold" grpId="0" nodeType="afterEffect">
                                  <p:stCondLst>
                                    <p:cond delay="2000"/>
                                  </p:stCondLst>
                                  <p:childTnLst>
                                    <p:set>
                                      <p:cBhvr>
                                        <p:cTn id="15" dur="1" fill="hold">
                                          <p:stCondLst>
                                            <p:cond delay="0"/>
                                          </p:stCondLst>
                                        </p:cTn>
                                        <p:tgtEl>
                                          <p:spTgt spid="58"/>
                                        </p:tgtEl>
                                        <p:attrNameLst>
                                          <p:attrName>style.visibility</p:attrName>
                                        </p:attrNameLst>
                                      </p:cBhvr>
                                      <p:to>
                                        <p:strVal val="visible"/>
                                      </p:to>
                                    </p:set>
                                  </p:childTnLst>
                                </p:cTn>
                              </p:par>
                            </p:childTnLst>
                          </p:cTn>
                        </p:par>
                        <p:par>
                          <p:cTn id="16" fill="hold">
                            <p:stCondLst>
                              <p:cond delay="24000"/>
                            </p:stCondLst>
                            <p:childTnLst>
                              <p:par>
                                <p:cTn id="17" presetID="1" presetClass="entr" presetSubtype="0" fill="hold" grpId="0" nodeType="afterEffect">
                                  <p:stCondLst>
                                    <p:cond delay="2000"/>
                                  </p:stCondLst>
                                  <p:childTnLst>
                                    <p:set>
                                      <p:cBhvr>
                                        <p:cTn id="18" dur="1" fill="hold">
                                          <p:stCondLst>
                                            <p:cond delay="0"/>
                                          </p:stCondLst>
                                        </p:cTn>
                                        <p:tgtEl>
                                          <p:spTgt spid="60"/>
                                        </p:tgtEl>
                                        <p:attrNameLst>
                                          <p:attrName>style.visibility</p:attrName>
                                        </p:attrNameLst>
                                      </p:cBhvr>
                                      <p:to>
                                        <p:strVal val="visible"/>
                                      </p:to>
                                    </p:set>
                                  </p:childTnLst>
                                </p:cTn>
                              </p:par>
                            </p:childTnLst>
                          </p:cTn>
                        </p:par>
                        <p:par>
                          <p:cTn id="19" fill="hold">
                            <p:stCondLst>
                              <p:cond delay="26000"/>
                            </p:stCondLst>
                            <p:childTnLst>
                              <p:par>
                                <p:cTn id="20" presetID="1" presetClass="entr" presetSubtype="0" fill="hold" grpId="0" nodeType="afterEffect">
                                  <p:stCondLst>
                                    <p:cond delay="2000"/>
                                  </p:stCondLst>
                                  <p:childTnLst>
                                    <p:set>
                                      <p:cBhvr>
                                        <p:cTn id="21" dur="1" fill="hold">
                                          <p:stCondLst>
                                            <p:cond delay="0"/>
                                          </p:stCondLst>
                                        </p:cTn>
                                        <p:tgtEl>
                                          <p:spTgt spid="63"/>
                                        </p:tgtEl>
                                        <p:attrNameLst>
                                          <p:attrName>style.visibility</p:attrName>
                                        </p:attrNameLst>
                                      </p:cBhvr>
                                      <p:to>
                                        <p:strVal val="visible"/>
                                      </p:to>
                                    </p:set>
                                  </p:childTnLst>
                                </p:cTn>
                              </p:par>
                            </p:childTnLst>
                          </p:cTn>
                        </p:par>
                        <p:par>
                          <p:cTn id="22" fill="hold">
                            <p:stCondLst>
                              <p:cond delay="28000"/>
                            </p:stCondLst>
                            <p:childTnLst>
                              <p:par>
                                <p:cTn id="23" presetID="2" presetClass="entr" presetSubtype="4" fill="hold" grpId="0" nodeType="afterEffect">
                                  <p:stCondLst>
                                    <p:cond delay="3000"/>
                                  </p:stCondLst>
                                  <p:childTnLst>
                                    <p:set>
                                      <p:cBhvr>
                                        <p:cTn id="24" dur="1" fill="hold">
                                          <p:stCondLst>
                                            <p:cond delay="0"/>
                                          </p:stCondLst>
                                        </p:cTn>
                                        <p:tgtEl>
                                          <p:spTgt spid="72"/>
                                        </p:tgtEl>
                                        <p:attrNameLst>
                                          <p:attrName>style.visibility</p:attrName>
                                        </p:attrNameLst>
                                      </p:cBhvr>
                                      <p:to>
                                        <p:strVal val="visible"/>
                                      </p:to>
                                    </p:set>
                                    <p:anim calcmode="lin" valueType="num">
                                      <p:cBhvr additive="base">
                                        <p:cTn id="25" dur="500" fill="hold"/>
                                        <p:tgtEl>
                                          <p:spTgt spid="72"/>
                                        </p:tgtEl>
                                        <p:attrNameLst>
                                          <p:attrName>ppt_x</p:attrName>
                                        </p:attrNameLst>
                                      </p:cBhvr>
                                      <p:tavLst>
                                        <p:tav tm="0">
                                          <p:val>
                                            <p:strVal val="#ppt_x"/>
                                          </p:val>
                                        </p:tav>
                                        <p:tav tm="100000">
                                          <p:val>
                                            <p:strVal val="#ppt_x"/>
                                          </p:val>
                                        </p:tav>
                                      </p:tavLst>
                                    </p:anim>
                                    <p:anim calcmode="lin" valueType="num">
                                      <p:cBhvr additive="base">
                                        <p:cTn id="26" dur="500" fill="hold"/>
                                        <p:tgtEl>
                                          <p:spTgt spid="72"/>
                                        </p:tgtEl>
                                        <p:attrNameLst>
                                          <p:attrName>ppt_y</p:attrName>
                                        </p:attrNameLst>
                                      </p:cBhvr>
                                      <p:tavLst>
                                        <p:tav tm="0">
                                          <p:val>
                                            <p:strVal val="1+#ppt_h/2"/>
                                          </p:val>
                                        </p:tav>
                                        <p:tav tm="100000">
                                          <p:val>
                                            <p:strVal val="#ppt_y"/>
                                          </p:val>
                                        </p:tav>
                                      </p:tavLst>
                                    </p:anim>
                                  </p:childTnLst>
                                </p:cTn>
                              </p:par>
                            </p:childTnLst>
                          </p:cTn>
                        </p:par>
                        <p:par>
                          <p:cTn id="27" fill="hold">
                            <p:stCondLst>
                              <p:cond delay="31500"/>
                            </p:stCondLst>
                            <p:childTnLst>
                              <p:par>
                                <p:cTn id="28" presetID="9" presetClass="entr" presetSubtype="0" fill="hold" grpId="0" nodeType="afterEffect">
                                  <p:stCondLst>
                                    <p:cond delay="3000"/>
                                  </p:stCondLst>
                                  <p:childTnLst>
                                    <p:set>
                                      <p:cBhvr>
                                        <p:cTn id="29" dur="1" fill="hold">
                                          <p:stCondLst>
                                            <p:cond delay="0"/>
                                          </p:stCondLst>
                                        </p:cTn>
                                        <p:tgtEl>
                                          <p:spTgt spid="68"/>
                                        </p:tgtEl>
                                        <p:attrNameLst>
                                          <p:attrName>style.visibility</p:attrName>
                                        </p:attrNameLst>
                                      </p:cBhvr>
                                      <p:to>
                                        <p:strVal val="visible"/>
                                      </p:to>
                                    </p:set>
                                    <p:animEffect transition="in" filter="dissolve">
                                      <p:cBhvr>
                                        <p:cTn id="30" dur="500"/>
                                        <p:tgtEl>
                                          <p:spTgt spid="68"/>
                                        </p:tgtEl>
                                      </p:cBhvr>
                                    </p:animEffect>
                                  </p:childTnLst>
                                </p:cTn>
                              </p:par>
                            </p:childTnLst>
                          </p:cTn>
                        </p:par>
                        <p:par>
                          <p:cTn id="31" fill="hold">
                            <p:stCondLst>
                              <p:cond delay="35000"/>
                            </p:stCondLst>
                            <p:childTnLst>
                              <p:par>
                                <p:cTn id="32" presetID="9" presetClass="entr" presetSubtype="0" fill="hold" grpId="0" nodeType="afterEffect">
                                  <p:stCondLst>
                                    <p:cond delay="1000"/>
                                  </p:stCondLst>
                                  <p:childTnLst>
                                    <p:set>
                                      <p:cBhvr>
                                        <p:cTn id="33" dur="1" fill="hold">
                                          <p:stCondLst>
                                            <p:cond delay="0"/>
                                          </p:stCondLst>
                                        </p:cTn>
                                        <p:tgtEl>
                                          <p:spTgt spid="70"/>
                                        </p:tgtEl>
                                        <p:attrNameLst>
                                          <p:attrName>style.visibility</p:attrName>
                                        </p:attrNameLst>
                                      </p:cBhvr>
                                      <p:to>
                                        <p:strVal val="visible"/>
                                      </p:to>
                                    </p:set>
                                    <p:animEffect transition="in" filter="dissolve">
                                      <p:cBhvr>
                                        <p:cTn id="34" dur="500"/>
                                        <p:tgtEl>
                                          <p:spTgt spid="70"/>
                                        </p:tgtEl>
                                      </p:cBhvr>
                                    </p:animEffect>
                                  </p:childTnLst>
                                </p:cTn>
                              </p:par>
                            </p:childTnLst>
                          </p:cTn>
                        </p:par>
                        <p:par>
                          <p:cTn id="35" fill="hold">
                            <p:stCondLst>
                              <p:cond delay="36500"/>
                            </p:stCondLst>
                            <p:childTnLst>
                              <p:par>
                                <p:cTn id="36" presetID="53" presetClass="entr" presetSubtype="16" fill="hold" nodeType="afterEffect">
                                  <p:stCondLst>
                                    <p:cond delay="2000"/>
                                  </p:stCondLst>
                                  <p:childTnLst>
                                    <p:set>
                                      <p:cBhvr>
                                        <p:cTn id="37" dur="1" fill="hold">
                                          <p:stCondLst>
                                            <p:cond delay="0"/>
                                          </p:stCondLst>
                                        </p:cTn>
                                        <p:tgtEl>
                                          <p:spTgt spid="81"/>
                                        </p:tgtEl>
                                        <p:attrNameLst>
                                          <p:attrName>style.visibility</p:attrName>
                                        </p:attrNameLst>
                                      </p:cBhvr>
                                      <p:to>
                                        <p:strVal val="visible"/>
                                      </p:to>
                                    </p:set>
                                    <p:anim calcmode="lin" valueType="num">
                                      <p:cBhvr>
                                        <p:cTn id="38" dur="500" fill="hold"/>
                                        <p:tgtEl>
                                          <p:spTgt spid="81"/>
                                        </p:tgtEl>
                                        <p:attrNameLst>
                                          <p:attrName>ppt_w</p:attrName>
                                        </p:attrNameLst>
                                      </p:cBhvr>
                                      <p:tavLst>
                                        <p:tav tm="0">
                                          <p:val>
                                            <p:fltVal val="0"/>
                                          </p:val>
                                        </p:tav>
                                        <p:tav tm="100000">
                                          <p:val>
                                            <p:strVal val="#ppt_w"/>
                                          </p:val>
                                        </p:tav>
                                      </p:tavLst>
                                    </p:anim>
                                    <p:anim calcmode="lin" valueType="num">
                                      <p:cBhvr>
                                        <p:cTn id="39" dur="500" fill="hold"/>
                                        <p:tgtEl>
                                          <p:spTgt spid="81"/>
                                        </p:tgtEl>
                                        <p:attrNameLst>
                                          <p:attrName>ppt_h</p:attrName>
                                        </p:attrNameLst>
                                      </p:cBhvr>
                                      <p:tavLst>
                                        <p:tav tm="0">
                                          <p:val>
                                            <p:fltVal val="0"/>
                                          </p:val>
                                        </p:tav>
                                        <p:tav tm="100000">
                                          <p:val>
                                            <p:strVal val="#ppt_h"/>
                                          </p:val>
                                        </p:tav>
                                      </p:tavLst>
                                    </p:anim>
                                    <p:animEffect transition="in" filter="fade">
                                      <p:cBhvr>
                                        <p:cTn id="40" dur="500"/>
                                        <p:tgtEl>
                                          <p:spTgt spid="81"/>
                                        </p:tgtEl>
                                      </p:cBhvr>
                                    </p:animEffect>
                                  </p:childTnLst>
                                </p:cTn>
                              </p:par>
                            </p:childTnLst>
                          </p:cTn>
                        </p:par>
                        <p:par>
                          <p:cTn id="41" fill="hold">
                            <p:stCondLst>
                              <p:cond delay="39000"/>
                            </p:stCondLst>
                            <p:childTnLst>
                              <p:par>
                                <p:cTn id="42" presetID="56" presetClass="entr" presetSubtype="0" fill="hold" grpId="0" nodeType="afterEffect">
                                  <p:stCondLst>
                                    <p:cond delay="4000"/>
                                  </p:stCondLst>
                                  <p:iterate type="lt">
                                    <p:tmPct val="10000"/>
                                  </p:iterate>
                                  <p:childTnLst>
                                    <p:set>
                                      <p:cBhvr>
                                        <p:cTn id="43" dur="1" fill="hold">
                                          <p:stCondLst>
                                            <p:cond delay="0"/>
                                          </p:stCondLst>
                                        </p:cTn>
                                        <p:tgtEl>
                                          <p:spTgt spid="79"/>
                                        </p:tgtEl>
                                        <p:attrNameLst>
                                          <p:attrName>style.visibility</p:attrName>
                                        </p:attrNameLst>
                                      </p:cBhvr>
                                      <p:to>
                                        <p:strVal val="visible"/>
                                      </p:to>
                                    </p:set>
                                    <p:anim by="(-#ppt_w*2)" calcmode="lin" valueType="num">
                                      <p:cBhvr rctx="PPT">
                                        <p:cTn id="44" dur="500" autoRev="1" fill="hold">
                                          <p:stCondLst>
                                            <p:cond delay="0"/>
                                          </p:stCondLst>
                                        </p:cTn>
                                        <p:tgtEl>
                                          <p:spTgt spid="79"/>
                                        </p:tgtEl>
                                        <p:attrNameLst>
                                          <p:attrName>ppt_w</p:attrName>
                                        </p:attrNameLst>
                                      </p:cBhvr>
                                    </p:anim>
                                    <p:anim by="(#ppt_w*0.50)" calcmode="lin" valueType="num">
                                      <p:cBhvr>
                                        <p:cTn id="45" dur="500" decel="50000" autoRev="1" fill="hold">
                                          <p:stCondLst>
                                            <p:cond delay="0"/>
                                          </p:stCondLst>
                                        </p:cTn>
                                        <p:tgtEl>
                                          <p:spTgt spid="79"/>
                                        </p:tgtEl>
                                        <p:attrNameLst>
                                          <p:attrName>ppt_x</p:attrName>
                                        </p:attrNameLst>
                                      </p:cBhvr>
                                    </p:anim>
                                    <p:anim from="(-#ppt_h/2)" to="(#ppt_y)" calcmode="lin" valueType="num">
                                      <p:cBhvr>
                                        <p:cTn id="46" dur="1000" fill="hold">
                                          <p:stCondLst>
                                            <p:cond delay="0"/>
                                          </p:stCondLst>
                                        </p:cTn>
                                        <p:tgtEl>
                                          <p:spTgt spid="79"/>
                                        </p:tgtEl>
                                        <p:attrNameLst>
                                          <p:attrName>ppt_y</p:attrName>
                                        </p:attrNameLst>
                                      </p:cBhvr>
                                    </p:anim>
                                    <p:animRot by="21600000">
                                      <p:cBhvr>
                                        <p:cTn id="47" dur="1000" fill="hold">
                                          <p:stCondLst>
                                            <p:cond delay="0"/>
                                          </p:stCondLst>
                                        </p:cTn>
                                        <p:tgtEl>
                                          <p:spTgt spid="7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2" grpId="0" animBg="1"/>
      <p:bldP spid="55" grpId="0" animBg="1"/>
      <p:bldP spid="58" grpId="0" animBg="1"/>
      <p:bldP spid="60" grpId="0" animBg="1"/>
      <p:bldP spid="63" grpId="0" animBg="1"/>
      <p:bldP spid="68" grpId="0" animBg="1"/>
      <p:bldP spid="70" grpId="0" animBg="1"/>
      <p:bldP spid="72" grpId="0" animBg="1"/>
      <p:bldP spid="7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KEY FEATURES</a:t>
            </a:r>
            <a:endParaRPr lang="en-US" sz="90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marL="0" indent="0" algn="l">
              <a:buNone/>
            </a:pPr>
            <a:r>
              <a:rPr lang="en-US" sz="3200" b="1" dirty="0">
                <a:solidFill>
                  <a:srgbClr val="1B2B5E"/>
                </a:solidFill>
                <a:latin typeface="Calibri" pitchFamily="34" charset="0"/>
                <a:ea typeface="Calibri" pitchFamily="34" charset="-122"/>
                <a:cs typeface="Calibri" pitchFamily="34" charset="-120"/>
              </a:rPr>
              <a:t>What Orderly Delivers</a:t>
            </a:r>
            <a:endParaRPr lang="en-US" sz="3200" dirty="0"/>
          </a:p>
        </p:txBody>
      </p:sp>
      <p:sp>
        <p:nvSpPr>
          <p:cNvPr id="4" name="Shape 2"/>
          <p:cNvSpPr/>
          <p:nvPr/>
        </p:nvSpPr>
        <p:spPr>
          <a:xfrm>
            <a:off x="365760" y="1371600"/>
            <a:ext cx="2651760" cy="162763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dirty="0"/>
          </a:p>
        </p:txBody>
      </p:sp>
      <p:sp>
        <p:nvSpPr>
          <p:cNvPr id="5" name="Shape 3"/>
          <p:cNvSpPr/>
          <p:nvPr/>
        </p:nvSpPr>
        <p:spPr>
          <a:xfrm>
            <a:off x="365760" y="1371600"/>
            <a:ext cx="2651760" cy="256032"/>
          </a:xfrm>
          <a:prstGeom prst="rect">
            <a:avLst/>
          </a:prstGeom>
          <a:solidFill>
            <a:srgbClr val="1B2B5E"/>
          </a:solidFill>
          <a:ln w="12700">
            <a:solidFill>
              <a:srgbClr val="1B2B5E"/>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493776" y="1719072"/>
            <a:ext cx="347472" cy="347472"/>
          </a:xfrm>
          <a:prstGeom prst="rect">
            <a:avLst/>
          </a:prstGeom>
        </p:spPr>
      </p:pic>
      <p:sp>
        <p:nvSpPr>
          <p:cNvPr id="7" name="Text 4"/>
          <p:cNvSpPr/>
          <p:nvPr/>
        </p:nvSpPr>
        <p:spPr>
          <a:xfrm>
            <a:off x="914400" y="1645920"/>
            <a:ext cx="1965960" cy="365760"/>
          </a:xfrm>
          <a:prstGeom prst="rect">
            <a:avLst/>
          </a:prstGeom>
          <a:noFill/>
          <a:ln/>
        </p:spPr>
        <p:txBody>
          <a:bodyPr wrap="square" lIns="0" tIns="0" rIns="0" bIns="0" rtlCol="0" anchor="ctr"/>
          <a:lstStyle/>
          <a:p>
            <a:pPr marL="0" indent="0">
              <a:buNone/>
            </a:pPr>
            <a:r>
              <a:rPr lang="en-US" sz="1100" b="1" dirty="0">
                <a:solidFill>
                  <a:srgbClr val="1B2B5E"/>
                </a:solidFill>
                <a:latin typeface="Calibri" pitchFamily="34" charset="0"/>
                <a:ea typeface="Calibri" pitchFamily="34" charset="-122"/>
                <a:cs typeface="Calibri" pitchFamily="34" charset="-120"/>
              </a:rPr>
              <a:t>Customer Ordering</a:t>
            </a:r>
            <a:endParaRPr lang="en-US" sz="1100" dirty="0"/>
          </a:p>
        </p:txBody>
      </p:sp>
      <p:sp>
        <p:nvSpPr>
          <p:cNvPr id="8" name="Text 5"/>
          <p:cNvSpPr/>
          <p:nvPr/>
        </p:nvSpPr>
        <p:spPr>
          <a:xfrm>
            <a:off x="493776" y="2121408"/>
            <a:ext cx="2377440" cy="201168"/>
          </a:xfrm>
          <a:prstGeom prst="rect">
            <a:avLst/>
          </a:prstGeom>
          <a:noFill/>
          <a:ln/>
        </p:spPr>
        <p:txBody>
          <a:bodyPr wrap="square" lIns="0" tIns="0" rIns="0" bIns="0" rtlCol="0" anchor="ctr"/>
          <a:lstStyle/>
          <a:p>
            <a:pPr marL="0" indent="0">
              <a:buNone/>
            </a:pPr>
            <a:r>
              <a:rPr lang="en-US" sz="800" b="1" dirty="0">
                <a:solidFill>
                  <a:srgbClr val="3BB77E"/>
                </a:solidFill>
                <a:latin typeface="Calibri" pitchFamily="34" charset="0"/>
                <a:cs typeface="Calibri" pitchFamily="34" charset="-120"/>
              </a:rPr>
              <a:t>Orders placed in seconds</a:t>
            </a:r>
            <a:endParaRPr lang="en-US" sz="800" dirty="0"/>
          </a:p>
        </p:txBody>
      </p:sp>
      <p:sp>
        <p:nvSpPr>
          <p:cNvPr id="9" name="Text 6"/>
          <p:cNvSpPr/>
          <p:nvPr/>
        </p:nvSpPr>
        <p:spPr>
          <a:xfrm>
            <a:off x="493776" y="2340864"/>
            <a:ext cx="2377440" cy="5029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Self-service menu browsing  ·  Customize, Place &amp; cancel orders  ·  Real-time Order Status</a:t>
            </a:r>
            <a:endParaRPr lang="en-US" sz="900" dirty="0"/>
          </a:p>
        </p:txBody>
      </p:sp>
      <p:sp>
        <p:nvSpPr>
          <p:cNvPr id="10" name="Shape 7"/>
          <p:cNvSpPr/>
          <p:nvPr/>
        </p:nvSpPr>
        <p:spPr>
          <a:xfrm>
            <a:off x="3218688" y="1371600"/>
            <a:ext cx="2651760" cy="162763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11" name="Shape 8"/>
          <p:cNvSpPr/>
          <p:nvPr/>
        </p:nvSpPr>
        <p:spPr>
          <a:xfrm>
            <a:off x="3218688" y="1371600"/>
            <a:ext cx="2651760" cy="256032"/>
          </a:xfrm>
          <a:prstGeom prst="rect">
            <a:avLst/>
          </a:prstGeom>
          <a:solidFill>
            <a:srgbClr val="1B2B5E"/>
          </a:solidFill>
          <a:ln w="12700">
            <a:solidFill>
              <a:srgbClr val="1B2B5E"/>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346704" y="1719072"/>
            <a:ext cx="347472" cy="347472"/>
          </a:xfrm>
          <a:prstGeom prst="rect">
            <a:avLst/>
          </a:prstGeom>
        </p:spPr>
      </p:pic>
      <p:sp>
        <p:nvSpPr>
          <p:cNvPr id="13" name="Text 9"/>
          <p:cNvSpPr/>
          <p:nvPr/>
        </p:nvSpPr>
        <p:spPr>
          <a:xfrm>
            <a:off x="3767328" y="1645920"/>
            <a:ext cx="1965960" cy="365760"/>
          </a:xfrm>
          <a:prstGeom prst="rect">
            <a:avLst/>
          </a:prstGeom>
          <a:noFill/>
          <a:ln/>
        </p:spPr>
        <p:txBody>
          <a:bodyPr wrap="square" lIns="0" tIns="0" rIns="0" bIns="0" rtlCol="0" anchor="ctr"/>
          <a:lstStyle/>
          <a:p>
            <a:pPr marL="0" indent="0">
              <a:buNone/>
            </a:pPr>
            <a:r>
              <a:rPr lang="en-US" sz="1100" b="1" dirty="0">
                <a:solidFill>
                  <a:srgbClr val="1B2B5E"/>
                </a:solidFill>
                <a:latin typeface="Calibri" pitchFamily="34" charset="0"/>
                <a:ea typeface="Calibri" pitchFamily="34" charset="-122"/>
                <a:cs typeface="Calibri" pitchFamily="34" charset="-120"/>
              </a:rPr>
              <a:t>Admin Dashboard</a:t>
            </a:r>
            <a:endParaRPr lang="en-US" sz="1100" dirty="0"/>
          </a:p>
        </p:txBody>
      </p:sp>
      <p:sp>
        <p:nvSpPr>
          <p:cNvPr id="14" name="Text 10"/>
          <p:cNvSpPr/>
          <p:nvPr/>
        </p:nvSpPr>
        <p:spPr>
          <a:xfrm>
            <a:off x="3346704" y="2121408"/>
            <a:ext cx="2377440" cy="201168"/>
          </a:xfrm>
          <a:prstGeom prst="rect">
            <a:avLst/>
          </a:prstGeom>
          <a:noFill/>
          <a:ln/>
        </p:spPr>
        <p:txBody>
          <a:bodyPr wrap="square" lIns="0" tIns="0" rIns="0" bIns="0" rtlCol="0" anchor="ctr"/>
          <a:lstStyle/>
          <a:p>
            <a:r>
              <a:rPr lang="en-US" sz="800" b="1" dirty="0">
                <a:solidFill>
                  <a:srgbClr val="3BB77E"/>
                </a:solidFill>
                <a:latin typeface="Calibri" pitchFamily="34" charset="0"/>
                <a:cs typeface="Calibri" pitchFamily="34" charset="-120"/>
              </a:rPr>
              <a:t>One hub for everything</a:t>
            </a:r>
            <a:endParaRPr lang="en-US" sz="800" dirty="0"/>
          </a:p>
        </p:txBody>
      </p:sp>
      <p:sp>
        <p:nvSpPr>
          <p:cNvPr id="15" name="Text 11"/>
          <p:cNvSpPr/>
          <p:nvPr/>
        </p:nvSpPr>
        <p:spPr>
          <a:xfrm>
            <a:off x="3346704" y="2340864"/>
            <a:ext cx="2377440" cy="5029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Unified overview  ·  Quick access navigation  ·  Role-based Views</a:t>
            </a:r>
            <a:endParaRPr lang="en-US" sz="900" dirty="0"/>
          </a:p>
        </p:txBody>
      </p:sp>
      <p:sp>
        <p:nvSpPr>
          <p:cNvPr id="16" name="Shape 12"/>
          <p:cNvSpPr/>
          <p:nvPr/>
        </p:nvSpPr>
        <p:spPr>
          <a:xfrm>
            <a:off x="6071616" y="1371600"/>
            <a:ext cx="2651760" cy="162763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17" name="Shape 13"/>
          <p:cNvSpPr/>
          <p:nvPr/>
        </p:nvSpPr>
        <p:spPr>
          <a:xfrm>
            <a:off x="6071616" y="1371600"/>
            <a:ext cx="2651760" cy="256032"/>
          </a:xfrm>
          <a:prstGeom prst="rect">
            <a:avLst/>
          </a:prstGeom>
          <a:solidFill>
            <a:srgbClr val="1B2B5E"/>
          </a:solidFill>
          <a:ln w="12700">
            <a:solidFill>
              <a:srgbClr val="1B2B5E"/>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199632" y="1719072"/>
            <a:ext cx="347472" cy="347472"/>
          </a:xfrm>
          <a:prstGeom prst="rect">
            <a:avLst/>
          </a:prstGeom>
        </p:spPr>
      </p:pic>
      <p:sp>
        <p:nvSpPr>
          <p:cNvPr id="19" name="Text 14"/>
          <p:cNvSpPr/>
          <p:nvPr/>
        </p:nvSpPr>
        <p:spPr>
          <a:xfrm>
            <a:off x="6620256" y="1645920"/>
            <a:ext cx="1965960" cy="365760"/>
          </a:xfrm>
          <a:prstGeom prst="rect">
            <a:avLst/>
          </a:prstGeom>
          <a:noFill/>
          <a:ln/>
        </p:spPr>
        <p:txBody>
          <a:bodyPr wrap="square" lIns="0" tIns="0" rIns="0" bIns="0" rtlCol="0" anchor="ctr"/>
          <a:lstStyle/>
          <a:p>
            <a:pPr marL="0" indent="0">
              <a:buNone/>
            </a:pPr>
            <a:r>
              <a:rPr lang="en-US" sz="1100" b="1" dirty="0">
                <a:solidFill>
                  <a:srgbClr val="1B2B5E"/>
                </a:solidFill>
                <a:latin typeface="Calibri" pitchFamily="34" charset="0"/>
                <a:ea typeface="Calibri" pitchFamily="34" charset="-122"/>
                <a:cs typeface="Calibri" pitchFamily="34" charset="-120"/>
              </a:rPr>
              <a:t>Product &amp; Inventory</a:t>
            </a:r>
            <a:endParaRPr lang="en-US" sz="1100" dirty="0"/>
          </a:p>
        </p:txBody>
      </p:sp>
      <p:sp>
        <p:nvSpPr>
          <p:cNvPr id="20" name="Text 15"/>
          <p:cNvSpPr/>
          <p:nvPr/>
        </p:nvSpPr>
        <p:spPr>
          <a:xfrm>
            <a:off x="6199632" y="2121408"/>
            <a:ext cx="2377440" cy="201168"/>
          </a:xfrm>
          <a:prstGeom prst="rect">
            <a:avLst/>
          </a:prstGeom>
          <a:noFill/>
          <a:ln/>
        </p:spPr>
        <p:txBody>
          <a:bodyPr wrap="square" lIns="0" tIns="0" rIns="0" bIns="0" rtlCol="0" anchor="ctr"/>
          <a:lstStyle/>
          <a:p>
            <a:r>
              <a:rPr lang="en-US" sz="800" b="1" dirty="0">
                <a:solidFill>
                  <a:srgbClr val="3BB77E"/>
                </a:solidFill>
                <a:latin typeface="Calibri" pitchFamily="34" charset="0"/>
                <a:cs typeface="Calibri" pitchFamily="34" charset="-120"/>
              </a:rPr>
              <a:t>Full control, no guesswork</a:t>
            </a:r>
            <a:endParaRPr lang="en-US" sz="800" dirty="0"/>
          </a:p>
        </p:txBody>
      </p:sp>
      <p:sp>
        <p:nvSpPr>
          <p:cNvPr id="21" name="Text 16"/>
          <p:cNvSpPr/>
          <p:nvPr/>
        </p:nvSpPr>
        <p:spPr>
          <a:xfrm>
            <a:off x="6199632" y="2340864"/>
            <a:ext cx="2377440" cy="5029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Full CRUD management ·  Stock alerts  ·  Category Organization</a:t>
            </a:r>
            <a:endParaRPr lang="en-US" sz="900" dirty="0"/>
          </a:p>
        </p:txBody>
      </p:sp>
      <p:sp>
        <p:nvSpPr>
          <p:cNvPr id="22" name="Shape 17"/>
          <p:cNvSpPr/>
          <p:nvPr/>
        </p:nvSpPr>
        <p:spPr>
          <a:xfrm>
            <a:off x="365760" y="3154680"/>
            <a:ext cx="2651760" cy="162763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23" name="Shape 18"/>
          <p:cNvSpPr/>
          <p:nvPr/>
        </p:nvSpPr>
        <p:spPr>
          <a:xfrm>
            <a:off x="365760" y="3154680"/>
            <a:ext cx="2651760" cy="256032"/>
          </a:xfrm>
          <a:prstGeom prst="rect">
            <a:avLst/>
          </a:prstGeom>
          <a:solidFill>
            <a:srgbClr val="1B2B5E"/>
          </a:solidFill>
          <a:ln w="12700">
            <a:solidFill>
              <a:srgbClr val="1B2B5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493776" y="3502152"/>
            <a:ext cx="347472" cy="347472"/>
          </a:xfrm>
          <a:prstGeom prst="rect">
            <a:avLst/>
          </a:prstGeom>
        </p:spPr>
      </p:pic>
      <p:sp>
        <p:nvSpPr>
          <p:cNvPr id="25" name="Text 19"/>
          <p:cNvSpPr/>
          <p:nvPr/>
        </p:nvSpPr>
        <p:spPr>
          <a:xfrm>
            <a:off x="914400" y="3429000"/>
            <a:ext cx="1965960" cy="365760"/>
          </a:xfrm>
          <a:prstGeom prst="rect">
            <a:avLst/>
          </a:prstGeom>
          <a:noFill/>
          <a:ln/>
        </p:spPr>
        <p:txBody>
          <a:bodyPr wrap="square" lIns="0" tIns="0" rIns="0" bIns="0" rtlCol="0" anchor="ctr"/>
          <a:lstStyle/>
          <a:p>
            <a:pPr marL="0" indent="0">
              <a:buNone/>
            </a:pPr>
            <a:r>
              <a:rPr lang="en-US" sz="1100" b="1" dirty="0">
                <a:solidFill>
                  <a:srgbClr val="1B2B5E"/>
                </a:solidFill>
                <a:latin typeface="Calibri" pitchFamily="34" charset="0"/>
                <a:ea typeface="Calibri" pitchFamily="34" charset="-122"/>
                <a:cs typeface="Calibri" pitchFamily="34" charset="-120"/>
              </a:rPr>
              <a:t>Sales Summary</a:t>
            </a:r>
            <a:endParaRPr lang="en-US" sz="1100" dirty="0"/>
          </a:p>
        </p:txBody>
      </p:sp>
      <p:sp>
        <p:nvSpPr>
          <p:cNvPr id="26" name="Text 20"/>
          <p:cNvSpPr/>
          <p:nvPr/>
        </p:nvSpPr>
        <p:spPr>
          <a:xfrm>
            <a:off x="493776" y="3904488"/>
            <a:ext cx="2377440" cy="201168"/>
          </a:xfrm>
          <a:prstGeom prst="rect">
            <a:avLst/>
          </a:prstGeom>
          <a:noFill/>
          <a:ln/>
        </p:spPr>
        <p:txBody>
          <a:bodyPr wrap="square" lIns="0" tIns="0" rIns="0" bIns="0" rtlCol="0" anchor="ctr"/>
          <a:lstStyle/>
          <a:p>
            <a:r>
              <a:rPr lang="en-US" sz="800" b="1" dirty="0">
                <a:solidFill>
                  <a:srgbClr val="3BB77E"/>
                </a:solidFill>
                <a:latin typeface="Calibri" pitchFamily="34" charset="0"/>
                <a:cs typeface="Calibri" pitchFamily="34" charset="-120"/>
              </a:rPr>
              <a:t>Revenue clarity &amp; Best Sellers at a glance</a:t>
            </a:r>
            <a:endParaRPr lang="en-US" sz="800" dirty="0"/>
          </a:p>
        </p:txBody>
      </p:sp>
      <p:sp>
        <p:nvSpPr>
          <p:cNvPr id="27" name="Text 21"/>
          <p:cNvSpPr/>
          <p:nvPr/>
        </p:nvSpPr>
        <p:spPr>
          <a:xfrm>
            <a:off x="493776" y="4123944"/>
            <a:ext cx="2377440" cy="5029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Revenue Trends ·  Order volume analytics  ·  Date range filtering</a:t>
            </a:r>
            <a:endParaRPr lang="en-US" sz="900" dirty="0"/>
          </a:p>
        </p:txBody>
      </p:sp>
      <p:sp>
        <p:nvSpPr>
          <p:cNvPr id="28" name="Shape 22"/>
          <p:cNvSpPr/>
          <p:nvPr/>
        </p:nvSpPr>
        <p:spPr>
          <a:xfrm>
            <a:off x="3218688" y="3154680"/>
            <a:ext cx="2651760" cy="162763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29" name="Shape 23"/>
          <p:cNvSpPr/>
          <p:nvPr/>
        </p:nvSpPr>
        <p:spPr>
          <a:xfrm>
            <a:off x="3218688" y="3154680"/>
            <a:ext cx="2651760" cy="256032"/>
          </a:xfrm>
          <a:prstGeom prst="rect">
            <a:avLst/>
          </a:prstGeom>
          <a:solidFill>
            <a:srgbClr val="1B2B5E"/>
          </a:solidFill>
          <a:ln w="12700">
            <a:solidFill>
              <a:srgbClr val="1B2B5E"/>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3346704" y="3502152"/>
            <a:ext cx="347472" cy="347472"/>
          </a:xfrm>
          <a:prstGeom prst="rect">
            <a:avLst/>
          </a:prstGeom>
        </p:spPr>
      </p:pic>
      <p:sp>
        <p:nvSpPr>
          <p:cNvPr id="31" name="Text 24"/>
          <p:cNvSpPr/>
          <p:nvPr/>
        </p:nvSpPr>
        <p:spPr>
          <a:xfrm>
            <a:off x="3767328" y="3429000"/>
            <a:ext cx="1965960" cy="365760"/>
          </a:xfrm>
          <a:prstGeom prst="rect">
            <a:avLst/>
          </a:prstGeom>
          <a:noFill/>
          <a:ln/>
        </p:spPr>
        <p:txBody>
          <a:bodyPr wrap="square" lIns="0" tIns="0" rIns="0" bIns="0" rtlCol="0" anchor="ctr"/>
          <a:lstStyle/>
          <a:p>
            <a:pPr marL="0" indent="0">
              <a:buNone/>
            </a:pPr>
            <a:r>
              <a:rPr lang="en-US" sz="1100" b="1" dirty="0">
                <a:solidFill>
                  <a:srgbClr val="1B2B5E"/>
                </a:solidFill>
                <a:latin typeface="Calibri" pitchFamily="34" charset="0"/>
                <a:ea typeface="Calibri" pitchFamily="34" charset="-122"/>
                <a:cs typeface="Calibri" pitchFamily="34" charset="-120"/>
              </a:rPr>
              <a:t>Admin Order Management</a:t>
            </a:r>
            <a:endParaRPr lang="en-US" sz="1100" dirty="0"/>
          </a:p>
        </p:txBody>
      </p:sp>
      <p:sp>
        <p:nvSpPr>
          <p:cNvPr id="32" name="Text 25"/>
          <p:cNvSpPr/>
          <p:nvPr/>
        </p:nvSpPr>
        <p:spPr>
          <a:xfrm>
            <a:off x="3346704" y="3904488"/>
            <a:ext cx="2377440" cy="201168"/>
          </a:xfrm>
          <a:prstGeom prst="rect">
            <a:avLst/>
          </a:prstGeom>
          <a:noFill/>
          <a:ln/>
        </p:spPr>
        <p:txBody>
          <a:bodyPr wrap="square" lIns="0" tIns="0" rIns="0" bIns="0" rtlCol="0" anchor="ctr"/>
          <a:lstStyle/>
          <a:p>
            <a:r>
              <a:rPr lang="en-US" sz="800" b="1" dirty="0">
                <a:solidFill>
                  <a:srgbClr val="3BB77E"/>
                </a:solidFill>
                <a:latin typeface="Calibri" pitchFamily="34" charset="0"/>
                <a:cs typeface="Calibri" pitchFamily="34" charset="-120"/>
              </a:rPr>
              <a:t>Nothing falls through the cracks</a:t>
            </a:r>
            <a:endParaRPr lang="en-US" sz="800" dirty="0"/>
          </a:p>
        </p:txBody>
      </p:sp>
      <p:sp>
        <p:nvSpPr>
          <p:cNvPr id="33" name="Text 26"/>
          <p:cNvSpPr/>
          <p:nvPr/>
        </p:nvSpPr>
        <p:spPr>
          <a:xfrm>
            <a:off x="3346704" y="4123944"/>
            <a:ext cx="2377440" cy="5029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Full order history ·  Status management  ·  Customer detail view</a:t>
            </a:r>
            <a:endParaRPr lang="en-US" sz="900" dirty="0"/>
          </a:p>
        </p:txBody>
      </p:sp>
      <p:sp>
        <p:nvSpPr>
          <p:cNvPr id="34" name="Shape 27"/>
          <p:cNvSpPr/>
          <p:nvPr/>
        </p:nvSpPr>
        <p:spPr>
          <a:xfrm>
            <a:off x="6071616" y="3154680"/>
            <a:ext cx="2651760" cy="162763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35" name="Shape 28"/>
          <p:cNvSpPr/>
          <p:nvPr/>
        </p:nvSpPr>
        <p:spPr>
          <a:xfrm>
            <a:off x="6071616" y="3154680"/>
            <a:ext cx="2651760" cy="256032"/>
          </a:xfrm>
          <a:prstGeom prst="rect">
            <a:avLst/>
          </a:prstGeom>
          <a:solidFill>
            <a:srgbClr val="1B2B5E"/>
          </a:solidFill>
          <a:ln w="12700">
            <a:solidFill>
              <a:srgbClr val="1B2B5E"/>
            </a:solidFill>
            <a:prstDash val="solid"/>
          </a:ln>
        </p:spPr>
        <p:txBody>
          <a:bodyPr/>
          <a:lstStyle/>
          <a:p>
            <a:endParaRPr lang="en-US"/>
          </a:p>
        </p:txBody>
      </p:sp>
      <p:pic>
        <p:nvPicPr>
          <p:cNvPr id="36" name="Image 5" descr="preencoded.png"/>
          <p:cNvPicPr>
            <a:picLocks noChangeAspect="1"/>
          </p:cNvPicPr>
          <p:nvPr/>
        </p:nvPicPr>
        <p:blipFill>
          <a:blip r:embed="rId8"/>
          <a:stretch>
            <a:fillRect/>
          </a:stretch>
        </p:blipFill>
        <p:spPr>
          <a:xfrm>
            <a:off x="6199632" y="3502152"/>
            <a:ext cx="347472" cy="347472"/>
          </a:xfrm>
          <a:prstGeom prst="rect">
            <a:avLst/>
          </a:prstGeom>
        </p:spPr>
      </p:pic>
      <p:sp>
        <p:nvSpPr>
          <p:cNvPr id="37" name="Text 29"/>
          <p:cNvSpPr/>
          <p:nvPr/>
        </p:nvSpPr>
        <p:spPr>
          <a:xfrm>
            <a:off x="6620256" y="3429000"/>
            <a:ext cx="1965960" cy="365760"/>
          </a:xfrm>
          <a:prstGeom prst="rect">
            <a:avLst/>
          </a:prstGeom>
          <a:noFill/>
          <a:ln/>
        </p:spPr>
        <p:txBody>
          <a:bodyPr wrap="square" lIns="0" tIns="0" rIns="0" bIns="0" rtlCol="0" anchor="ctr"/>
          <a:lstStyle/>
          <a:p>
            <a:pPr marL="0" indent="0">
              <a:buNone/>
            </a:pPr>
            <a:r>
              <a:rPr lang="en-US" sz="1100" b="1" dirty="0">
                <a:solidFill>
                  <a:srgbClr val="1B2B5E"/>
                </a:solidFill>
                <a:latin typeface="Calibri" pitchFamily="34" charset="0"/>
                <a:ea typeface="Calibri" pitchFamily="34" charset="-122"/>
                <a:cs typeface="Calibri" pitchFamily="34" charset="-120"/>
              </a:rPr>
              <a:t>Settings</a:t>
            </a:r>
            <a:endParaRPr lang="en-US" sz="1100" dirty="0"/>
          </a:p>
        </p:txBody>
      </p:sp>
      <p:sp>
        <p:nvSpPr>
          <p:cNvPr id="38" name="Text 30"/>
          <p:cNvSpPr/>
          <p:nvPr/>
        </p:nvSpPr>
        <p:spPr>
          <a:xfrm>
            <a:off x="6199632" y="3904488"/>
            <a:ext cx="2377440" cy="201168"/>
          </a:xfrm>
          <a:prstGeom prst="rect">
            <a:avLst/>
          </a:prstGeom>
          <a:noFill/>
          <a:ln/>
        </p:spPr>
        <p:txBody>
          <a:bodyPr wrap="square" lIns="0" tIns="0" rIns="0" bIns="0" rtlCol="0" anchor="ctr"/>
          <a:lstStyle/>
          <a:p>
            <a:r>
              <a:rPr lang="en-US" sz="800" b="1" dirty="0">
                <a:solidFill>
                  <a:srgbClr val="3BB77E"/>
                </a:solidFill>
                <a:latin typeface="Calibri" pitchFamily="34" charset="0"/>
                <a:cs typeface="Calibri" pitchFamily="34" charset="-120"/>
              </a:rPr>
              <a:t>Your business, your settings</a:t>
            </a:r>
            <a:endParaRPr lang="en-US" sz="800" dirty="0"/>
          </a:p>
        </p:txBody>
      </p:sp>
      <p:sp>
        <p:nvSpPr>
          <p:cNvPr id="39" name="Text 31"/>
          <p:cNvSpPr/>
          <p:nvPr/>
        </p:nvSpPr>
        <p:spPr>
          <a:xfrm>
            <a:off x="6199632" y="4123944"/>
            <a:ext cx="2377440" cy="5029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Customer &amp; Business Profile Config ·  Preference Management  ·  Secure Updates</a:t>
            </a:r>
            <a:endParaRPr lang="en-US" sz="900" dirty="0"/>
          </a:p>
        </p:txBody>
      </p:sp>
      <p:sp>
        <p:nvSpPr>
          <p:cNvPr id="40" name="Text 2">
            <a:extLst>
              <a:ext uri="{FF2B5EF4-FFF2-40B4-BE49-F238E27FC236}">
                <a16:creationId xmlns:a16="http://schemas.microsoft.com/office/drawing/2014/main" id="{6857843F-CAC9-3855-5449-2D0ACDD7AEED}"/>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Kim Mayo</a:t>
            </a:r>
            <a:endParaRPr lang="en-US" sz="800" dirty="0"/>
          </a:p>
        </p:txBody>
      </p:sp>
      <p:sp>
        <p:nvSpPr>
          <p:cNvPr id="41" name="Text 3">
            <a:extLst>
              <a:ext uri="{FF2B5EF4-FFF2-40B4-BE49-F238E27FC236}">
                <a16:creationId xmlns:a16="http://schemas.microsoft.com/office/drawing/2014/main" id="{841CBF04-CF06-AEF9-A4DC-C0BED6C054C8}"/>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Product Owner</a:t>
            </a:r>
            <a:endParaRPr lang="en-US" sz="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a:extLst>
            <a:ext uri="{FF2B5EF4-FFF2-40B4-BE49-F238E27FC236}">
              <a16:creationId xmlns:a16="http://schemas.microsoft.com/office/drawing/2014/main" id="{5359BEB2-9215-8B8D-E090-AD03FB545775}"/>
            </a:ext>
          </a:extLst>
        </p:cNvPr>
        <p:cNvGrpSpPr/>
        <p:nvPr/>
      </p:nvGrpSpPr>
      <p:grpSpPr>
        <a:xfrm>
          <a:off x="0" y="0"/>
          <a:ext cx="0" cy="0"/>
          <a:chOff x="0" y="0"/>
          <a:chExt cx="0" cy="0"/>
        </a:xfrm>
      </p:grpSpPr>
      <p:sp>
        <p:nvSpPr>
          <p:cNvPr id="125" name="Text 1">
            <a:extLst>
              <a:ext uri="{FF2B5EF4-FFF2-40B4-BE49-F238E27FC236}">
                <a16:creationId xmlns:a16="http://schemas.microsoft.com/office/drawing/2014/main" id="{5D9B83A8-9AA5-D393-2EB9-38485FE610FE}"/>
              </a:ext>
            </a:extLst>
          </p:cNvPr>
          <p:cNvSpPr/>
          <p:nvPr/>
        </p:nvSpPr>
        <p:spPr>
          <a:xfrm>
            <a:off x="502920" y="402336"/>
            <a:ext cx="6858000" cy="530352"/>
          </a:xfrm>
          <a:prstGeom prst="rect">
            <a:avLst/>
          </a:prstGeom>
          <a:noFill/>
          <a:ln/>
        </p:spPr>
        <p:txBody>
          <a:bodyPr wrap="square" lIns="0" tIns="0" rIns="0" bIns="0" rtlCol="0" anchor="ctr"/>
          <a:lstStyle/>
          <a:p>
            <a:pPr marL="0" indent="0" algn="l">
              <a:buNone/>
            </a:pPr>
            <a:r>
              <a:rPr lang="en-US" sz="3600" b="1" dirty="0">
                <a:solidFill>
                  <a:srgbClr val="0D1B3E"/>
                </a:solidFill>
                <a:latin typeface="Calibri" pitchFamily="34" charset="0"/>
                <a:ea typeface="Calibri" pitchFamily="34" charset="-122"/>
                <a:cs typeface="Calibri" pitchFamily="34" charset="-120"/>
              </a:rPr>
              <a:t>Epics &amp; Delivered Features</a:t>
            </a:r>
            <a:endParaRPr lang="en-US" sz="3600" dirty="0"/>
          </a:p>
        </p:txBody>
      </p:sp>
      <p:sp>
        <p:nvSpPr>
          <p:cNvPr id="128" name="Text 4">
            <a:extLst>
              <a:ext uri="{FF2B5EF4-FFF2-40B4-BE49-F238E27FC236}">
                <a16:creationId xmlns:a16="http://schemas.microsoft.com/office/drawing/2014/main" id="{74CD7ED8-074F-D1C5-07DA-60701ABC618B}"/>
              </a:ext>
            </a:extLst>
          </p:cNvPr>
          <p:cNvSpPr/>
          <p:nvPr/>
        </p:nvSpPr>
        <p:spPr>
          <a:xfrm>
            <a:off x="502920" y="996696"/>
            <a:ext cx="7315200" cy="201168"/>
          </a:xfrm>
          <a:prstGeom prst="rect">
            <a:avLst/>
          </a:prstGeom>
          <a:noFill/>
          <a:ln/>
        </p:spPr>
        <p:txBody>
          <a:bodyPr wrap="square" lIns="0" tIns="0" rIns="0" bIns="0" rtlCol="0" anchor="ctr"/>
          <a:lstStyle/>
          <a:p>
            <a:pPr marL="0" indent="0">
              <a:buNone/>
            </a:pPr>
            <a:r>
              <a:rPr lang="en-US" sz="1100" i="1" dirty="0">
                <a:solidFill>
                  <a:srgbClr val="4A5568"/>
                </a:solidFill>
              </a:rPr>
              <a:t>What we set out to build — and what we delivered</a:t>
            </a:r>
            <a:endParaRPr lang="en-US" sz="1100" dirty="0"/>
          </a:p>
        </p:txBody>
      </p:sp>
      <p:sp>
        <p:nvSpPr>
          <p:cNvPr id="129" name="Shape 5">
            <a:extLst>
              <a:ext uri="{FF2B5EF4-FFF2-40B4-BE49-F238E27FC236}">
                <a16:creationId xmlns:a16="http://schemas.microsoft.com/office/drawing/2014/main" id="{B94622AA-7CA2-ACA2-FFB6-453DDDE40473}"/>
              </a:ext>
            </a:extLst>
          </p:cNvPr>
          <p:cNvSpPr/>
          <p:nvPr/>
        </p:nvSpPr>
        <p:spPr>
          <a:xfrm>
            <a:off x="502920" y="1261872"/>
            <a:ext cx="1965960" cy="2578608"/>
          </a:xfrm>
          <a:prstGeom prst="rect">
            <a:avLst/>
          </a:prstGeom>
          <a:solidFill>
            <a:srgbClr val="FFFFFF"/>
          </a:solidFill>
          <a:ln w="6350">
            <a:solidFill>
              <a:srgbClr val="E2E8F0"/>
            </a:solidFill>
            <a:prstDash val="solid"/>
          </a:ln>
          <a:effectLst>
            <a:outerShdw blurRad="127000" dist="25400" dir="16200000" algn="bl" rotWithShape="0">
              <a:srgbClr val="000000">
                <a:alpha val="7000"/>
              </a:srgbClr>
            </a:outerShdw>
          </a:effectLst>
        </p:spPr>
        <p:txBody>
          <a:bodyPr/>
          <a:lstStyle/>
          <a:p>
            <a:endParaRPr lang="en-US"/>
          </a:p>
        </p:txBody>
      </p:sp>
      <p:sp>
        <p:nvSpPr>
          <p:cNvPr id="130" name="Shape 6">
            <a:extLst>
              <a:ext uri="{FF2B5EF4-FFF2-40B4-BE49-F238E27FC236}">
                <a16:creationId xmlns:a16="http://schemas.microsoft.com/office/drawing/2014/main" id="{D89CF86D-8C01-4415-0701-C4A162BF4293}"/>
              </a:ext>
            </a:extLst>
          </p:cNvPr>
          <p:cNvSpPr/>
          <p:nvPr/>
        </p:nvSpPr>
        <p:spPr>
          <a:xfrm>
            <a:off x="502920" y="1261872"/>
            <a:ext cx="1965960" cy="274320"/>
          </a:xfrm>
          <a:prstGeom prst="rect">
            <a:avLst/>
          </a:prstGeom>
          <a:solidFill>
            <a:srgbClr val="1D9E75"/>
          </a:solidFill>
          <a:ln w="12700">
            <a:solidFill>
              <a:srgbClr val="1D9E75"/>
            </a:solidFill>
            <a:prstDash val="solid"/>
          </a:ln>
        </p:spPr>
        <p:txBody>
          <a:bodyPr/>
          <a:lstStyle/>
          <a:p>
            <a:endParaRPr lang="en-US"/>
          </a:p>
        </p:txBody>
      </p:sp>
      <p:sp>
        <p:nvSpPr>
          <p:cNvPr id="131" name="Shape 7">
            <a:extLst>
              <a:ext uri="{FF2B5EF4-FFF2-40B4-BE49-F238E27FC236}">
                <a16:creationId xmlns:a16="http://schemas.microsoft.com/office/drawing/2014/main" id="{B75DE203-D98B-78CE-D132-D43CD79FA389}"/>
              </a:ext>
            </a:extLst>
          </p:cNvPr>
          <p:cNvSpPr/>
          <p:nvPr/>
        </p:nvSpPr>
        <p:spPr>
          <a:xfrm>
            <a:off x="502920" y="1408176"/>
            <a:ext cx="1965960" cy="128016"/>
          </a:xfrm>
          <a:prstGeom prst="rect">
            <a:avLst/>
          </a:prstGeom>
          <a:solidFill>
            <a:srgbClr val="1D9E75"/>
          </a:solidFill>
          <a:ln w="12700">
            <a:solidFill>
              <a:srgbClr val="1D9E75"/>
            </a:solidFill>
            <a:prstDash val="solid"/>
          </a:ln>
        </p:spPr>
        <p:txBody>
          <a:bodyPr/>
          <a:lstStyle/>
          <a:p>
            <a:endParaRPr lang="en-US"/>
          </a:p>
        </p:txBody>
      </p:sp>
      <p:sp>
        <p:nvSpPr>
          <p:cNvPr id="132" name="Text 8">
            <a:extLst>
              <a:ext uri="{FF2B5EF4-FFF2-40B4-BE49-F238E27FC236}">
                <a16:creationId xmlns:a16="http://schemas.microsoft.com/office/drawing/2014/main" id="{A669917B-F79E-DA36-D6FF-86B59C9D3E93}"/>
              </a:ext>
            </a:extLst>
          </p:cNvPr>
          <p:cNvSpPr/>
          <p:nvPr/>
        </p:nvSpPr>
        <p:spPr>
          <a:xfrm>
            <a:off x="594360" y="1307592"/>
            <a:ext cx="1783080" cy="182880"/>
          </a:xfrm>
          <a:prstGeom prst="rect">
            <a:avLst/>
          </a:prstGeom>
          <a:noFill/>
          <a:ln/>
        </p:spPr>
        <p:txBody>
          <a:bodyPr wrap="square" lIns="0" tIns="0" rIns="0" bIns="0" rtlCol="0" anchor="ctr"/>
          <a:lstStyle/>
          <a:p>
            <a:pPr marL="0" indent="0">
              <a:buNone/>
            </a:pPr>
            <a:r>
              <a:rPr lang="en-US" sz="1000" b="1" dirty="0">
                <a:solidFill>
                  <a:srgbClr val="FFFFFF"/>
                </a:solidFill>
              </a:rPr>
              <a:t>Epic 1 &amp; 2</a:t>
            </a:r>
            <a:endParaRPr lang="en-US" sz="1000" dirty="0"/>
          </a:p>
        </p:txBody>
      </p:sp>
      <p:sp>
        <p:nvSpPr>
          <p:cNvPr id="133" name="Text 9">
            <a:extLst>
              <a:ext uri="{FF2B5EF4-FFF2-40B4-BE49-F238E27FC236}">
                <a16:creationId xmlns:a16="http://schemas.microsoft.com/office/drawing/2014/main" id="{96DA91D7-5A0F-5627-774C-2EF11C13EC6E}"/>
              </a:ext>
            </a:extLst>
          </p:cNvPr>
          <p:cNvSpPr/>
          <p:nvPr/>
        </p:nvSpPr>
        <p:spPr>
          <a:xfrm>
            <a:off x="594360" y="1572768"/>
            <a:ext cx="1783080" cy="146304"/>
          </a:xfrm>
          <a:prstGeom prst="rect">
            <a:avLst/>
          </a:prstGeom>
          <a:noFill/>
          <a:ln/>
        </p:spPr>
        <p:txBody>
          <a:bodyPr wrap="square" lIns="0" tIns="0" rIns="0" bIns="0" rtlCol="0" anchor="ctr"/>
          <a:lstStyle/>
          <a:p>
            <a:pPr marL="0" indent="0">
              <a:buNone/>
            </a:pPr>
            <a:r>
              <a:rPr lang="en-US" sz="700" b="1" dirty="0">
                <a:solidFill>
                  <a:srgbClr val="1D9E75"/>
                </a:solidFill>
              </a:rPr>
              <a:t>Sprints 1–2</a:t>
            </a:r>
            <a:endParaRPr lang="en-US" sz="700" dirty="0"/>
          </a:p>
        </p:txBody>
      </p:sp>
      <p:sp>
        <p:nvSpPr>
          <p:cNvPr id="134" name="Text 10">
            <a:extLst>
              <a:ext uri="{FF2B5EF4-FFF2-40B4-BE49-F238E27FC236}">
                <a16:creationId xmlns:a16="http://schemas.microsoft.com/office/drawing/2014/main" id="{DCB49040-51BF-4650-75F5-01CD1361E293}"/>
              </a:ext>
            </a:extLst>
          </p:cNvPr>
          <p:cNvSpPr/>
          <p:nvPr/>
        </p:nvSpPr>
        <p:spPr>
          <a:xfrm>
            <a:off x="594360" y="1737360"/>
            <a:ext cx="1783080" cy="292608"/>
          </a:xfrm>
          <a:prstGeom prst="rect">
            <a:avLst/>
          </a:prstGeom>
          <a:noFill/>
          <a:ln/>
        </p:spPr>
        <p:txBody>
          <a:bodyPr wrap="square" lIns="0" tIns="0" rIns="0" bIns="0" rtlCol="0" anchor="ctr"/>
          <a:lstStyle/>
          <a:p>
            <a:pPr marL="0" indent="0">
              <a:buNone/>
            </a:pPr>
            <a:r>
              <a:rPr lang="en-US" sz="900" b="1" dirty="0">
                <a:solidFill>
                  <a:srgbClr val="0D1B3E"/>
                </a:solidFill>
              </a:rPr>
              <a:t>Foundation &amp; Auth</a:t>
            </a:r>
            <a:endParaRPr lang="en-US" sz="900" dirty="0"/>
          </a:p>
        </p:txBody>
      </p:sp>
      <p:sp>
        <p:nvSpPr>
          <p:cNvPr id="135" name="Shape 11">
            <a:extLst>
              <a:ext uri="{FF2B5EF4-FFF2-40B4-BE49-F238E27FC236}">
                <a16:creationId xmlns:a16="http://schemas.microsoft.com/office/drawing/2014/main" id="{A904C5B5-398A-5419-8AB3-D4D51A7F0407}"/>
              </a:ext>
            </a:extLst>
          </p:cNvPr>
          <p:cNvSpPr/>
          <p:nvPr/>
        </p:nvSpPr>
        <p:spPr>
          <a:xfrm>
            <a:off x="594360" y="2048256"/>
            <a:ext cx="1783080" cy="7315"/>
          </a:xfrm>
          <a:prstGeom prst="rect">
            <a:avLst/>
          </a:prstGeom>
          <a:solidFill>
            <a:srgbClr val="E2E8F0"/>
          </a:solidFill>
          <a:ln w="12700">
            <a:solidFill>
              <a:srgbClr val="E2E8F0"/>
            </a:solidFill>
            <a:prstDash val="solid"/>
          </a:ln>
        </p:spPr>
        <p:txBody>
          <a:bodyPr/>
          <a:lstStyle/>
          <a:p>
            <a:endParaRPr lang="en-US"/>
          </a:p>
        </p:txBody>
      </p:sp>
      <p:sp>
        <p:nvSpPr>
          <p:cNvPr id="136" name="Shape 12">
            <a:extLst>
              <a:ext uri="{FF2B5EF4-FFF2-40B4-BE49-F238E27FC236}">
                <a16:creationId xmlns:a16="http://schemas.microsoft.com/office/drawing/2014/main" id="{815FF3CA-A297-4F7E-57CE-AC9D6FA81F23}"/>
              </a:ext>
            </a:extLst>
          </p:cNvPr>
          <p:cNvSpPr/>
          <p:nvPr/>
        </p:nvSpPr>
        <p:spPr>
          <a:xfrm>
            <a:off x="594360" y="2185416"/>
            <a:ext cx="73152" cy="73152"/>
          </a:xfrm>
          <a:prstGeom prst="ellipse">
            <a:avLst/>
          </a:prstGeom>
          <a:solidFill>
            <a:srgbClr val="1D9E75"/>
          </a:solidFill>
          <a:ln w="12700">
            <a:solidFill>
              <a:srgbClr val="1D9E75"/>
            </a:solidFill>
            <a:prstDash val="solid"/>
          </a:ln>
        </p:spPr>
        <p:txBody>
          <a:bodyPr/>
          <a:lstStyle/>
          <a:p>
            <a:endParaRPr lang="en-US"/>
          </a:p>
        </p:txBody>
      </p:sp>
      <p:sp>
        <p:nvSpPr>
          <p:cNvPr id="137" name="Text 13">
            <a:extLst>
              <a:ext uri="{FF2B5EF4-FFF2-40B4-BE49-F238E27FC236}">
                <a16:creationId xmlns:a16="http://schemas.microsoft.com/office/drawing/2014/main" id="{74FEBBC0-B0A3-3D57-F45E-AF0042CC3D7C}"/>
              </a:ext>
            </a:extLst>
          </p:cNvPr>
          <p:cNvSpPr/>
          <p:nvPr/>
        </p:nvSpPr>
        <p:spPr>
          <a:xfrm>
            <a:off x="713232" y="2103120"/>
            <a:ext cx="1673352" cy="267005"/>
          </a:xfrm>
          <a:prstGeom prst="rect">
            <a:avLst/>
          </a:prstGeom>
          <a:noFill/>
          <a:ln/>
        </p:spPr>
        <p:txBody>
          <a:bodyPr wrap="square" lIns="0" tIns="0" rIns="0" bIns="0" rtlCol="0" anchor="ctr"/>
          <a:lstStyle/>
          <a:p>
            <a:pPr marL="0" indent="0">
              <a:buNone/>
            </a:pPr>
            <a:r>
              <a:rPr lang="en-US" sz="750" dirty="0">
                <a:solidFill>
                  <a:srgbClr val="4A5568"/>
                </a:solidFill>
              </a:rPr>
              <a:t>Development environment &amp; toolchain</a:t>
            </a:r>
            <a:endParaRPr lang="en-US" sz="750" dirty="0"/>
          </a:p>
        </p:txBody>
      </p:sp>
      <p:sp>
        <p:nvSpPr>
          <p:cNvPr id="138" name="Shape 14">
            <a:extLst>
              <a:ext uri="{FF2B5EF4-FFF2-40B4-BE49-F238E27FC236}">
                <a16:creationId xmlns:a16="http://schemas.microsoft.com/office/drawing/2014/main" id="{E4C2D347-BB0A-F7F6-3246-DE31B193EAFA}"/>
              </a:ext>
            </a:extLst>
          </p:cNvPr>
          <p:cNvSpPr/>
          <p:nvPr/>
        </p:nvSpPr>
        <p:spPr>
          <a:xfrm>
            <a:off x="594360" y="2606040"/>
            <a:ext cx="73152" cy="73152"/>
          </a:xfrm>
          <a:prstGeom prst="ellipse">
            <a:avLst/>
          </a:prstGeom>
          <a:solidFill>
            <a:srgbClr val="1D9E75"/>
          </a:solidFill>
          <a:ln w="12700">
            <a:solidFill>
              <a:srgbClr val="1D9E75"/>
            </a:solidFill>
            <a:prstDash val="solid"/>
          </a:ln>
        </p:spPr>
        <p:txBody>
          <a:bodyPr/>
          <a:lstStyle/>
          <a:p>
            <a:endParaRPr lang="en-US"/>
          </a:p>
        </p:txBody>
      </p:sp>
      <p:sp>
        <p:nvSpPr>
          <p:cNvPr id="139" name="Text 15">
            <a:extLst>
              <a:ext uri="{FF2B5EF4-FFF2-40B4-BE49-F238E27FC236}">
                <a16:creationId xmlns:a16="http://schemas.microsoft.com/office/drawing/2014/main" id="{96FD3FB7-396E-5256-FDFC-14ADAA04FA8D}"/>
              </a:ext>
            </a:extLst>
          </p:cNvPr>
          <p:cNvSpPr/>
          <p:nvPr/>
        </p:nvSpPr>
        <p:spPr>
          <a:xfrm>
            <a:off x="713232" y="2523744"/>
            <a:ext cx="1673352" cy="267005"/>
          </a:xfrm>
          <a:prstGeom prst="rect">
            <a:avLst/>
          </a:prstGeom>
          <a:noFill/>
          <a:ln/>
        </p:spPr>
        <p:txBody>
          <a:bodyPr wrap="square" lIns="0" tIns="0" rIns="0" bIns="0" rtlCol="0" anchor="ctr"/>
          <a:lstStyle/>
          <a:p>
            <a:pPr marL="0" indent="0">
              <a:buNone/>
            </a:pPr>
            <a:r>
              <a:rPr lang="en-US" sz="750" dirty="0">
                <a:solidFill>
                  <a:srgbClr val="4A5568"/>
                </a:solidFill>
              </a:rPr>
              <a:t>Database schema, seed data &amp; migrations</a:t>
            </a:r>
            <a:endParaRPr lang="en-US" sz="750" dirty="0"/>
          </a:p>
        </p:txBody>
      </p:sp>
      <p:sp>
        <p:nvSpPr>
          <p:cNvPr id="140" name="Shape 16">
            <a:extLst>
              <a:ext uri="{FF2B5EF4-FFF2-40B4-BE49-F238E27FC236}">
                <a16:creationId xmlns:a16="http://schemas.microsoft.com/office/drawing/2014/main" id="{C2837E19-955A-E98B-AEE5-14A9099CDD23}"/>
              </a:ext>
            </a:extLst>
          </p:cNvPr>
          <p:cNvSpPr/>
          <p:nvPr/>
        </p:nvSpPr>
        <p:spPr>
          <a:xfrm>
            <a:off x="594360" y="3026664"/>
            <a:ext cx="73152" cy="73152"/>
          </a:xfrm>
          <a:prstGeom prst="ellipse">
            <a:avLst/>
          </a:prstGeom>
          <a:solidFill>
            <a:srgbClr val="1D9E75"/>
          </a:solidFill>
          <a:ln w="12700">
            <a:solidFill>
              <a:srgbClr val="1D9E75"/>
            </a:solidFill>
            <a:prstDash val="solid"/>
          </a:ln>
        </p:spPr>
        <p:txBody>
          <a:bodyPr/>
          <a:lstStyle/>
          <a:p>
            <a:endParaRPr lang="en-US"/>
          </a:p>
        </p:txBody>
      </p:sp>
      <p:sp>
        <p:nvSpPr>
          <p:cNvPr id="141" name="Text 17">
            <a:extLst>
              <a:ext uri="{FF2B5EF4-FFF2-40B4-BE49-F238E27FC236}">
                <a16:creationId xmlns:a16="http://schemas.microsoft.com/office/drawing/2014/main" id="{3166F218-710D-6DDA-8C17-0BBFF345AA6E}"/>
              </a:ext>
            </a:extLst>
          </p:cNvPr>
          <p:cNvSpPr/>
          <p:nvPr/>
        </p:nvSpPr>
        <p:spPr>
          <a:xfrm>
            <a:off x="713232" y="2944367"/>
            <a:ext cx="1673352" cy="267005"/>
          </a:xfrm>
          <a:prstGeom prst="rect">
            <a:avLst/>
          </a:prstGeom>
          <a:noFill/>
          <a:ln/>
        </p:spPr>
        <p:txBody>
          <a:bodyPr wrap="square" lIns="0" tIns="0" rIns="0" bIns="0" rtlCol="0" anchor="ctr"/>
          <a:lstStyle/>
          <a:p>
            <a:pPr marL="0" indent="0">
              <a:buNone/>
            </a:pPr>
            <a:r>
              <a:rPr lang="en-US" sz="750" dirty="0">
                <a:solidFill>
                  <a:srgbClr val="4A5568"/>
                </a:solidFill>
              </a:rPr>
              <a:t>JWT auth — register, login, reset</a:t>
            </a:r>
            <a:endParaRPr lang="en-US" sz="750" dirty="0"/>
          </a:p>
        </p:txBody>
      </p:sp>
      <p:sp>
        <p:nvSpPr>
          <p:cNvPr id="142" name="Shape 18">
            <a:extLst>
              <a:ext uri="{FF2B5EF4-FFF2-40B4-BE49-F238E27FC236}">
                <a16:creationId xmlns:a16="http://schemas.microsoft.com/office/drawing/2014/main" id="{E627F251-50FE-C08E-D500-D577EEB5A490}"/>
              </a:ext>
            </a:extLst>
          </p:cNvPr>
          <p:cNvSpPr/>
          <p:nvPr/>
        </p:nvSpPr>
        <p:spPr>
          <a:xfrm>
            <a:off x="594360" y="3447288"/>
            <a:ext cx="73152" cy="73152"/>
          </a:xfrm>
          <a:prstGeom prst="ellipse">
            <a:avLst/>
          </a:prstGeom>
          <a:solidFill>
            <a:srgbClr val="1D9E75"/>
          </a:solidFill>
          <a:ln w="12700">
            <a:solidFill>
              <a:srgbClr val="1D9E75"/>
            </a:solidFill>
            <a:prstDash val="solid"/>
          </a:ln>
        </p:spPr>
        <p:txBody>
          <a:bodyPr/>
          <a:lstStyle/>
          <a:p>
            <a:endParaRPr lang="en-US"/>
          </a:p>
        </p:txBody>
      </p:sp>
      <p:sp>
        <p:nvSpPr>
          <p:cNvPr id="143" name="Text 19">
            <a:extLst>
              <a:ext uri="{FF2B5EF4-FFF2-40B4-BE49-F238E27FC236}">
                <a16:creationId xmlns:a16="http://schemas.microsoft.com/office/drawing/2014/main" id="{70B8EF72-65CE-E2F7-C566-6D4CEC0DB13C}"/>
              </a:ext>
            </a:extLst>
          </p:cNvPr>
          <p:cNvSpPr/>
          <p:nvPr/>
        </p:nvSpPr>
        <p:spPr>
          <a:xfrm>
            <a:off x="713232" y="3364992"/>
            <a:ext cx="1673352" cy="265176"/>
          </a:xfrm>
          <a:prstGeom prst="rect">
            <a:avLst/>
          </a:prstGeom>
          <a:noFill/>
          <a:ln/>
        </p:spPr>
        <p:txBody>
          <a:bodyPr wrap="square" lIns="0" tIns="0" rIns="0" bIns="0" rtlCol="0" anchor="ctr"/>
          <a:lstStyle/>
          <a:p>
            <a:pPr marL="0" indent="0">
              <a:buNone/>
            </a:pPr>
            <a:r>
              <a:rPr lang="en-US" sz="750" dirty="0">
                <a:solidFill>
                  <a:srgbClr val="4A5568"/>
                </a:solidFill>
              </a:rPr>
              <a:t>App shell, routing &amp; nav structure</a:t>
            </a:r>
            <a:endParaRPr lang="en-US" sz="750" dirty="0"/>
          </a:p>
        </p:txBody>
      </p:sp>
      <p:sp>
        <p:nvSpPr>
          <p:cNvPr id="144" name="Shape 20">
            <a:extLst>
              <a:ext uri="{FF2B5EF4-FFF2-40B4-BE49-F238E27FC236}">
                <a16:creationId xmlns:a16="http://schemas.microsoft.com/office/drawing/2014/main" id="{F7626A67-E606-2747-A127-36D605633133}"/>
              </a:ext>
            </a:extLst>
          </p:cNvPr>
          <p:cNvSpPr/>
          <p:nvPr/>
        </p:nvSpPr>
        <p:spPr>
          <a:xfrm>
            <a:off x="2539289" y="1261872"/>
            <a:ext cx="1965960" cy="2578608"/>
          </a:xfrm>
          <a:prstGeom prst="rect">
            <a:avLst/>
          </a:prstGeom>
          <a:solidFill>
            <a:srgbClr val="FFFFFF"/>
          </a:solidFill>
          <a:ln w="6350">
            <a:solidFill>
              <a:srgbClr val="E2E8F0"/>
            </a:solidFill>
            <a:prstDash val="solid"/>
          </a:ln>
          <a:effectLst>
            <a:outerShdw blurRad="127000" dist="25400" dir="16200000" algn="bl" rotWithShape="0">
              <a:srgbClr val="000000">
                <a:alpha val="7000"/>
              </a:srgbClr>
            </a:outerShdw>
          </a:effectLst>
        </p:spPr>
        <p:txBody>
          <a:bodyPr/>
          <a:lstStyle/>
          <a:p>
            <a:endParaRPr lang="en-US"/>
          </a:p>
        </p:txBody>
      </p:sp>
      <p:sp>
        <p:nvSpPr>
          <p:cNvPr id="145" name="Shape 21">
            <a:extLst>
              <a:ext uri="{FF2B5EF4-FFF2-40B4-BE49-F238E27FC236}">
                <a16:creationId xmlns:a16="http://schemas.microsoft.com/office/drawing/2014/main" id="{D5B6E9AC-D32E-8828-7CEA-8DAB8D7E3191}"/>
              </a:ext>
            </a:extLst>
          </p:cNvPr>
          <p:cNvSpPr/>
          <p:nvPr/>
        </p:nvSpPr>
        <p:spPr>
          <a:xfrm>
            <a:off x="2539289" y="1261872"/>
            <a:ext cx="1965960" cy="274320"/>
          </a:xfrm>
          <a:prstGeom prst="rect">
            <a:avLst/>
          </a:prstGeom>
          <a:solidFill>
            <a:srgbClr val="0F8A6E"/>
          </a:solidFill>
          <a:ln w="12700">
            <a:solidFill>
              <a:srgbClr val="0F8A6E"/>
            </a:solidFill>
            <a:prstDash val="solid"/>
          </a:ln>
        </p:spPr>
        <p:txBody>
          <a:bodyPr/>
          <a:lstStyle/>
          <a:p>
            <a:endParaRPr lang="en-US"/>
          </a:p>
        </p:txBody>
      </p:sp>
      <p:sp>
        <p:nvSpPr>
          <p:cNvPr id="146" name="Shape 22">
            <a:extLst>
              <a:ext uri="{FF2B5EF4-FFF2-40B4-BE49-F238E27FC236}">
                <a16:creationId xmlns:a16="http://schemas.microsoft.com/office/drawing/2014/main" id="{74CA4C4D-705A-7C02-DC43-36C608C4C139}"/>
              </a:ext>
            </a:extLst>
          </p:cNvPr>
          <p:cNvSpPr/>
          <p:nvPr/>
        </p:nvSpPr>
        <p:spPr>
          <a:xfrm>
            <a:off x="2539289" y="1408176"/>
            <a:ext cx="1965960" cy="128016"/>
          </a:xfrm>
          <a:prstGeom prst="rect">
            <a:avLst/>
          </a:prstGeom>
          <a:solidFill>
            <a:srgbClr val="0F8A6E"/>
          </a:solidFill>
          <a:ln w="12700">
            <a:solidFill>
              <a:srgbClr val="0F8A6E"/>
            </a:solidFill>
            <a:prstDash val="solid"/>
          </a:ln>
        </p:spPr>
        <p:txBody>
          <a:bodyPr/>
          <a:lstStyle/>
          <a:p>
            <a:endParaRPr lang="en-US"/>
          </a:p>
        </p:txBody>
      </p:sp>
      <p:sp>
        <p:nvSpPr>
          <p:cNvPr id="147" name="Text 23">
            <a:extLst>
              <a:ext uri="{FF2B5EF4-FFF2-40B4-BE49-F238E27FC236}">
                <a16:creationId xmlns:a16="http://schemas.microsoft.com/office/drawing/2014/main" id="{E42980F0-780D-91FE-3D74-DA566311DF02}"/>
              </a:ext>
            </a:extLst>
          </p:cNvPr>
          <p:cNvSpPr/>
          <p:nvPr/>
        </p:nvSpPr>
        <p:spPr>
          <a:xfrm>
            <a:off x="2630729" y="1307592"/>
            <a:ext cx="1783080" cy="182880"/>
          </a:xfrm>
          <a:prstGeom prst="rect">
            <a:avLst/>
          </a:prstGeom>
          <a:noFill/>
          <a:ln/>
        </p:spPr>
        <p:txBody>
          <a:bodyPr wrap="square" lIns="0" tIns="0" rIns="0" bIns="0" rtlCol="0" anchor="ctr"/>
          <a:lstStyle/>
          <a:p>
            <a:pPr marL="0" indent="0">
              <a:buNone/>
            </a:pPr>
            <a:r>
              <a:rPr lang="en-US" sz="1000" b="1" dirty="0">
                <a:solidFill>
                  <a:srgbClr val="FFFFFF"/>
                </a:solidFill>
              </a:rPr>
              <a:t>Epic 3</a:t>
            </a:r>
            <a:endParaRPr lang="en-US" sz="1000" dirty="0"/>
          </a:p>
        </p:txBody>
      </p:sp>
      <p:sp>
        <p:nvSpPr>
          <p:cNvPr id="148" name="Text 24">
            <a:extLst>
              <a:ext uri="{FF2B5EF4-FFF2-40B4-BE49-F238E27FC236}">
                <a16:creationId xmlns:a16="http://schemas.microsoft.com/office/drawing/2014/main" id="{3E2F6499-F2DC-E0EE-743B-F674D266A762}"/>
              </a:ext>
            </a:extLst>
          </p:cNvPr>
          <p:cNvSpPr/>
          <p:nvPr/>
        </p:nvSpPr>
        <p:spPr>
          <a:xfrm>
            <a:off x="2630729" y="1572768"/>
            <a:ext cx="1783080" cy="146304"/>
          </a:xfrm>
          <a:prstGeom prst="rect">
            <a:avLst/>
          </a:prstGeom>
          <a:noFill/>
          <a:ln/>
        </p:spPr>
        <p:txBody>
          <a:bodyPr wrap="square" lIns="0" tIns="0" rIns="0" bIns="0" rtlCol="0" anchor="ctr"/>
          <a:lstStyle/>
          <a:p>
            <a:pPr marL="0" indent="0">
              <a:buNone/>
            </a:pPr>
            <a:r>
              <a:rPr lang="en-US" sz="700" b="1" dirty="0">
                <a:solidFill>
                  <a:srgbClr val="1D9E75"/>
                </a:solidFill>
              </a:rPr>
              <a:t>Sprint 3</a:t>
            </a:r>
            <a:endParaRPr lang="en-US" sz="700" dirty="0"/>
          </a:p>
        </p:txBody>
      </p:sp>
      <p:sp>
        <p:nvSpPr>
          <p:cNvPr id="149" name="Text 25">
            <a:extLst>
              <a:ext uri="{FF2B5EF4-FFF2-40B4-BE49-F238E27FC236}">
                <a16:creationId xmlns:a16="http://schemas.microsoft.com/office/drawing/2014/main" id="{4BE21B36-3648-39B5-F768-A8054422C4CA}"/>
              </a:ext>
            </a:extLst>
          </p:cNvPr>
          <p:cNvSpPr/>
          <p:nvPr/>
        </p:nvSpPr>
        <p:spPr>
          <a:xfrm>
            <a:off x="2630729" y="1737360"/>
            <a:ext cx="1783080" cy="292608"/>
          </a:xfrm>
          <a:prstGeom prst="rect">
            <a:avLst/>
          </a:prstGeom>
          <a:noFill/>
          <a:ln/>
        </p:spPr>
        <p:txBody>
          <a:bodyPr wrap="square" lIns="0" tIns="0" rIns="0" bIns="0" rtlCol="0" anchor="ctr"/>
          <a:lstStyle/>
          <a:p>
            <a:pPr marL="0" indent="0">
              <a:buNone/>
            </a:pPr>
            <a:r>
              <a:rPr lang="en-US" sz="900" b="1" dirty="0">
                <a:solidFill>
                  <a:srgbClr val="0D1B3E"/>
                </a:solidFill>
              </a:rPr>
              <a:t>Customer Ordering</a:t>
            </a:r>
            <a:endParaRPr lang="en-US" sz="900" dirty="0"/>
          </a:p>
        </p:txBody>
      </p:sp>
      <p:sp>
        <p:nvSpPr>
          <p:cNvPr id="150" name="Shape 26">
            <a:extLst>
              <a:ext uri="{FF2B5EF4-FFF2-40B4-BE49-F238E27FC236}">
                <a16:creationId xmlns:a16="http://schemas.microsoft.com/office/drawing/2014/main" id="{06711524-E119-D877-EB5D-448FC15AA1F4}"/>
              </a:ext>
            </a:extLst>
          </p:cNvPr>
          <p:cNvSpPr/>
          <p:nvPr/>
        </p:nvSpPr>
        <p:spPr>
          <a:xfrm>
            <a:off x="2630729" y="2048256"/>
            <a:ext cx="1783080" cy="7315"/>
          </a:xfrm>
          <a:prstGeom prst="rect">
            <a:avLst/>
          </a:prstGeom>
          <a:solidFill>
            <a:srgbClr val="E2E8F0"/>
          </a:solidFill>
          <a:ln w="12700">
            <a:solidFill>
              <a:srgbClr val="E2E8F0"/>
            </a:solidFill>
            <a:prstDash val="solid"/>
          </a:ln>
        </p:spPr>
        <p:txBody>
          <a:bodyPr/>
          <a:lstStyle/>
          <a:p>
            <a:endParaRPr lang="en-US"/>
          </a:p>
        </p:txBody>
      </p:sp>
      <p:sp>
        <p:nvSpPr>
          <p:cNvPr id="151" name="Shape 27">
            <a:extLst>
              <a:ext uri="{FF2B5EF4-FFF2-40B4-BE49-F238E27FC236}">
                <a16:creationId xmlns:a16="http://schemas.microsoft.com/office/drawing/2014/main" id="{170C76BE-DA88-0CD9-62D1-86142BDC71B2}"/>
              </a:ext>
            </a:extLst>
          </p:cNvPr>
          <p:cNvSpPr/>
          <p:nvPr/>
        </p:nvSpPr>
        <p:spPr>
          <a:xfrm>
            <a:off x="2630729" y="2185416"/>
            <a:ext cx="73152" cy="73152"/>
          </a:xfrm>
          <a:prstGeom prst="ellipse">
            <a:avLst/>
          </a:prstGeom>
          <a:solidFill>
            <a:srgbClr val="0F8A6E"/>
          </a:solidFill>
          <a:ln w="12700">
            <a:solidFill>
              <a:srgbClr val="0F8A6E"/>
            </a:solidFill>
            <a:prstDash val="solid"/>
          </a:ln>
        </p:spPr>
        <p:txBody>
          <a:bodyPr/>
          <a:lstStyle/>
          <a:p>
            <a:endParaRPr lang="en-US"/>
          </a:p>
        </p:txBody>
      </p:sp>
      <p:sp>
        <p:nvSpPr>
          <p:cNvPr id="152" name="Text 28">
            <a:extLst>
              <a:ext uri="{FF2B5EF4-FFF2-40B4-BE49-F238E27FC236}">
                <a16:creationId xmlns:a16="http://schemas.microsoft.com/office/drawing/2014/main" id="{AE518E79-E3A7-E20F-62C3-ADABF6F997F1}"/>
              </a:ext>
            </a:extLst>
          </p:cNvPr>
          <p:cNvSpPr/>
          <p:nvPr/>
        </p:nvSpPr>
        <p:spPr>
          <a:xfrm>
            <a:off x="2749601" y="2103120"/>
            <a:ext cx="1673352" cy="267005"/>
          </a:xfrm>
          <a:prstGeom prst="rect">
            <a:avLst/>
          </a:prstGeom>
          <a:noFill/>
          <a:ln/>
        </p:spPr>
        <p:txBody>
          <a:bodyPr wrap="square" lIns="0" tIns="0" rIns="0" bIns="0" rtlCol="0" anchor="ctr"/>
          <a:lstStyle/>
          <a:p>
            <a:pPr marL="0" indent="0">
              <a:buNone/>
            </a:pPr>
            <a:r>
              <a:rPr lang="en-US" sz="750" dirty="0">
                <a:solidFill>
                  <a:srgbClr val="4A5568"/>
                </a:solidFill>
              </a:rPr>
              <a:t>Product browsing — categories &amp; variants</a:t>
            </a:r>
            <a:endParaRPr lang="en-US" sz="750" dirty="0"/>
          </a:p>
        </p:txBody>
      </p:sp>
      <p:sp>
        <p:nvSpPr>
          <p:cNvPr id="153" name="Shape 29">
            <a:extLst>
              <a:ext uri="{FF2B5EF4-FFF2-40B4-BE49-F238E27FC236}">
                <a16:creationId xmlns:a16="http://schemas.microsoft.com/office/drawing/2014/main" id="{0834E76F-AB59-8E0A-F027-5AF28A8C5628}"/>
              </a:ext>
            </a:extLst>
          </p:cNvPr>
          <p:cNvSpPr/>
          <p:nvPr/>
        </p:nvSpPr>
        <p:spPr>
          <a:xfrm>
            <a:off x="2630729" y="2606040"/>
            <a:ext cx="73152" cy="73152"/>
          </a:xfrm>
          <a:prstGeom prst="ellipse">
            <a:avLst/>
          </a:prstGeom>
          <a:solidFill>
            <a:srgbClr val="0F8A6E"/>
          </a:solidFill>
          <a:ln w="12700">
            <a:solidFill>
              <a:srgbClr val="0F8A6E"/>
            </a:solidFill>
            <a:prstDash val="solid"/>
          </a:ln>
        </p:spPr>
        <p:txBody>
          <a:bodyPr/>
          <a:lstStyle/>
          <a:p>
            <a:endParaRPr lang="en-US"/>
          </a:p>
        </p:txBody>
      </p:sp>
      <p:sp>
        <p:nvSpPr>
          <p:cNvPr id="154" name="Text 30">
            <a:extLst>
              <a:ext uri="{FF2B5EF4-FFF2-40B4-BE49-F238E27FC236}">
                <a16:creationId xmlns:a16="http://schemas.microsoft.com/office/drawing/2014/main" id="{CEA29647-6757-6775-C48C-FFFD86CA8B2F}"/>
              </a:ext>
            </a:extLst>
          </p:cNvPr>
          <p:cNvSpPr/>
          <p:nvPr/>
        </p:nvSpPr>
        <p:spPr>
          <a:xfrm>
            <a:off x="2749601" y="2523744"/>
            <a:ext cx="1673352" cy="267005"/>
          </a:xfrm>
          <a:prstGeom prst="rect">
            <a:avLst/>
          </a:prstGeom>
          <a:noFill/>
          <a:ln/>
        </p:spPr>
        <p:txBody>
          <a:bodyPr wrap="square" lIns="0" tIns="0" rIns="0" bIns="0" rtlCol="0" anchor="ctr"/>
          <a:lstStyle/>
          <a:p>
            <a:pPr marL="0" indent="0">
              <a:buNone/>
            </a:pPr>
            <a:r>
              <a:rPr lang="en-US" sz="750" dirty="0">
                <a:solidFill>
                  <a:srgbClr val="4A5568"/>
                </a:solidFill>
              </a:rPr>
              <a:t>Shopping cart — add, adjust, remove</a:t>
            </a:r>
            <a:endParaRPr lang="en-US" sz="750" dirty="0"/>
          </a:p>
        </p:txBody>
      </p:sp>
      <p:sp>
        <p:nvSpPr>
          <p:cNvPr id="155" name="Shape 31">
            <a:extLst>
              <a:ext uri="{FF2B5EF4-FFF2-40B4-BE49-F238E27FC236}">
                <a16:creationId xmlns:a16="http://schemas.microsoft.com/office/drawing/2014/main" id="{590DF124-78FE-F378-22F6-B1DC449393C6}"/>
              </a:ext>
            </a:extLst>
          </p:cNvPr>
          <p:cNvSpPr/>
          <p:nvPr/>
        </p:nvSpPr>
        <p:spPr>
          <a:xfrm>
            <a:off x="2630729" y="3026664"/>
            <a:ext cx="73152" cy="73152"/>
          </a:xfrm>
          <a:prstGeom prst="ellipse">
            <a:avLst/>
          </a:prstGeom>
          <a:solidFill>
            <a:srgbClr val="0F8A6E"/>
          </a:solidFill>
          <a:ln w="12700">
            <a:solidFill>
              <a:srgbClr val="0F8A6E"/>
            </a:solidFill>
            <a:prstDash val="solid"/>
          </a:ln>
        </p:spPr>
        <p:txBody>
          <a:bodyPr/>
          <a:lstStyle/>
          <a:p>
            <a:endParaRPr lang="en-US"/>
          </a:p>
        </p:txBody>
      </p:sp>
      <p:sp>
        <p:nvSpPr>
          <p:cNvPr id="156" name="Text 32">
            <a:extLst>
              <a:ext uri="{FF2B5EF4-FFF2-40B4-BE49-F238E27FC236}">
                <a16:creationId xmlns:a16="http://schemas.microsoft.com/office/drawing/2014/main" id="{4E10DF5A-8B35-FB6F-AC18-734B9B1FBB19}"/>
              </a:ext>
            </a:extLst>
          </p:cNvPr>
          <p:cNvSpPr/>
          <p:nvPr/>
        </p:nvSpPr>
        <p:spPr>
          <a:xfrm>
            <a:off x="2749601" y="2944368"/>
            <a:ext cx="1673352" cy="267005"/>
          </a:xfrm>
          <a:prstGeom prst="rect">
            <a:avLst/>
          </a:prstGeom>
          <a:noFill/>
          <a:ln/>
        </p:spPr>
        <p:txBody>
          <a:bodyPr wrap="square" lIns="0" tIns="0" rIns="0" bIns="0" rtlCol="0" anchor="ctr"/>
          <a:lstStyle/>
          <a:p>
            <a:pPr marL="0" indent="0">
              <a:buNone/>
            </a:pPr>
            <a:r>
              <a:rPr lang="en-US" sz="750" dirty="0">
                <a:solidFill>
                  <a:srgbClr val="4A5568"/>
                </a:solidFill>
              </a:rPr>
              <a:t>Checkout — guest email &amp; auth submit</a:t>
            </a:r>
            <a:endParaRPr lang="en-US" sz="750" dirty="0"/>
          </a:p>
        </p:txBody>
      </p:sp>
      <p:sp>
        <p:nvSpPr>
          <p:cNvPr id="157" name="Shape 33">
            <a:extLst>
              <a:ext uri="{FF2B5EF4-FFF2-40B4-BE49-F238E27FC236}">
                <a16:creationId xmlns:a16="http://schemas.microsoft.com/office/drawing/2014/main" id="{901A0539-34B4-A8BB-3387-356962B117CD}"/>
              </a:ext>
            </a:extLst>
          </p:cNvPr>
          <p:cNvSpPr/>
          <p:nvPr/>
        </p:nvSpPr>
        <p:spPr>
          <a:xfrm>
            <a:off x="2630729" y="3447288"/>
            <a:ext cx="73152" cy="73152"/>
          </a:xfrm>
          <a:prstGeom prst="ellipse">
            <a:avLst/>
          </a:prstGeom>
          <a:solidFill>
            <a:srgbClr val="0F8A6E"/>
          </a:solidFill>
          <a:ln w="12700">
            <a:solidFill>
              <a:srgbClr val="0F8A6E"/>
            </a:solidFill>
            <a:prstDash val="solid"/>
          </a:ln>
        </p:spPr>
        <p:txBody>
          <a:bodyPr/>
          <a:lstStyle/>
          <a:p>
            <a:endParaRPr lang="en-US"/>
          </a:p>
        </p:txBody>
      </p:sp>
      <p:sp>
        <p:nvSpPr>
          <p:cNvPr id="158" name="Text 34">
            <a:extLst>
              <a:ext uri="{FF2B5EF4-FFF2-40B4-BE49-F238E27FC236}">
                <a16:creationId xmlns:a16="http://schemas.microsoft.com/office/drawing/2014/main" id="{78A55CD7-991B-93E6-02D5-6D3200ABDFC8}"/>
              </a:ext>
            </a:extLst>
          </p:cNvPr>
          <p:cNvSpPr/>
          <p:nvPr/>
        </p:nvSpPr>
        <p:spPr>
          <a:xfrm>
            <a:off x="2749601" y="3364992"/>
            <a:ext cx="1673352" cy="265176"/>
          </a:xfrm>
          <a:prstGeom prst="rect">
            <a:avLst/>
          </a:prstGeom>
          <a:noFill/>
          <a:ln/>
        </p:spPr>
        <p:txBody>
          <a:bodyPr wrap="square" lIns="0" tIns="0" rIns="0" bIns="0" rtlCol="0" anchor="ctr"/>
          <a:lstStyle/>
          <a:p>
            <a:pPr marL="0" indent="0">
              <a:buNone/>
            </a:pPr>
            <a:r>
              <a:rPr lang="en-US" sz="750" dirty="0">
                <a:solidFill>
                  <a:srgbClr val="4A5568"/>
                </a:solidFill>
              </a:rPr>
              <a:t>Order confirmation &amp; status tracking</a:t>
            </a:r>
            <a:endParaRPr lang="en-US" sz="750" dirty="0"/>
          </a:p>
        </p:txBody>
      </p:sp>
      <p:sp>
        <p:nvSpPr>
          <p:cNvPr id="159" name="Shape 35">
            <a:extLst>
              <a:ext uri="{FF2B5EF4-FFF2-40B4-BE49-F238E27FC236}">
                <a16:creationId xmlns:a16="http://schemas.microsoft.com/office/drawing/2014/main" id="{2D7C468D-A21B-80D3-B042-F3387F262AB4}"/>
              </a:ext>
            </a:extLst>
          </p:cNvPr>
          <p:cNvSpPr/>
          <p:nvPr/>
        </p:nvSpPr>
        <p:spPr>
          <a:xfrm>
            <a:off x="4575658" y="1261872"/>
            <a:ext cx="1965960" cy="2578608"/>
          </a:xfrm>
          <a:prstGeom prst="rect">
            <a:avLst/>
          </a:prstGeom>
          <a:solidFill>
            <a:srgbClr val="FFFFFF"/>
          </a:solidFill>
          <a:ln w="6350">
            <a:solidFill>
              <a:srgbClr val="E2E8F0"/>
            </a:solidFill>
            <a:prstDash val="solid"/>
          </a:ln>
          <a:effectLst>
            <a:outerShdw blurRad="127000" dist="25400" dir="16200000" algn="bl" rotWithShape="0">
              <a:srgbClr val="000000">
                <a:alpha val="7000"/>
              </a:srgbClr>
            </a:outerShdw>
          </a:effectLst>
        </p:spPr>
        <p:txBody>
          <a:bodyPr/>
          <a:lstStyle/>
          <a:p>
            <a:endParaRPr lang="en-US"/>
          </a:p>
        </p:txBody>
      </p:sp>
      <p:sp>
        <p:nvSpPr>
          <p:cNvPr id="160" name="Shape 36">
            <a:extLst>
              <a:ext uri="{FF2B5EF4-FFF2-40B4-BE49-F238E27FC236}">
                <a16:creationId xmlns:a16="http://schemas.microsoft.com/office/drawing/2014/main" id="{B250F4AD-B497-1AB5-5DD6-C7FEB5A52255}"/>
              </a:ext>
            </a:extLst>
          </p:cNvPr>
          <p:cNvSpPr/>
          <p:nvPr/>
        </p:nvSpPr>
        <p:spPr>
          <a:xfrm>
            <a:off x="4575658" y="1261872"/>
            <a:ext cx="1965960" cy="274320"/>
          </a:xfrm>
          <a:prstGeom prst="rect">
            <a:avLst/>
          </a:prstGeom>
          <a:solidFill>
            <a:srgbClr val="0D7A60"/>
          </a:solidFill>
          <a:ln w="12700">
            <a:solidFill>
              <a:srgbClr val="0D7A60"/>
            </a:solidFill>
            <a:prstDash val="solid"/>
          </a:ln>
        </p:spPr>
        <p:txBody>
          <a:bodyPr/>
          <a:lstStyle/>
          <a:p>
            <a:endParaRPr lang="en-US"/>
          </a:p>
        </p:txBody>
      </p:sp>
      <p:sp>
        <p:nvSpPr>
          <p:cNvPr id="161" name="Shape 37">
            <a:extLst>
              <a:ext uri="{FF2B5EF4-FFF2-40B4-BE49-F238E27FC236}">
                <a16:creationId xmlns:a16="http://schemas.microsoft.com/office/drawing/2014/main" id="{BBAF1815-AFAB-7866-244B-DC35596269C4}"/>
              </a:ext>
            </a:extLst>
          </p:cNvPr>
          <p:cNvSpPr/>
          <p:nvPr/>
        </p:nvSpPr>
        <p:spPr>
          <a:xfrm>
            <a:off x="4575658" y="1408176"/>
            <a:ext cx="1965960" cy="128016"/>
          </a:xfrm>
          <a:prstGeom prst="rect">
            <a:avLst/>
          </a:prstGeom>
          <a:solidFill>
            <a:srgbClr val="0D7A60"/>
          </a:solidFill>
          <a:ln w="12700">
            <a:solidFill>
              <a:srgbClr val="0D7A60"/>
            </a:solidFill>
            <a:prstDash val="solid"/>
          </a:ln>
        </p:spPr>
        <p:txBody>
          <a:bodyPr/>
          <a:lstStyle/>
          <a:p>
            <a:endParaRPr lang="en-US"/>
          </a:p>
        </p:txBody>
      </p:sp>
      <p:sp>
        <p:nvSpPr>
          <p:cNvPr id="162" name="Text 38">
            <a:extLst>
              <a:ext uri="{FF2B5EF4-FFF2-40B4-BE49-F238E27FC236}">
                <a16:creationId xmlns:a16="http://schemas.microsoft.com/office/drawing/2014/main" id="{FE5A3A30-C35F-262B-10DE-CE920E0BB6AE}"/>
              </a:ext>
            </a:extLst>
          </p:cNvPr>
          <p:cNvSpPr/>
          <p:nvPr/>
        </p:nvSpPr>
        <p:spPr>
          <a:xfrm>
            <a:off x="4667098" y="1307592"/>
            <a:ext cx="1783080" cy="182880"/>
          </a:xfrm>
          <a:prstGeom prst="rect">
            <a:avLst/>
          </a:prstGeom>
          <a:noFill/>
          <a:ln/>
        </p:spPr>
        <p:txBody>
          <a:bodyPr wrap="square" lIns="0" tIns="0" rIns="0" bIns="0" rtlCol="0" anchor="ctr"/>
          <a:lstStyle/>
          <a:p>
            <a:pPr marL="0" indent="0">
              <a:buNone/>
            </a:pPr>
            <a:r>
              <a:rPr lang="en-US" sz="1000" b="1" dirty="0">
                <a:solidFill>
                  <a:srgbClr val="FFFFFF"/>
                </a:solidFill>
              </a:rPr>
              <a:t>Epic 4 · Part 1</a:t>
            </a:r>
            <a:endParaRPr lang="en-US" sz="1000" dirty="0"/>
          </a:p>
        </p:txBody>
      </p:sp>
      <p:sp>
        <p:nvSpPr>
          <p:cNvPr id="163" name="Text 39">
            <a:extLst>
              <a:ext uri="{FF2B5EF4-FFF2-40B4-BE49-F238E27FC236}">
                <a16:creationId xmlns:a16="http://schemas.microsoft.com/office/drawing/2014/main" id="{AB78536F-D17E-8210-263E-CABE84A50AD5}"/>
              </a:ext>
            </a:extLst>
          </p:cNvPr>
          <p:cNvSpPr/>
          <p:nvPr/>
        </p:nvSpPr>
        <p:spPr>
          <a:xfrm>
            <a:off x="4667098" y="1572768"/>
            <a:ext cx="1783080" cy="146304"/>
          </a:xfrm>
          <a:prstGeom prst="rect">
            <a:avLst/>
          </a:prstGeom>
          <a:noFill/>
          <a:ln/>
        </p:spPr>
        <p:txBody>
          <a:bodyPr wrap="square" lIns="0" tIns="0" rIns="0" bIns="0" rtlCol="0" anchor="ctr"/>
          <a:lstStyle/>
          <a:p>
            <a:pPr marL="0" indent="0">
              <a:buNone/>
            </a:pPr>
            <a:r>
              <a:rPr lang="en-US" sz="700" b="1" dirty="0">
                <a:solidFill>
                  <a:srgbClr val="1D9E75"/>
                </a:solidFill>
              </a:rPr>
              <a:t>Sprint 4</a:t>
            </a:r>
            <a:endParaRPr lang="en-US" sz="700" dirty="0"/>
          </a:p>
        </p:txBody>
      </p:sp>
      <p:sp>
        <p:nvSpPr>
          <p:cNvPr id="164" name="Text 40">
            <a:extLst>
              <a:ext uri="{FF2B5EF4-FFF2-40B4-BE49-F238E27FC236}">
                <a16:creationId xmlns:a16="http://schemas.microsoft.com/office/drawing/2014/main" id="{072644E5-BCD2-4624-4060-B8B55ECA6823}"/>
              </a:ext>
            </a:extLst>
          </p:cNvPr>
          <p:cNvSpPr/>
          <p:nvPr/>
        </p:nvSpPr>
        <p:spPr>
          <a:xfrm>
            <a:off x="4667098" y="1737360"/>
            <a:ext cx="1783080" cy="292608"/>
          </a:xfrm>
          <a:prstGeom prst="rect">
            <a:avLst/>
          </a:prstGeom>
          <a:noFill/>
          <a:ln/>
        </p:spPr>
        <p:txBody>
          <a:bodyPr wrap="square" lIns="0" tIns="0" rIns="0" bIns="0" rtlCol="0" anchor="ctr"/>
          <a:lstStyle/>
          <a:p>
            <a:pPr marL="0" indent="0">
              <a:buNone/>
            </a:pPr>
            <a:r>
              <a:rPr lang="en-US" sz="900" b="1" dirty="0">
                <a:solidFill>
                  <a:srgbClr val="0D1B3E"/>
                </a:solidFill>
              </a:rPr>
              <a:t>Business Admin — Access &amp; Orders</a:t>
            </a:r>
            <a:endParaRPr lang="en-US" sz="900" dirty="0"/>
          </a:p>
        </p:txBody>
      </p:sp>
      <p:sp>
        <p:nvSpPr>
          <p:cNvPr id="165" name="Shape 41">
            <a:extLst>
              <a:ext uri="{FF2B5EF4-FFF2-40B4-BE49-F238E27FC236}">
                <a16:creationId xmlns:a16="http://schemas.microsoft.com/office/drawing/2014/main" id="{C869631E-B76E-7535-92A7-A255DE594646}"/>
              </a:ext>
            </a:extLst>
          </p:cNvPr>
          <p:cNvSpPr/>
          <p:nvPr/>
        </p:nvSpPr>
        <p:spPr>
          <a:xfrm>
            <a:off x="4667098" y="2048256"/>
            <a:ext cx="1783080" cy="7315"/>
          </a:xfrm>
          <a:prstGeom prst="rect">
            <a:avLst/>
          </a:prstGeom>
          <a:solidFill>
            <a:srgbClr val="E2E8F0"/>
          </a:solidFill>
          <a:ln w="12700">
            <a:solidFill>
              <a:srgbClr val="E2E8F0"/>
            </a:solidFill>
            <a:prstDash val="solid"/>
          </a:ln>
        </p:spPr>
        <p:txBody>
          <a:bodyPr/>
          <a:lstStyle/>
          <a:p>
            <a:endParaRPr lang="en-US"/>
          </a:p>
        </p:txBody>
      </p:sp>
      <p:sp>
        <p:nvSpPr>
          <p:cNvPr id="166" name="Shape 42">
            <a:extLst>
              <a:ext uri="{FF2B5EF4-FFF2-40B4-BE49-F238E27FC236}">
                <a16:creationId xmlns:a16="http://schemas.microsoft.com/office/drawing/2014/main" id="{C9A17260-C9B7-C435-FEC0-1571941D4FE0}"/>
              </a:ext>
            </a:extLst>
          </p:cNvPr>
          <p:cNvSpPr/>
          <p:nvPr/>
        </p:nvSpPr>
        <p:spPr>
          <a:xfrm>
            <a:off x="4667098" y="2185416"/>
            <a:ext cx="73152" cy="73152"/>
          </a:xfrm>
          <a:prstGeom prst="ellipse">
            <a:avLst/>
          </a:prstGeom>
          <a:solidFill>
            <a:srgbClr val="0D7A60"/>
          </a:solidFill>
          <a:ln w="12700">
            <a:solidFill>
              <a:srgbClr val="0D7A60"/>
            </a:solidFill>
            <a:prstDash val="solid"/>
          </a:ln>
        </p:spPr>
        <p:txBody>
          <a:bodyPr/>
          <a:lstStyle/>
          <a:p>
            <a:endParaRPr lang="en-US"/>
          </a:p>
        </p:txBody>
      </p:sp>
      <p:sp>
        <p:nvSpPr>
          <p:cNvPr id="167" name="Text 43">
            <a:extLst>
              <a:ext uri="{FF2B5EF4-FFF2-40B4-BE49-F238E27FC236}">
                <a16:creationId xmlns:a16="http://schemas.microsoft.com/office/drawing/2014/main" id="{A76E8254-AC13-E473-1690-3601D6B5A9D0}"/>
              </a:ext>
            </a:extLst>
          </p:cNvPr>
          <p:cNvSpPr/>
          <p:nvPr/>
        </p:nvSpPr>
        <p:spPr>
          <a:xfrm>
            <a:off x="4785970" y="2103120"/>
            <a:ext cx="1673352" cy="267005"/>
          </a:xfrm>
          <a:prstGeom prst="rect">
            <a:avLst/>
          </a:prstGeom>
          <a:noFill/>
          <a:ln/>
        </p:spPr>
        <p:txBody>
          <a:bodyPr wrap="square" lIns="0" tIns="0" rIns="0" bIns="0" rtlCol="0" anchor="ctr"/>
          <a:lstStyle/>
          <a:p>
            <a:pPr marL="0" indent="0">
              <a:buNone/>
            </a:pPr>
            <a:r>
              <a:rPr lang="en-US" sz="750" dirty="0">
                <a:solidFill>
                  <a:srgbClr val="4A5568"/>
                </a:solidFill>
              </a:rPr>
              <a:t>Role-based access control (RBAC)</a:t>
            </a:r>
            <a:endParaRPr lang="en-US" sz="750" dirty="0"/>
          </a:p>
        </p:txBody>
      </p:sp>
      <p:sp>
        <p:nvSpPr>
          <p:cNvPr id="168" name="Shape 44">
            <a:extLst>
              <a:ext uri="{FF2B5EF4-FFF2-40B4-BE49-F238E27FC236}">
                <a16:creationId xmlns:a16="http://schemas.microsoft.com/office/drawing/2014/main" id="{4221B048-6017-68B4-D0E9-171B5A1BAAC9}"/>
              </a:ext>
            </a:extLst>
          </p:cNvPr>
          <p:cNvSpPr/>
          <p:nvPr/>
        </p:nvSpPr>
        <p:spPr>
          <a:xfrm>
            <a:off x="4667098" y="2606040"/>
            <a:ext cx="73152" cy="73152"/>
          </a:xfrm>
          <a:prstGeom prst="ellipse">
            <a:avLst/>
          </a:prstGeom>
          <a:solidFill>
            <a:srgbClr val="0D7A60"/>
          </a:solidFill>
          <a:ln w="12700">
            <a:solidFill>
              <a:srgbClr val="0D7A60"/>
            </a:solidFill>
            <a:prstDash val="solid"/>
          </a:ln>
        </p:spPr>
        <p:txBody>
          <a:bodyPr/>
          <a:lstStyle/>
          <a:p>
            <a:endParaRPr lang="en-US"/>
          </a:p>
        </p:txBody>
      </p:sp>
      <p:sp>
        <p:nvSpPr>
          <p:cNvPr id="169" name="Text 45">
            <a:extLst>
              <a:ext uri="{FF2B5EF4-FFF2-40B4-BE49-F238E27FC236}">
                <a16:creationId xmlns:a16="http://schemas.microsoft.com/office/drawing/2014/main" id="{5ECBE602-A8C3-8F23-E276-ECDC016E0B87}"/>
              </a:ext>
            </a:extLst>
          </p:cNvPr>
          <p:cNvSpPr/>
          <p:nvPr/>
        </p:nvSpPr>
        <p:spPr>
          <a:xfrm>
            <a:off x="4785970" y="2523744"/>
            <a:ext cx="1673352" cy="267005"/>
          </a:xfrm>
          <a:prstGeom prst="rect">
            <a:avLst/>
          </a:prstGeom>
          <a:noFill/>
          <a:ln/>
        </p:spPr>
        <p:txBody>
          <a:bodyPr wrap="square" lIns="0" tIns="0" rIns="0" bIns="0" rtlCol="0" anchor="ctr"/>
          <a:lstStyle/>
          <a:p>
            <a:pPr marL="0" indent="0">
              <a:buNone/>
            </a:pPr>
            <a:r>
              <a:rPr lang="en-US" sz="750" dirty="0">
                <a:solidFill>
                  <a:srgbClr val="4A5568"/>
                </a:solidFill>
              </a:rPr>
              <a:t>Admin layout — sidebar &amp; protected routing</a:t>
            </a:r>
            <a:endParaRPr lang="en-US" sz="750" dirty="0"/>
          </a:p>
        </p:txBody>
      </p:sp>
      <p:sp>
        <p:nvSpPr>
          <p:cNvPr id="170" name="Shape 46">
            <a:extLst>
              <a:ext uri="{FF2B5EF4-FFF2-40B4-BE49-F238E27FC236}">
                <a16:creationId xmlns:a16="http://schemas.microsoft.com/office/drawing/2014/main" id="{BF5B440C-B13F-EA52-E284-1A54F5DA0633}"/>
              </a:ext>
            </a:extLst>
          </p:cNvPr>
          <p:cNvSpPr/>
          <p:nvPr/>
        </p:nvSpPr>
        <p:spPr>
          <a:xfrm>
            <a:off x="4667098" y="3026664"/>
            <a:ext cx="73152" cy="73152"/>
          </a:xfrm>
          <a:prstGeom prst="ellipse">
            <a:avLst/>
          </a:prstGeom>
          <a:solidFill>
            <a:srgbClr val="0D7A60"/>
          </a:solidFill>
          <a:ln w="12700">
            <a:solidFill>
              <a:srgbClr val="0D7A60"/>
            </a:solidFill>
            <a:prstDash val="solid"/>
          </a:ln>
        </p:spPr>
        <p:txBody>
          <a:bodyPr/>
          <a:lstStyle/>
          <a:p>
            <a:endParaRPr lang="en-US"/>
          </a:p>
        </p:txBody>
      </p:sp>
      <p:sp>
        <p:nvSpPr>
          <p:cNvPr id="171" name="Text 47">
            <a:extLst>
              <a:ext uri="{FF2B5EF4-FFF2-40B4-BE49-F238E27FC236}">
                <a16:creationId xmlns:a16="http://schemas.microsoft.com/office/drawing/2014/main" id="{7E5BB808-D9B5-B8CA-01D0-FDF34B356786}"/>
              </a:ext>
            </a:extLst>
          </p:cNvPr>
          <p:cNvSpPr/>
          <p:nvPr/>
        </p:nvSpPr>
        <p:spPr>
          <a:xfrm>
            <a:off x="4785970" y="2944368"/>
            <a:ext cx="1673352" cy="267004"/>
          </a:xfrm>
          <a:prstGeom prst="rect">
            <a:avLst/>
          </a:prstGeom>
          <a:noFill/>
          <a:ln/>
        </p:spPr>
        <p:txBody>
          <a:bodyPr wrap="square" lIns="0" tIns="0" rIns="0" bIns="0" rtlCol="0" anchor="ctr"/>
          <a:lstStyle/>
          <a:p>
            <a:pPr marL="0" indent="0">
              <a:buNone/>
            </a:pPr>
            <a:r>
              <a:rPr lang="en-US" sz="750" dirty="0">
                <a:solidFill>
                  <a:srgbClr val="4A5568"/>
                </a:solidFill>
              </a:rPr>
              <a:t>Order management — history &amp; status</a:t>
            </a:r>
            <a:endParaRPr lang="en-US" sz="750" dirty="0"/>
          </a:p>
        </p:txBody>
      </p:sp>
      <p:sp>
        <p:nvSpPr>
          <p:cNvPr id="172" name="Shape 48">
            <a:extLst>
              <a:ext uri="{FF2B5EF4-FFF2-40B4-BE49-F238E27FC236}">
                <a16:creationId xmlns:a16="http://schemas.microsoft.com/office/drawing/2014/main" id="{1DF7D4E2-C1FA-72BC-35F0-ECD9FF5B89E6}"/>
              </a:ext>
            </a:extLst>
          </p:cNvPr>
          <p:cNvSpPr/>
          <p:nvPr/>
        </p:nvSpPr>
        <p:spPr>
          <a:xfrm>
            <a:off x="4667098" y="3447288"/>
            <a:ext cx="73152" cy="73152"/>
          </a:xfrm>
          <a:prstGeom prst="ellipse">
            <a:avLst/>
          </a:prstGeom>
          <a:solidFill>
            <a:srgbClr val="0D7A60"/>
          </a:solidFill>
          <a:ln w="12700">
            <a:solidFill>
              <a:srgbClr val="0D7A60"/>
            </a:solidFill>
            <a:prstDash val="solid"/>
          </a:ln>
        </p:spPr>
        <p:txBody>
          <a:bodyPr/>
          <a:lstStyle/>
          <a:p>
            <a:endParaRPr lang="en-US"/>
          </a:p>
        </p:txBody>
      </p:sp>
      <p:sp>
        <p:nvSpPr>
          <p:cNvPr id="173" name="Text 49">
            <a:extLst>
              <a:ext uri="{FF2B5EF4-FFF2-40B4-BE49-F238E27FC236}">
                <a16:creationId xmlns:a16="http://schemas.microsoft.com/office/drawing/2014/main" id="{4D3F422B-A282-D240-CFE8-D9C4741C4320}"/>
              </a:ext>
            </a:extLst>
          </p:cNvPr>
          <p:cNvSpPr/>
          <p:nvPr/>
        </p:nvSpPr>
        <p:spPr>
          <a:xfrm>
            <a:off x="4785970" y="3364992"/>
            <a:ext cx="1673352" cy="265176"/>
          </a:xfrm>
          <a:prstGeom prst="rect">
            <a:avLst/>
          </a:prstGeom>
          <a:noFill/>
          <a:ln/>
        </p:spPr>
        <p:txBody>
          <a:bodyPr wrap="square" lIns="0" tIns="0" rIns="0" bIns="0" rtlCol="0" anchor="ctr"/>
          <a:lstStyle/>
          <a:p>
            <a:pPr marL="0" indent="0">
              <a:buNone/>
            </a:pPr>
            <a:r>
              <a:rPr lang="en-US" sz="750" dirty="0">
                <a:solidFill>
                  <a:srgbClr val="4A5568"/>
                </a:solidFill>
              </a:rPr>
              <a:t>Mark Complete workflow</a:t>
            </a:r>
            <a:endParaRPr lang="en-US" sz="750" dirty="0"/>
          </a:p>
        </p:txBody>
      </p:sp>
      <p:sp>
        <p:nvSpPr>
          <p:cNvPr id="174" name="Shape 50">
            <a:extLst>
              <a:ext uri="{FF2B5EF4-FFF2-40B4-BE49-F238E27FC236}">
                <a16:creationId xmlns:a16="http://schemas.microsoft.com/office/drawing/2014/main" id="{327F177F-20B3-CF41-4E58-099F8F49863E}"/>
              </a:ext>
            </a:extLst>
          </p:cNvPr>
          <p:cNvSpPr/>
          <p:nvPr/>
        </p:nvSpPr>
        <p:spPr>
          <a:xfrm>
            <a:off x="6612026" y="1261872"/>
            <a:ext cx="1965960" cy="2578608"/>
          </a:xfrm>
          <a:prstGeom prst="rect">
            <a:avLst/>
          </a:prstGeom>
          <a:solidFill>
            <a:srgbClr val="FFFFFF"/>
          </a:solidFill>
          <a:ln w="6350">
            <a:solidFill>
              <a:srgbClr val="E2E8F0"/>
            </a:solidFill>
            <a:prstDash val="solid"/>
          </a:ln>
          <a:effectLst>
            <a:outerShdw blurRad="127000" dist="25400" dir="16200000" algn="bl" rotWithShape="0">
              <a:srgbClr val="000000">
                <a:alpha val="7000"/>
              </a:srgbClr>
            </a:outerShdw>
          </a:effectLst>
        </p:spPr>
        <p:txBody>
          <a:bodyPr/>
          <a:lstStyle/>
          <a:p>
            <a:endParaRPr lang="en-US"/>
          </a:p>
        </p:txBody>
      </p:sp>
      <p:sp>
        <p:nvSpPr>
          <p:cNvPr id="175" name="Shape 51">
            <a:extLst>
              <a:ext uri="{FF2B5EF4-FFF2-40B4-BE49-F238E27FC236}">
                <a16:creationId xmlns:a16="http://schemas.microsoft.com/office/drawing/2014/main" id="{8F5F9C3A-7A6C-300A-E03B-EA783696D2CC}"/>
              </a:ext>
            </a:extLst>
          </p:cNvPr>
          <p:cNvSpPr/>
          <p:nvPr/>
        </p:nvSpPr>
        <p:spPr>
          <a:xfrm>
            <a:off x="6612026" y="1261872"/>
            <a:ext cx="1965960" cy="274320"/>
          </a:xfrm>
          <a:prstGeom prst="rect">
            <a:avLst/>
          </a:prstGeom>
          <a:solidFill>
            <a:srgbClr val="0B6A52"/>
          </a:solidFill>
          <a:ln w="12700">
            <a:solidFill>
              <a:srgbClr val="0B6A52"/>
            </a:solidFill>
            <a:prstDash val="solid"/>
          </a:ln>
        </p:spPr>
        <p:txBody>
          <a:bodyPr/>
          <a:lstStyle/>
          <a:p>
            <a:endParaRPr lang="en-US"/>
          </a:p>
        </p:txBody>
      </p:sp>
      <p:sp>
        <p:nvSpPr>
          <p:cNvPr id="176" name="Shape 52">
            <a:extLst>
              <a:ext uri="{FF2B5EF4-FFF2-40B4-BE49-F238E27FC236}">
                <a16:creationId xmlns:a16="http://schemas.microsoft.com/office/drawing/2014/main" id="{B8425A90-C9A8-F37B-28F0-31D47650C1DA}"/>
              </a:ext>
            </a:extLst>
          </p:cNvPr>
          <p:cNvSpPr/>
          <p:nvPr/>
        </p:nvSpPr>
        <p:spPr>
          <a:xfrm>
            <a:off x="6612026" y="1408176"/>
            <a:ext cx="1965960" cy="128016"/>
          </a:xfrm>
          <a:prstGeom prst="rect">
            <a:avLst/>
          </a:prstGeom>
          <a:solidFill>
            <a:srgbClr val="0B6A52"/>
          </a:solidFill>
          <a:ln w="12700">
            <a:solidFill>
              <a:srgbClr val="0B6A52"/>
            </a:solidFill>
            <a:prstDash val="solid"/>
          </a:ln>
        </p:spPr>
        <p:txBody>
          <a:bodyPr/>
          <a:lstStyle/>
          <a:p>
            <a:endParaRPr lang="en-US"/>
          </a:p>
        </p:txBody>
      </p:sp>
      <p:sp>
        <p:nvSpPr>
          <p:cNvPr id="177" name="Text 53">
            <a:extLst>
              <a:ext uri="{FF2B5EF4-FFF2-40B4-BE49-F238E27FC236}">
                <a16:creationId xmlns:a16="http://schemas.microsoft.com/office/drawing/2014/main" id="{F91EF9E4-CDFC-0EC4-1775-D6D44D491401}"/>
              </a:ext>
            </a:extLst>
          </p:cNvPr>
          <p:cNvSpPr/>
          <p:nvPr/>
        </p:nvSpPr>
        <p:spPr>
          <a:xfrm>
            <a:off x="6703466" y="1307592"/>
            <a:ext cx="1783080" cy="182880"/>
          </a:xfrm>
          <a:prstGeom prst="rect">
            <a:avLst/>
          </a:prstGeom>
          <a:noFill/>
          <a:ln/>
        </p:spPr>
        <p:txBody>
          <a:bodyPr wrap="square" lIns="0" tIns="0" rIns="0" bIns="0" rtlCol="0" anchor="ctr"/>
          <a:lstStyle/>
          <a:p>
            <a:pPr marL="0" indent="0">
              <a:buNone/>
            </a:pPr>
            <a:r>
              <a:rPr lang="en-US" sz="1000" b="1" dirty="0">
                <a:solidFill>
                  <a:srgbClr val="FFFFFF"/>
                </a:solidFill>
              </a:rPr>
              <a:t>Epic 4 · Part 2</a:t>
            </a:r>
            <a:endParaRPr lang="en-US" sz="1000" dirty="0"/>
          </a:p>
        </p:txBody>
      </p:sp>
      <p:sp>
        <p:nvSpPr>
          <p:cNvPr id="178" name="Text 54">
            <a:extLst>
              <a:ext uri="{FF2B5EF4-FFF2-40B4-BE49-F238E27FC236}">
                <a16:creationId xmlns:a16="http://schemas.microsoft.com/office/drawing/2014/main" id="{1C2C1D45-0FC6-595D-2957-7EABED1FB6D0}"/>
              </a:ext>
            </a:extLst>
          </p:cNvPr>
          <p:cNvSpPr/>
          <p:nvPr/>
        </p:nvSpPr>
        <p:spPr>
          <a:xfrm>
            <a:off x="6703466" y="1572768"/>
            <a:ext cx="1783080" cy="146304"/>
          </a:xfrm>
          <a:prstGeom prst="rect">
            <a:avLst/>
          </a:prstGeom>
          <a:noFill/>
          <a:ln/>
        </p:spPr>
        <p:txBody>
          <a:bodyPr wrap="square" lIns="0" tIns="0" rIns="0" bIns="0" rtlCol="0" anchor="ctr"/>
          <a:lstStyle/>
          <a:p>
            <a:pPr marL="0" indent="0">
              <a:buNone/>
            </a:pPr>
            <a:r>
              <a:rPr lang="en-US" sz="700" b="1" dirty="0">
                <a:solidFill>
                  <a:srgbClr val="1D9E75"/>
                </a:solidFill>
              </a:rPr>
              <a:t>Sprint 5</a:t>
            </a:r>
            <a:endParaRPr lang="en-US" sz="700" dirty="0"/>
          </a:p>
        </p:txBody>
      </p:sp>
      <p:sp>
        <p:nvSpPr>
          <p:cNvPr id="179" name="Text 55">
            <a:extLst>
              <a:ext uri="{FF2B5EF4-FFF2-40B4-BE49-F238E27FC236}">
                <a16:creationId xmlns:a16="http://schemas.microsoft.com/office/drawing/2014/main" id="{1BC8927A-93D0-C451-F3A8-3849C20D87A2}"/>
              </a:ext>
            </a:extLst>
          </p:cNvPr>
          <p:cNvSpPr/>
          <p:nvPr/>
        </p:nvSpPr>
        <p:spPr>
          <a:xfrm>
            <a:off x="6703466" y="1737360"/>
            <a:ext cx="1783080" cy="292608"/>
          </a:xfrm>
          <a:prstGeom prst="rect">
            <a:avLst/>
          </a:prstGeom>
          <a:noFill/>
          <a:ln/>
        </p:spPr>
        <p:txBody>
          <a:bodyPr wrap="square" lIns="0" tIns="0" rIns="0" bIns="0" rtlCol="0" anchor="ctr"/>
          <a:lstStyle/>
          <a:p>
            <a:pPr marL="0" indent="0">
              <a:buNone/>
            </a:pPr>
            <a:r>
              <a:rPr lang="en-US" sz="900" b="1" dirty="0">
                <a:solidFill>
                  <a:srgbClr val="0D1B3E"/>
                </a:solidFill>
              </a:rPr>
              <a:t>Admin — Products &amp; Reporting</a:t>
            </a:r>
            <a:endParaRPr lang="en-US" sz="900" dirty="0"/>
          </a:p>
        </p:txBody>
      </p:sp>
      <p:sp>
        <p:nvSpPr>
          <p:cNvPr id="180" name="Shape 56">
            <a:extLst>
              <a:ext uri="{FF2B5EF4-FFF2-40B4-BE49-F238E27FC236}">
                <a16:creationId xmlns:a16="http://schemas.microsoft.com/office/drawing/2014/main" id="{DB7DB27C-7FFC-978C-7915-E54D83B8C38E}"/>
              </a:ext>
            </a:extLst>
          </p:cNvPr>
          <p:cNvSpPr/>
          <p:nvPr/>
        </p:nvSpPr>
        <p:spPr>
          <a:xfrm>
            <a:off x="6703466" y="2048256"/>
            <a:ext cx="1783080" cy="7315"/>
          </a:xfrm>
          <a:prstGeom prst="rect">
            <a:avLst/>
          </a:prstGeom>
          <a:solidFill>
            <a:srgbClr val="E2E8F0"/>
          </a:solidFill>
          <a:ln w="12700">
            <a:solidFill>
              <a:srgbClr val="E2E8F0"/>
            </a:solidFill>
            <a:prstDash val="solid"/>
          </a:ln>
        </p:spPr>
        <p:txBody>
          <a:bodyPr/>
          <a:lstStyle/>
          <a:p>
            <a:endParaRPr lang="en-US"/>
          </a:p>
        </p:txBody>
      </p:sp>
      <p:sp>
        <p:nvSpPr>
          <p:cNvPr id="181" name="Shape 57">
            <a:extLst>
              <a:ext uri="{FF2B5EF4-FFF2-40B4-BE49-F238E27FC236}">
                <a16:creationId xmlns:a16="http://schemas.microsoft.com/office/drawing/2014/main" id="{5B7F18A2-4C00-51B4-9ED4-7FE814F85821}"/>
              </a:ext>
            </a:extLst>
          </p:cNvPr>
          <p:cNvSpPr/>
          <p:nvPr/>
        </p:nvSpPr>
        <p:spPr>
          <a:xfrm>
            <a:off x="6703466" y="2185416"/>
            <a:ext cx="73152" cy="73152"/>
          </a:xfrm>
          <a:prstGeom prst="ellipse">
            <a:avLst/>
          </a:prstGeom>
          <a:solidFill>
            <a:srgbClr val="0B6A52"/>
          </a:solidFill>
          <a:ln w="12700">
            <a:solidFill>
              <a:srgbClr val="0B6A52"/>
            </a:solidFill>
            <a:prstDash val="solid"/>
          </a:ln>
        </p:spPr>
        <p:txBody>
          <a:bodyPr/>
          <a:lstStyle/>
          <a:p>
            <a:endParaRPr lang="en-US"/>
          </a:p>
        </p:txBody>
      </p:sp>
      <p:sp>
        <p:nvSpPr>
          <p:cNvPr id="182" name="Text 58">
            <a:extLst>
              <a:ext uri="{FF2B5EF4-FFF2-40B4-BE49-F238E27FC236}">
                <a16:creationId xmlns:a16="http://schemas.microsoft.com/office/drawing/2014/main" id="{4698617E-C17D-33DB-3C70-55B0C0364CDE}"/>
              </a:ext>
            </a:extLst>
          </p:cNvPr>
          <p:cNvSpPr/>
          <p:nvPr/>
        </p:nvSpPr>
        <p:spPr>
          <a:xfrm>
            <a:off x="6822338" y="2103120"/>
            <a:ext cx="1673352" cy="267005"/>
          </a:xfrm>
          <a:prstGeom prst="rect">
            <a:avLst/>
          </a:prstGeom>
          <a:noFill/>
          <a:ln/>
        </p:spPr>
        <p:txBody>
          <a:bodyPr wrap="square" lIns="0" tIns="0" rIns="0" bIns="0" rtlCol="0" anchor="ctr"/>
          <a:lstStyle/>
          <a:p>
            <a:pPr marL="0" indent="0">
              <a:buNone/>
            </a:pPr>
            <a:r>
              <a:rPr lang="en-US" sz="750" dirty="0">
                <a:solidFill>
                  <a:srgbClr val="4A5568"/>
                </a:solidFill>
              </a:rPr>
              <a:t>Product &amp; variant mgmt — full CRUD</a:t>
            </a:r>
            <a:endParaRPr lang="en-US" sz="750" dirty="0"/>
          </a:p>
        </p:txBody>
      </p:sp>
      <p:sp>
        <p:nvSpPr>
          <p:cNvPr id="183" name="Shape 59">
            <a:extLst>
              <a:ext uri="{FF2B5EF4-FFF2-40B4-BE49-F238E27FC236}">
                <a16:creationId xmlns:a16="http://schemas.microsoft.com/office/drawing/2014/main" id="{E2361B0A-C1F9-6C13-08E1-2DC46C68F793}"/>
              </a:ext>
            </a:extLst>
          </p:cNvPr>
          <p:cNvSpPr/>
          <p:nvPr/>
        </p:nvSpPr>
        <p:spPr>
          <a:xfrm>
            <a:off x="6703466" y="2606040"/>
            <a:ext cx="73152" cy="73152"/>
          </a:xfrm>
          <a:prstGeom prst="ellipse">
            <a:avLst/>
          </a:prstGeom>
          <a:solidFill>
            <a:srgbClr val="0B6A52"/>
          </a:solidFill>
          <a:ln w="12700">
            <a:solidFill>
              <a:srgbClr val="0B6A52"/>
            </a:solidFill>
            <a:prstDash val="solid"/>
          </a:ln>
        </p:spPr>
        <p:txBody>
          <a:bodyPr/>
          <a:lstStyle/>
          <a:p>
            <a:endParaRPr lang="en-US"/>
          </a:p>
        </p:txBody>
      </p:sp>
      <p:sp>
        <p:nvSpPr>
          <p:cNvPr id="184" name="Text 60">
            <a:extLst>
              <a:ext uri="{FF2B5EF4-FFF2-40B4-BE49-F238E27FC236}">
                <a16:creationId xmlns:a16="http://schemas.microsoft.com/office/drawing/2014/main" id="{C1C8514D-306D-39AE-275C-14BCAB5DF89D}"/>
              </a:ext>
            </a:extLst>
          </p:cNvPr>
          <p:cNvSpPr/>
          <p:nvPr/>
        </p:nvSpPr>
        <p:spPr>
          <a:xfrm>
            <a:off x="6822338" y="2523744"/>
            <a:ext cx="1673352" cy="267005"/>
          </a:xfrm>
          <a:prstGeom prst="rect">
            <a:avLst/>
          </a:prstGeom>
          <a:noFill/>
          <a:ln/>
        </p:spPr>
        <p:txBody>
          <a:bodyPr wrap="square" lIns="0" tIns="0" rIns="0" bIns="0" rtlCol="0" anchor="ctr"/>
          <a:lstStyle/>
          <a:p>
            <a:pPr marL="0" indent="0">
              <a:buNone/>
            </a:pPr>
            <a:r>
              <a:rPr lang="en-US" sz="750" dirty="0">
                <a:solidFill>
                  <a:srgbClr val="4A5568"/>
                </a:solidFill>
              </a:rPr>
              <a:t>Inventory — stock view, adjust, alerts</a:t>
            </a:r>
            <a:endParaRPr lang="en-US" sz="750" dirty="0"/>
          </a:p>
        </p:txBody>
      </p:sp>
      <p:sp>
        <p:nvSpPr>
          <p:cNvPr id="185" name="Shape 61">
            <a:extLst>
              <a:ext uri="{FF2B5EF4-FFF2-40B4-BE49-F238E27FC236}">
                <a16:creationId xmlns:a16="http://schemas.microsoft.com/office/drawing/2014/main" id="{C2C49FF4-6F04-5AE7-411C-6C594B79822B}"/>
              </a:ext>
            </a:extLst>
          </p:cNvPr>
          <p:cNvSpPr/>
          <p:nvPr/>
        </p:nvSpPr>
        <p:spPr>
          <a:xfrm>
            <a:off x="6703466" y="3026664"/>
            <a:ext cx="73152" cy="73152"/>
          </a:xfrm>
          <a:prstGeom prst="ellipse">
            <a:avLst/>
          </a:prstGeom>
          <a:solidFill>
            <a:srgbClr val="0B6A52"/>
          </a:solidFill>
          <a:ln w="12700">
            <a:solidFill>
              <a:srgbClr val="0B6A52"/>
            </a:solidFill>
            <a:prstDash val="solid"/>
          </a:ln>
        </p:spPr>
        <p:txBody>
          <a:bodyPr/>
          <a:lstStyle/>
          <a:p>
            <a:endParaRPr lang="en-US"/>
          </a:p>
        </p:txBody>
      </p:sp>
      <p:sp>
        <p:nvSpPr>
          <p:cNvPr id="186" name="Text 62">
            <a:extLst>
              <a:ext uri="{FF2B5EF4-FFF2-40B4-BE49-F238E27FC236}">
                <a16:creationId xmlns:a16="http://schemas.microsoft.com/office/drawing/2014/main" id="{023F28FD-A575-E70F-C648-84D38D7FF1EA}"/>
              </a:ext>
            </a:extLst>
          </p:cNvPr>
          <p:cNvSpPr/>
          <p:nvPr/>
        </p:nvSpPr>
        <p:spPr>
          <a:xfrm>
            <a:off x="6822338" y="2944368"/>
            <a:ext cx="1673352" cy="267004"/>
          </a:xfrm>
          <a:prstGeom prst="rect">
            <a:avLst/>
          </a:prstGeom>
          <a:noFill/>
          <a:ln/>
        </p:spPr>
        <p:txBody>
          <a:bodyPr wrap="square" lIns="0" tIns="0" rIns="0" bIns="0" rtlCol="0" anchor="ctr"/>
          <a:lstStyle/>
          <a:p>
            <a:pPr marL="0" indent="0">
              <a:buNone/>
            </a:pPr>
            <a:r>
              <a:rPr lang="en-US" sz="750" dirty="0">
                <a:solidFill>
                  <a:srgbClr val="4A5568"/>
                </a:solidFill>
              </a:rPr>
              <a:t>Sales dashboard — revenue &amp; best sellers</a:t>
            </a:r>
            <a:endParaRPr lang="en-US" sz="750" dirty="0"/>
          </a:p>
        </p:txBody>
      </p:sp>
      <p:sp>
        <p:nvSpPr>
          <p:cNvPr id="187" name="Shape 63">
            <a:extLst>
              <a:ext uri="{FF2B5EF4-FFF2-40B4-BE49-F238E27FC236}">
                <a16:creationId xmlns:a16="http://schemas.microsoft.com/office/drawing/2014/main" id="{294950B4-A2EF-111F-B8EC-B6FDE2CB87AD}"/>
              </a:ext>
            </a:extLst>
          </p:cNvPr>
          <p:cNvSpPr/>
          <p:nvPr/>
        </p:nvSpPr>
        <p:spPr>
          <a:xfrm>
            <a:off x="6703466" y="3447288"/>
            <a:ext cx="73152" cy="73152"/>
          </a:xfrm>
          <a:prstGeom prst="ellipse">
            <a:avLst/>
          </a:prstGeom>
          <a:solidFill>
            <a:srgbClr val="0B6A52"/>
          </a:solidFill>
          <a:ln w="12700">
            <a:solidFill>
              <a:srgbClr val="0B6A52"/>
            </a:solidFill>
            <a:prstDash val="solid"/>
          </a:ln>
        </p:spPr>
        <p:txBody>
          <a:bodyPr/>
          <a:lstStyle/>
          <a:p>
            <a:endParaRPr lang="en-US"/>
          </a:p>
        </p:txBody>
      </p:sp>
      <p:sp>
        <p:nvSpPr>
          <p:cNvPr id="188" name="Text 64">
            <a:extLst>
              <a:ext uri="{FF2B5EF4-FFF2-40B4-BE49-F238E27FC236}">
                <a16:creationId xmlns:a16="http://schemas.microsoft.com/office/drawing/2014/main" id="{9BB34032-66EA-D709-D7DD-320ACE0CC580}"/>
              </a:ext>
            </a:extLst>
          </p:cNvPr>
          <p:cNvSpPr/>
          <p:nvPr/>
        </p:nvSpPr>
        <p:spPr>
          <a:xfrm>
            <a:off x="6822338" y="3364992"/>
            <a:ext cx="1673352" cy="265176"/>
          </a:xfrm>
          <a:prstGeom prst="rect">
            <a:avLst/>
          </a:prstGeom>
          <a:noFill/>
          <a:ln/>
        </p:spPr>
        <p:txBody>
          <a:bodyPr wrap="square" lIns="0" tIns="0" rIns="0" bIns="0" rtlCol="0" anchor="ctr"/>
          <a:lstStyle/>
          <a:p>
            <a:pPr marL="0" indent="0">
              <a:buNone/>
            </a:pPr>
            <a:r>
              <a:rPr lang="en-US" sz="750" dirty="0">
                <a:solidFill>
                  <a:srgbClr val="4A5568"/>
                </a:solidFill>
              </a:rPr>
              <a:t>CI/CD pipeline — GitHub Actions Updated</a:t>
            </a:r>
            <a:endParaRPr lang="en-US" sz="750" dirty="0"/>
          </a:p>
        </p:txBody>
      </p:sp>
      <p:sp>
        <p:nvSpPr>
          <p:cNvPr id="189" name="Shape 65">
            <a:extLst>
              <a:ext uri="{FF2B5EF4-FFF2-40B4-BE49-F238E27FC236}">
                <a16:creationId xmlns:a16="http://schemas.microsoft.com/office/drawing/2014/main" id="{AD2DB3AA-ED7A-A790-DE6F-CDF744412480}"/>
              </a:ext>
            </a:extLst>
          </p:cNvPr>
          <p:cNvSpPr/>
          <p:nvPr/>
        </p:nvSpPr>
        <p:spPr>
          <a:xfrm>
            <a:off x="502920" y="3986784"/>
            <a:ext cx="8138160" cy="960120"/>
          </a:xfrm>
          <a:prstGeom prst="rect">
            <a:avLst/>
          </a:prstGeom>
          <a:solidFill>
            <a:srgbClr val="0D1B3E"/>
          </a:solidFill>
          <a:ln w="12700">
            <a:solidFill>
              <a:srgbClr val="0D1B3E"/>
            </a:solidFill>
            <a:prstDash val="solid"/>
          </a:ln>
        </p:spPr>
        <p:txBody>
          <a:bodyPr/>
          <a:lstStyle/>
          <a:p>
            <a:endParaRPr lang="en-US"/>
          </a:p>
        </p:txBody>
      </p:sp>
      <p:sp>
        <p:nvSpPr>
          <p:cNvPr id="190" name="Text 66">
            <a:extLst>
              <a:ext uri="{FF2B5EF4-FFF2-40B4-BE49-F238E27FC236}">
                <a16:creationId xmlns:a16="http://schemas.microsoft.com/office/drawing/2014/main" id="{DF5F4C35-022C-DF30-2F1B-065C9786B005}"/>
              </a:ext>
            </a:extLst>
          </p:cNvPr>
          <p:cNvSpPr/>
          <p:nvPr/>
        </p:nvSpPr>
        <p:spPr>
          <a:xfrm>
            <a:off x="777240" y="4059936"/>
            <a:ext cx="1051560" cy="365760"/>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191" name="Text 67">
            <a:extLst>
              <a:ext uri="{FF2B5EF4-FFF2-40B4-BE49-F238E27FC236}">
                <a16:creationId xmlns:a16="http://schemas.microsoft.com/office/drawing/2014/main" id="{963B8FE8-8B97-ADD5-A454-A4CFC2902F0C}"/>
              </a:ext>
            </a:extLst>
          </p:cNvPr>
          <p:cNvSpPr/>
          <p:nvPr/>
        </p:nvSpPr>
        <p:spPr>
          <a:xfrm>
            <a:off x="777240" y="4425696"/>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Epics</a:t>
            </a:r>
            <a:endParaRPr lang="en-US" sz="750" dirty="0"/>
          </a:p>
        </p:txBody>
      </p:sp>
      <p:sp>
        <p:nvSpPr>
          <p:cNvPr id="192" name="Text 68">
            <a:extLst>
              <a:ext uri="{FF2B5EF4-FFF2-40B4-BE49-F238E27FC236}">
                <a16:creationId xmlns:a16="http://schemas.microsoft.com/office/drawing/2014/main" id="{23414302-1EAD-0772-BF80-7D6EB4203622}"/>
              </a:ext>
            </a:extLst>
          </p:cNvPr>
          <p:cNvSpPr/>
          <p:nvPr/>
        </p:nvSpPr>
        <p:spPr>
          <a:xfrm>
            <a:off x="2121408" y="4059936"/>
            <a:ext cx="1051560" cy="365760"/>
          </a:xfrm>
          <a:prstGeom prst="rect">
            <a:avLst/>
          </a:prstGeom>
          <a:noFill/>
          <a:ln/>
        </p:spPr>
        <p:txBody>
          <a:bodyPr wrap="square" lIns="0" tIns="0" rIns="0" bIns="0" rtlCol="0" anchor="ctr"/>
          <a:lstStyle/>
          <a:p>
            <a:pPr marL="0" indent="0" algn="ctr">
              <a:buNone/>
            </a:pPr>
            <a:r>
              <a:rPr lang="en-US" sz="2200" b="1" dirty="0">
                <a:solidFill>
                  <a:srgbClr val="FFFFFF"/>
                </a:solidFill>
              </a:rPr>
              <a:t>25+</a:t>
            </a:r>
            <a:endParaRPr lang="en-US" sz="2200" dirty="0"/>
          </a:p>
        </p:txBody>
      </p:sp>
      <p:sp>
        <p:nvSpPr>
          <p:cNvPr id="193" name="Text 69">
            <a:extLst>
              <a:ext uri="{FF2B5EF4-FFF2-40B4-BE49-F238E27FC236}">
                <a16:creationId xmlns:a16="http://schemas.microsoft.com/office/drawing/2014/main" id="{0C23556E-72B9-E56C-6287-45D7E9523D34}"/>
              </a:ext>
            </a:extLst>
          </p:cNvPr>
          <p:cNvSpPr/>
          <p:nvPr/>
        </p:nvSpPr>
        <p:spPr>
          <a:xfrm>
            <a:off x="2121408" y="4425696"/>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User Stories</a:t>
            </a:r>
            <a:endParaRPr lang="en-US" sz="750" dirty="0"/>
          </a:p>
        </p:txBody>
      </p:sp>
      <p:sp>
        <p:nvSpPr>
          <p:cNvPr id="194" name="Text 70">
            <a:extLst>
              <a:ext uri="{FF2B5EF4-FFF2-40B4-BE49-F238E27FC236}">
                <a16:creationId xmlns:a16="http://schemas.microsoft.com/office/drawing/2014/main" id="{E00C0FB7-2FC6-7166-A5B6-EF94800191F2}"/>
              </a:ext>
            </a:extLst>
          </p:cNvPr>
          <p:cNvSpPr/>
          <p:nvPr/>
        </p:nvSpPr>
        <p:spPr>
          <a:xfrm>
            <a:off x="3465576" y="4059936"/>
            <a:ext cx="1051560" cy="365760"/>
          </a:xfrm>
          <a:prstGeom prst="rect">
            <a:avLst/>
          </a:prstGeom>
          <a:noFill/>
          <a:ln/>
        </p:spPr>
        <p:txBody>
          <a:bodyPr wrap="square" lIns="0" tIns="0" rIns="0" bIns="0" rtlCol="0" anchor="ctr"/>
          <a:lstStyle/>
          <a:p>
            <a:pPr marL="0" indent="0" algn="ctr">
              <a:buNone/>
            </a:pPr>
            <a:r>
              <a:rPr lang="en-US" sz="2200" b="1" dirty="0">
                <a:solidFill>
                  <a:srgbClr val="FFFFFF"/>
                </a:solidFill>
              </a:rPr>
              <a:t>800+</a:t>
            </a:r>
            <a:endParaRPr lang="en-US" sz="2200" dirty="0"/>
          </a:p>
        </p:txBody>
      </p:sp>
      <p:sp>
        <p:nvSpPr>
          <p:cNvPr id="195" name="Text 71">
            <a:extLst>
              <a:ext uri="{FF2B5EF4-FFF2-40B4-BE49-F238E27FC236}">
                <a16:creationId xmlns:a16="http://schemas.microsoft.com/office/drawing/2014/main" id="{66DF05D2-2AF7-BC30-0022-3D40745CCF01}"/>
              </a:ext>
            </a:extLst>
          </p:cNvPr>
          <p:cNvSpPr/>
          <p:nvPr/>
        </p:nvSpPr>
        <p:spPr>
          <a:xfrm>
            <a:off x="3465576" y="4425696"/>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Code Commits</a:t>
            </a:r>
            <a:endParaRPr lang="en-US" sz="750" dirty="0"/>
          </a:p>
        </p:txBody>
      </p:sp>
      <p:sp>
        <p:nvSpPr>
          <p:cNvPr id="196" name="Text 72">
            <a:extLst>
              <a:ext uri="{FF2B5EF4-FFF2-40B4-BE49-F238E27FC236}">
                <a16:creationId xmlns:a16="http://schemas.microsoft.com/office/drawing/2014/main" id="{0CB59596-7620-9B5E-EFB1-15A3E11265B1}"/>
              </a:ext>
            </a:extLst>
          </p:cNvPr>
          <p:cNvSpPr/>
          <p:nvPr/>
        </p:nvSpPr>
        <p:spPr>
          <a:xfrm>
            <a:off x="4809744" y="4059936"/>
            <a:ext cx="1051560" cy="365760"/>
          </a:xfrm>
          <a:prstGeom prst="rect">
            <a:avLst/>
          </a:prstGeom>
          <a:noFill/>
          <a:ln/>
        </p:spPr>
        <p:txBody>
          <a:bodyPr wrap="square" lIns="0" tIns="0" rIns="0" bIns="0" rtlCol="0" anchor="ctr"/>
          <a:lstStyle/>
          <a:p>
            <a:pPr marL="0" indent="0" algn="ctr">
              <a:buNone/>
            </a:pPr>
            <a:r>
              <a:rPr lang="en-US" sz="2200" b="1" dirty="0">
                <a:solidFill>
                  <a:srgbClr val="FFFFFF"/>
                </a:solidFill>
              </a:rPr>
              <a:t>50+</a:t>
            </a:r>
            <a:endParaRPr lang="en-US" sz="2200" dirty="0"/>
          </a:p>
        </p:txBody>
      </p:sp>
      <p:sp>
        <p:nvSpPr>
          <p:cNvPr id="197" name="Text 73">
            <a:extLst>
              <a:ext uri="{FF2B5EF4-FFF2-40B4-BE49-F238E27FC236}">
                <a16:creationId xmlns:a16="http://schemas.microsoft.com/office/drawing/2014/main" id="{4B0CC486-B741-16D1-7FC3-1FB8A2809863}"/>
              </a:ext>
            </a:extLst>
          </p:cNvPr>
          <p:cNvSpPr/>
          <p:nvPr/>
        </p:nvSpPr>
        <p:spPr>
          <a:xfrm>
            <a:off x="4809744" y="4425696"/>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Backend APIs</a:t>
            </a:r>
            <a:endParaRPr lang="en-US" sz="750" dirty="0"/>
          </a:p>
        </p:txBody>
      </p:sp>
      <p:sp>
        <p:nvSpPr>
          <p:cNvPr id="198" name="Text 74">
            <a:extLst>
              <a:ext uri="{FF2B5EF4-FFF2-40B4-BE49-F238E27FC236}">
                <a16:creationId xmlns:a16="http://schemas.microsoft.com/office/drawing/2014/main" id="{3694E759-4D6E-50EC-FADD-80EA8DA246AF}"/>
              </a:ext>
            </a:extLst>
          </p:cNvPr>
          <p:cNvSpPr/>
          <p:nvPr/>
        </p:nvSpPr>
        <p:spPr>
          <a:xfrm>
            <a:off x="6153912" y="4059936"/>
            <a:ext cx="1051560" cy="365760"/>
          </a:xfrm>
          <a:prstGeom prst="rect">
            <a:avLst/>
          </a:prstGeom>
          <a:noFill/>
          <a:ln/>
        </p:spPr>
        <p:txBody>
          <a:bodyPr wrap="square" lIns="0" tIns="0" rIns="0" bIns="0" rtlCol="0" anchor="ctr"/>
          <a:lstStyle/>
          <a:p>
            <a:pPr marL="0" indent="0" algn="ctr">
              <a:buNone/>
            </a:pPr>
            <a:r>
              <a:rPr lang="en-US" sz="2200" b="1" dirty="0">
                <a:solidFill>
                  <a:srgbClr val="FFFFFF"/>
                </a:solidFill>
              </a:rPr>
              <a:t>1,000+</a:t>
            </a:r>
            <a:endParaRPr lang="en-US" sz="2200" dirty="0"/>
          </a:p>
        </p:txBody>
      </p:sp>
      <p:sp>
        <p:nvSpPr>
          <p:cNvPr id="199" name="Text 75">
            <a:extLst>
              <a:ext uri="{FF2B5EF4-FFF2-40B4-BE49-F238E27FC236}">
                <a16:creationId xmlns:a16="http://schemas.microsoft.com/office/drawing/2014/main" id="{0864621D-40D4-BD28-4488-C927941CC3AE}"/>
              </a:ext>
            </a:extLst>
          </p:cNvPr>
          <p:cNvSpPr/>
          <p:nvPr/>
        </p:nvSpPr>
        <p:spPr>
          <a:xfrm>
            <a:off x="6153912" y="4425696"/>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Automated Tests</a:t>
            </a:r>
            <a:endParaRPr lang="en-US" sz="750" dirty="0"/>
          </a:p>
        </p:txBody>
      </p:sp>
      <p:sp>
        <p:nvSpPr>
          <p:cNvPr id="200" name="Text 76">
            <a:extLst>
              <a:ext uri="{FF2B5EF4-FFF2-40B4-BE49-F238E27FC236}">
                <a16:creationId xmlns:a16="http://schemas.microsoft.com/office/drawing/2014/main" id="{2804293E-548B-CA52-191E-48E3C6A725A6}"/>
              </a:ext>
            </a:extLst>
          </p:cNvPr>
          <p:cNvSpPr/>
          <p:nvPr/>
        </p:nvSpPr>
        <p:spPr>
          <a:xfrm>
            <a:off x="7498080" y="4059936"/>
            <a:ext cx="1051560" cy="36576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201" name="Text 77">
            <a:extLst>
              <a:ext uri="{FF2B5EF4-FFF2-40B4-BE49-F238E27FC236}">
                <a16:creationId xmlns:a16="http://schemas.microsoft.com/office/drawing/2014/main" id="{9B26C120-592B-CB75-A78A-1B86CC0D6AFC}"/>
              </a:ext>
            </a:extLst>
          </p:cNvPr>
          <p:cNvSpPr/>
          <p:nvPr/>
        </p:nvSpPr>
        <p:spPr>
          <a:xfrm>
            <a:off x="7498080" y="4425696"/>
            <a:ext cx="1051560" cy="164592"/>
          </a:xfrm>
          <a:prstGeom prst="rect">
            <a:avLst/>
          </a:prstGeom>
          <a:noFill/>
          <a:ln/>
        </p:spPr>
        <p:txBody>
          <a:bodyPr wrap="square" lIns="0" tIns="0" rIns="0" bIns="0" rtlCol="0" anchor="ctr"/>
          <a:lstStyle/>
          <a:p>
            <a:pPr marL="0" indent="0" algn="ctr">
              <a:buNone/>
            </a:pPr>
            <a:r>
              <a:rPr lang="en-US" sz="750" dirty="0">
                <a:solidFill>
                  <a:srgbClr val="9DB4C0"/>
                </a:solidFill>
              </a:rPr>
              <a:t>Living Backlog</a:t>
            </a:r>
            <a:endParaRPr lang="en-US" sz="750" dirty="0"/>
          </a:p>
        </p:txBody>
      </p:sp>
      <p:sp>
        <p:nvSpPr>
          <p:cNvPr id="202" name="Text 0">
            <a:extLst>
              <a:ext uri="{FF2B5EF4-FFF2-40B4-BE49-F238E27FC236}">
                <a16:creationId xmlns:a16="http://schemas.microsoft.com/office/drawing/2014/main" id="{623EABEF-1EC8-5EAE-6E3F-90DFB4BAC730}"/>
              </a:ext>
            </a:extLst>
          </p:cNvPr>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PROJECT OVERVIEW</a:t>
            </a:r>
            <a:endParaRPr lang="en-US" sz="900" dirty="0"/>
          </a:p>
        </p:txBody>
      </p:sp>
      <p:sp>
        <p:nvSpPr>
          <p:cNvPr id="203" name="Text 2">
            <a:extLst>
              <a:ext uri="{FF2B5EF4-FFF2-40B4-BE49-F238E27FC236}">
                <a16:creationId xmlns:a16="http://schemas.microsoft.com/office/drawing/2014/main" id="{9CACA75B-4BB8-1603-074F-BF24916ED74E}"/>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Kim Mayo</a:t>
            </a:r>
            <a:endParaRPr lang="en-US" sz="800" dirty="0"/>
          </a:p>
        </p:txBody>
      </p:sp>
      <p:sp>
        <p:nvSpPr>
          <p:cNvPr id="204" name="Text 3">
            <a:extLst>
              <a:ext uri="{FF2B5EF4-FFF2-40B4-BE49-F238E27FC236}">
                <a16:creationId xmlns:a16="http://schemas.microsoft.com/office/drawing/2014/main" id="{EB25435F-73CE-E936-A6DD-BF7AF589AFDD}"/>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Product Owner</a:t>
            </a:r>
            <a:endParaRPr lang="en-US" sz="700" dirty="0"/>
          </a:p>
        </p:txBody>
      </p:sp>
    </p:spTree>
    <p:extLst>
      <p:ext uri="{BB962C8B-B14F-4D97-AF65-F5344CB8AC3E}">
        <p14:creationId xmlns:p14="http://schemas.microsoft.com/office/powerpoint/2010/main" val="272484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wipe(down)">
                                      <p:cBhvr>
                                        <p:cTn id="7" dur="2000"/>
                                        <p:tgtEl>
                                          <p:spTgt spid="125"/>
                                        </p:tgtEl>
                                      </p:cBhvr>
                                    </p:animEffect>
                                  </p:childTnLst>
                                </p:cTn>
                              </p:par>
                            </p:childTnLst>
                          </p:cTn>
                        </p:par>
                        <p:par>
                          <p:cTn id="8" fill="hold">
                            <p:stCondLst>
                              <p:cond delay="20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28"/>
                                        </p:tgtEl>
                                        <p:attrNameLst>
                                          <p:attrName>style.visibility</p:attrName>
                                        </p:attrNameLst>
                                      </p:cBhvr>
                                      <p:to>
                                        <p:strVal val="visible"/>
                                      </p:to>
                                    </p:set>
                                    <p:anim calcmode="lin" valueType="num">
                                      <p:cBhvr>
                                        <p:cTn id="11" dur="500" fill="hold"/>
                                        <p:tgtEl>
                                          <p:spTgt spid="128"/>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28"/>
                                        </p:tgtEl>
                                        <p:attrNameLst>
                                          <p:attrName>ppt_y</p:attrName>
                                        </p:attrNameLst>
                                      </p:cBhvr>
                                      <p:tavLst>
                                        <p:tav tm="0">
                                          <p:val>
                                            <p:strVal val="#ppt_y"/>
                                          </p:val>
                                        </p:tav>
                                        <p:tav tm="100000">
                                          <p:val>
                                            <p:strVal val="#ppt_y"/>
                                          </p:val>
                                        </p:tav>
                                      </p:tavLst>
                                    </p:anim>
                                    <p:anim calcmode="lin" valueType="num">
                                      <p:cBhvr>
                                        <p:cTn id="13" dur="500" fill="hold"/>
                                        <p:tgtEl>
                                          <p:spTgt spid="128"/>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28"/>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28"/>
                                        </p:tgtEl>
                                      </p:cBhvr>
                                    </p:animEffect>
                                  </p:childTnLst>
                                </p:cTn>
                              </p:par>
                            </p:childTnLst>
                          </p:cTn>
                        </p:par>
                        <p:par>
                          <p:cTn id="16" fill="hold">
                            <p:stCondLst>
                              <p:cond delay="4350"/>
                            </p:stCondLst>
                            <p:childTnLst>
                              <p:par>
                                <p:cTn id="17" presetID="23" presetClass="entr" presetSubtype="16" fill="hold" grpId="0" nodeType="afterEffect">
                                  <p:stCondLst>
                                    <p:cond delay="5000"/>
                                  </p:stCondLst>
                                  <p:childTnLst>
                                    <p:set>
                                      <p:cBhvr>
                                        <p:cTn id="18" dur="1" fill="hold">
                                          <p:stCondLst>
                                            <p:cond delay="0"/>
                                          </p:stCondLst>
                                        </p:cTn>
                                        <p:tgtEl>
                                          <p:spTgt spid="190"/>
                                        </p:tgtEl>
                                        <p:attrNameLst>
                                          <p:attrName>style.visibility</p:attrName>
                                        </p:attrNameLst>
                                      </p:cBhvr>
                                      <p:to>
                                        <p:strVal val="visible"/>
                                      </p:to>
                                    </p:set>
                                    <p:anim calcmode="lin" valueType="num">
                                      <p:cBhvr>
                                        <p:cTn id="19" dur="500" fill="hold"/>
                                        <p:tgtEl>
                                          <p:spTgt spid="190"/>
                                        </p:tgtEl>
                                        <p:attrNameLst>
                                          <p:attrName>ppt_w</p:attrName>
                                        </p:attrNameLst>
                                      </p:cBhvr>
                                      <p:tavLst>
                                        <p:tav tm="0">
                                          <p:val>
                                            <p:fltVal val="0"/>
                                          </p:val>
                                        </p:tav>
                                        <p:tav tm="100000">
                                          <p:val>
                                            <p:strVal val="#ppt_w"/>
                                          </p:val>
                                        </p:tav>
                                      </p:tavLst>
                                    </p:anim>
                                    <p:anim calcmode="lin" valueType="num">
                                      <p:cBhvr>
                                        <p:cTn id="20" dur="500" fill="hold"/>
                                        <p:tgtEl>
                                          <p:spTgt spid="190"/>
                                        </p:tgtEl>
                                        <p:attrNameLst>
                                          <p:attrName>ppt_h</p:attrName>
                                        </p:attrNameLst>
                                      </p:cBhvr>
                                      <p:tavLst>
                                        <p:tav tm="0">
                                          <p:val>
                                            <p:fltVal val="0"/>
                                          </p:val>
                                        </p:tav>
                                        <p:tav tm="100000">
                                          <p:val>
                                            <p:strVal val="#ppt_h"/>
                                          </p:val>
                                        </p:tav>
                                      </p:tavLst>
                                    </p:anim>
                                  </p:childTnLst>
                                </p:cTn>
                              </p:par>
                            </p:childTnLst>
                          </p:cTn>
                        </p:par>
                        <p:par>
                          <p:cTn id="21" fill="hold">
                            <p:stCondLst>
                              <p:cond delay="9850"/>
                            </p:stCondLst>
                            <p:childTnLst>
                              <p:par>
                                <p:cTn id="22" presetID="45" presetClass="entr" presetSubtype="0" fill="hold" grpId="0" nodeType="afterEffect">
                                  <p:stCondLst>
                                    <p:cond delay="1000"/>
                                  </p:stCondLst>
                                  <p:childTnLst>
                                    <p:set>
                                      <p:cBhvr>
                                        <p:cTn id="23" dur="1" fill="hold">
                                          <p:stCondLst>
                                            <p:cond delay="0"/>
                                          </p:stCondLst>
                                        </p:cTn>
                                        <p:tgtEl>
                                          <p:spTgt spid="192"/>
                                        </p:tgtEl>
                                        <p:attrNameLst>
                                          <p:attrName>style.visibility</p:attrName>
                                        </p:attrNameLst>
                                      </p:cBhvr>
                                      <p:to>
                                        <p:strVal val="visible"/>
                                      </p:to>
                                    </p:set>
                                    <p:animEffect transition="in" filter="fade">
                                      <p:cBhvr>
                                        <p:cTn id="24" dur="1000"/>
                                        <p:tgtEl>
                                          <p:spTgt spid="192"/>
                                        </p:tgtEl>
                                      </p:cBhvr>
                                    </p:animEffect>
                                    <p:anim calcmode="lin" valueType="num">
                                      <p:cBhvr>
                                        <p:cTn id="25" dur="1000" fill="hold"/>
                                        <p:tgtEl>
                                          <p:spTgt spid="192"/>
                                        </p:tgtEl>
                                        <p:attrNameLst>
                                          <p:attrName>ppt_w</p:attrName>
                                        </p:attrNameLst>
                                      </p:cBhvr>
                                      <p:tavLst>
                                        <p:tav tm="0" fmla="#ppt_w*sin(2.5*pi*$)">
                                          <p:val>
                                            <p:fltVal val="0"/>
                                          </p:val>
                                        </p:tav>
                                        <p:tav tm="100000">
                                          <p:val>
                                            <p:fltVal val="1"/>
                                          </p:val>
                                        </p:tav>
                                      </p:tavLst>
                                    </p:anim>
                                    <p:anim calcmode="lin" valueType="num">
                                      <p:cBhvr>
                                        <p:cTn id="26" dur="1000" fill="hold"/>
                                        <p:tgtEl>
                                          <p:spTgt spid="192"/>
                                        </p:tgtEl>
                                        <p:attrNameLst>
                                          <p:attrName>ppt_h</p:attrName>
                                        </p:attrNameLst>
                                      </p:cBhvr>
                                      <p:tavLst>
                                        <p:tav tm="0">
                                          <p:val>
                                            <p:strVal val="#ppt_h"/>
                                          </p:val>
                                        </p:tav>
                                        <p:tav tm="100000">
                                          <p:val>
                                            <p:strVal val="#ppt_h"/>
                                          </p:val>
                                        </p:tav>
                                      </p:tavLst>
                                    </p:anim>
                                  </p:childTnLst>
                                </p:cTn>
                              </p:par>
                            </p:childTnLst>
                          </p:cTn>
                        </p:par>
                        <p:par>
                          <p:cTn id="27" fill="hold">
                            <p:stCondLst>
                              <p:cond delay="11850"/>
                            </p:stCondLst>
                            <p:childTnLst>
                              <p:par>
                                <p:cTn id="28" presetID="53" presetClass="entr" presetSubtype="16" fill="hold" grpId="0" nodeType="afterEffect">
                                  <p:stCondLst>
                                    <p:cond delay="6000"/>
                                  </p:stCondLst>
                                  <p:childTnLst>
                                    <p:set>
                                      <p:cBhvr>
                                        <p:cTn id="29" dur="1" fill="hold">
                                          <p:stCondLst>
                                            <p:cond delay="0"/>
                                          </p:stCondLst>
                                        </p:cTn>
                                        <p:tgtEl>
                                          <p:spTgt spid="196"/>
                                        </p:tgtEl>
                                        <p:attrNameLst>
                                          <p:attrName>style.visibility</p:attrName>
                                        </p:attrNameLst>
                                      </p:cBhvr>
                                      <p:to>
                                        <p:strVal val="visible"/>
                                      </p:to>
                                    </p:set>
                                    <p:anim calcmode="lin" valueType="num">
                                      <p:cBhvr>
                                        <p:cTn id="30" dur="500" fill="hold"/>
                                        <p:tgtEl>
                                          <p:spTgt spid="196"/>
                                        </p:tgtEl>
                                        <p:attrNameLst>
                                          <p:attrName>ppt_w</p:attrName>
                                        </p:attrNameLst>
                                      </p:cBhvr>
                                      <p:tavLst>
                                        <p:tav tm="0">
                                          <p:val>
                                            <p:fltVal val="0"/>
                                          </p:val>
                                        </p:tav>
                                        <p:tav tm="100000">
                                          <p:val>
                                            <p:strVal val="#ppt_w"/>
                                          </p:val>
                                        </p:tav>
                                      </p:tavLst>
                                    </p:anim>
                                    <p:anim calcmode="lin" valueType="num">
                                      <p:cBhvr>
                                        <p:cTn id="31" dur="500" fill="hold"/>
                                        <p:tgtEl>
                                          <p:spTgt spid="196"/>
                                        </p:tgtEl>
                                        <p:attrNameLst>
                                          <p:attrName>ppt_h</p:attrName>
                                        </p:attrNameLst>
                                      </p:cBhvr>
                                      <p:tavLst>
                                        <p:tav tm="0">
                                          <p:val>
                                            <p:fltVal val="0"/>
                                          </p:val>
                                        </p:tav>
                                        <p:tav tm="100000">
                                          <p:val>
                                            <p:strVal val="#ppt_h"/>
                                          </p:val>
                                        </p:tav>
                                      </p:tavLst>
                                    </p:anim>
                                    <p:animEffect transition="in" filter="fade">
                                      <p:cBhvr>
                                        <p:cTn id="32" dur="500"/>
                                        <p:tgtEl>
                                          <p:spTgt spid="196"/>
                                        </p:tgtEl>
                                      </p:cBhvr>
                                    </p:animEffect>
                                  </p:childTnLst>
                                </p:cTn>
                              </p:par>
                            </p:childTnLst>
                          </p:cTn>
                        </p:par>
                        <p:par>
                          <p:cTn id="33" fill="hold">
                            <p:stCondLst>
                              <p:cond delay="18350"/>
                            </p:stCondLst>
                            <p:childTnLst>
                              <p:par>
                                <p:cTn id="34" presetID="53" presetClass="entr" presetSubtype="16" fill="hold" grpId="0" nodeType="afterEffect">
                                  <p:stCondLst>
                                    <p:cond delay="1000"/>
                                  </p:stCondLst>
                                  <p:childTnLst>
                                    <p:set>
                                      <p:cBhvr>
                                        <p:cTn id="35" dur="1" fill="hold">
                                          <p:stCondLst>
                                            <p:cond delay="0"/>
                                          </p:stCondLst>
                                        </p:cTn>
                                        <p:tgtEl>
                                          <p:spTgt spid="198"/>
                                        </p:tgtEl>
                                        <p:attrNameLst>
                                          <p:attrName>style.visibility</p:attrName>
                                        </p:attrNameLst>
                                      </p:cBhvr>
                                      <p:to>
                                        <p:strVal val="visible"/>
                                      </p:to>
                                    </p:set>
                                    <p:anim calcmode="lin" valueType="num">
                                      <p:cBhvr>
                                        <p:cTn id="36" dur="500" fill="hold"/>
                                        <p:tgtEl>
                                          <p:spTgt spid="198"/>
                                        </p:tgtEl>
                                        <p:attrNameLst>
                                          <p:attrName>ppt_w</p:attrName>
                                        </p:attrNameLst>
                                      </p:cBhvr>
                                      <p:tavLst>
                                        <p:tav tm="0">
                                          <p:val>
                                            <p:fltVal val="0"/>
                                          </p:val>
                                        </p:tav>
                                        <p:tav tm="100000">
                                          <p:val>
                                            <p:strVal val="#ppt_w"/>
                                          </p:val>
                                        </p:tav>
                                      </p:tavLst>
                                    </p:anim>
                                    <p:anim calcmode="lin" valueType="num">
                                      <p:cBhvr>
                                        <p:cTn id="37" dur="500" fill="hold"/>
                                        <p:tgtEl>
                                          <p:spTgt spid="198"/>
                                        </p:tgtEl>
                                        <p:attrNameLst>
                                          <p:attrName>ppt_h</p:attrName>
                                        </p:attrNameLst>
                                      </p:cBhvr>
                                      <p:tavLst>
                                        <p:tav tm="0">
                                          <p:val>
                                            <p:fltVal val="0"/>
                                          </p:val>
                                        </p:tav>
                                        <p:tav tm="100000">
                                          <p:val>
                                            <p:strVal val="#ppt_h"/>
                                          </p:val>
                                        </p:tav>
                                      </p:tavLst>
                                    </p:anim>
                                    <p:animEffect transition="in" filter="fade">
                                      <p:cBhvr>
                                        <p:cTn id="38" dur="500"/>
                                        <p:tgtEl>
                                          <p:spTgt spid="198"/>
                                        </p:tgtEl>
                                      </p:cBhvr>
                                    </p:animEffect>
                                  </p:childTnLst>
                                </p:cTn>
                              </p:par>
                            </p:childTnLst>
                          </p:cTn>
                        </p:par>
                        <p:par>
                          <p:cTn id="39" fill="hold">
                            <p:stCondLst>
                              <p:cond delay="19850"/>
                            </p:stCondLst>
                            <p:childTnLst>
                              <p:par>
                                <p:cTn id="40" presetID="12" presetClass="entr" presetSubtype="4" fill="hold" grpId="0" nodeType="afterEffect">
                                  <p:stCondLst>
                                    <p:cond delay="3000"/>
                                  </p:stCondLst>
                                  <p:childTnLst>
                                    <p:set>
                                      <p:cBhvr>
                                        <p:cTn id="41" dur="1" fill="hold">
                                          <p:stCondLst>
                                            <p:cond delay="0"/>
                                          </p:stCondLst>
                                        </p:cTn>
                                        <p:tgtEl>
                                          <p:spTgt spid="200"/>
                                        </p:tgtEl>
                                        <p:attrNameLst>
                                          <p:attrName>style.visibility</p:attrName>
                                        </p:attrNameLst>
                                      </p:cBhvr>
                                      <p:to>
                                        <p:strVal val="visible"/>
                                      </p:to>
                                    </p:set>
                                    <p:anim calcmode="lin" valueType="num">
                                      <p:cBhvr additive="base">
                                        <p:cTn id="42" dur="2000"/>
                                        <p:tgtEl>
                                          <p:spTgt spid="200"/>
                                        </p:tgtEl>
                                        <p:attrNameLst>
                                          <p:attrName>ppt_y</p:attrName>
                                        </p:attrNameLst>
                                      </p:cBhvr>
                                      <p:tavLst>
                                        <p:tav tm="0">
                                          <p:val>
                                            <p:strVal val="#ppt_y+#ppt_h*1.125000"/>
                                          </p:val>
                                        </p:tav>
                                        <p:tav tm="100000">
                                          <p:val>
                                            <p:strVal val="#ppt_y"/>
                                          </p:val>
                                        </p:tav>
                                      </p:tavLst>
                                    </p:anim>
                                    <p:animEffect transition="in" filter="wipe(up)">
                                      <p:cBhvr>
                                        <p:cTn id="43" dur="20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128" grpId="0" animBg="1"/>
      <p:bldP spid="190" grpId="0" animBg="1"/>
      <p:bldP spid="192" grpId="0" animBg="1"/>
      <p:bldP spid="196" grpId="0" animBg="1"/>
      <p:bldP spid="198" grpId="0" animBg="1"/>
      <p:bldP spid="20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a:extLst>
            <a:ext uri="{FF2B5EF4-FFF2-40B4-BE49-F238E27FC236}">
              <a16:creationId xmlns:a16="http://schemas.microsoft.com/office/drawing/2014/main" id="{DD892FEC-689E-C197-FC36-20F23A9D2D3C}"/>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B81CC805-C946-1D95-F6FE-86173098A004}"/>
              </a:ext>
            </a:extLst>
          </p:cNvPr>
          <p:cNvSpPr/>
          <p:nvPr/>
        </p:nvSpPr>
        <p:spPr>
          <a:xfrm>
            <a:off x="502920" y="402336"/>
            <a:ext cx="6858000" cy="530352"/>
          </a:xfrm>
          <a:prstGeom prst="rect">
            <a:avLst/>
          </a:prstGeom>
          <a:noFill/>
          <a:ln/>
        </p:spPr>
        <p:txBody>
          <a:bodyPr wrap="square" lIns="0" tIns="0" rIns="0" bIns="0" rtlCol="0" anchor="ctr"/>
          <a:lstStyle/>
          <a:p>
            <a:pPr marL="0" indent="0" algn="l">
              <a:buNone/>
            </a:pPr>
            <a:r>
              <a:rPr lang="en-US" sz="3600" b="1" dirty="0">
                <a:solidFill>
                  <a:srgbClr val="0D1B3E"/>
                </a:solidFill>
                <a:latin typeface="Calibri" pitchFamily="34" charset="0"/>
                <a:ea typeface="Calibri" pitchFamily="34" charset="-122"/>
                <a:cs typeface="Calibri" pitchFamily="34" charset="-120"/>
              </a:rPr>
              <a:t>Scope &amp; Product Decisions</a:t>
            </a:r>
            <a:endParaRPr lang="en-US" sz="3600" dirty="0"/>
          </a:p>
        </p:txBody>
      </p:sp>
      <p:sp>
        <p:nvSpPr>
          <p:cNvPr id="4" name="Text 2">
            <a:extLst>
              <a:ext uri="{FF2B5EF4-FFF2-40B4-BE49-F238E27FC236}">
                <a16:creationId xmlns:a16="http://schemas.microsoft.com/office/drawing/2014/main" id="{B297E541-F9A3-BB1F-AB47-85416E219058}"/>
              </a:ext>
            </a:extLst>
          </p:cNvPr>
          <p:cNvSpPr/>
          <p:nvPr/>
        </p:nvSpPr>
        <p:spPr>
          <a:xfrm>
            <a:off x="502920" y="996696"/>
            <a:ext cx="7315200" cy="201168"/>
          </a:xfrm>
          <a:prstGeom prst="rect">
            <a:avLst/>
          </a:prstGeom>
          <a:noFill/>
          <a:ln/>
        </p:spPr>
        <p:txBody>
          <a:bodyPr wrap="square" lIns="0" tIns="0" rIns="0" bIns="0" rtlCol="0" anchor="ctr"/>
          <a:lstStyle/>
          <a:p>
            <a:pPr marL="0" indent="0">
              <a:buNone/>
            </a:pPr>
            <a:r>
              <a:rPr lang="en-US" sz="1100" i="1" dirty="0">
                <a:solidFill>
                  <a:srgbClr val="4A5568"/>
                </a:solidFill>
              </a:rPr>
              <a:t>How we kept the product focused, deliverable, and built right</a:t>
            </a:r>
            <a:endParaRPr lang="en-US" sz="1100" dirty="0"/>
          </a:p>
        </p:txBody>
      </p:sp>
      <p:sp>
        <p:nvSpPr>
          <p:cNvPr id="7" name="Shape 5">
            <a:extLst>
              <a:ext uri="{FF2B5EF4-FFF2-40B4-BE49-F238E27FC236}">
                <a16:creationId xmlns:a16="http://schemas.microsoft.com/office/drawing/2014/main" id="{92DAB0AD-CCF4-51F6-D42E-5AC7A916641A}"/>
              </a:ext>
            </a:extLst>
          </p:cNvPr>
          <p:cNvSpPr/>
          <p:nvPr/>
        </p:nvSpPr>
        <p:spPr>
          <a:xfrm>
            <a:off x="502920" y="1392631"/>
            <a:ext cx="2633472" cy="1517904"/>
          </a:xfrm>
          <a:prstGeom prst="rect">
            <a:avLst/>
          </a:prstGeom>
          <a:solidFill>
            <a:srgbClr val="FFFFFF"/>
          </a:solidFill>
          <a:ln w="6350">
            <a:solidFill>
              <a:srgbClr val="E2E8F0"/>
            </a:solidFill>
            <a:prstDash val="solid"/>
          </a:ln>
          <a:effectLst>
            <a:outerShdw blurRad="127000" dist="25400" dir="16200000" algn="bl" rotWithShape="0">
              <a:srgbClr val="000000">
                <a:alpha val="7000"/>
              </a:srgbClr>
            </a:outerShdw>
          </a:effectLst>
        </p:spPr>
        <p:txBody>
          <a:bodyPr/>
          <a:lstStyle/>
          <a:p>
            <a:endParaRPr lang="en-US"/>
          </a:p>
        </p:txBody>
      </p:sp>
      <p:sp>
        <p:nvSpPr>
          <p:cNvPr id="8" name="Shape 6">
            <a:extLst>
              <a:ext uri="{FF2B5EF4-FFF2-40B4-BE49-F238E27FC236}">
                <a16:creationId xmlns:a16="http://schemas.microsoft.com/office/drawing/2014/main" id="{4A396896-D71B-32E4-7AD1-BD1F6BDF1455}"/>
              </a:ext>
            </a:extLst>
          </p:cNvPr>
          <p:cNvSpPr/>
          <p:nvPr/>
        </p:nvSpPr>
        <p:spPr>
          <a:xfrm>
            <a:off x="502920" y="1392631"/>
            <a:ext cx="36576" cy="1517904"/>
          </a:xfrm>
          <a:prstGeom prst="rect">
            <a:avLst/>
          </a:prstGeom>
          <a:solidFill>
            <a:srgbClr val="1D9E75"/>
          </a:solidFill>
          <a:ln w="12700">
            <a:solidFill>
              <a:srgbClr val="1D9E75"/>
            </a:solidFill>
            <a:prstDash val="solid"/>
          </a:ln>
        </p:spPr>
        <p:txBody>
          <a:bodyPr/>
          <a:lstStyle/>
          <a:p>
            <a:endParaRPr lang="en-US"/>
          </a:p>
        </p:txBody>
      </p:sp>
      <p:sp>
        <p:nvSpPr>
          <p:cNvPr id="9" name="Shape 7">
            <a:extLst>
              <a:ext uri="{FF2B5EF4-FFF2-40B4-BE49-F238E27FC236}">
                <a16:creationId xmlns:a16="http://schemas.microsoft.com/office/drawing/2014/main" id="{4AA20850-6977-E177-F62A-07D259CB1C94}"/>
              </a:ext>
            </a:extLst>
          </p:cNvPr>
          <p:cNvSpPr/>
          <p:nvPr/>
        </p:nvSpPr>
        <p:spPr>
          <a:xfrm>
            <a:off x="612648" y="1520647"/>
            <a:ext cx="274320" cy="274320"/>
          </a:xfrm>
          <a:prstGeom prst="ellipse">
            <a:avLst/>
          </a:prstGeom>
          <a:solidFill>
            <a:srgbClr val="D1FAE5"/>
          </a:solidFill>
          <a:ln w="12700">
            <a:solidFill>
              <a:srgbClr val="D1FAE5"/>
            </a:solidFill>
            <a:prstDash val="solid"/>
          </a:ln>
        </p:spPr>
        <p:txBody>
          <a:bodyPr/>
          <a:lstStyle/>
          <a:p>
            <a:endParaRPr lang="en-US"/>
          </a:p>
        </p:txBody>
      </p:sp>
      <p:sp>
        <p:nvSpPr>
          <p:cNvPr id="10" name="Text 8">
            <a:extLst>
              <a:ext uri="{FF2B5EF4-FFF2-40B4-BE49-F238E27FC236}">
                <a16:creationId xmlns:a16="http://schemas.microsoft.com/office/drawing/2014/main" id="{2743EDA4-677E-1CF4-B580-9A21CCD5BE53}"/>
              </a:ext>
            </a:extLst>
          </p:cNvPr>
          <p:cNvSpPr/>
          <p:nvPr/>
        </p:nvSpPr>
        <p:spPr>
          <a:xfrm>
            <a:off x="612648" y="1520647"/>
            <a:ext cx="274320" cy="274320"/>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11" name="Text 9">
            <a:extLst>
              <a:ext uri="{FF2B5EF4-FFF2-40B4-BE49-F238E27FC236}">
                <a16:creationId xmlns:a16="http://schemas.microsoft.com/office/drawing/2014/main" id="{68C53AC6-22C5-D0F3-2018-5F102F10A69B}"/>
              </a:ext>
            </a:extLst>
          </p:cNvPr>
          <p:cNvSpPr/>
          <p:nvPr/>
        </p:nvSpPr>
        <p:spPr>
          <a:xfrm>
            <a:off x="960120" y="1502359"/>
            <a:ext cx="2084832" cy="201168"/>
          </a:xfrm>
          <a:prstGeom prst="rect">
            <a:avLst/>
          </a:prstGeom>
          <a:noFill/>
          <a:ln/>
        </p:spPr>
        <p:txBody>
          <a:bodyPr wrap="square" lIns="0" tIns="0" rIns="0" bIns="0" rtlCol="0" anchor="ctr"/>
          <a:lstStyle/>
          <a:p>
            <a:pPr marL="0" indent="0">
              <a:buNone/>
            </a:pPr>
            <a:r>
              <a:rPr lang="en-US" sz="950" b="1" dirty="0">
                <a:solidFill>
                  <a:srgbClr val="0D1B3E"/>
                </a:solidFill>
              </a:rPr>
              <a:t>MoSCoW Prioritization</a:t>
            </a:r>
            <a:endParaRPr lang="en-US" sz="950" dirty="0"/>
          </a:p>
        </p:txBody>
      </p:sp>
      <p:sp>
        <p:nvSpPr>
          <p:cNvPr id="12" name="Text 10">
            <a:extLst>
              <a:ext uri="{FF2B5EF4-FFF2-40B4-BE49-F238E27FC236}">
                <a16:creationId xmlns:a16="http://schemas.microsoft.com/office/drawing/2014/main" id="{3B88AB70-82BE-B634-3BA7-27696F036A72}"/>
              </a:ext>
            </a:extLst>
          </p:cNvPr>
          <p:cNvSpPr/>
          <p:nvPr/>
        </p:nvSpPr>
        <p:spPr>
          <a:xfrm>
            <a:off x="960120" y="1703527"/>
            <a:ext cx="2084832" cy="146304"/>
          </a:xfrm>
          <a:prstGeom prst="rect">
            <a:avLst/>
          </a:prstGeom>
          <a:noFill/>
          <a:ln/>
        </p:spPr>
        <p:txBody>
          <a:bodyPr wrap="square" lIns="0" tIns="0" rIns="0" bIns="0" rtlCol="0" anchor="ctr"/>
          <a:lstStyle/>
          <a:p>
            <a:pPr marL="0" indent="0">
              <a:buNone/>
            </a:pPr>
            <a:r>
              <a:rPr lang="en-US" sz="750" b="1" dirty="0">
                <a:solidFill>
                  <a:srgbClr val="1D9E75"/>
                </a:solidFill>
              </a:rPr>
              <a:t>Backlog discipline</a:t>
            </a:r>
            <a:endParaRPr lang="en-US" sz="750" dirty="0"/>
          </a:p>
        </p:txBody>
      </p:sp>
      <p:sp>
        <p:nvSpPr>
          <p:cNvPr id="13" name="Shape 11">
            <a:extLst>
              <a:ext uri="{FF2B5EF4-FFF2-40B4-BE49-F238E27FC236}">
                <a16:creationId xmlns:a16="http://schemas.microsoft.com/office/drawing/2014/main" id="{631048DE-A982-2341-C9F1-29927302D244}"/>
              </a:ext>
            </a:extLst>
          </p:cNvPr>
          <p:cNvSpPr/>
          <p:nvPr/>
        </p:nvSpPr>
        <p:spPr>
          <a:xfrm>
            <a:off x="594360" y="1886407"/>
            <a:ext cx="2450592" cy="7315"/>
          </a:xfrm>
          <a:prstGeom prst="rect">
            <a:avLst/>
          </a:prstGeom>
          <a:solidFill>
            <a:srgbClr val="E2E8F0"/>
          </a:solidFill>
          <a:ln w="12700">
            <a:solidFill>
              <a:srgbClr val="E2E8F0"/>
            </a:solidFill>
            <a:prstDash val="solid"/>
          </a:ln>
        </p:spPr>
        <p:txBody>
          <a:bodyPr/>
          <a:lstStyle/>
          <a:p>
            <a:endParaRPr lang="en-US"/>
          </a:p>
        </p:txBody>
      </p:sp>
      <p:sp>
        <p:nvSpPr>
          <p:cNvPr id="14" name="Text 12">
            <a:extLst>
              <a:ext uri="{FF2B5EF4-FFF2-40B4-BE49-F238E27FC236}">
                <a16:creationId xmlns:a16="http://schemas.microsoft.com/office/drawing/2014/main" id="{FD58F8F2-F973-B218-A139-53397CB6083A}"/>
              </a:ext>
            </a:extLst>
          </p:cNvPr>
          <p:cNvSpPr/>
          <p:nvPr/>
        </p:nvSpPr>
        <p:spPr>
          <a:xfrm>
            <a:off x="594360" y="1941271"/>
            <a:ext cx="2450592" cy="877824"/>
          </a:xfrm>
          <a:prstGeom prst="rect">
            <a:avLst/>
          </a:prstGeom>
          <a:noFill/>
          <a:ln/>
        </p:spPr>
        <p:txBody>
          <a:bodyPr wrap="square" lIns="0" tIns="0" rIns="0" bIns="0" rtlCol="0" anchor="t"/>
          <a:lstStyle/>
          <a:p>
            <a:pPr marL="0" indent="0">
              <a:buNone/>
            </a:pPr>
            <a:r>
              <a:rPr lang="en-US" sz="750" dirty="0">
                <a:solidFill>
                  <a:srgbClr val="4A5568"/>
                </a:solidFill>
              </a:rPr>
              <a:t>Product backlog maintained with MoSCoW priorities from Sprint 1. </a:t>
            </a:r>
          </a:p>
          <a:p>
            <a:pPr marL="0" indent="0">
              <a:buNone/>
            </a:pPr>
            <a:endParaRPr lang="en-US" sz="750" dirty="0">
              <a:solidFill>
                <a:srgbClr val="4A5568"/>
              </a:solidFill>
            </a:endParaRPr>
          </a:p>
          <a:p>
            <a:pPr marL="0" indent="0">
              <a:buNone/>
            </a:pPr>
            <a:r>
              <a:rPr lang="en-US" sz="750" dirty="0">
                <a:solidFill>
                  <a:srgbClr val="4A5568"/>
                </a:solidFill>
              </a:rPr>
              <a:t>Must-have features were protected every sprint; stretch items required an explicit greenlight before work could begin.</a:t>
            </a:r>
            <a:endParaRPr lang="en-US" sz="750" dirty="0"/>
          </a:p>
        </p:txBody>
      </p:sp>
      <p:sp>
        <p:nvSpPr>
          <p:cNvPr id="15" name="Shape 13">
            <a:extLst>
              <a:ext uri="{FF2B5EF4-FFF2-40B4-BE49-F238E27FC236}">
                <a16:creationId xmlns:a16="http://schemas.microsoft.com/office/drawing/2014/main" id="{C041F106-0813-8946-E895-C42E565358F9}"/>
              </a:ext>
            </a:extLst>
          </p:cNvPr>
          <p:cNvSpPr/>
          <p:nvPr/>
        </p:nvSpPr>
        <p:spPr>
          <a:xfrm>
            <a:off x="3227832" y="1392631"/>
            <a:ext cx="2633472" cy="1517904"/>
          </a:xfrm>
          <a:prstGeom prst="rect">
            <a:avLst/>
          </a:prstGeom>
          <a:solidFill>
            <a:srgbClr val="FFFFFF"/>
          </a:solidFill>
          <a:ln w="6350">
            <a:solidFill>
              <a:srgbClr val="E2E8F0"/>
            </a:solidFill>
            <a:prstDash val="solid"/>
          </a:ln>
          <a:effectLst>
            <a:outerShdw blurRad="127000" dist="25400" dir="16200000" algn="bl" rotWithShape="0">
              <a:srgbClr val="000000">
                <a:alpha val="7000"/>
              </a:srgbClr>
            </a:outerShdw>
          </a:effectLst>
        </p:spPr>
        <p:txBody>
          <a:bodyPr/>
          <a:lstStyle/>
          <a:p>
            <a:endParaRPr lang="en-US"/>
          </a:p>
        </p:txBody>
      </p:sp>
      <p:sp>
        <p:nvSpPr>
          <p:cNvPr id="16" name="Shape 14">
            <a:extLst>
              <a:ext uri="{FF2B5EF4-FFF2-40B4-BE49-F238E27FC236}">
                <a16:creationId xmlns:a16="http://schemas.microsoft.com/office/drawing/2014/main" id="{A682DD0B-B322-0D1F-9446-E7BA0E5A77F9}"/>
              </a:ext>
            </a:extLst>
          </p:cNvPr>
          <p:cNvSpPr/>
          <p:nvPr/>
        </p:nvSpPr>
        <p:spPr>
          <a:xfrm>
            <a:off x="3227832" y="1392631"/>
            <a:ext cx="36576" cy="1517904"/>
          </a:xfrm>
          <a:prstGeom prst="rect">
            <a:avLst/>
          </a:prstGeom>
          <a:solidFill>
            <a:srgbClr val="1D9E75"/>
          </a:solidFill>
          <a:ln w="12700">
            <a:solidFill>
              <a:srgbClr val="1D9E75"/>
            </a:solidFill>
            <a:prstDash val="solid"/>
          </a:ln>
        </p:spPr>
        <p:txBody>
          <a:bodyPr/>
          <a:lstStyle/>
          <a:p>
            <a:endParaRPr lang="en-US"/>
          </a:p>
        </p:txBody>
      </p:sp>
      <p:sp>
        <p:nvSpPr>
          <p:cNvPr id="17" name="Shape 15">
            <a:extLst>
              <a:ext uri="{FF2B5EF4-FFF2-40B4-BE49-F238E27FC236}">
                <a16:creationId xmlns:a16="http://schemas.microsoft.com/office/drawing/2014/main" id="{49E58423-E955-37B8-BAA8-1BD4C5E40A22}"/>
              </a:ext>
            </a:extLst>
          </p:cNvPr>
          <p:cNvSpPr/>
          <p:nvPr/>
        </p:nvSpPr>
        <p:spPr>
          <a:xfrm>
            <a:off x="3337560" y="1520647"/>
            <a:ext cx="274320" cy="274320"/>
          </a:xfrm>
          <a:prstGeom prst="ellipse">
            <a:avLst/>
          </a:prstGeom>
          <a:solidFill>
            <a:srgbClr val="D1FAE5"/>
          </a:solidFill>
          <a:ln w="12700">
            <a:solidFill>
              <a:srgbClr val="D1FAE5"/>
            </a:solidFill>
            <a:prstDash val="solid"/>
          </a:ln>
        </p:spPr>
        <p:txBody>
          <a:bodyPr/>
          <a:lstStyle/>
          <a:p>
            <a:endParaRPr lang="en-US"/>
          </a:p>
        </p:txBody>
      </p:sp>
      <p:sp>
        <p:nvSpPr>
          <p:cNvPr id="18" name="Text 16">
            <a:extLst>
              <a:ext uri="{FF2B5EF4-FFF2-40B4-BE49-F238E27FC236}">
                <a16:creationId xmlns:a16="http://schemas.microsoft.com/office/drawing/2014/main" id="{C35231D1-7979-BC25-DCF7-158EA7ED2311}"/>
              </a:ext>
            </a:extLst>
          </p:cNvPr>
          <p:cNvSpPr/>
          <p:nvPr/>
        </p:nvSpPr>
        <p:spPr>
          <a:xfrm>
            <a:off x="3337560" y="1520647"/>
            <a:ext cx="274320" cy="274320"/>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19" name="Text 17">
            <a:extLst>
              <a:ext uri="{FF2B5EF4-FFF2-40B4-BE49-F238E27FC236}">
                <a16:creationId xmlns:a16="http://schemas.microsoft.com/office/drawing/2014/main" id="{4E7FFE86-0340-7916-9DA1-135B097D4871}"/>
              </a:ext>
            </a:extLst>
          </p:cNvPr>
          <p:cNvSpPr/>
          <p:nvPr/>
        </p:nvSpPr>
        <p:spPr>
          <a:xfrm>
            <a:off x="3685032" y="1502359"/>
            <a:ext cx="2084832" cy="201168"/>
          </a:xfrm>
          <a:prstGeom prst="rect">
            <a:avLst/>
          </a:prstGeom>
          <a:noFill/>
          <a:ln/>
        </p:spPr>
        <p:txBody>
          <a:bodyPr wrap="square" lIns="0" tIns="0" rIns="0" bIns="0" rtlCol="0" anchor="ctr"/>
          <a:lstStyle/>
          <a:p>
            <a:pPr marL="0" indent="0">
              <a:buNone/>
            </a:pPr>
            <a:r>
              <a:rPr lang="en-US" sz="950" b="1" dirty="0">
                <a:solidFill>
                  <a:srgbClr val="0D1B3E"/>
                </a:solidFill>
              </a:rPr>
              <a:t>Wave-Based Delivery</a:t>
            </a:r>
            <a:endParaRPr lang="en-US" sz="950" dirty="0"/>
          </a:p>
        </p:txBody>
      </p:sp>
      <p:sp>
        <p:nvSpPr>
          <p:cNvPr id="20" name="Text 18">
            <a:extLst>
              <a:ext uri="{FF2B5EF4-FFF2-40B4-BE49-F238E27FC236}">
                <a16:creationId xmlns:a16="http://schemas.microsoft.com/office/drawing/2014/main" id="{0C2D7106-B257-3BB1-D4A4-E780656A8353}"/>
              </a:ext>
            </a:extLst>
          </p:cNvPr>
          <p:cNvSpPr/>
          <p:nvPr/>
        </p:nvSpPr>
        <p:spPr>
          <a:xfrm>
            <a:off x="3685032" y="1703527"/>
            <a:ext cx="2084832" cy="146304"/>
          </a:xfrm>
          <a:prstGeom prst="rect">
            <a:avLst/>
          </a:prstGeom>
          <a:noFill/>
          <a:ln/>
        </p:spPr>
        <p:txBody>
          <a:bodyPr wrap="square" lIns="0" tIns="0" rIns="0" bIns="0" rtlCol="0" anchor="ctr"/>
          <a:lstStyle/>
          <a:p>
            <a:pPr marL="0" indent="0">
              <a:buNone/>
            </a:pPr>
            <a:r>
              <a:rPr lang="en-US" sz="750" b="1" dirty="0">
                <a:solidFill>
                  <a:srgbClr val="1D9E75"/>
                </a:solidFill>
              </a:rPr>
              <a:t>Dependency-first planning</a:t>
            </a:r>
            <a:endParaRPr lang="en-US" sz="750" dirty="0"/>
          </a:p>
        </p:txBody>
      </p:sp>
      <p:sp>
        <p:nvSpPr>
          <p:cNvPr id="21" name="Shape 19">
            <a:extLst>
              <a:ext uri="{FF2B5EF4-FFF2-40B4-BE49-F238E27FC236}">
                <a16:creationId xmlns:a16="http://schemas.microsoft.com/office/drawing/2014/main" id="{5956F258-651D-E408-CEC1-9D30A24617D6}"/>
              </a:ext>
            </a:extLst>
          </p:cNvPr>
          <p:cNvSpPr/>
          <p:nvPr/>
        </p:nvSpPr>
        <p:spPr>
          <a:xfrm>
            <a:off x="3319272" y="1886407"/>
            <a:ext cx="2450592" cy="7315"/>
          </a:xfrm>
          <a:prstGeom prst="rect">
            <a:avLst/>
          </a:prstGeom>
          <a:solidFill>
            <a:srgbClr val="E2E8F0"/>
          </a:solidFill>
          <a:ln w="12700">
            <a:solidFill>
              <a:srgbClr val="E2E8F0"/>
            </a:solidFill>
            <a:prstDash val="solid"/>
          </a:ln>
        </p:spPr>
        <p:txBody>
          <a:bodyPr/>
          <a:lstStyle/>
          <a:p>
            <a:endParaRPr lang="en-US"/>
          </a:p>
        </p:txBody>
      </p:sp>
      <p:sp>
        <p:nvSpPr>
          <p:cNvPr id="22" name="Text 20">
            <a:extLst>
              <a:ext uri="{FF2B5EF4-FFF2-40B4-BE49-F238E27FC236}">
                <a16:creationId xmlns:a16="http://schemas.microsoft.com/office/drawing/2014/main" id="{3AE1E325-598A-AC05-0ADE-D6785CB6A5B8}"/>
              </a:ext>
            </a:extLst>
          </p:cNvPr>
          <p:cNvSpPr/>
          <p:nvPr/>
        </p:nvSpPr>
        <p:spPr>
          <a:xfrm>
            <a:off x="3319272" y="1941271"/>
            <a:ext cx="2450592" cy="877824"/>
          </a:xfrm>
          <a:prstGeom prst="rect">
            <a:avLst/>
          </a:prstGeom>
          <a:noFill/>
          <a:ln/>
        </p:spPr>
        <p:txBody>
          <a:bodyPr wrap="square" lIns="0" tIns="0" rIns="0" bIns="0" rtlCol="0" anchor="t"/>
          <a:lstStyle/>
          <a:p>
            <a:pPr marL="0" indent="0">
              <a:buNone/>
            </a:pPr>
            <a:r>
              <a:rPr lang="en-US" sz="750" dirty="0">
                <a:solidFill>
                  <a:srgbClr val="4A5568"/>
                </a:solidFill>
              </a:rPr>
              <a:t>Sprint work split into waves with hard deadlines — Wave 1 backend APIs had to land before frontend work began.</a:t>
            </a:r>
          </a:p>
          <a:p>
            <a:pPr marL="0" indent="0">
              <a:buNone/>
            </a:pPr>
            <a:endParaRPr lang="en-US" sz="750" dirty="0">
              <a:solidFill>
                <a:srgbClr val="4A5568"/>
              </a:solidFill>
            </a:endParaRPr>
          </a:p>
          <a:p>
            <a:pPr marL="0" indent="0">
              <a:buNone/>
            </a:pPr>
            <a:r>
              <a:rPr lang="en-US" sz="750" dirty="0">
                <a:solidFill>
                  <a:srgbClr val="4A5568"/>
                </a:solidFill>
              </a:rPr>
              <a:t>Eliminated cascade failures seen in Sprint 3, from Sprint 4 forward.</a:t>
            </a:r>
            <a:endParaRPr lang="en-US" sz="750" dirty="0"/>
          </a:p>
        </p:txBody>
      </p:sp>
      <p:sp>
        <p:nvSpPr>
          <p:cNvPr id="23" name="Shape 21">
            <a:extLst>
              <a:ext uri="{FF2B5EF4-FFF2-40B4-BE49-F238E27FC236}">
                <a16:creationId xmlns:a16="http://schemas.microsoft.com/office/drawing/2014/main" id="{90F73A17-02AC-EB7F-6FA9-13B06337554C}"/>
              </a:ext>
            </a:extLst>
          </p:cNvPr>
          <p:cNvSpPr/>
          <p:nvPr/>
        </p:nvSpPr>
        <p:spPr>
          <a:xfrm>
            <a:off x="5952744" y="1392631"/>
            <a:ext cx="2633472" cy="1517904"/>
          </a:xfrm>
          <a:prstGeom prst="rect">
            <a:avLst/>
          </a:prstGeom>
          <a:solidFill>
            <a:srgbClr val="FFFFFF"/>
          </a:solidFill>
          <a:ln w="6350">
            <a:solidFill>
              <a:srgbClr val="E2E8F0"/>
            </a:solidFill>
            <a:prstDash val="solid"/>
          </a:ln>
          <a:effectLst>
            <a:outerShdw blurRad="127000" dist="25400" dir="16200000" algn="bl" rotWithShape="0">
              <a:srgbClr val="000000">
                <a:alpha val="7000"/>
              </a:srgbClr>
            </a:outerShdw>
          </a:effectLst>
        </p:spPr>
        <p:txBody>
          <a:bodyPr/>
          <a:lstStyle/>
          <a:p>
            <a:endParaRPr lang="en-US"/>
          </a:p>
        </p:txBody>
      </p:sp>
      <p:sp>
        <p:nvSpPr>
          <p:cNvPr id="24" name="Shape 22">
            <a:extLst>
              <a:ext uri="{FF2B5EF4-FFF2-40B4-BE49-F238E27FC236}">
                <a16:creationId xmlns:a16="http://schemas.microsoft.com/office/drawing/2014/main" id="{BE7B5291-AA13-CAC0-3AA0-4A0A2BD9D812}"/>
              </a:ext>
            </a:extLst>
          </p:cNvPr>
          <p:cNvSpPr/>
          <p:nvPr/>
        </p:nvSpPr>
        <p:spPr>
          <a:xfrm>
            <a:off x="5952744" y="1392631"/>
            <a:ext cx="36576" cy="1517904"/>
          </a:xfrm>
          <a:prstGeom prst="rect">
            <a:avLst/>
          </a:prstGeom>
          <a:solidFill>
            <a:srgbClr val="1D9E75"/>
          </a:solidFill>
          <a:ln w="12700">
            <a:solidFill>
              <a:srgbClr val="1D9E75"/>
            </a:solidFill>
            <a:prstDash val="solid"/>
          </a:ln>
        </p:spPr>
        <p:txBody>
          <a:bodyPr/>
          <a:lstStyle/>
          <a:p>
            <a:endParaRPr lang="en-US"/>
          </a:p>
        </p:txBody>
      </p:sp>
      <p:sp>
        <p:nvSpPr>
          <p:cNvPr id="25" name="Shape 23">
            <a:extLst>
              <a:ext uri="{FF2B5EF4-FFF2-40B4-BE49-F238E27FC236}">
                <a16:creationId xmlns:a16="http://schemas.microsoft.com/office/drawing/2014/main" id="{885891E2-8498-B580-D51A-ADACF1677D5C}"/>
              </a:ext>
            </a:extLst>
          </p:cNvPr>
          <p:cNvSpPr/>
          <p:nvPr/>
        </p:nvSpPr>
        <p:spPr>
          <a:xfrm>
            <a:off x="6062472" y="1520647"/>
            <a:ext cx="274320" cy="274320"/>
          </a:xfrm>
          <a:prstGeom prst="ellipse">
            <a:avLst/>
          </a:prstGeom>
          <a:solidFill>
            <a:srgbClr val="D1FAE5"/>
          </a:solidFill>
          <a:ln w="12700">
            <a:solidFill>
              <a:srgbClr val="D1FAE5"/>
            </a:solidFill>
            <a:prstDash val="solid"/>
          </a:ln>
        </p:spPr>
        <p:txBody>
          <a:bodyPr/>
          <a:lstStyle/>
          <a:p>
            <a:endParaRPr lang="en-US"/>
          </a:p>
        </p:txBody>
      </p:sp>
      <p:sp>
        <p:nvSpPr>
          <p:cNvPr id="26" name="Text 24">
            <a:extLst>
              <a:ext uri="{FF2B5EF4-FFF2-40B4-BE49-F238E27FC236}">
                <a16:creationId xmlns:a16="http://schemas.microsoft.com/office/drawing/2014/main" id="{EC792228-101A-FAB6-F2CD-31C9D3BFE0CE}"/>
              </a:ext>
            </a:extLst>
          </p:cNvPr>
          <p:cNvSpPr/>
          <p:nvPr/>
        </p:nvSpPr>
        <p:spPr>
          <a:xfrm>
            <a:off x="6062472" y="1520647"/>
            <a:ext cx="274320" cy="274320"/>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27" name="Text 25">
            <a:extLst>
              <a:ext uri="{FF2B5EF4-FFF2-40B4-BE49-F238E27FC236}">
                <a16:creationId xmlns:a16="http://schemas.microsoft.com/office/drawing/2014/main" id="{84E770CC-244D-2A9A-9FE3-CAE87590947C}"/>
              </a:ext>
            </a:extLst>
          </p:cNvPr>
          <p:cNvSpPr/>
          <p:nvPr/>
        </p:nvSpPr>
        <p:spPr>
          <a:xfrm>
            <a:off x="6409944" y="1502359"/>
            <a:ext cx="2084832" cy="201168"/>
          </a:xfrm>
          <a:prstGeom prst="rect">
            <a:avLst/>
          </a:prstGeom>
          <a:noFill/>
          <a:ln/>
        </p:spPr>
        <p:txBody>
          <a:bodyPr wrap="square" lIns="0" tIns="0" rIns="0" bIns="0" rtlCol="0" anchor="ctr"/>
          <a:lstStyle/>
          <a:p>
            <a:pPr marL="0" indent="0">
              <a:buNone/>
            </a:pPr>
            <a:r>
              <a:rPr lang="en-US" sz="950" b="1" dirty="0">
                <a:solidFill>
                  <a:srgbClr val="0D1B3E"/>
                </a:solidFill>
              </a:rPr>
              <a:t>Scope Gap Ownership</a:t>
            </a:r>
            <a:endParaRPr lang="en-US" sz="950" dirty="0"/>
          </a:p>
        </p:txBody>
      </p:sp>
      <p:sp>
        <p:nvSpPr>
          <p:cNvPr id="28" name="Text 26">
            <a:extLst>
              <a:ext uri="{FF2B5EF4-FFF2-40B4-BE49-F238E27FC236}">
                <a16:creationId xmlns:a16="http://schemas.microsoft.com/office/drawing/2014/main" id="{798C9EBC-1BD9-7CA3-B499-9FE165A3AEE9}"/>
              </a:ext>
            </a:extLst>
          </p:cNvPr>
          <p:cNvSpPr/>
          <p:nvPr/>
        </p:nvSpPr>
        <p:spPr>
          <a:xfrm>
            <a:off x="6409944" y="1703527"/>
            <a:ext cx="2084832" cy="146304"/>
          </a:xfrm>
          <a:prstGeom prst="rect">
            <a:avLst/>
          </a:prstGeom>
          <a:noFill/>
          <a:ln/>
        </p:spPr>
        <p:txBody>
          <a:bodyPr wrap="square" lIns="0" tIns="0" rIns="0" bIns="0" rtlCol="0" anchor="ctr"/>
          <a:lstStyle/>
          <a:p>
            <a:pPr marL="0" indent="0">
              <a:buNone/>
            </a:pPr>
            <a:r>
              <a:rPr lang="en-US" sz="750" b="1" dirty="0">
                <a:solidFill>
                  <a:srgbClr val="1D9E75"/>
                </a:solidFill>
              </a:rPr>
              <a:t>Product Owner catch</a:t>
            </a:r>
            <a:endParaRPr lang="en-US" sz="750" dirty="0"/>
          </a:p>
        </p:txBody>
      </p:sp>
      <p:sp>
        <p:nvSpPr>
          <p:cNvPr id="29" name="Shape 27">
            <a:extLst>
              <a:ext uri="{FF2B5EF4-FFF2-40B4-BE49-F238E27FC236}">
                <a16:creationId xmlns:a16="http://schemas.microsoft.com/office/drawing/2014/main" id="{E1DCD672-A527-46CE-178C-3A4249BEECBD}"/>
              </a:ext>
            </a:extLst>
          </p:cNvPr>
          <p:cNvSpPr/>
          <p:nvPr/>
        </p:nvSpPr>
        <p:spPr>
          <a:xfrm>
            <a:off x="6044184" y="1886407"/>
            <a:ext cx="2450592" cy="7315"/>
          </a:xfrm>
          <a:prstGeom prst="rect">
            <a:avLst/>
          </a:prstGeom>
          <a:solidFill>
            <a:srgbClr val="E2E8F0"/>
          </a:solidFill>
          <a:ln w="12700">
            <a:solidFill>
              <a:srgbClr val="E2E8F0"/>
            </a:solidFill>
            <a:prstDash val="solid"/>
          </a:ln>
        </p:spPr>
        <p:txBody>
          <a:bodyPr/>
          <a:lstStyle/>
          <a:p>
            <a:endParaRPr lang="en-US"/>
          </a:p>
        </p:txBody>
      </p:sp>
      <p:sp>
        <p:nvSpPr>
          <p:cNvPr id="30" name="Text 28">
            <a:extLst>
              <a:ext uri="{FF2B5EF4-FFF2-40B4-BE49-F238E27FC236}">
                <a16:creationId xmlns:a16="http://schemas.microsoft.com/office/drawing/2014/main" id="{19F8126C-634C-B1E8-027B-D924974192C8}"/>
              </a:ext>
            </a:extLst>
          </p:cNvPr>
          <p:cNvSpPr/>
          <p:nvPr/>
        </p:nvSpPr>
        <p:spPr>
          <a:xfrm>
            <a:off x="6044184" y="1941271"/>
            <a:ext cx="2450592" cy="877824"/>
          </a:xfrm>
          <a:prstGeom prst="rect">
            <a:avLst/>
          </a:prstGeom>
          <a:noFill/>
          <a:ln/>
        </p:spPr>
        <p:txBody>
          <a:bodyPr wrap="square" lIns="0" tIns="0" rIns="0" bIns="0" rtlCol="0" anchor="t"/>
          <a:lstStyle/>
          <a:p>
            <a:pPr marL="0" indent="0">
              <a:buNone/>
            </a:pPr>
            <a:r>
              <a:rPr lang="en-US" sz="750" dirty="0">
                <a:solidFill>
                  <a:srgbClr val="4A5568"/>
                </a:solidFill>
              </a:rPr>
              <a:t>Kim flagged critical scope gaps before they became blockers — most notably that Product Management had no variant interface. </a:t>
            </a:r>
          </a:p>
          <a:p>
            <a:pPr marL="0" indent="0">
              <a:buNone/>
            </a:pPr>
            <a:endParaRPr lang="en-US" sz="750" dirty="0">
              <a:solidFill>
                <a:srgbClr val="4A5568"/>
              </a:solidFill>
            </a:endParaRPr>
          </a:p>
          <a:p>
            <a:pPr marL="0" indent="0">
              <a:buNone/>
            </a:pPr>
            <a:r>
              <a:rPr lang="en-US" sz="750" dirty="0">
                <a:solidFill>
                  <a:srgbClr val="4A5568"/>
                </a:solidFill>
              </a:rPr>
              <a:t>Resolutions were drafted and merged into the sprint plan same day.</a:t>
            </a:r>
            <a:endParaRPr lang="en-US" sz="750" dirty="0"/>
          </a:p>
        </p:txBody>
      </p:sp>
      <p:sp>
        <p:nvSpPr>
          <p:cNvPr id="31" name="Shape 29">
            <a:extLst>
              <a:ext uri="{FF2B5EF4-FFF2-40B4-BE49-F238E27FC236}">
                <a16:creationId xmlns:a16="http://schemas.microsoft.com/office/drawing/2014/main" id="{B9817B98-4910-5FB3-6333-9EA1C607006B}"/>
              </a:ext>
            </a:extLst>
          </p:cNvPr>
          <p:cNvSpPr/>
          <p:nvPr/>
        </p:nvSpPr>
        <p:spPr>
          <a:xfrm>
            <a:off x="502920" y="3122676"/>
            <a:ext cx="2633472" cy="1517904"/>
          </a:xfrm>
          <a:prstGeom prst="rect">
            <a:avLst/>
          </a:prstGeom>
          <a:solidFill>
            <a:srgbClr val="FFFFFF"/>
          </a:solidFill>
          <a:ln w="6350">
            <a:solidFill>
              <a:srgbClr val="E2E8F0"/>
            </a:solidFill>
            <a:prstDash val="solid"/>
          </a:ln>
          <a:effectLst>
            <a:outerShdw blurRad="127000" dist="25400" dir="16200000" algn="bl" rotWithShape="0">
              <a:srgbClr val="000000">
                <a:alpha val="7000"/>
              </a:srgbClr>
            </a:outerShdw>
          </a:effectLst>
        </p:spPr>
        <p:txBody>
          <a:bodyPr/>
          <a:lstStyle/>
          <a:p>
            <a:endParaRPr lang="en-US"/>
          </a:p>
        </p:txBody>
      </p:sp>
      <p:sp>
        <p:nvSpPr>
          <p:cNvPr id="32" name="Shape 30">
            <a:extLst>
              <a:ext uri="{FF2B5EF4-FFF2-40B4-BE49-F238E27FC236}">
                <a16:creationId xmlns:a16="http://schemas.microsoft.com/office/drawing/2014/main" id="{B5776727-6F06-B4A5-A360-13C6A1968125}"/>
              </a:ext>
            </a:extLst>
          </p:cNvPr>
          <p:cNvSpPr/>
          <p:nvPr/>
        </p:nvSpPr>
        <p:spPr>
          <a:xfrm>
            <a:off x="502920" y="3122676"/>
            <a:ext cx="36576" cy="1517904"/>
          </a:xfrm>
          <a:prstGeom prst="rect">
            <a:avLst/>
          </a:prstGeom>
          <a:solidFill>
            <a:srgbClr val="1D9E75"/>
          </a:solidFill>
          <a:ln w="12700">
            <a:solidFill>
              <a:srgbClr val="1D9E75"/>
            </a:solidFill>
            <a:prstDash val="solid"/>
          </a:ln>
        </p:spPr>
        <p:txBody>
          <a:bodyPr/>
          <a:lstStyle/>
          <a:p>
            <a:endParaRPr lang="en-US"/>
          </a:p>
        </p:txBody>
      </p:sp>
      <p:sp>
        <p:nvSpPr>
          <p:cNvPr id="33" name="Shape 31">
            <a:extLst>
              <a:ext uri="{FF2B5EF4-FFF2-40B4-BE49-F238E27FC236}">
                <a16:creationId xmlns:a16="http://schemas.microsoft.com/office/drawing/2014/main" id="{DE8622F9-A551-A658-E829-AB038ACC16E4}"/>
              </a:ext>
            </a:extLst>
          </p:cNvPr>
          <p:cNvSpPr/>
          <p:nvPr/>
        </p:nvSpPr>
        <p:spPr>
          <a:xfrm>
            <a:off x="612648" y="3250692"/>
            <a:ext cx="274320" cy="274320"/>
          </a:xfrm>
          <a:prstGeom prst="ellipse">
            <a:avLst/>
          </a:prstGeom>
          <a:solidFill>
            <a:srgbClr val="D1FAE5"/>
          </a:solidFill>
          <a:ln w="12700">
            <a:solidFill>
              <a:srgbClr val="D1FAE5"/>
            </a:solidFill>
            <a:prstDash val="solid"/>
          </a:ln>
        </p:spPr>
        <p:txBody>
          <a:bodyPr/>
          <a:lstStyle/>
          <a:p>
            <a:endParaRPr lang="en-US"/>
          </a:p>
        </p:txBody>
      </p:sp>
      <p:sp>
        <p:nvSpPr>
          <p:cNvPr id="34" name="Text 32">
            <a:extLst>
              <a:ext uri="{FF2B5EF4-FFF2-40B4-BE49-F238E27FC236}">
                <a16:creationId xmlns:a16="http://schemas.microsoft.com/office/drawing/2014/main" id="{D6038BAB-AA98-8327-9493-A063799F6E3B}"/>
              </a:ext>
            </a:extLst>
          </p:cNvPr>
          <p:cNvSpPr/>
          <p:nvPr/>
        </p:nvSpPr>
        <p:spPr>
          <a:xfrm>
            <a:off x="612648" y="3250692"/>
            <a:ext cx="274320" cy="274320"/>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35" name="Text 33">
            <a:extLst>
              <a:ext uri="{FF2B5EF4-FFF2-40B4-BE49-F238E27FC236}">
                <a16:creationId xmlns:a16="http://schemas.microsoft.com/office/drawing/2014/main" id="{F5A291BC-7479-CFF6-B5E0-45C529467CB1}"/>
              </a:ext>
            </a:extLst>
          </p:cNvPr>
          <p:cNvSpPr/>
          <p:nvPr/>
        </p:nvSpPr>
        <p:spPr>
          <a:xfrm>
            <a:off x="960120" y="3232404"/>
            <a:ext cx="2084832" cy="201168"/>
          </a:xfrm>
          <a:prstGeom prst="rect">
            <a:avLst/>
          </a:prstGeom>
          <a:noFill/>
          <a:ln/>
        </p:spPr>
        <p:txBody>
          <a:bodyPr wrap="square" lIns="0" tIns="0" rIns="0" bIns="0" rtlCol="0" anchor="ctr"/>
          <a:lstStyle/>
          <a:p>
            <a:pPr marL="0" indent="0">
              <a:buNone/>
            </a:pPr>
            <a:r>
              <a:rPr lang="en-US" sz="950" b="1" dirty="0">
                <a:solidFill>
                  <a:srgbClr val="0D1B3E"/>
                </a:solidFill>
              </a:rPr>
              <a:t>Carry-Over Triage</a:t>
            </a:r>
            <a:endParaRPr lang="en-US" sz="950" dirty="0"/>
          </a:p>
        </p:txBody>
      </p:sp>
      <p:sp>
        <p:nvSpPr>
          <p:cNvPr id="36" name="Text 34">
            <a:extLst>
              <a:ext uri="{FF2B5EF4-FFF2-40B4-BE49-F238E27FC236}">
                <a16:creationId xmlns:a16="http://schemas.microsoft.com/office/drawing/2014/main" id="{28846A2F-2C01-C042-EAE3-72BE6793F327}"/>
              </a:ext>
            </a:extLst>
          </p:cNvPr>
          <p:cNvSpPr/>
          <p:nvPr/>
        </p:nvSpPr>
        <p:spPr>
          <a:xfrm>
            <a:off x="960120" y="3433572"/>
            <a:ext cx="2084832" cy="146304"/>
          </a:xfrm>
          <a:prstGeom prst="rect">
            <a:avLst/>
          </a:prstGeom>
          <a:noFill/>
          <a:ln/>
        </p:spPr>
        <p:txBody>
          <a:bodyPr wrap="square" lIns="0" tIns="0" rIns="0" bIns="0" rtlCol="0" anchor="ctr"/>
          <a:lstStyle/>
          <a:p>
            <a:pPr marL="0" indent="0">
              <a:buNone/>
            </a:pPr>
            <a:r>
              <a:rPr lang="en-US" sz="750" b="1" dirty="0">
                <a:solidFill>
                  <a:srgbClr val="1D9E75"/>
                </a:solidFill>
              </a:rPr>
              <a:t>Sprint integrity</a:t>
            </a:r>
            <a:endParaRPr lang="en-US" sz="750" dirty="0"/>
          </a:p>
        </p:txBody>
      </p:sp>
      <p:sp>
        <p:nvSpPr>
          <p:cNvPr id="37" name="Shape 35">
            <a:extLst>
              <a:ext uri="{FF2B5EF4-FFF2-40B4-BE49-F238E27FC236}">
                <a16:creationId xmlns:a16="http://schemas.microsoft.com/office/drawing/2014/main" id="{16C6A7B4-C5C1-2EAB-CD98-3D2751572A62}"/>
              </a:ext>
            </a:extLst>
          </p:cNvPr>
          <p:cNvSpPr/>
          <p:nvPr/>
        </p:nvSpPr>
        <p:spPr>
          <a:xfrm>
            <a:off x="594360" y="3616452"/>
            <a:ext cx="2450592" cy="7315"/>
          </a:xfrm>
          <a:prstGeom prst="rect">
            <a:avLst/>
          </a:prstGeom>
          <a:solidFill>
            <a:srgbClr val="E2E8F0"/>
          </a:solidFill>
          <a:ln w="12700">
            <a:solidFill>
              <a:srgbClr val="E2E8F0"/>
            </a:solidFill>
            <a:prstDash val="solid"/>
          </a:ln>
        </p:spPr>
        <p:txBody>
          <a:bodyPr/>
          <a:lstStyle/>
          <a:p>
            <a:endParaRPr lang="en-US"/>
          </a:p>
        </p:txBody>
      </p:sp>
      <p:sp>
        <p:nvSpPr>
          <p:cNvPr id="38" name="Text 36">
            <a:extLst>
              <a:ext uri="{FF2B5EF4-FFF2-40B4-BE49-F238E27FC236}">
                <a16:creationId xmlns:a16="http://schemas.microsoft.com/office/drawing/2014/main" id="{444EAA3F-08C3-F258-84C2-C66AE4F15116}"/>
              </a:ext>
            </a:extLst>
          </p:cNvPr>
          <p:cNvSpPr/>
          <p:nvPr/>
        </p:nvSpPr>
        <p:spPr>
          <a:xfrm>
            <a:off x="594360" y="3671316"/>
            <a:ext cx="2450592" cy="877824"/>
          </a:xfrm>
          <a:prstGeom prst="rect">
            <a:avLst/>
          </a:prstGeom>
          <a:noFill/>
          <a:ln/>
        </p:spPr>
        <p:txBody>
          <a:bodyPr wrap="square" lIns="0" tIns="0" rIns="0" bIns="0" rtlCol="0" anchor="t"/>
          <a:lstStyle/>
          <a:p>
            <a:pPr marL="0" indent="0">
              <a:buNone/>
            </a:pPr>
            <a:r>
              <a:rPr lang="en-US" sz="750" dirty="0">
                <a:solidFill>
                  <a:srgbClr val="4A5568"/>
                </a:solidFill>
              </a:rPr>
              <a:t>Every sprint opened with explicit carry-over triage. </a:t>
            </a:r>
          </a:p>
          <a:p>
            <a:pPr marL="0" indent="0">
              <a:buNone/>
            </a:pPr>
            <a:endParaRPr lang="en-US" sz="750" dirty="0">
              <a:solidFill>
                <a:srgbClr val="4A5568"/>
              </a:solidFill>
            </a:endParaRPr>
          </a:p>
          <a:p>
            <a:pPr marL="0" indent="0">
              <a:buNone/>
            </a:pPr>
            <a:r>
              <a:rPr lang="en-US" sz="750" dirty="0">
                <a:solidFill>
                  <a:srgbClr val="4A5568"/>
                </a:solidFill>
              </a:rPr>
              <a:t>Sprint 4 was the first to close with zero carry-overs — a milestone reflecting both planning improvements and strong team execution.</a:t>
            </a:r>
            <a:endParaRPr lang="en-US" sz="750" dirty="0"/>
          </a:p>
        </p:txBody>
      </p:sp>
      <p:sp>
        <p:nvSpPr>
          <p:cNvPr id="39" name="Shape 37">
            <a:extLst>
              <a:ext uri="{FF2B5EF4-FFF2-40B4-BE49-F238E27FC236}">
                <a16:creationId xmlns:a16="http://schemas.microsoft.com/office/drawing/2014/main" id="{F7B12629-BA07-B015-7EC5-5014317A7A8C}"/>
              </a:ext>
            </a:extLst>
          </p:cNvPr>
          <p:cNvSpPr/>
          <p:nvPr/>
        </p:nvSpPr>
        <p:spPr>
          <a:xfrm>
            <a:off x="3227832" y="3122676"/>
            <a:ext cx="2633472" cy="1517904"/>
          </a:xfrm>
          <a:prstGeom prst="rect">
            <a:avLst/>
          </a:prstGeom>
          <a:solidFill>
            <a:srgbClr val="FFFFFF"/>
          </a:solidFill>
          <a:ln w="6350">
            <a:solidFill>
              <a:srgbClr val="E2E8F0"/>
            </a:solidFill>
            <a:prstDash val="solid"/>
          </a:ln>
          <a:effectLst>
            <a:outerShdw blurRad="127000" dist="25400" dir="16200000" algn="bl" rotWithShape="0">
              <a:srgbClr val="000000">
                <a:alpha val="7000"/>
              </a:srgbClr>
            </a:outerShdw>
          </a:effectLst>
        </p:spPr>
        <p:txBody>
          <a:bodyPr/>
          <a:lstStyle/>
          <a:p>
            <a:endParaRPr lang="en-US"/>
          </a:p>
        </p:txBody>
      </p:sp>
      <p:sp>
        <p:nvSpPr>
          <p:cNvPr id="40" name="Shape 38">
            <a:extLst>
              <a:ext uri="{FF2B5EF4-FFF2-40B4-BE49-F238E27FC236}">
                <a16:creationId xmlns:a16="http://schemas.microsoft.com/office/drawing/2014/main" id="{6AB73279-573E-C1BE-FBEB-33AA8628C8C8}"/>
              </a:ext>
            </a:extLst>
          </p:cNvPr>
          <p:cNvSpPr/>
          <p:nvPr/>
        </p:nvSpPr>
        <p:spPr>
          <a:xfrm>
            <a:off x="3227832" y="3122676"/>
            <a:ext cx="36576" cy="1517904"/>
          </a:xfrm>
          <a:prstGeom prst="rect">
            <a:avLst/>
          </a:prstGeom>
          <a:solidFill>
            <a:srgbClr val="1D9E75"/>
          </a:solidFill>
          <a:ln w="12700">
            <a:solidFill>
              <a:srgbClr val="1D9E75"/>
            </a:solidFill>
            <a:prstDash val="solid"/>
          </a:ln>
        </p:spPr>
        <p:txBody>
          <a:bodyPr/>
          <a:lstStyle/>
          <a:p>
            <a:endParaRPr lang="en-US"/>
          </a:p>
        </p:txBody>
      </p:sp>
      <p:sp>
        <p:nvSpPr>
          <p:cNvPr id="41" name="Shape 39">
            <a:extLst>
              <a:ext uri="{FF2B5EF4-FFF2-40B4-BE49-F238E27FC236}">
                <a16:creationId xmlns:a16="http://schemas.microsoft.com/office/drawing/2014/main" id="{969A7A4C-FB9C-8803-F01F-1D9E12004DC9}"/>
              </a:ext>
            </a:extLst>
          </p:cNvPr>
          <p:cNvSpPr/>
          <p:nvPr/>
        </p:nvSpPr>
        <p:spPr>
          <a:xfrm>
            <a:off x="3337560" y="3250692"/>
            <a:ext cx="274320" cy="274320"/>
          </a:xfrm>
          <a:prstGeom prst="ellipse">
            <a:avLst/>
          </a:prstGeom>
          <a:solidFill>
            <a:srgbClr val="D1FAE5"/>
          </a:solidFill>
          <a:ln w="12700">
            <a:solidFill>
              <a:srgbClr val="D1FAE5"/>
            </a:solidFill>
            <a:prstDash val="solid"/>
          </a:ln>
        </p:spPr>
        <p:txBody>
          <a:bodyPr/>
          <a:lstStyle/>
          <a:p>
            <a:endParaRPr lang="en-US"/>
          </a:p>
        </p:txBody>
      </p:sp>
      <p:sp>
        <p:nvSpPr>
          <p:cNvPr id="42" name="Text 40">
            <a:extLst>
              <a:ext uri="{FF2B5EF4-FFF2-40B4-BE49-F238E27FC236}">
                <a16:creationId xmlns:a16="http://schemas.microsoft.com/office/drawing/2014/main" id="{E9C8D5A8-5E80-3BC2-8C67-C7E8C6D5441D}"/>
              </a:ext>
            </a:extLst>
          </p:cNvPr>
          <p:cNvSpPr/>
          <p:nvPr/>
        </p:nvSpPr>
        <p:spPr>
          <a:xfrm>
            <a:off x="3337560" y="3250692"/>
            <a:ext cx="274320" cy="274320"/>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43" name="Text 41">
            <a:extLst>
              <a:ext uri="{FF2B5EF4-FFF2-40B4-BE49-F238E27FC236}">
                <a16:creationId xmlns:a16="http://schemas.microsoft.com/office/drawing/2014/main" id="{51676E3C-4326-35E9-BB36-B23B959F455A}"/>
              </a:ext>
            </a:extLst>
          </p:cNvPr>
          <p:cNvSpPr/>
          <p:nvPr/>
        </p:nvSpPr>
        <p:spPr>
          <a:xfrm>
            <a:off x="3685032" y="3232404"/>
            <a:ext cx="2084832" cy="201168"/>
          </a:xfrm>
          <a:prstGeom prst="rect">
            <a:avLst/>
          </a:prstGeom>
          <a:noFill/>
          <a:ln/>
        </p:spPr>
        <p:txBody>
          <a:bodyPr wrap="square" lIns="0" tIns="0" rIns="0" bIns="0" rtlCol="0" anchor="ctr"/>
          <a:lstStyle/>
          <a:p>
            <a:pPr marL="0" indent="0">
              <a:buNone/>
            </a:pPr>
            <a:r>
              <a:rPr lang="en-US" sz="950" b="1" dirty="0">
                <a:solidFill>
                  <a:srgbClr val="0D1B3E"/>
                </a:solidFill>
              </a:rPr>
              <a:t>Acceptance Criteria First</a:t>
            </a:r>
            <a:endParaRPr lang="en-US" sz="950" dirty="0"/>
          </a:p>
        </p:txBody>
      </p:sp>
      <p:sp>
        <p:nvSpPr>
          <p:cNvPr id="44" name="Text 42">
            <a:extLst>
              <a:ext uri="{FF2B5EF4-FFF2-40B4-BE49-F238E27FC236}">
                <a16:creationId xmlns:a16="http://schemas.microsoft.com/office/drawing/2014/main" id="{127BE4A7-F68D-5CD2-7D24-E059842B55D7}"/>
              </a:ext>
            </a:extLst>
          </p:cNvPr>
          <p:cNvSpPr/>
          <p:nvPr/>
        </p:nvSpPr>
        <p:spPr>
          <a:xfrm>
            <a:off x="3685032" y="3433572"/>
            <a:ext cx="2084832" cy="146304"/>
          </a:xfrm>
          <a:prstGeom prst="rect">
            <a:avLst/>
          </a:prstGeom>
          <a:noFill/>
          <a:ln/>
        </p:spPr>
        <p:txBody>
          <a:bodyPr wrap="square" lIns="0" tIns="0" rIns="0" bIns="0" rtlCol="0" anchor="ctr"/>
          <a:lstStyle/>
          <a:p>
            <a:pPr marL="0" indent="0">
              <a:buNone/>
            </a:pPr>
            <a:r>
              <a:rPr lang="en-US" sz="750" b="1" dirty="0">
                <a:solidFill>
                  <a:srgbClr val="1D9E75"/>
                </a:solidFill>
              </a:rPr>
              <a:t>Definition of Done</a:t>
            </a:r>
            <a:endParaRPr lang="en-US" sz="750" dirty="0"/>
          </a:p>
        </p:txBody>
      </p:sp>
      <p:sp>
        <p:nvSpPr>
          <p:cNvPr id="45" name="Shape 43">
            <a:extLst>
              <a:ext uri="{FF2B5EF4-FFF2-40B4-BE49-F238E27FC236}">
                <a16:creationId xmlns:a16="http://schemas.microsoft.com/office/drawing/2014/main" id="{287AD5AF-695D-EC50-8DA3-76912657F089}"/>
              </a:ext>
            </a:extLst>
          </p:cNvPr>
          <p:cNvSpPr/>
          <p:nvPr/>
        </p:nvSpPr>
        <p:spPr>
          <a:xfrm>
            <a:off x="3319272" y="3616452"/>
            <a:ext cx="2450592" cy="7315"/>
          </a:xfrm>
          <a:prstGeom prst="rect">
            <a:avLst/>
          </a:prstGeom>
          <a:solidFill>
            <a:srgbClr val="E2E8F0"/>
          </a:solidFill>
          <a:ln w="12700">
            <a:solidFill>
              <a:srgbClr val="E2E8F0"/>
            </a:solidFill>
            <a:prstDash val="solid"/>
          </a:ln>
        </p:spPr>
        <p:txBody>
          <a:bodyPr/>
          <a:lstStyle/>
          <a:p>
            <a:endParaRPr lang="en-US"/>
          </a:p>
        </p:txBody>
      </p:sp>
      <p:sp>
        <p:nvSpPr>
          <p:cNvPr id="46" name="Text 44">
            <a:extLst>
              <a:ext uri="{FF2B5EF4-FFF2-40B4-BE49-F238E27FC236}">
                <a16:creationId xmlns:a16="http://schemas.microsoft.com/office/drawing/2014/main" id="{D1421BA4-674C-FC67-4E35-AE6D48CFAA67}"/>
              </a:ext>
            </a:extLst>
          </p:cNvPr>
          <p:cNvSpPr/>
          <p:nvPr/>
        </p:nvSpPr>
        <p:spPr>
          <a:xfrm>
            <a:off x="3319272" y="3671316"/>
            <a:ext cx="2450592" cy="877824"/>
          </a:xfrm>
          <a:prstGeom prst="rect">
            <a:avLst/>
          </a:prstGeom>
          <a:noFill/>
          <a:ln/>
        </p:spPr>
        <p:txBody>
          <a:bodyPr wrap="square" lIns="0" tIns="0" rIns="0" bIns="0" rtlCol="0" anchor="t"/>
          <a:lstStyle/>
          <a:p>
            <a:pPr marL="0" indent="0">
              <a:buNone/>
            </a:pPr>
            <a:r>
              <a:rPr lang="en-US" sz="750" dirty="0">
                <a:solidFill>
                  <a:srgbClr val="4A5568"/>
                </a:solidFill>
              </a:rPr>
              <a:t>Every user story included explicit acceptance criteria before development began. </a:t>
            </a:r>
          </a:p>
          <a:p>
            <a:pPr marL="0" indent="0">
              <a:buNone/>
            </a:pPr>
            <a:endParaRPr lang="en-US" sz="750" dirty="0">
              <a:solidFill>
                <a:srgbClr val="4A5568"/>
              </a:solidFill>
            </a:endParaRPr>
          </a:p>
          <a:p>
            <a:pPr marL="0" indent="0">
              <a:buNone/>
            </a:pPr>
            <a:r>
              <a:rPr lang="en-US" sz="750" dirty="0">
                <a:solidFill>
                  <a:srgbClr val="4A5568"/>
                </a:solidFill>
              </a:rPr>
              <a:t>No card moved to Done without a PR open, peer review complete, and all testing passed.</a:t>
            </a:r>
            <a:endParaRPr lang="en-US" sz="750" dirty="0"/>
          </a:p>
        </p:txBody>
      </p:sp>
      <p:sp>
        <p:nvSpPr>
          <p:cNvPr id="47" name="Shape 45">
            <a:extLst>
              <a:ext uri="{FF2B5EF4-FFF2-40B4-BE49-F238E27FC236}">
                <a16:creationId xmlns:a16="http://schemas.microsoft.com/office/drawing/2014/main" id="{C17B143D-3CAC-F00F-24B5-75BE1EFDB628}"/>
              </a:ext>
            </a:extLst>
          </p:cNvPr>
          <p:cNvSpPr/>
          <p:nvPr/>
        </p:nvSpPr>
        <p:spPr>
          <a:xfrm>
            <a:off x="5952744" y="3122676"/>
            <a:ext cx="2633472" cy="1517904"/>
          </a:xfrm>
          <a:prstGeom prst="rect">
            <a:avLst/>
          </a:prstGeom>
          <a:solidFill>
            <a:srgbClr val="FFFFFF"/>
          </a:solidFill>
          <a:ln w="6350">
            <a:solidFill>
              <a:srgbClr val="E2E8F0"/>
            </a:solidFill>
            <a:prstDash val="solid"/>
          </a:ln>
          <a:effectLst>
            <a:outerShdw blurRad="127000" dist="25400" dir="16200000" algn="bl" rotWithShape="0">
              <a:srgbClr val="000000">
                <a:alpha val="7000"/>
              </a:srgbClr>
            </a:outerShdw>
          </a:effectLst>
        </p:spPr>
        <p:txBody>
          <a:bodyPr/>
          <a:lstStyle/>
          <a:p>
            <a:endParaRPr lang="en-US"/>
          </a:p>
        </p:txBody>
      </p:sp>
      <p:sp>
        <p:nvSpPr>
          <p:cNvPr id="48" name="Shape 46">
            <a:extLst>
              <a:ext uri="{FF2B5EF4-FFF2-40B4-BE49-F238E27FC236}">
                <a16:creationId xmlns:a16="http://schemas.microsoft.com/office/drawing/2014/main" id="{2E895E17-FA79-2A3A-38B5-F2BB65DF7884}"/>
              </a:ext>
            </a:extLst>
          </p:cNvPr>
          <p:cNvSpPr/>
          <p:nvPr/>
        </p:nvSpPr>
        <p:spPr>
          <a:xfrm>
            <a:off x="5952744" y="3122676"/>
            <a:ext cx="36576" cy="1517904"/>
          </a:xfrm>
          <a:prstGeom prst="rect">
            <a:avLst/>
          </a:prstGeom>
          <a:solidFill>
            <a:srgbClr val="1D9E75"/>
          </a:solidFill>
          <a:ln w="12700">
            <a:solidFill>
              <a:srgbClr val="1D9E75"/>
            </a:solidFill>
            <a:prstDash val="solid"/>
          </a:ln>
        </p:spPr>
        <p:txBody>
          <a:bodyPr/>
          <a:lstStyle/>
          <a:p>
            <a:endParaRPr lang="en-US"/>
          </a:p>
        </p:txBody>
      </p:sp>
      <p:sp>
        <p:nvSpPr>
          <p:cNvPr id="49" name="Shape 47">
            <a:extLst>
              <a:ext uri="{FF2B5EF4-FFF2-40B4-BE49-F238E27FC236}">
                <a16:creationId xmlns:a16="http://schemas.microsoft.com/office/drawing/2014/main" id="{41BB3FAF-CF0A-D61A-F34C-65DAD6EFDE4F}"/>
              </a:ext>
            </a:extLst>
          </p:cNvPr>
          <p:cNvSpPr/>
          <p:nvPr/>
        </p:nvSpPr>
        <p:spPr>
          <a:xfrm>
            <a:off x="6062472" y="3250692"/>
            <a:ext cx="274320" cy="274320"/>
          </a:xfrm>
          <a:prstGeom prst="ellipse">
            <a:avLst/>
          </a:prstGeom>
          <a:solidFill>
            <a:srgbClr val="D1FAE5"/>
          </a:solidFill>
          <a:ln w="12700">
            <a:solidFill>
              <a:srgbClr val="D1FAE5"/>
            </a:solidFill>
            <a:prstDash val="solid"/>
          </a:ln>
        </p:spPr>
        <p:txBody>
          <a:bodyPr/>
          <a:lstStyle/>
          <a:p>
            <a:endParaRPr lang="en-US"/>
          </a:p>
        </p:txBody>
      </p:sp>
      <p:sp>
        <p:nvSpPr>
          <p:cNvPr id="50" name="Text 48">
            <a:extLst>
              <a:ext uri="{FF2B5EF4-FFF2-40B4-BE49-F238E27FC236}">
                <a16:creationId xmlns:a16="http://schemas.microsoft.com/office/drawing/2014/main" id="{54C43B30-961A-A540-0521-88B8C253D200}"/>
              </a:ext>
            </a:extLst>
          </p:cNvPr>
          <p:cNvSpPr/>
          <p:nvPr/>
        </p:nvSpPr>
        <p:spPr>
          <a:xfrm>
            <a:off x="6062472" y="3250692"/>
            <a:ext cx="274320" cy="274320"/>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51" name="Text 49">
            <a:extLst>
              <a:ext uri="{FF2B5EF4-FFF2-40B4-BE49-F238E27FC236}">
                <a16:creationId xmlns:a16="http://schemas.microsoft.com/office/drawing/2014/main" id="{172D6D35-567C-61DC-805D-684973505410}"/>
              </a:ext>
            </a:extLst>
          </p:cNvPr>
          <p:cNvSpPr/>
          <p:nvPr/>
        </p:nvSpPr>
        <p:spPr>
          <a:xfrm>
            <a:off x="6409944" y="3232404"/>
            <a:ext cx="2084832" cy="201168"/>
          </a:xfrm>
          <a:prstGeom prst="rect">
            <a:avLst/>
          </a:prstGeom>
          <a:noFill/>
          <a:ln/>
        </p:spPr>
        <p:txBody>
          <a:bodyPr wrap="square" lIns="0" tIns="0" rIns="0" bIns="0" rtlCol="0" anchor="ctr"/>
          <a:lstStyle/>
          <a:p>
            <a:pPr marL="0" indent="0">
              <a:buNone/>
            </a:pPr>
            <a:r>
              <a:rPr lang="en-US" sz="950" b="1" dirty="0">
                <a:solidFill>
                  <a:srgbClr val="0D1B3E"/>
                </a:solidFill>
              </a:rPr>
              <a:t>Living Backlog</a:t>
            </a:r>
            <a:endParaRPr lang="en-US" sz="950" dirty="0"/>
          </a:p>
        </p:txBody>
      </p:sp>
      <p:sp>
        <p:nvSpPr>
          <p:cNvPr id="52" name="Text 50">
            <a:extLst>
              <a:ext uri="{FF2B5EF4-FFF2-40B4-BE49-F238E27FC236}">
                <a16:creationId xmlns:a16="http://schemas.microsoft.com/office/drawing/2014/main" id="{22DEB7A3-2570-89E1-C6D2-7AA51C7D8C7C}"/>
              </a:ext>
            </a:extLst>
          </p:cNvPr>
          <p:cNvSpPr/>
          <p:nvPr/>
        </p:nvSpPr>
        <p:spPr>
          <a:xfrm>
            <a:off x="6409944" y="3433572"/>
            <a:ext cx="2084832" cy="146304"/>
          </a:xfrm>
          <a:prstGeom prst="rect">
            <a:avLst/>
          </a:prstGeom>
          <a:noFill/>
          <a:ln/>
        </p:spPr>
        <p:txBody>
          <a:bodyPr wrap="square" lIns="0" tIns="0" rIns="0" bIns="0" rtlCol="0" anchor="ctr"/>
          <a:lstStyle/>
          <a:p>
            <a:pPr marL="0" indent="0">
              <a:buNone/>
            </a:pPr>
            <a:r>
              <a:rPr lang="en-US" sz="750" b="1" dirty="0">
                <a:solidFill>
                  <a:srgbClr val="1D9E75"/>
                </a:solidFill>
              </a:rPr>
              <a:t>Continuous refinement</a:t>
            </a:r>
            <a:endParaRPr lang="en-US" sz="750" dirty="0"/>
          </a:p>
        </p:txBody>
      </p:sp>
      <p:sp>
        <p:nvSpPr>
          <p:cNvPr id="53" name="Shape 51">
            <a:extLst>
              <a:ext uri="{FF2B5EF4-FFF2-40B4-BE49-F238E27FC236}">
                <a16:creationId xmlns:a16="http://schemas.microsoft.com/office/drawing/2014/main" id="{9B64BA5F-9B31-D84C-29B2-8A9B22993ACF}"/>
              </a:ext>
            </a:extLst>
          </p:cNvPr>
          <p:cNvSpPr/>
          <p:nvPr/>
        </p:nvSpPr>
        <p:spPr>
          <a:xfrm>
            <a:off x="6044184" y="3616452"/>
            <a:ext cx="2450592" cy="7315"/>
          </a:xfrm>
          <a:prstGeom prst="rect">
            <a:avLst/>
          </a:prstGeom>
          <a:solidFill>
            <a:srgbClr val="E2E8F0"/>
          </a:solidFill>
          <a:ln w="12700">
            <a:solidFill>
              <a:srgbClr val="E2E8F0"/>
            </a:solidFill>
            <a:prstDash val="solid"/>
          </a:ln>
        </p:spPr>
        <p:txBody>
          <a:bodyPr/>
          <a:lstStyle/>
          <a:p>
            <a:endParaRPr lang="en-US"/>
          </a:p>
        </p:txBody>
      </p:sp>
      <p:sp>
        <p:nvSpPr>
          <p:cNvPr id="54" name="Text 52">
            <a:extLst>
              <a:ext uri="{FF2B5EF4-FFF2-40B4-BE49-F238E27FC236}">
                <a16:creationId xmlns:a16="http://schemas.microsoft.com/office/drawing/2014/main" id="{18F2C1F0-2578-0F91-B418-5D96353A26EA}"/>
              </a:ext>
            </a:extLst>
          </p:cNvPr>
          <p:cNvSpPr/>
          <p:nvPr/>
        </p:nvSpPr>
        <p:spPr>
          <a:xfrm>
            <a:off x="6044184" y="3671316"/>
            <a:ext cx="2450592" cy="877824"/>
          </a:xfrm>
          <a:prstGeom prst="rect">
            <a:avLst/>
          </a:prstGeom>
          <a:noFill/>
          <a:ln/>
        </p:spPr>
        <p:txBody>
          <a:bodyPr wrap="square" lIns="0" tIns="0" rIns="0" bIns="0" rtlCol="0" anchor="t"/>
          <a:lstStyle/>
          <a:p>
            <a:pPr marL="0" indent="0">
              <a:buNone/>
            </a:pPr>
            <a:r>
              <a:rPr lang="en-US" sz="750" dirty="0">
                <a:solidFill>
                  <a:srgbClr val="4A5568"/>
                </a:solidFill>
              </a:rPr>
              <a:t>Product backlog treated as a living document throughout all five sprints. </a:t>
            </a:r>
          </a:p>
          <a:p>
            <a:pPr marL="0" indent="0">
              <a:buNone/>
            </a:pPr>
            <a:endParaRPr lang="en-US" sz="750" dirty="0">
              <a:solidFill>
                <a:srgbClr val="4A5568"/>
              </a:solidFill>
            </a:endParaRPr>
          </a:p>
          <a:p>
            <a:pPr marL="0" indent="0">
              <a:buNone/>
            </a:pPr>
            <a:r>
              <a:rPr lang="en-US" sz="750" dirty="0">
                <a:solidFill>
                  <a:srgbClr val="4A5568"/>
                </a:solidFill>
              </a:rPr>
              <a:t>User stories were refined, split, and re-scoped as the team learned — every change logged in the sprint plan.</a:t>
            </a:r>
            <a:endParaRPr lang="en-US" sz="750" dirty="0"/>
          </a:p>
        </p:txBody>
      </p:sp>
      <p:sp>
        <p:nvSpPr>
          <p:cNvPr id="55" name="Text 2">
            <a:extLst>
              <a:ext uri="{FF2B5EF4-FFF2-40B4-BE49-F238E27FC236}">
                <a16:creationId xmlns:a16="http://schemas.microsoft.com/office/drawing/2014/main" id="{1D02E7D3-8D27-B201-B75A-C2915FCC9C02}"/>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Kim Mayo</a:t>
            </a:r>
            <a:endParaRPr lang="en-US" sz="800" dirty="0"/>
          </a:p>
        </p:txBody>
      </p:sp>
      <p:sp>
        <p:nvSpPr>
          <p:cNvPr id="56" name="Text 3">
            <a:extLst>
              <a:ext uri="{FF2B5EF4-FFF2-40B4-BE49-F238E27FC236}">
                <a16:creationId xmlns:a16="http://schemas.microsoft.com/office/drawing/2014/main" id="{089490A6-DC41-632B-F292-71C57D4188BE}"/>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Product Owner</a:t>
            </a:r>
            <a:endParaRPr lang="en-US" sz="700" dirty="0"/>
          </a:p>
        </p:txBody>
      </p:sp>
      <p:sp>
        <p:nvSpPr>
          <p:cNvPr id="57" name="Text 0">
            <a:extLst>
              <a:ext uri="{FF2B5EF4-FFF2-40B4-BE49-F238E27FC236}">
                <a16:creationId xmlns:a16="http://schemas.microsoft.com/office/drawing/2014/main" id="{D58F6D26-673C-679B-7FB9-71762F4C97ED}"/>
              </a:ext>
            </a:extLst>
          </p:cNvPr>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PROJECT OVERVIEW</a:t>
            </a:r>
            <a:endParaRPr lang="en-US" sz="900" dirty="0"/>
          </a:p>
        </p:txBody>
      </p:sp>
    </p:spTree>
    <p:extLst>
      <p:ext uri="{BB962C8B-B14F-4D97-AF65-F5344CB8AC3E}">
        <p14:creationId xmlns:p14="http://schemas.microsoft.com/office/powerpoint/2010/main" val="146496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with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by="(-#ppt_w*2)" calcmode="lin" valueType="num">
                                      <p:cBhvr rctx="PPT">
                                        <p:cTn id="7" dur="250" autoRev="1" fill="hold">
                                          <p:stCondLst>
                                            <p:cond delay="0"/>
                                          </p:stCondLst>
                                        </p:cTn>
                                        <p:tgtEl>
                                          <p:spTgt spid="4"/>
                                        </p:tgtEl>
                                        <p:attrNameLst>
                                          <p:attrName>ppt_w</p:attrName>
                                        </p:attrNameLst>
                                      </p:cBhvr>
                                    </p:anim>
                                    <p:anim by="(#ppt_w*0.50)" calcmode="lin" valueType="num">
                                      <p:cBhvr>
                                        <p:cTn id="8" dur="250" decel="50000" autoRev="1" fill="hold">
                                          <p:stCondLst>
                                            <p:cond delay="0"/>
                                          </p:stCondLst>
                                        </p:cTn>
                                        <p:tgtEl>
                                          <p:spTgt spid="4"/>
                                        </p:tgtEl>
                                        <p:attrNameLst>
                                          <p:attrName>ppt_x</p:attrName>
                                        </p:attrNameLst>
                                      </p:cBhvr>
                                    </p:anim>
                                    <p:anim from="(-#ppt_h/2)" to="(#ppt_y)" calcmode="lin" valueType="num">
                                      <p:cBhvr>
                                        <p:cTn id="9" dur="500" fill="hold">
                                          <p:stCondLst>
                                            <p:cond delay="0"/>
                                          </p:stCondLst>
                                        </p:cTn>
                                        <p:tgtEl>
                                          <p:spTgt spid="4"/>
                                        </p:tgtEl>
                                        <p:attrNameLst>
                                          <p:attrName>ppt_y</p:attrName>
                                        </p:attrNameLst>
                                      </p:cBhvr>
                                    </p:anim>
                                    <p:animRot by="21600000">
                                      <p:cBhvr>
                                        <p:cTn id="10" dur="500" fill="hold">
                                          <p:stCondLst>
                                            <p:cond delay="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DEVELOPMENT HIGHLIGHTS</a:t>
            </a:r>
            <a:endParaRPr lang="en-US" sz="90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marL="0" indent="0" algn="l">
              <a:buNone/>
            </a:pPr>
            <a:r>
              <a:rPr lang="en-US" sz="3200" b="1" dirty="0">
                <a:solidFill>
                  <a:srgbClr val="1B2B5E"/>
                </a:solidFill>
                <a:latin typeface="Calibri" pitchFamily="34" charset="0"/>
                <a:ea typeface="Calibri" pitchFamily="34" charset="-122"/>
                <a:cs typeface="Calibri" pitchFamily="34" charset="-120"/>
              </a:rPr>
              <a:t>What We're Proud Of</a:t>
            </a:r>
            <a:endParaRPr lang="en-US" sz="3200" dirty="0"/>
          </a:p>
        </p:txBody>
      </p:sp>
      <p:sp>
        <p:nvSpPr>
          <p:cNvPr id="4" name="Shape 2"/>
          <p:cNvSpPr/>
          <p:nvPr/>
        </p:nvSpPr>
        <p:spPr>
          <a:xfrm>
            <a:off x="365760" y="1353312"/>
            <a:ext cx="4069080" cy="109728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530352" y="1655064"/>
            <a:ext cx="365760" cy="365760"/>
          </a:xfrm>
          <a:prstGeom prst="rect">
            <a:avLst/>
          </a:prstGeom>
        </p:spPr>
      </p:pic>
      <p:sp>
        <p:nvSpPr>
          <p:cNvPr id="6" name="Text 3"/>
          <p:cNvSpPr/>
          <p:nvPr/>
        </p:nvSpPr>
        <p:spPr>
          <a:xfrm>
            <a:off x="1024128" y="1463040"/>
            <a:ext cx="3246120" cy="320040"/>
          </a:xfrm>
          <a:prstGeom prst="rect">
            <a:avLst/>
          </a:prstGeom>
          <a:noFill/>
          <a:ln/>
        </p:spPr>
        <p:txBody>
          <a:bodyPr wrap="square" lIns="0" tIns="0" rIns="0" bIns="0" rtlCol="0" anchor="ctr"/>
          <a:lstStyle/>
          <a:p>
            <a:pPr marL="0" indent="0">
              <a:buNone/>
            </a:pPr>
            <a:r>
              <a:rPr lang="en-US" sz="1200" b="1" dirty="0">
                <a:solidFill>
                  <a:srgbClr val="1B2B5E"/>
                </a:solidFill>
                <a:latin typeface="Calibri" pitchFamily="34" charset="0"/>
                <a:ea typeface="Calibri" pitchFamily="34" charset="-122"/>
                <a:cs typeface="Calibri" pitchFamily="34" charset="-120"/>
              </a:rPr>
              <a:t>API Contract discipline</a:t>
            </a:r>
            <a:endParaRPr lang="en-US" sz="1200" dirty="0"/>
          </a:p>
        </p:txBody>
      </p:sp>
      <p:sp>
        <p:nvSpPr>
          <p:cNvPr id="7" name="Text 4"/>
          <p:cNvSpPr/>
          <p:nvPr/>
        </p:nvSpPr>
        <p:spPr>
          <a:xfrm>
            <a:off x="1024128" y="1810512"/>
            <a:ext cx="3246120" cy="54864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cs typeface="Calibri" pitchFamily="34" charset="-120"/>
              </a:rPr>
              <a:t>Tristin owned and maintained a living API contract throughout the project. Every endpoint was documented and kept both frontend and backend in sync across all five sprints.</a:t>
            </a:r>
            <a:endParaRPr lang="en-US" sz="950" dirty="0"/>
          </a:p>
        </p:txBody>
      </p:sp>
      <p:sp>
        <p:nvSpPr>
          <p:cNvPr id="8" name="Shape 5"/>
          <p:cNvSpPr/>
          <p:nvPr/>
        </p:nvSpPr>
        <p:spPr>
          <a:xfrm>
            <a:off x="4663440" y="1353312"/>
            <a:ext cx="4069080" cy="109728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4828032" y="1655064"/>
            <a:ext cx="365760" cy="365760"/>
          </a:xfrm>
          <a:prstGeom prst="rect">
            <a:avLst/>
          </a:prstGeom>
        </p:spPr>
      </p:pic>
      <p:sp>
        <p:nvSpPr>
          <p:cNvPr id="10" name="Text 6"/>
          <p:cNvSpPr/>
          <p:nvPr/>
        </p:nvSpPr>
        <p:spPr>
          <a:xfrm>
            <a:off x="5321808" y="1463040"/>
            <a:ext cx="3246120" cy="320040"/>
          </a:xfrm>
          <a:prstGeom prst="rect">
            <a:avLst/>
          </a:prstGeom>
          <a:noFill/>
          <a:ln/>
        </p:spPr>
        <p:txBody>
          <a:bodyPr wrap="square" lIns="0" tIns="0" rIns="0" bIns="0" rtlCol="0" anchor="ctr"/>
          <a:lstStyle/>
          <a:p>
            <a:pPr marL="0" indent="0">
              <a:buNone/>
            </a:pPr>
            <a:r>
              <a:rPr lang="en-US" sz="1200" b="1" dirty="0">
                <a:solidFill>
                  <a:srgbClr val="1B2B5E"/>
                </a:solidFill>
                <a:latin typeface="Calibri" pitchFamily="34" charset="0"/>
                <a:cs typeface="Calibri" pitchFamily="34" charset="-120"/>
              </a:rPr>
              <a:t>Contribution Standards</a:t>
            </a:r>
            <a:endParaRPr lang="en-US" sz="1200" dirty="0"/>
          </a:p>
        </p:txBody>
      </p:sp>
      <p:sp>
        <p:nvSpPr>
          <p:cNvPr id="11" name="Text 7"/>
          <p:cNvSpPr/>
          <p:nvPr/>
        </p:nvSpPr>
        <p:spPr>
          <a:xfrm>
            <a:off x="5321808" y="1810512"/>
            <a:ext cx="3291840" cy="54864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cs typeface="Calibri" pitchFamily="34" charset="-120"/>
              </a:rPr>
              <a:t>From Sprint 1, the team operated with a defined branching strategy, PR checklist, and code review standards. No code merged to main without a completed review and testing, every sprint.</a:t>
            </a:r>
            <a:endParaRPr lang="en-US" sz="950" dirty="0"/>
          </a:p>
        </p:txBody>
      </p:sp>
      <p:sp>
        <p:nvSpPr>
          <p:cNvPr id="12" name="Shape 8"/>
          <p:cNvSpPr/>
          <p:nvPr/>
        </p:nvSpPr>
        <p:spPr>
          <a:xfrm>
            <a:off x="365760" y="2587752"/>
            <a:ext cx="4069080" cy="109728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530352" y="2889504"/>
            <a:ext cx="365760" cy="365760"/>
          </a:xfrm>
          <a:prstGeom prst="rect">
            <a:avLst/>
          </a:prstGeom>
        </p:spPr>
      </p:pic>
      <p:sp>
        <p:nvSpPr>
          <p:cNvPr id="14" name="Text 9"/>
          <p:cNvSpPr/>
          <p:nvPr/>
        </p:nvSpPr>
        <p:spPr>
          <a:xfrm>
            <a:off x="1024128" y="2697480"/>
            <a:ext cx="3246120" cy="320040"/>
          </a:xfrm>
          <a:prstGeom prst="rect">
            <a:avLst/>
          </a:prstGeom>
          <a:noFill/>
          <a:ln/>
        </p:spPr>
        <p:txBody>
          <a:bodyPr wrap="square" lIns="0" tIns="0" rIns="0" bIns="0" rtlCol="0" anchor="ctr"/>
          <a:lstStyle/>
          <a:p>
            <a:pPr marL="0" indent="0">
              <a:buNone/>
            </a:pPr>
            <a:r>
              <a:rPr lang="en-US" sz="1200" b="1" dirty="0">
                <a:solidFill>
                  <a:srgbClr val="1B2B5E"/>
                </a:solidFill>
                <a:latin typeface="Calibri" pitchFamily="34" charset="0"/>
                <a:ea typeface="Calibri" pitchFamily="34" charset="-122"/>
                <a:cs typeface="Calibri" pitchFamily="34" charset="-120"/>
              </a:rPr>
              <a:t>Team Support</a:t>
            </a:r>
            <a:endParaRPr lang="en-US" sz="1200" dirty="0"/>
          </a:p>
        </p:txBody>
      </p:sp>
      <p:sp>
        <p:nvSpPr>
          <p:cNvPr id="15" name="Text 10"/>
          <p:cNvSpPr/>
          <p:nvPr/>
        </p:nvSpPr>
        <p:spPr>
          <a:xfrm>
            <a:off x="1024128" y="2953593"/>
            <a:ext cx="3246120" cy="639999"/>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When team members needed to step back, support was advanced without hesitation. Ownership shifted seamlessly and the team finished stronger than it started.  </a:t>
            </a:r>
            <a:endParaRPr lang="en-US" sz="950" dirty="0"/>
          </a:p>
        </p:txBody>
      </p:sp>
      <p:sp>
        <p:nvSpPr>
          <p:cNvPr id="16" name="Shape 11"/>
          <p:cNvSpPr/>
          <p:nvPr/>
        </p:nvSpPr>
        <p:spPr>
          <a:xfrm>
            <a:off x="4663440" y="2587752"/>
            <a:ext cx="4069080" cy="109728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4828032" y="2889504"/>
            <a:ext cx="365760" cy="365760"/>
          </a:xfrm>
          <a:prstGeom prst="rect">
            <a:avLst/>
          </a:prstGeom>
        </p:spPr>
      </p:pic>
      <p:sp>
        <p:nvSpPr>
          <p:cNvPr id="18" name="Text 12"/>
          <p:cNvSpPr/>
          <p:nvPr/>
        </p:nvSpPr>
        <p:spPr>
          <a:xfrm>
            <a:off x="5321808" y="2697480"/>
            <a:ext cx="3246120" cy="320040"/>
          </a:xfrm>
          <a:prstGeom prst="rect">
            <a:avLst/>
          </a:prstGeom>
          <a:noFill/>
          <a:ln/>
        </p:spPr>
        <p:txBody>
          <a:bodyPr wrap="square" lIns="0" tIns="0" rIns="0" bIns="0" rtlCol="0" anchor="ctr"/>
          <a:lstStyle/>
          <a:p>
            <a:pPr marL="0" indent="0">
              <a:buNone/>
            </a:pPr>
            <a:r>
              <a:rPr lang="en-US" sz="1200" b="1" dirty="0">
                <a:solidFill>
                  <a:srgbClr val="1B2B5E"/>
                </a:solidFill>
                <a:latin typeface="Calibri" pitchFamily="34" charset="0"/>
                <a:ea typeface="Calibri" pitchFamily="34" charset="-122"/>
                <a:cs typeface="Calibri" pitchFamily="34" charset="-120"/>
              </a:rPr>
              <a:t>Testing and CI Integration</a:t>
            </a:r>
            <a:endParaRPr lang="en-US" sz="1200" dirty="0"/>
          </a:p>
        </p:txBody>
      </p:sp>
      <p:sp>
        <p:nvSpPr>
          <p:cNvPr id="19" name="Text 13"/>
          <p:cNvSpPr/>
          <p:nvPr/>
        </p:nvSpPr>
        <p:spPr>
          <a:xfrm>
            <a:off x="5321808" y="3044952"/>
            <a:ext cx="3246120" cy="548640"/>
          </a:xfrm>
          <a:prstGeom prst="rect">
            <a:avLst/>
          </a:prstGeom>
          <a:noFill/>
          <a:ln/>
        </p:spPr>
        <p:txBody>
          <a:bodyPr wrap="square" lIns="0" tIns="0" rIns="0" bIns="0" rtlCol="0" anchor="ctr"/>
          <a:lstStyle/>
          <a:p>
            <a:r>
              <a:rPr lang="en-US" sz="950" dirty="0">
                <a:solidFill>
                  <a:srgbClr val="4A5568"/>
                </a:solidFill>
              </a:rPr>
              <a:t>Kenny delivered 1,000+ automated tests and maintained 90%+ coverage across both backend and frontend, with a GitHub Actions CI/CD pipeline validating every pull request.</a:t>
            </a:r>
            <a:endParaRPr lang="en-US" sz="950" dirty="0"/>
          </a:p>
        </p:txBody>
      </p:sp>
      <p:sp>
        <p:nvSpPr>
          <p:cNvPr id="20" name="Shape 14"/>
          <p:cNvSpPr/>
          <p:nvPr/>
        </p:nvSpPr>
        <p:spPr>
          <a:xfrm>
            <a:off x="365760" y="3854358"/>
            <a:ext cx="4069080" cy="109728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pic>
        <p:nvPicPr>
          <p:cNvPr id="21" name="Image 4" descr="Star with solid fill"/>
          <p:cNvPicPr>
            <a:picLocks noChangeAspect="1"/>
          </p:cNvPicPr>
          <p:nvPr/>
        </p:nvPicPr>
        <p:blipFill>
          <a:blip>
            <a:extLst>
              <a:ext uri="{96DAC541-7B7A-43D3-8B79-37D633B846F1}">
                <asvg:svgBlip xmlns:asvg="http://schemas.microsoft.com/office/drawing/2016/SVG/main" r:embed="rId7"/>
              </a:ext>
            </a:extLst>
          </a:blip>
          <a:srcRect/>
          <a:stretch/>
        </p:blipFill>
        <p:spPr>
          <a:xfrm>
            <a:off x="530352" y="4123944"/>
            <a:ext cx="365760" cy="365760"/>
          </a:xfrm>
          <a:prstGeom prst="rect">
            <a:avLst/>
          </a:prstGeom>
        </p:spPr>
      </p:pic>
      <p:sp>
        <p:nvSpPr>
          <p:cNvPr id="22" name="Text 15"/>
          <p:cNvSpPr/>
          <p:nvPr/>
        </p:nvSpPr>
        <p:spPr>
          <a:xfrm>
            <a:off x="1024128" y="3931920"/>
            <a:ext cx="3246120" cy="320040"/>
          </a:xfrm>
          <a:prstGeom prst="rect">
            <a:avLst/>
          </a:prstGeom>
          <a:noFill/>
          <a:ln/>
        </p:spPr>
        <p:txBody>
          <a:bodyPr wrap="square" lIns="0" tIns="0" rIns="0" bIns="0" rtlCol="0" anchor="ctr"/>
          <a:lstStyle/>
          <a:p>
            <a:pPr marL="0" indent="0">
              <a:buNone/>
            </a:pPr>
            <a:r>
              <a:rPr lang="en-US" sz="1200" b="1" dirty="0">
                <a:solidFill>
                  <a:srgbClr val="1B2B5E"/>
                </a:solidFill>
                <a:latin typeface="Calibri" pitchFamily="34" charset="0"/>
                <a:ea typeface="Calibri" pitchFamily="34" charset="-122"/>
                <a:cs typeface="Calibri" pitchFamily="34" charset="-120"/>
              </a:rPr>
              <a:t>Kim Mayo – Product Owner</a:t>
            </a:r>
            <a:endParaRPr lang="en-US" sz="1200" dirty="0"/>
          </a:p>
        </p:txBody>
      </p:sp>
      <p:sp>
        <p:nvSpPr>
          <p:cNvPr id="23" name="Text 16"/>
          <p:cNvSpPr/>
          <p:nvPr/>
        </p:nvSpPr>
        <p:spPr>
          <a:xfrm>
            <a:off x="1024128" y="4279392"/>
            <a:ext cx="3246120" cy="548640"/>
          </a:xfrm>
          <a:prstGeom prst="rect">
            <a:avLst/>
          </a:prstGeom>
          <a:noFill/>
          <a:ln/>
        </p:spPr>
        <p:txBody>
          <a:bodyPr wrap="square" lIns="0" tIns="0" rIns="0" bIns="0" rtlCol="0" anchor="ctr"/>
          <a:lstStyle/>
          <a:p>
            <a:r>
              <a:rPr lang="en-US" sz="950" dirty="0">
                <a:solidFill>
                  <a:srgbClr val="6B7280"/>
                </a:solidFill>
                <a:latin typeface="Calibri" pitchFamily="34" charset="0"/>
                <a:ea typeface="Calibri" pitchFamily="34" charset="-122"/>
                <a:cs typeface="Calibri" pitchFamily="34" charset="-120"/>
              </a:rPr>
              <a:t>Submitted team’s 1</a:t>
            </a:r>
            <a:r>
              <a:rPr lang="en-US" sz="950" baseline="30000" dirty="0">
                <a:solidFill>
                  <a:srgbClr val="6B7280"/>
                </a:solidFill>
                <a:latin typeface="Calibri" pitchFamily="34" charset="0"/>
                <a:ea typeface="Calibri" pitchFamily="34" charset="-122"/>
                <a:cs typeface="Calibri" pitchFamily="34" charset="-120"/>
              </a:rPr>
              <a:t>st</a:t>
            </a:r>
            <a:r>
              <a:rPr lang="en-US" sz="950" dirty="0">
                <a:solidFill>
                  <a:srgbClr val="6B7280"/>
                </a:solidFill>
                <a:latin typeface="Calibri" pitchFamily="34" charset="0"/>
                <a:ea typeface="Calibri" pitchFamily="34" charset="-122"/>
                <a:cs typeface="Calibri" pitchFamily="34" charset="-120"/>
              </a:rPr>
              <a:t> PR! Stepped up as active PM when Serina was sick. Most active contributor by PR volume in Sprint 4. Flagged scope gaps before they became blockers. Delivered backend APIs, frontend pages, and code reviews every sprint.</a:t>
            </a:r>
            <a:endParaRPr lang="en-US" sz="950" dirty="0"/>
          </a:p>
        </p:txBody>
      </p:sp>
      <p:sp>
        <p:nvSpPr>
          <p:cNvPr id="24" name="Shape 17"/>
          <p:cNvSpPr/>
          <p:nvPr/>
        </p:nvSpPr>
        <p:spPr>
          <a:xfrm>
            <a:off x="4663440" y="3822192"/>
            <a:ext cx="4069080" cy="109728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pic>
        <p:nvPicPr>
          <p:cNvPr id="25" name="Image 5" descr="Palette with solid fill"/>
          <p:cNvPicPr>
            <a:picLocks noChangeAspect="1"/>
          </p:cNvPicPr>
          <p:nvPr/>
        </p:nvPicPr>
        <p:blipFill>
          <a:blip>
            <a:extLst>
              <a:ext uri="{96DAC541-7B7A-43D3-8B79-37D633B846F1}">
                <asvg:svgBlip xmlns:asvg="http://schemas.microsoft.com/office/drawing/2016/SVG/main" r:embed="rId8"/>
              </a:ext>
            </a:extLst>
          </a:blip>
          <a:srcRect/>
          <a:stretch/>
        </p:blipFill>
        <p:spPr>
          <a:xfrm>
            <a:off x="4828032" y="4123944"/>
            <a:ext cx="365760" cy="365760"/>
          </a:xfrm>
          <a:prstGeom prst="rect">
            <a:avLst/>
          </a:prstGeom>
        </p:spPr>
      </p:pic>
      <p:sp>
        <p:nvSpPr>
          <p:cNvPr id="26" name="Text 18"/>
          <p:cNvSpPr/>
          <p:nvPr/>
        </p:nvSpPr>
        <p:spPr>
          <a:xfrm>
            <a:off x="5321808" y="3931920"/>
            <a:ext cx="3246120" cy="320040"/>
          </a:xfrm>
          <a:prstGeom prst="rect">
            <a:avLst/>
          </a:prstGeom>
          <a:noFill/>
          <a:ln/>
        </p:spPr>
        <p:txBody>
          <a:bodyPr wrap="square" lIns="0" tIns="0" rIns="0" bIns="0" rtlCol="0" anchor="ctr"/>
          <a:lstStyle/>
          <a:p>
            <a:pPr marL="0" indent="0">
              <a:buNone/>
            </a:pPr>
            <a:r>
              <a:rPr lang="en-US" sz="1200" b="1" dirty="0">
                <a:solidFill>
                  <a:srgbClr val="1B2B5E"/>
                </a:solidFill>
                <a:latin typeface="Calibri" pitchFamily="34" charset="0"/>
                <a:ea typeface="Calibri" pitchFamily="34" charset="-122"/>
                <a:cs typeface="Calibri" pitchFamily="34" charset="-120"/>
              </a:rPr>
              <a:t>A Product That Actually Feels Like One</a:t>
            </a:r>
            <a:endParaRPr lang="en-US" sz="1200" dirty="0"/>
          </a:p>
        </p:txBody>
      </p:sp>
      <p:sp>
        <p:nvSpPr>
          <p:cNvPr id="27" name="Text 19"/>
          <p:cNvSpPr/>
          <p:nvPr/>
        </p:nvSpPr>
        <p:spPr>
          <a:xfrm>
            <a:off x="5321808" y="4279392"/>
            <a:ext cx="3246120" cy="54864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cs typeface="Calibri" pitchFamily="34" charset="-120"/>
              </a:rPr>
              <a:t>Getting here took redesigns, dependency chains, a lot of iteration. The result is a two-side SPA – customer storefront + admin portal – where every screen is consistent, responsive, and role aware. The UI didn’t just get built; it got finished.</a:t>
            </a:r>
            <a:endParaRPr lang="en-US" sz="950" dirty="0"/>
          </a:p>
        </p:txBody>
      </p:sp>
      <p:sp>
        <p:nvSpPr>
          <p:cNvPr id="28" name="Text 2">
            <a:extLst>
              <a:ext uri="{FF2B5EF4-FFF2-40B4-BE49-F238E27FC236}">
                <a16:creationId xmlns:a16="http://schemas.microsoft.com/office/drawing/2014/main" id="{11358DD4-01EA-CD08-0C6E-34E23D792650}"/>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Kim Mayo</a:t>
            </a:r>
            <a:endParaRPr lang="en-US" sz="800" dirty="0"/>
          </a:p>
        </p:txBody>
      </p:sp>
      <p:sp>
        <p:nvSpPr>
          <p:cNvPr id="29" name="Text 3">
            <a:extLst>
              <a:ext uri="{FF2B5EF4-FFF2-40B4-BE49-F238E27FC236}">
                <a16:creationId xmlns:a16="http://schemas.microsoft.com/office/drawing/2014/main" id="{9625966F-8827-31AD-D507-76AFD42443B5}"/>
              </a:ext>
            </a:extLst>
          </p:cNvPr>
          <p:cNvSpPr/>
          <p:nvPr/>
        </p:nvSpPr>
        <p:spPr>
          <a:xfrm>
            <a:off x="6959150" y="658368"/>
            <a:ext cx="1727650" cy="128016"/>
          </a:xfrm>
          <a:prstGeom prst="rect">
            <a:avLst/>
          </a:prstGeom>
          <a:noFill/>
          <a:ln/>
        </p:spPr>
        <p:txBody>
          <a:bodyPr wrap="square" lIns="0" tIns="0" rIns="0" bIns="0" rtlCol="0" anchor="ctr"/>
          <a:lstStyle/>
          <a:p>
            <a:pPr marL="0" indent="0" algn="r">
              <a:buNone/>
            </a:pPr>
            <a:r>
              <a:rPr lang="en-US" sz="700" b="1" dirty="0">
                <a:solidFill>
                  <a:srgbClr val="1D9E75"/>
                </a:solidFill>
              </a:rPr>
              <a:t>Product Owner | Full Stack Developer</a:t>
            </a:r>
            <a:endParaRPr lang="en-US" sz="700" dirty="0"/>
          </a:p>
        </p:txBody>
      </p:sp>
      <p:sp>
        <p:nvSpPr>
          <p:cNvPr id="31" name="TextBox 30">
            <a:extLst>
              <a:ext uri="{FF2B5EF4-FFF2-40B4-BE49-F238E27FC236}">
                <a16:creationId xmlns:a16="http://schemas.microsoft.com/office/drawing/2014/main" id="{8BA40139-08A2-8778-6CF4-52655BD543AC}"/>
              </a:ext>
            </a:extLst>
          </p:cNvPr>
          <p:cNvSpPr txBox="1"/>
          <p:nvPr/>
        </p:nvSpPr>
        <p:spPr>
          <a:xfrm>
            <a:off x="4673434" y="887306"/>
            <a:ext cx="3904488" cy="430887"/>
          </a:xfrm>
          <a:prstGeom prst="rect">
            <a:avLst/>
          </a:prstGeom>
          <a:noFill/>
        </p:spPr>
        <p:txBody>
          <a:bodyPr wrap="square">
            <a:spAutoFit/>
          </a:bodyPr>
          <a:lstStyle/>
          <a:p>
            <a:r>
              <a:rPr lang="en-US" sz="1100" dirty="0">
                <a:solidFill>
                  <a:schemeClr val="accent3"/>
                </a:solidFill>
              </a:rPr>
              <a:t>"</a:t>
            </a:r>
            <a:r>
              <a:rPr lang="en-US" sz="1100" i="1" dirty="0">
                <a:solidFill>
                  <a:schemeClr val="accent3"/>
                </a:solidFill>
              </a:rPr>
              <a:t>I'm most proud of seeing all the components come together into a polished final product." – Kenny B.</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500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600" decel="100000"/>
                                        <p:tgtEl>
                                          <p:spTgt spid="31"/>
                                        </p:tgtEl>
                                      </p:cBhvr>
                                    </p:animEffect>
                                    <p:anim calcmode="lin" valueType="num">
                                      <p:cBhvr>
                                        <p:cTn id="8" dur="1600" decel="100000" fill="hold"/>
                                        <p:tgtEl>
                                          <p:spTgt spid="31"/>
                                        </p:tgtEl>
                                        <p:attrNameLst>
                                          <p:attrName>style.rotation</p:attrName>
                                        </p:attrNameLst>
                                      </p:cBhvr>
                                      <p:tavLst>
                                        <p:tav tm="0">
                                          <p:val>
                                            <p:fltVal val="-90"/>
                                          </p:val>
                                        </p:tav>
                                        <p:tav tm="100000">
                                          <p:val>
                                            <p:fltVal val="0"/>
                                          </p:val>
                                        </p:tav>
                                      </p:tavLst>
                                    </p:anim>
                                    <p:anim calcmode="lin" valueType="num">
                                      <p:cBhvr>
                                        <p:cTn id="9" dur="1600" decel="100000" fill="hold"/>
                                        <p:tgtEl>
                                          <p:spTgt spid="31"/>
                                        </p:tgtEl>
                                        <p:attrNameLst>
                                          <p:attrName>ppt_x</p:attrName>
                                        </p:attrNameLst>
                                      </p:cBhvr>
                                      <p:tavLst>
                                        <p:tav tm="0">
                                          <p:val>
                                            <p:strVal val="#ppt_x+0.4"/>
                                          </p:val>
                                        </p:tav>
                                        <p:tav tm="100000">
                                          <p:val>
                                            <p:strVal val="#ppt_x-0.05"/>
                                          </p:val>
                                        </p:tav>
                                      </p:tavLst>
                                    </p:anim>
                                    <p:anim calcmode="lin" valueType="num">
                                      <p:cBhvr>
                                        <p:cTn id="10" dur="1600" decel="100000" fill="hold"/>
                                        <p:tgtEl>
                                          <p:spTgt spid="31"/>
                                        </p:tgtEl>
                                        <p:attrNameLst>
                                          <p:attrName>ppt_y</p:attrName>
                                        </p:attrNameLst>
                                      </p:cBhvr>
                                      <p:tavLst>
                                        <p:tav tm="0">
                                          <p:val>
                                            <p:strVal val="#ppt_y-0.4"/>
                                          </p:val>
                                        </p:tav>
                                        <p:tav tm="100000">
                                          <p:val>
                                            <p:strVal val="#ppt_y+0.1"/>
                                          </p:val>
                                        </p:tav>
                                      </p:tavLst>
                                    </p:anim>
                                    <p:anim calcmode="lin" valueType="num">
                                      <p:cBhvr>
                                        <p:cTn id="11" dur="400" accel="100000" fill="hold">
                                          <p:stCondLst>
                                            <p:cond delay="1600"/>
                                          </p:stCondLst>
                                        </p:cTn>
                                        <p:tgtEl>
                                          <p:spTgt spid="31"/>
                                        </p:tgtEl>
                                        <p:attrNameLst>
                                          <p:attrName>ppt_x</p:attrName>
                                        </p:attrNameLst>
                                      </p:cBhvr>
                                      <p:tavLst>
                                        <p:tav tm="0">
                                          <p:val>
                                            <p:strVal val="#ppt_x-0.05"/>
                                          </p:val>
                                        </p:tav>
                                        <p:tav tm="100000">
                                          <p:val>
                                            <p:strVal val="#ppt_x"/>
                                          </p:val>
                                        </p:tav>
                                      </p:tavLst>
                                    </p:anim>
                                    <p:anim calcmode="lin" valueType="num">
                                      <p:cBhvr>
                                        <p:cTn id="12" dur="400" accel="100000" fill="hold">
                                          <p:stCondLst>
                                            <p:cond delay="1600"/>
                                          </p:stCondLst>
                                        </p:cTn>
                                        <p:tgtEl>
                                          <p:spTgt spid="3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a:extLst>
            <a:ext uri="{FF2B5EF4-FFF2-40B4-BE49-F238E27FC236}">
              <a16:creationId xmlns:a16="http://schemas.microsoft.com/office/drawing/2014/main" id="{2F5DE653-E3CE-0946-53CC-AF340F9B7B7A}"/>
            </a:ext>
          </a:extLst>
        </p:cNvPr>
        <p:cNvGrpSpPr/>
        <p:nvPr/>
      </p:nvGrpSpPr>
      <p:grpSpPr>
        <a:xfrm>
          <a:off x="0" y="0"/>
          <a:ext cx="0" cy="0"/>
          <a:chOff x="0" y="0"/>
          <a:chExt cx="0" cy="0"/>
        </a:xfrm>
      </p:grpSpPr>
      <p:sp>
        <p:nvSpPr>
          <p:cNvPr id="30" name="Text 0">
            <a:extLst>
              <a:ext uri="{FF2B5EF4-FFF2-40B4-BE49-F238E27FC236}">
                <a16:creationId xmlns:a16="http://schemas.microsoft.com/office/drawing/2014/main" id="{CEED2F2A-9AB3-23DC-D084-A4E72AA094F9}"/>
              </a:ext>
            </a:extLst>
          </p:cNvPr>
          <p:cNvSpPr/>
          <p:nvPr/>
        </p:nvSpPr>
        <p:spPr>
          <a:xfrm>
            <a:off x="457200" y="256032"/>
            <a:ext cx="5486400" cy="182880"/>
          </a:xfrm>
          <a:prstGeom prst="rect">
            <a:avLst/>
          </a:prstGeom>
          <a:noFill/>
          <a:ln/>
        </p:spPr>
        <p:txBody>
          <a:bodyPr wrap="square" lIns="0" tIns="0" rIns="0" bIns="0" rtlCol="0" anchor="ctr"/>
          <a:lstStyle/>
          <a:p>
            <a:pPr marL="0" indent="0" algn="l">
              <a:buNone/>
            </a:pPr>
            <a:r>
              <a:rPr lang="en-US" sz="850" b="1" kern="0" spc="300" dirty="0">
                <a:solidFill>
                  <a:srgbClr val="1D9E75"/>
                </a:solidFill>
              </a:rPr>
              <a:t>FRONTEND &amp; USER EXPERIENCE</a:t>
            </a:r>
            <a:endParaRPr lang="en-US" sz="850" dirty="0"/>
          </a:p>
        </p:txBody>
      </p:sp>
      <p:sp>
        <p:nvSpPr>
          <p:cNvPr id="31" name="Text 1">
            <a:extLst>
              <a:ext uri="{FF2B5EF4-FFF2-40B4-BE49-F238E27FC236}">
                <a16:creationId xmlns:a16="http://schemas.microsoft.com/office/drawing/2014/main" id="{27A00AFE-BDC2-A1A4-76EF-BD9B11975630}"/>
              </a:ext>
            </a:extLst>
          </p:cNvPr>
          <p:cNvSpPr/>
          <p:nvPr/>
        </p:nvSpPr>
        <p:spPr>
          <a:xfrm>
            <a:off x="457200" y="457200"/>
            <a:ext cx="6858000" cy="502920"/>
          </a:xfrm>
          <a:prstGeom prst="rect">
            <a:avLst/>
          </a:prstGeom>
          <a:noFill/>
          <a:ln/>
        </p:spPr>
        <p:txBody>
          <a:bodyPr wrap="square" lIns="0" tIns="0" rIns="0" bIns="0" rtlCol="0" anchor="ctr"/>
          <a:lstStyle/>
          <a:p>
            <a:pPr marL="0" indent="0" algn="l">
              <a:buNone/>
            </a:pPr>
            <a:r>
              <a:rPr lang="en-US" sz="3400" b="1" dirty="0">
                <a:solidFill>
                  <a:srgbClr val="0D1B3E"/>
                </a:solidFill>
                <a:latin typeface="Calibri" pitchFamily="34" charset="0"/>
                <a:ea typeface="Calibri" pitchFamily="34" charset="-122"/>
                <a:cs typeface="Calibri" pitchFamily="34" charset="-120"/>
              </a:rPr>
              <a:t>User Experience</a:t>
            </a:r>
            <a:endParaRPr lang="en-US" sz="3400" dirty="0"/>
          </a:p>
        </p:txBody>
      </p:sp>
      <p:sp>
        <p:nvSpPr>
          <p:cNvPr id="32" name="Text 2">
            <a:extLst>
              <a:ext uri="{FF2B5EF4-FFF2-40B4-BE49-F238E27FC236}">
                <a16:creationId xmlns:a16="http://schemas.microsoft.com/office/drawing/2014/main" id="{5E6FB545-F4B9-A9EE-3CEC-3D35CB9538E1}"/>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Rachel Mizer</a:t>
            </a:r>
            <a:endParaRPr lang="en-US" sz="800" dirty="0"/>
          </a:p>
        </p:txBody>
      </p:sp>
      <p:sp>
        <p:nvSpPr>
          <p:cNvPr id="33" name="Text 3">
            <a:extLst>
              <a:ext uri="{FF2B5EF4-FFF2-40B4-BE49-F238E27FC236}">
                <a16:creationId xmlns:a16="http://schemas.microsoft.com/office/drawing/2014/main" id="{E2046BDC-FC6E-E7F7-0917-F28D17991A2A}"/>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Frontend &amp; UI/UX Lead</a:t>
            </a:r>
            <a:endParaRPr lang="en-US" sz="700" dirty="0"/>
          </a:p>
        </p:txBody>
      </p:sp>
      <p:sp>
        <p:nvSpPr>
          <p:cNvPr id="34" name="Shape 4">
            <a:extLst>
              <a:ext uri="{FF2B5EF4-FFF2-40B4-BE49-F238E27FC236}">
                <a16:creationId xmlns:a16="http://schemas.microsoft.com/office/drawing/2014/main" id="{CCA85DF9-C68F-88DB-B5BE-16FF42635262}"/>
              </a:ext>
            </a:extLst>
          </p:cNvPr>
          <p:cNvSpPr/>
          <p:nvPr/>
        </p:nvSpPr>
        <p:spPr>
          <a:xfrm>
            <a:off x="457200" y="1024128"/>
            <a:ext cx="8229600" cy="10973"/>
          </a:xfrm>
          <a:prstGeom prst="rect">
            <a:avLst/>
          </a:prstGeom>
          <a:solidFill>
            <a:srgbClr val="D8DCE5"/>
          </a:solidFill>
          <a:ln w="12700">
            <a:solidFill>
              <a:srgbClr val="D8DCE5"/>
            </a:solidFill>
            <a:prstDash val="solid"/>
          </a:ln>
        </p:spPr>
        <p:txBody>
          <a:bodyPr/>
          <a:lstStyle/>
          <a:p>
            <a:endParaRPr lang="en-US"/>
          </a:p>
        </p:txBody>
      </p:sp>
      <p:sp>
        <p:nvSpPr>
          <p:cNvPr id="35" name="Shape 5">
            <a:extLst>
              <a:ext uri="{FF2B5EF4-FFF2-40B4-BE49-F238E27FC236}">
                <a16:creationId xmlns:a16="http://schemas.microsoft.com/office/drawing/2014/main" id="{C861AA46-5396-0B79-B35B-E53F105FBB80}"/>
              </a:ext>
            </a:extLst>
          </p:cNvPr>
          <p:cNvSpPr/>
          <p:nvPr/>
        </p:nvSpPr>
        <p:spPr>
          <a:xfrm>
            <a:off x="457200" y="1097280"/>
            <a:ext cx="3886200" cy="347472"/>
          </a:xfrm>
          <a:prstGeom prst="rect">
            <a:avLst/>
          </a:prstGeom>
          <a:solidFill>
            <a:srgbClr val="00AEEF"/>
          </a:solidFill>
          <a:ln w="12700">
            <a:solidFill>
              <a:srgbClr val="00AEEF"/>
            </a:solidFill>
            <a:prstDash val="solid"/>
          </a:ln>
        </p:spPr>
        <p:txBody>
          <a:bodyPr/>
          <a:lstStyle/>
          <a:p>
            <a:endParaRPr lang="en-US"/>
          </a:p>
        </p:txBody>
      </p:sp>
      <p:sp>
        <p:nvSpPr>
          <p:cNvPr id="36" name="Text 6">
            <a:extLst>
              <a:ext uri="{FF2B5EF4-FFF2-40B4-BE49-F238E27FC236}">
                <a16:creationId xmlns:a16="http://schemas.microsoft.com/office/drawing/2014/main" id="{99AE72F1-05B9-4B07-FC89-EBA27042DC6D}"/>
              </a:ext>
            </a:extLst>
          </p:cNvPr>
          <p:cNvSpPr/>
          <p:nvPr/>
        </p:nvSpPr>
        <p:spPr>
          <a:xfrm>
            <a:off x="566928" y="1097280"/>
            <a:ext cx="3657600" cy="347472"/>
          </a:xfrm>
          <a:prstGeom prst="rect">
            <a:avLst/>
          </a:prstGeom>
          <a:noFill/>
          <a:ln/>
        </p:spPr>
        <p:txBody>
          <a:bodyPr wrap="square" lIns="0" tIns="0" rIns="0" bIns="0" rtlCol="0" anchor="ctr"/>
          <a:lstStyle/>
          <a:p>
            <a:pPr marL="0" indent="0">
              <a:buNone/>
            </a:pPr>
            <a:r>
              <a:rPr lang="en-US" sz="1300" b="1" dirty="0">
                <a:solidFill>
                  <a:srgbClr val="FFFFFF"/>
                </a:solidFill>
              </a:rPr>
              <a:t>🛍  Customer Experience</a:t>
            </a:r>
            <a:endParaRPr lang="en-US" sz="1300" dirty="0"/>
          </a:p>
        </p:txBody>
      </p:sp>
      <p:sp>
        <p:nvSpPr>
          <p:cNvPr id="37" name="Shape 7">
            <a:extLst>
              <a:ext uri="{FF2B5EF4-FFF2-40B4-BE49-F238E27FC236}">
                <a16:creationId xmlns:a16="http://schemas.microsoft.com/office/drawing/2014/main" id="{CA05324D-6A92-08C7-4A9E-09B0A739A7A9}"/>
              </a:ext>
            </a:extLst>
          </p:cNvPr>
          <p:cNvSpPr/>
          <p:nvPr/>
        </p:nvSpPr>
        <p:spPr>
          <a:xfrm>
            <a:off x="4800600" y="1097280"/>
            <a:ext cx="3886200" cy="347472"/>
          </a:xfrm>
          <a:prstGeom prst="rect">
            <a:avLst/>
          </a:prstGeom>
          <a:solidFill>
            <a:srgbClr val="1B2A4A"/>
          </a:solidFill>
          <a:ln w="12700">
            <a:solidFill>
              <a:srgbClr val="1B2A4A"/>
            </a:solidFill>
            <a:prstDash val="solid"/>
          </a:ln>
        </p:spPr>
        <p:txBody>
          <a:bodyPr/>
          <a:lstStyle/>
          <a:p>
            <a:endParaRPr lang="en-US"/>
          </a:p>
        </p:txBody>
      </p:sp>
      <p:sp>
        <p:nvSpPr>
          <p:cNvPr id="38" name="Text 8">
            <a:extLst>
              <a:ext uri="{FF2B5EF4-FFF2-40B4-BE49-F238E27FC236}">
                <a16:creationId xmlns:a16="http://schemas.microsoft.com/office/drawing/2014/main" id="{84D9B58D-7DE9-C36B-0F12-EB6B62390C7A}"/>
              </a:ext>
            </a:extLst>
          </p:cNvPr>
          <p:cNvSpPr/>
          <p:nvPr/>
        </p:nvSpPr>
        <p:spPr>
          <a:xfrm>
            <a:off x="4910328" y="1097280"/>
            <a:ext cx="3657600" cy="347472"/>
          </a:xfrm>
          <a:prstGeom prst="rect">
            <a:avLst/>
          </a:prstGeom>
          <a:noFill/>
          <a:ln/>
        </p:spPr>
        <p:txBody>
          <a:bodyPr wrap="square" lIns="0" tIns="0" rIns="0" bIns="0" rtlCol="0" anchor="ctr"/>
          <a:lstStyle/>
          <a:p>
            <a:pPr marL="0" indent="0">
              <a:buNone/>
            </a:pPr>
            <a:r>
              <a:rPr lang="en-US" sz="1300" b="1" dirty="0">
                <a:solidFill>
                  <a:srgbClr val="FFFFFF"/>
                </a:solidFill>
              </a:rPr>
              <a:t>⚙  Admin Experience</a:t>
            </a:r>
            <a:endParaRPr lang="en-US" sz="1300" dirty="0"/>
          </a:p>
        </p:txBody>
      </p:sp>
      <p:sp>
        <p:nvSpPr>
          <p:cNvPr id="39" name="Shape 9">
            <a:extLst>
              <a:ext uri="{FF2B5EF4-FFF2-40B4-BE49-F238E27FC236}">
                <a16:creationId xmlns:a16="http://schemas.microsoft.com/office/drawing/2014/main" id="{0E9B5951-7467-39DC-9B82-89F0BA43F3D9}"/>
              </a:ext>
            </a:extLst>
          </p:cNvPr>
          <p:cNvSpPr/>
          <p:nvPr/>
        </p:nvSpPr>
        <p:spPr>
          <a:xfrm>
            <a:off x="457200" y="1536192"/>
            <a:ext cx="3886200" cy="73152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40" name="Shape 10">
            <a:extLst>
              <a:ext uri="{FF2B5EF4-FFF2-40B4-BE49-F238E27FC236}">
                <a16:creationId xmlns:a16="http://schemas.microsoft.com/office/drawing/2014/main" id="{41B6D6C3-9520-CC18-2222-77D9387ABE51}"/>
              </a:ext>
            </a:extLst>
          </p:cNvPr>
          <p:cNvSpPr/>
          <p:nvPr/>
        </p:nvSpPr>
        <p:spPr>
          <a:xfrm>
            <a:off x="457200" y="1536192"/>
            <a:ext cx="45720" cy="731520"/>
          </a:xfrm>
          <a:prstGeom prst="rect">
            <a:avLst/>
          </a:prstGeom>
          <a:solidFill>
            <a:srgbClr val="00AEEF"/>
          </a:solidFill>
          <a:ln w="12700">
            <a:solidFill>
              <a:srgbClr val="00AEEF"/>
            </a:solidFill>
            <a:prstDash val="solid"/>
          </a:ln>
        </p:spPr>
        <p:txBody>
          <a:bodyPr/>
          <a:lstStyle/>
          <a:p>
            <a:endParaRPr lang="en-US"/>
          </a:p>
        </p:txBody>
      </p:sp>
      <p:sp>
        <p:nvSpPr>
          <p:cNvPr id="41" name="Text 11">
            <a:extLst>
              <a:ext uri="{FF2B5EF4-FFF2-40B4-BE49-F238E27FC236}">
                <a16:creationId xmlns:a16="http://schemas.microsoft.com/office/drawing/2014/main" id="{698E9135-FA65-13A1-A1BE-702903AFB346}"/>
              </a:ext>
            </a:extLst>
          </p:cNvPr>
          <p:cNvSpPr/>
          <p:nvPr/>
        </p:nvSpPr>
        <p:spPr>
          <a:xfrm>
            <a:off x="594360" y="1618488"/>
            <a:ext cx="3611880" cy="182880"/>
          </a:xfrm>
          <a:prstGeom prst="rect">
            <a:avLst/>
          </a:prstGeom>
          <a:noFill/>
          <a:ln/>
        </p:spPr>
        <p:txBody>
          <a:bodyPr wrap="square" lIns="0" tIns="0" rIns="0" bIns="0" rtlCol="0" anchor="ctr"/>
          <a:lstStyle/>
          <a:p>
            <a:pPr marL="0" indent="0">
              <a:buNone/>
            </a:pPr>
            <a:r>
              <a:rPr lang="en-US" sz="1000" b="1" dirty="0">
                <a:solidFill>
                  <a:srgbClr val="0D1B3E"/>
                </a:solidFill>
              </a:rPr>
              <a:t>Product Browsing</a:t>
            </a:r>
            <a:endParaRPr lang="en-US" sz="1000" dirty="0"/>
          </a:p>
        </p:txBody>
      </p:sp>
      <p:sp>
        <p:nvSpPr>
          <p:cNvPr id="42" name="Text 12">
            <a:extLst>
              <a:ext uri="{FF2B5EF4-FFF2-40B4-BE49-F238E27FC236}">
                <a16:creationId xmlns:a16="http://schemas.microsoft.com/office/drawing/2014/main" id="{B4228FC7-08F3-348E-25B4-013327880010}"/>
              </a:ext>
            </a:extLst>
          </p:cNvPr>
          <p:cNvSpPr/>
          <p:nvPr/>
        </p:nvSpPr>
        <p:spPr>
          <a:xfrm>
            <a:off x="594360" y="1819656"/>
            <a:ext cx="3611880" cy="365760"/>
          </a:xfrm>
          <a:prstGeom prst="rect">
            <a:avLst/>
          </a:prstGeom>
          <a:noFill/>
          <a:ln/>
        </p:spPr>
        <p:txBody>
          <a:bodyPr wrap="square" lIns="0" tIns="0" rIns="0" bIns="0" rtlCol="0" anchor="ctr"/>
          <a:lstStyle/>
          <a:p>
            <a:pPr marL="0" indent="0">
              <a:buNone/>
            </a:pPr>
            <a:r>
              <a:rPr lang="en-US" sz="800" dirty="0">
                <a:solidFill>
                  <a:srgbClr val="475569"/>
                </a:solidFill>
              </a:rPr>
              <a:t>Category filtering · variant selection · availability display · image support · add-to-cart from list view</a:t>
            </a:r>
            <a:endParaRPr lang="en-US" sz="800" dirty="0"/>
          </a:p>
        </p:txBody>
      </p:sp>
      <p:sp>
        <p:nvSpPr>
          <p:cNvPr id="43" name="Shape 13">
            <a:extLst>
              <a:ext uri="{FF2B5EF4-FFF2-40B4-BE49-F238E27FC236}">
                <a16:creationId xmlns:a16="http://schemas.microsoft.com/office/drawing/2014/main" id="{EFA38E5C-F93A-E1C5-11C8-2501B421D22A}"/>
              </a:ext>
            </a:extLst>
          </p:cNvPr>
          <p:cNvSpPr/>
          <p:nvPr/>
        </p:nvSpPr>
        <p:spPr>
          <a:xfrm>
            <a:off x="457200" y="2331720"/>
            <a:ext cx="3886200" cy="73152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44" name="Shape 14">
            <a:extLst>
              <a:ext uri="{FF2B5EF4-FFF2-40B4-BE49-F238E27FC236}">
                <a16:creationId xmlns:a16="http://schemas.microsoft.com/office/drawing/2014/main" id="{F660C42E-74B3-DE1D-464B-9FA40AD04C30}"/>
              </a:ext>
            </a:extLst>
          </p:cNvPr>
          <p:cNvSpPr/>
          <p:nvPr/>
        </p:nvSpPr>
        <p:spPr>
          <a:xfrm>
            <a:off x="457200" y="2331720"/>
            <a:ext cx="45720" cy="731520"/>
          </a:xfrm>
          <a:prstGeom prst="rect">
            <a:avLst/>
          </a:prstGeom>
          <a:solidFill>
            <a:srgbClr val="00AEEF"/>
          </a:solidFill>
          <a:ln w="12700">
            <a:solidFill>
              <a:srgbClr val="00AEEF"/>
            </a:solidFill>
            <a:prstDash val="solid"/>
          </a:ln>
        </p:spPr>
        <p:txBody>
          <a:bodyPr/>
          <a:lstStyle/>
          <a:p>
            <a:endParaRPr lang="en-US"/>
          </a:p>
        </p:txBody>
      </p:sp>
      <p:sp>
        <p:nvSpPr>
          <p:cNvPr id="45" name="Text 15">
            <a:extLst>
              <a:ext uri="{FF2B5EF4-FFF2-40B4-BE49-F238E27FC236}">
                <a16:creationId xmlns:a16="http://schemas.microsoft.com/office/drawing/2014/main" id="{EB317247-EA9E-1FC4-9A76-71D0D441632D}"/>
              </a:ext>
            </a:extLst>
          </p:cNvPr>
          <p:cNvSpPr/>
          <p:nvPr/>
        </p:nvSpPr>
        <p:spPr>
          <a:xfrm>
            <a:off x="594360" y="2414016"/>
            <a:ext cx="3611880" cy="182880"/>
          </a:xfrm>
          <a:prstGeom prst="rect">
            <a:avLst/>
          </a:prstGeom>
          <a:noFill/>
          <a:ln/>
        </p:spPr>
        <p:txBody>
          <a:bodyPr wrap="square" lIns="0" tIns="0" rIns="0" bIns="0" rtlCol="0" anchor="ctr"/>
          <a:lstStyle/>
          <a:p>
            <a:pPr marL="0" indent="0">
              <a:buNone/>
            </a:pPr>
            <a:r>
              <a:rPr lang="en-US" sz="1000" b="1" dirty="0">
                <a:solidFill>
                  <a:srgbClr val="0D1B3E"/>
                </a:solidFill>
              </a:rPr>
              <a:t>Shopping Cart</a:t>
            </a:r>
            <a:endParaRPr lang="en-US" sz="1000" dirty="0"/>
          </a:p>
        </p:txBody>
      </p:sp>
      <p:sp>
        <p:nvSpPr>
          <p:cNvPr id="46" name="Text 16">
            <a:extLst>
              <a:ext uri="{FF2B5EF4-FFF2-40B4-BE49-F238E27FC236}">
                <a16:creationId xmlns:a16="http://schemas.microsoft.com/office/drawing/2014/main" id="{E87C2405-1368-185E-DC55-100ABB7B8E60}"/>
              </a:ext>
            </a:extLst>
          </p:cNvPr>
          <p:cNvSpPr/>
          <p:nvPr/>
        </p:nvSpPr>
        <p:spPr>
          <a:xfrm>
            <a:off x="594360" y="2615184"/>
            <a:ext cx="3611880" cy="365760"/>
          </a:xfrm>
          <a:prstGeom prst="rect">
            <a:avLst/>
          </a:prstGeom>
          <a:noFill/>
          <a:ln/>
        </p:spPr>
        <p:txBody>
          <a:bodyPr wrap="square" lIns="0" tIns="0" rIns="0" bIns="0" rtlCol="0" anchor="ctr"/>
          <a:lstStyle/>
          <a:p>
            <a:pPr marL="0" indent="0">
              <a:buNone/>
            </a:pPr>
            <a:r>
              <a:rPr lang="en-US" sz="800" dirty="0">
                <a:solidFill>
                  <a:srgbClr val="475569"/>
                </a:solidFill>
              </a:rPr>
              <a:t>Persistent draft order · quantity adjustment · item removal · order total with tax · guest &amp; authenticated checkout</a:t>
            </a:r>
            <a:endParaRPr lang="en-US" sz="800" dirty="0"/>
          </a:p>
        </p:txBody>
      </p:sp>
      <p:sp>
        <p:nvSpPr>
          <p:cNvPr id="47" name="Shape 17">
            <a:extLst>
              <a:ext uri="{FF2B5EF4-FFF2-40B4-BE49-F238E27FC236}">
                <a16:creationId xmlns:a16="http://schemas.microsoft.com/office/drawing/2014/main" id="{079135C0-DE9C-CFD4-0A3F-5F7732EBD74D}"/>
              </a:ext>
            </a:extLst>
          </p:cNvPr>
          <p:cNvSpPr/>
          <p:nvPr/>
        </p:nvSpPr>
        <p:spPr>
          <a:xfrm>
            <a:off x="457200" y="3127248"/>
            <a:ext cx="3886200" cy="73152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48" name="Shape 18">
            <a:extLst>
              <a:ext uri="{FF2B5EF4-FFF2-40B4-BE49-F238E27FC236}">
                <a16:creationId xmlns:a16="http://schemas.microsoft.com/office/drawing/2014/main" id="{BC97539B-47BD-2E4E-6592-61CD307A2BCA}"/>
              </a:ext>
            </a:extLst>
          </p:cNvPr>
          <p:cNvSpPr/>
          <p:nvPr/>
        </p:nvSpPr>
        <p:spPr>
          <a:xfrm>
            <a:off x="457200" y="3127248"/>
            <a:ext cx="45720" cy="731520"/>
          </a:xfrm>
          <a:prstGeom prst="rect">
            <a:avLst/>
          </a:prstGeom>
          <a:solidFill>
            <a:srgbClr val="00AEEF"/>
          </a:solidFill>
          <a:ln w="12700">
            <a:solidFill>
              <a:srgbClr val="00AEEF"/>
            </a:solidFill>
            <a:prstDash val="solid"/>
          </a:ln>
        </p:spPr>
        <p:txBody>
          <a:bodyPr/>
          <a:lstStyle/>
          <a:p>
            <a:endParaRPr lang="en-US"/>
          </a:p>
        </p:txBody>
      </p:sp>
      <p:sp>
        <p:nvSpPr>
          <p:cNvPr id="49" name="Text 19">
            <a:extLst>
              <a:ext uri="{FF2B5EF4-FFF2-40B4-BE49-F238E27FC236}">
                <a16:creationId xmlns:a16="http://schemas.microsoft.com/office/drawing/2014/main" id="{81C30B13-475B-3D25-9FAD-D6511F6588B7}"/>
              </a:ext>
            </a:extLst>
          </p:cNvPr>
          <p:cNvSpPr/>
          <p:nvPr/>
        </p:nvSpPr>
        <p:spPr>
          <a:xfrm>
            <a:off x="594360" y="3209544"/>
            <a:ext cx="3611880" cy="182880"/>
          </a:xfrm>
          <a:prstGeom prst="rect">
            <a:avLst/>
          </a:prstGeom>
          <a:noFill/>
          <a:ln/>
        </p:spPr>
        <p:txBody>
          <a:bodyPr wrap="square" lIns="0" tIns="0" rIns="0" bIns="0" rtlCol="0" anchor="ctr"/>
          <a:lstStyle/>
          <a:p>
            <a:pPr marL="0" indent="0">
              <a:buNone/>
            </a:pPr>
            <a:r>
              <a:rPr lang="en-US" sz="1000" b="1" dirty="0">
                <a:solidFill>
                  <a:srgbClr val="0D1B3E"/>
                </a:solidFill>
              </a:rPr>
              <a:t>Checkout &amp; Ordering</a:t>
            </a:r>
            <a:endParaRPr lang="en-US" sz="1000" dirty="0"/>
          </a:p>
        </p:txBody>
      </p:sp>
      <p:sp>
        <p:nvSpPr>
          <p:cNvPr id="50" name="Text 20">
            <a:extLst>
              <a:ext uri="{FF2B5EF4-FFF2-40B4-BE49-F238E27FC236}">
                <a16:creationId xmlns:a16="http://schemas.microsoft.com/office/drawing/2014/main" id="{5DE66EF9-5D7F-7A6A-EDD4-57F0C6C3A0CD}"/>
              </a:ext>
            </a:extLst>
          </p:cNvPr>
          <p:cNvSpPr/>
          <p:nvPr/>
        </p:nvSpPr>
        <p:spPr>
          <a:xfrm>
            <a:off x="594360" y="3410712"/>
            <a:ext cx="3611880" cy="365760"/>
          </a:xfrm>
          <a:prstGeom prst="rect">
            <a:avLst/>
          </a:prstGeom>
          <a:noFill/>
          <a:ln/>
        </p:spPr>
        <p:txBody>
          <a:bodyPr wrap="square" lIns="0" tIns="0" rIns="0" bIns="0" rtlCol="0" anchor="ctr"/>
          <a:lstStyle/>
          <a:p>
            <a:pPr marL="0" indent="0">
              <a:buNone/>
            </a:pPr>
            <a:r>
              <a:rPr lang="en-US" sz="800" dirty="0">
                <a:solidFill>
                  <a:srgbClr val="475569"/>
                </a:solidFill>
              </a:rPr>
              <a:t>Guest email flow · authenticated one-tap submit · order confirmation · order status tracking</a:t>
            </a:r>
            <a:endParaRPr lang="en-US" sz="800" dirty="0"/>
          </a:p>
        </p:txBody>
      </p:sp>
      <p:sp>
        <p:nvSpPr>
          <p:cNvPr id="51" name="Shape 21">
            <a:extLst>
              <a:ext uri="{FF2B5EF4-FFF2-40B4-BE49-F238E27FC236}">
                <a16:creationId xmlns:a16="http://schemas.microsoft.com/office/drawing/2014/main" id="{A96C496D-CCF7-436D-7AAE-BE73659D45D9}"/>
              </a:ext>
            </a:extLst>
          </p:cNvPr>
          <p:cNvSpPr/>
          <p:nvPr/>
        </p:nvSpPr>
        <p:spPr>
          <a:xfrm>
            <a:off x="457200" y="3922776"/>
            <a:ext cx="3886200" cy="73152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52" name="Shape 22">
            <a:extLst>
              <a:ext uri="{FF2B5EF4-FFF2-40B4-BE49-F238E27FC236}">
                <a16:creationId xmlns:a16="http://schemas.microsoft.com/office/drawing/2014/main" id="{3F77ACAC-CED3-506C-F467-7A293CE81B89}"/>
              </a:ext>
            </a:extLst>
          </p:cNvPr>
          <p:cNvSpPr/>
          <p:nvPr/>
        </p:nvSpPr>
        <p:spPr>
          <a:xfrm>
            <a:off x="457200" y="3922776"/>
            <a:ext cx="45720" cy="731520"/>
          </a:xfrm>
          <a:prstGeom prst="rect">
            <a:avLst/>
          </a:prstGeom>
          <a:solidFill>
            <a:srgbClr val="00AEEF"/>
          </a:solidFill>
          <a:ln w="12700">
            <a:solidFill>
              <a:srgbClr val="00AEEF"/>
            </a:solidFill>
            <a:prstDash val="solid"/>
          </a:ln>
        </p:spPr>
        <p:txBody>
          <a:bodyPr/>
          <a:lstStyle/>
          <a:p>
            <a:endParaRPr lang="en-US"/>
          </a:p>
        </p:txBody>
      </p:sp>
      <p:sp>
        <p:nvSpPr>
          <p:cNvPr id="53" name="Text 23">
            <a:extLst>
              <a:ext uri="{FF2B5EF4-FFF2-40B4-BE49-F238E27FC236}">
                <a16:creationId xmlns:a16="http://schemas.microsoft.com/office/drawing/2014/main" id="{5E4B91AF-FCD9-6E6D-0662-2E7CB99A256F}"/>
              </a:ext>
            </a:extLst>
          </p:cNvPr>
          <p:cNvSpPr/>
          <p:nvPr/>
        </p:nvSpPr>
        <p:spPr>
          <a:xfrm>
            <a:off x="594360" y="4005072"/>
            <a:ext cx="3611880" cy="182880"/>
          </a:xfrm>
          <a:prstGeom prst="rect">
            <a:avLst/>
          </a:prstGeom>
          <a:noFill/>
          <a:ln/>
        </p:spPr>
        <p:txBody>
          <a:bodyPr wrap="square" lIns="0" tIns="0" rIns="0" bIns="0" rtlCol="0" anchor="ctr"/>
          <a:lstStyle/>
          <a:p>
            <a:pPr marL="0" indent="0">
              <a:buNone/>
            </a:pPr>
            <a:r>
              <a:rPr lang="en-US" sz="1000" b="1" dirty="0">
                <a:solidFill>
                  <a:srgbClr val="0D1B3E"/>
                </a:solidFill>
              </a:rPr>
              <a:t>Customer Profile</a:t>
            </a:r>
            <a:endParaRPr lang="en-US" sz="1000" dirty="0"/>
          </a:p>
        </p:txBody>
      </p:sp>
      <p:sp>
        <p:nvSpPr>
          <p:cNvPr id="54" name="Text 24">
            <a:extLst>
              <a:ext uri="{FF2B5EF4-FFF2-40B4-BE49-F238E27FC236}">
                <a16:creationId xmlns:a16="http://schemas.microsoft.com/office/drawing/2014/main" id="{3F3E1DFC-BF36-78F2-BCEF-2605276E466D}"/>
              </a:ext>
            </a:extLst>
          </p:cNvPr>
          <p:cNvSpPr/>
          <p:nvPr/>
        </p:nvSpPr>
        <p:spPr>
          <a:xfrm>
            <a:off x="594360" y="4206240"/>
            <a:ext cx="3611880" cy="365760"/>
          </a:xfrm>
          <a:prstGeom prst="rect">
            <a:avLst/>
          </a:prstGeom>
          <a:noFill/>
          <a:ln/>
        </p:spPr>
        <p:txBody>
          <a:bodyPr wrap="square" lIns="0" tIns="0" rIns="0" bIns="0" rtlCol="0" anchor="ctr"/>
          <a:lstStyle/>
          <a:p>
            <a:pPr marL="0" indent="0">
              <a:buNone/>
            </a:pPr>
            <a:r>
              <a:rPr lang="en-US" sz="800" dirty="0">
                <a:solidFill>
                  <a:srgbClr val="475569"/>
                </a:solidFill>
              </a:rPr>
              <a:t>Account registration · login &amp; logout · password reset · profile management · order history view</a:t>
            </a:r>
            <a:endParaRPr lang="en-US" sz="800" dirty="0"/>
          </a:p>
        </p:txBody>
      </p:sp>
      <p:sp>
        <p:nvSpPr>
          <p:cNvPr id="55" name="Shape 25">
            <a:extLst>
              <a:ext uri="{FF2B5EF4-FFF2-40B4-BE49-F238E27FC236}">
                <a16:creationId xmlns:a16="http://schemas.microsoft.com/office/drawing/2014/main" id="{800EE4A0-F001-D163-AA3C-7F4C7B725965}"/>
              </a:ext>
            </a:extLst>
          </p:cNvPr>
          <p:cNvSpPr/>
          <p:nvPr/>
        </p:nvSpPr>
        <p:spPr>
          <a:xfrm>
            <a:off x="4800600" y="1536192"/>
            <a:ext cx="3886200" cy="73152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56" name="Shape 26">
            <a:extLst>
              <a:ext uri="{FF2B5EF4-FFF2-40B4-BE49-F238E27FC236}">
                <a16:creationId xmlns:a16="http://schemas.microsoft.com/office/drawing/2014/main" id="{41A771C1-1D6B-7707-7779-87BEA4F39D8F}"/>
              </a:ext>
            </a:extLst>
          </p:cNvPr>
          <p:cNvSpPr/>
          <p:nvPr/>
        </p:nvSpPr>
        <p:spPr>
          <a:xfrm>
            <a:off x="4800600" y="1536192"/>
            <a:ext cx="45720" cy="731520"/>
          </a:xfrm>
          <a:prstGeom prst="rect">
            <a:avLst/>
          </a:prstGeom>
          <a:solidFill>
            <a:srgbClr val="1B2A4A"/>
          </a:solidFill>
          <a:ln w="12700">
            <a:solidFill>
              <a:srgbClr val="1B2A4A"/>
            </a:solidFill>
            <a:prstDash val="solid"/>
          </a:ln>
        </p:spPr>
        <p:txBody>
          <a:bodyPr/>
          <a:lstStyle/>
          <a:p>
            <a:endParaRPr lang="en-US"/>
          </a:p>
        </p:txBody>
      </p:sp>
      <p:sp>
        <p:nvSpPr>
          <p:cNvPr id="57" name="Text 27">
            <a:extLst>
              <a:ext uri="{FF2B5EF4-FFF2-40B4-BE49-F238E27FC236}">
                <a16:creationId xmlns:a16="http://schemas.microsoft.com/office/drawing/2014/main" id="{4E20D376-E86B-5D73-0EBD-C46EC91656B7}"/>
              </a:ext>
            </a:extLst>
          </p:cNvPr>
          <p:cNvSpPr/>
          <p:nvPr/>
        </p:nvSpPr>
        <p:spPr>
          <a:xfrm>
            <a:off x="4937760" y="1618488"/>
            <a:ext cx="3611880" cy="182880"/>
          </a:xfrm>
          <a:prstGeom prst="rect">
            <a:avLst/>
          </a:prstGeom>
          <a:noFill/>
          <a:ln/>
        </p:spPr>
        <p:txBody>
          <a:bodyPr wrap="square" lIns="0" tIns="0" rIns="0" bIns="0" rtlCol="0" anchor="ctr"/>
          <a:lstStyle/>
          <a:p>
            <a:pPr marL="0" indent="0">
              <a:buNone/>
            </a:pPr>
            <a:r>
              <a:rPr lang="en-US" sz="1000" b="1" dirty="0">
                <a:solidFill>
                  <a:srgbClr val="0D1B3E"/>
                </a:solidFill>
              </a:rPr>
              <a:t>Admin Dashboard &amp; Navigation</a:t>
            </a:r>
            <a:endParaRPr lang="en-US" sz="1000" dirty="0"/>
          </a:p>
        </p:txBody>
      </p:sp>
      <p:sp>
        <p:nvSpPr>
          <p:cNvPr id="58" name="Text 28">
            <a:extLst>
              <a:ext uri="{FF2B5EF4-FFF2-40B4-BE49-F238E27FC236}">
                <a16:creationId xmlns:a16="http://schemas.microsoft.com/office/drawing/2014/main" id="{83279FAD-BCA3-2A7C-3FDC-300E07CB28FC}"/>
              </a:ext>
            </a:extLst>
          </p:cNvPr>
          <p:cNvSpPr/>
          <p:nvPr/>
        </p:nvSpPr>
        <p:spPr>
          <a:xfrm>
            <a:off x="4937760" y="1819656"/>
            <a:ext cx="3611880" cy="365760"/>
          </a:xfrm>
          <a:prstGeom prst="rect">
            <a:avLst/>
          </a:prstGeom>
          <a:noFill/>
          <a:ln/>
        </p:spPr>
        <p:txBody>
          <a:bodyPr wrap="square" lIns="0" tIns="0" rIns="0" bIns="0" rtlCol="0" anchor="ctr"/>
          <a:lstStyle/>
          <a:p>
            <a:pPr marL="0" indent="0">
              <a:buNone/>
            </a:pPr>
            <a:r>
              <a:rPr lang="en-US" sz="800" dirty="0">
                <a:solidFill>
                  <a:srgbClr val="475569"/>
                </a:solidFill>
              </a:rPr>
              <a:t>Role-restricted SPA routing · persistent sidebar nav · active link states · responsive layout wrapper · unauthorized redirect</a:t>
            </a:r>
            <a:endParaRPr lang="en-US" sz="800" dirty="0"/>
          </a:p>
        </p:txBody>
      </p:sp>
      <p:sp>
        <p:nvSpPr>
          <p:cNvPr id="59" name="Shape 29">
            <a:extLst>
              <a:ext uri="{FF2B5EF4-FFF2-40B4-BE49-F238E27FC236}">
                <a16:creationId xmlns:a16="http://schemas.microsoft.com/office/drawing/2014/main" id="{B8A20FCD-F8B7-CFFE-1A75-E4194EABA27A}"/>
              </a:ext>
            </a:extLst>
          </p:cNvPr>
          <p:cNvSpPr/>
          <p:nvPr/>
        </p:nvSpPr>
        <p:spPr>
          <a:xfrm>
            <a:off x="4800600" y="2331720"/>
            <a:ext cx="3886200" cy="73152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60" name="Shape 30">
            <a:extLst>
              <a:ext uri="{FF2B5EF4-FFF2-40B4-BE49-F238E27FC236}">
                <a16:creationId xmlns:a16="http://schemas.microsoft.com/office/drawing/2014/main" id="{8C4C2310-3903-31A4-B83F-A55379CED0C9}"/>
              </a:ext>
            </a:extLst>
          </p:cNvPr>
          <p:cNvSpPr/>
          <p:nvPr/>
        </p:nvSpPr>
        <p:spPr>
          <a:xfrm>
            <a:off x="4800600" y="2331720"/>
            <a:ext cx="45720" cy="731520"/>
          </a:xfrm>
          <a:prstGeom prst="rect">
            <a:avLst/>
          </a:prstGeom>
          <a:solidFill>
            <a:srgbClr val="1B2A4A"/>
          </a:solidFill>
          <a:ln w="12700">
            <a:solidFill>
              <a:srgbClr val="1B2A4A"/>
            </a:solidFill>
            <a:prstDash val="solid"/>
          </a:ln>
        </p:spPr>
        <p:txBody>
          <a:bodyPr/>
          <a:lstStyle/>
          <a:p>
            <a:endParaRPr lang="en-US"/>
          </a:p>
        </p:txBody>
      </p:sp>
      <p:sp>
        <p:nvSpPr>
          <p:cNvPr id="61" name="Text 31">
            <a:extLst>
              <a:ext uri="{FF2B5EF4-FFF2-40B4-BE49-F238E27FC236}">
                <a16:creationId xmlns:a16="http://schemas.microsoft.com/office/drawing/2014/main" id="{1F368AE5-45DE-10D6-63AF-9EE847CEBE2A}"/>
              </a:ext>
            </a:extLst>
          </p:cNvPr>
          <p:cNvSpPr/>
          <p:nvPr/>
        </p:nvSpPr>
        <p:spPr>
          <a:xfrm>
            <a:off x="4937760" y="2414016"/>
            <a:ext cx="3611880" cy="182880"/>
          </a:xfrm>
          <a:prstGeom prst="rect">
            <a:avLst/>
          </a:prstGeom>
          <a:noFill/>
          <a:ln/>
        </p:spPr>
        <p:txBody>
          <a:bodyPr wrap="square" lIns="0" tIns="0" rIns="0" bIns="0" rtlCol="0" anchor="ctr"/>
          <a:lstStyle/>
          <a:p>
            <a:pPr marL="0" indent="0">
              <a:buNone/>
            </a:pPr>
            <a:r>
              <a:rPr lang="en-US" sz="1000" b="1" dirty="0">
                <a:solidFill>
                  <a:srgbClr val="0D1B3E"/>
                </a:solidFill>
              </a:rPr>
              <a:t>Product Management</a:t>
            </a:r>
            <a:endParaRPr lang="en-US" sz="1000" dirty="0"/>
          </a:p>
        </p:txBody>
      </p:sp>
      <p:sp>
        <p:nvSpPr>
          <p:cNvPr id="62" name="Text 32">
            <a:extLst>
              <a:ext uri="{FF2B5EF4-FFF2-40B4-BE49-F238E27FC236}">
                <a16:creationId xmlns:a16="http://schemas.microsoft.com/office/drawing/2014/main" id="{1964AC51-933D-94F1-D1F2-3B56CB284FB7}"/>
              </a:ext>
            </a:extLst>
          </p:cNvPr>
          <p:cNvSpPr/>
          <p:nvPr/>
        </p:nvSpPr>
        <p:spPr>
          <a:xfrm>
            <a:off x="4937760" y="2615184"/>
            <a:ext cx="3611880" cy="365760"/>
          </a:xfrm>
          <a:prstGeom prst="rect">
            <a:avLst/>
          </a:prstGeom>
          <a:noFill/>
          <a:ln/>
        </p:spPr>
        <p:txBody>
          <a:bodyPr wrap="square" lIns="0" tIns="0" rIns="0" bIns="0" rtlCol="0" anchor="ctr"/>
          <a:lstStyle/>
          <a:p>
            <a:pPr marL="0" indent="0">
              <a:buNone/>
            </a:pPr>
            <a:r>
              <a:rPr lang="en-US" sz="800" dirty="0">
                <a:solidFill>
                  <a:srgbClr val="475569"/>
                </a:solidFill>
              </a:rPr>
              <a:t>Full CRUD for products &amp; variants · inline validation · delete confirmation · image upload · modifier display (read-only)</a:t>
            </a:r>
            <a:endParaRPr lang="en-US" sz="800" dirty="0"/>
          </a:p>
        </p:txBody>
      </p:sp>
      <p:sp>
        <p:nvSpPr>
          <p:cNvPr id="63" name="Shape 33">
            <a:extLst>
              <a:ext uri="{FF2B5EF4-FFF2-40B4-BE49-F238E27FC236}">
                <a16:creationId xmlns:a16="http://schemas.microsoft.com/office/drawing/2014/main" id="{F9E9E496-1C10-D9E4-582F-AF4927D61533}"/>
              </a:ext>
            </a:extLst>
          </p:cNvPr>
          <p:cNvSpPr/>
          <p:nvPr/>
        </p:nvSpPr>
        <p:spPr>
          <a:xfrm>
            <a:off x="4800600" y="3127248"/>
            <a:ext cx="3886200" cy="73152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64" name="Shape 34">
            <a:extLst>
              <a:ext uri="{FF2B5EF4-FFF2-40B4-BE49-F238E27FC236}">
                <a16:creationId xmlns:a16="http://schemas.microsoft.com/office/drawing/2014/main" id="{1F959ED7-3B8D-3D30-2165-7842D629644D}"/>
              </a:ext>
            </a:extLst>
          </p:cNvPr>
          <p:cNvSpPr/>
          <p:nvPr/>
        </p:nvSpPr>
        <p:spPr>
          <a:xfrm>
            <a:off x="4800600" y="3127248"/>
            <a:ext cx="45720" cy="731520"/>
          </a:xfrm>
          <a:prstGeom prst="rect">
            <a:avLst/>
          </a:prstGeom>
          <a:solidFill>
            <a:srgbClr val="1B2A4A"/>
          </a:solidFill>
          <a:ln w="12700">
            <a:solidFill>
              <a:srgbClr val="1B2A4A"/>
            </a:solidFill>
            <a:prstDash val="solid"/>
          </a:ln>
        </p:spPr>
        <p:txBody>
          <a:bodyPr/>
          <a:lstStyle/>
          <a:p>
            <a:endParaRPr lang="en-US"/>
          </a:p>
        </p:txBody>
      </p:sp>
      <p:sp>
        <p:nvSpPr>
          <p:cNvPr id="65" name="Text 35">
            <a:extLst>
              <a:ext uri="{FF2B5EF4-FFF2-40B4-BE49-F238E27FC236}">
                <a16:creationId xmlns:a16="http://schemas.microsoft.com/office/drawing/2014/main" id="{0F1DB284-3720-D067-E038-AE1F486EA9D9}"/>
              </a:ext>
            </a:extLst>
          </p:cNvPr>
          <p:cNvSpPr/>
          <p:nvPr/>
        </p:nvSpPr>
        <p:spPr>
          <a:xfrm>
            <a:off x="4937760" y="3209544"/>
            <a:ext cx="3611880" cy="182880"/>
          </a:xfrm>
          <a:prstGeom prst="rect">
            <a:avLst/>
          </a:prstGeom>
          <a:noFill/>
          <a:ln/>
        </p:spPr>
        <p:txBody>
          <a:bodyPr wrap="square" lIns="0" tIns="0" rIns="0" bIns="0" rtlCol="0" anchor="ctr"/>
          <a:lstStyle/>
          <a:p>
            <a:pPr marL="0" indent="0">
              <a:buNone/>
            </a:pPr>
            <a:r>
              <a:rPr lang="en-US" sz="1000" b="1" dirty="0">
                <a:solidFill>
                  <a:srgbClr val="0D1B3E"/>
                </a:solidFill>
              </a:rPr>
              <a:t>Inventory Management</a:t>
            </a:r>
            <a:endParaRPr lang="en-US" sz="1000" dirty="0"/>
          </a:p>
        </p:txBody>
      </p:sp>
      <p:sp>
        <p:nvSpPr>
          <p:cNvPr id="66" name="Text 36">
            <a:extLst>
              <a:ext uri="{FF2B5EF4-FFF2-40B4-BE49-F238E27FC236}">
                <a16:creationId xmlns:a16="http://schemas.microsoft.com/office/drawing/2014/main" id="{BA56C409-7668-C879-0063-74E0F12DD6B1}"/>
              </a:ext>
            </a:extLst>
          </p:cNvPr>
          <p:cNvSpPr/>
          <p:nvPr/>
        </p:nvSpPr>
        <p:spPr>
          <a:xfrm>
            <a:off x="4937760" y="3410712"/>
            <a:ext cx="3611880" cy="365760"/>
          </a:xfrm>
          <a:prstGeom prst="rect">
            <a:avLst/>
          </a:prstGeom>
          <a:noFill/>
          <a:ln/>
        </p:spPr>
        <p:txBody>
          <a:bodyPr wrap="square" lIns="0" tIns="0" rIns="0" bIns="0" rtlCol="0" anchor="ctr"/>
          <a:lstStyle/>
          <a:p>
            <a:pPr marL="0" indent="0">
              <a:buNone/>
            </a:pPr>
            <a:r>
              <a:rPr lang="en-US" sz="800" dirty="0">
                <a:solidFill>
                  <a:srgbClr val="475569"/>
                </a:solidFill>
              </a:rPr>
              <a:t>Stock level view · quantity adjustment · low-stock indicators · item detail editing · empty &amp; error state handling</a:t>
            </a:r>
            <a:endParaRPr lang="en-US" sz="800" dirty="0"/>
          </a:p>
        </p:txBody>
      </p:sp>
      <p:sp>
        <p:nvSpPr>
          <p:cNvPr id="67" name="Shape 37">
            <a:extLst>
              <a:ext uri="{FF2B5EF4-FFF2-40B4-BE49-F238E27FC236}">
                <a16:creationId xmlns:a16="http://schemas.microsoft.com/office/drawing/2014/main" id="{68070C5F-1B01-31B6-EE08-125CCA192C3A}"/>
              </a:ext>
            </a:extLst>
          </p:cNvPr>
          <p:cNvSpPr/>
          <p:nvPr/>
        </p:nvSpPr>
        <p:spPr>
          <a:xfrm>
            <a:off x="4800600" y="3922776"/>
            <a:ext cx="3886200" cy="73152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68" name="Shape 38">
            <a:extLst>
              <a:ext uri="{FF2B5EF4-FFF2-40B4-BE49-F238E27FC236}">
                <a16:creationId xmlns:a16="http://schemas.microsoft.com/office/drawing/2014/main" id="{61026FD6-ED4C-B9A4-9677-3C9A2115F6BD}"/>
              </a:ext>
            </a:extLst>
          </p:cNvPr>
          <p:cNvSpPr/>
          <p:nvPr/>
        </p:nvSpPr>
        <p:spPr>
          <a:xfrm>
            <a:off x="4800600" y="3922776"/>
            <a:ext cx="45720" cy="731520"/>
          </a:xfrm>
          <a:prstGeom prst="rect">
            <a:avLst/>
          </a:prstGeom>
          <a:solidFill>
            <a:srgbClr val="1B2A4A"/>
          </a:solidFill>
          <a:ln w="12700">
            <a:solidFill>
              <a:srgbClr val="1B2A4A"/>
            </a:solidFill>
            <a:prstDash val="solid"/>
          </a:ln>
        </p:spPr>
        <p:txBody>
          <a:bodyPr/>
          <a:lstStyle/>
          <a:p>
            <a:endParaRPr lang="en-US"/>
          </a:p>
        </p:txBody>
      </p:sp>
      <p:sp>
        <p:nvSpPr>
          <p:cNvPr id="69" name="Text 39">
            <a:extLst>
              <a:ext uri="{FF2B5EF4-FFF2-40B4-BE49-F238E27FC236}">
                <a16:creationId xmlns:a16="http://schemas.microsoft.com/office/drawing/2014/main" id="{A868BB30-60D4-7D15-1F18-8B828A5172B5}"/>
              </a:ext>
            </a:extLst>
          </p:cNvPr>
          <p:cNvSpPr/>
          <p:nvPr/>
        </p:nvSpPr>
        <p:spPr>
          <a:xfrm>
            <a:off x="4937760" y="4005072"/>
            <a:ext cx="3611880" cy="182880"/>
          </a:xfrm>
          <a:prstGeom prst="rect">
            <a:avLst/>
          </a:prstGeom>
          <a:noFill/>
          <a:ln/>
        </p:spPr>
        <p:txBody>
          <a:bodyPr wrap="square" lIns="0" tIns="0" rIns="0" bIns="0" rtlCol="0" anchor="ctr"/>
          <a:lstStyle/>
          <a:p>
            <a:pPr marL="0" indent="0">
              <a:buNone/>
            </a:pPr>
            <a:r>
              <a:rPr lang="en-US" sz="1000" b="1" dirty="0">
                <a:solidFill>
                  <a:srgbClr val="0D1B3E"/>
                </a:solidFill>
              </a:rPr>
              <a:t>Sales Dashboard &amp; Orders</a:t>
            </a:r>
            <a:endParaRPr lang="en-US" sz="1000" dirty="0"/>
          </a:p>
        </p:txBody>
      </p:sp>
      <p:sp>
        <p:nvSpPr>
          <p:cNvPr id="70" name="Text 40">
            <a:extLst>
              <a:ext uri="{FF2B5EF4-FFF2-40B4-BE49-F238E27FC236}">
                <a16:creationId xmlns:a16="http://schemas.microsoft.com/office/drawing/2014/main" id="{51850835-9CC0-0DE7-89F2-3D1CB6EF1045}"/>
              </a:ext>
            </a:extLst>
          </p:cNvPr>
          <p:cNvSpPr/>
          <p:nvPr/>
        </p:nvSpPr>
        <p:spPr>
          <a:xfrm>
            <a:off x="4937760" y="4206240"/>
            <a:ext cx="3611880" cy="365760"/>
          </a:xfrm>
          <a:prstGeom prst="rect">
            <a:avLst/>
          </a:prstGeom>
          <a:noFill/>
          <a:ln/>
        </p:spPr>
        <p:txBody>
          <a:bodyPr wrap="square" lIns="0" tIns="0" rIns="0" bIns="0" rtlCol="0" anchor="ctr"/>
          <a:lstStyle/>
          <a:p>
            <a:pPr marL="0" indent="0">
              <a:buNone/>
            </a:pPr>
            <a:r>
              <a:rPr lang="en-US" sz="800" dirty="0">
                <a:solidFill>
                  <a:srgbClr val="475569"/>
                </a:solidFill>
              </a:rPr>
              <a:t>Revenue summary · best sellers · order list with status · Mark Complete workflow · date-filterable reporting view</a:t>
            </a:r>
            <a:endParaRPr lang="en-US" sz="800" dirty="0"/>
          </a:p>
        </p:txBody>
      </p:sp>
      <p:sp>
        <p:nvSpPr>
          <p:cNvPr id="71" name="Shape 41">
            <a:extLst>
              <a:ext uri="{FF2B5EF4-FFF2-40B4-BE49-F238E27FC236}">
                <a16:creationId xmlns:a16="http://schemas.microsoft.com/office/drawing/2014/main" id="{92270F2A-4CDA-9065-E7F9-1322AA5BB0AB}"/>
              </a:ext>
            </a:extLst>
          </p:cNvPr>
          <p:cNvSpPr/>
          <p:nvPr/>
        </p:nvSpPr>
        <p:spPr>
          <a:xfrm>
            <a:off x="457200" y="4645152"/>
            <a:ext cx="8229600" cy="384048"/>
          </a:xfrm>
          <a:prstGeom prst="rect">
            <a:avLst/>
          </a:prstGeom>
          <a:solidFill>
            <a:srgbClr val="0D1B3E"/>
          </a:solidFill>
          <a:ln w="12700">
            <a:solidFill>
              <a:srgbClr val="0D1B3E"/>
            </a:solidFill>
            <a:prstDash val="solid"/>
          </a:ln>
        </p:spPr>
        <p:txBody>
          <a:bodyPr/>
          <a:lstStyle/>
          <a:p>
            <a:endParaRPr lang="en-US"/>
          </a:p>
        </p:txBody>
      </p:sp>
      <p:sp>
        <p:nvSpPr>
          <p:cNvPr id="72" name="Text 42">
            <a:extLst>
              <a:ext uri="{FF2B5EF4-FFF2-40B4-BE49-F238E27FC236}">
                <a16:creationId xmlns:a16="http://schemas.microsoft.com/office/drawing/2014/main" id="{E5BE1204-8654-E499-8EBC-DDF73D408B5C}"/>
              </a:ext>
            </a:extLst>
          </p:cNvPr>
          <p:cNvSpPr/>
          <p:nvPr/>
        </p:nvSpPr>
        <p:spPr>
          <a:xfrm>
            <a:off x="658368" y="4681728"/>
            <a:ext cx="1920240" cy="146304"/>
          </a:xfrm>
          <a:prstGeom prst="rect">
            <a:avLst/>
          </a:prstGeom>
          <a:noFill/>
          <a:ln/>
        </p:spPr>
        <p:txBody>
          <a:bodyPr wrap="square" lIns="0" tIns="0" rIns="0" bIns="0" rtlCol="0" anchor="ctr"/>
          <a:lstStyle/>
          <a:p>
            <a:pPr marL="0" indent="0">
              <a:buNone/>
            </a:pPr>
            <a:r>
              <a:rPr lang="en-US" sz="800" b="1" dirty="0">
                <a:solidFill>
                  <a:srgbClr val="FFFFFF"/>
                </a:solidFill>
              </a:rPr>
              <a:t>🎨  Consistent Branding</a:t>
            </a:r>
            <a:endParaRPr lang="en-US" sz="800" dirty="0"/>
          </a:p>
        </p:txBody>
      </p:sp>
      <p:sp>
        <p:nvSpPr>
          <p:cNvPr id="73" name="Text 43">
            <a:extLst>
              <a:ext uri="{FF2B5EF4-FFF2-40B4-BE49-F238E27FC236}">
                <a16:creationId xmlns:a16="http://schemas.microsoft.com/office/drawing/2014/main" id="{EC633D3B-73E8-BF4B-8EEA-989E72CD7864}"/>
              </a:ext>
            </a:extLst>
          </p:cNvPr>
          <p:cNvSpPr/>
          <p:nvPr/>
        </p:nvSpPr>
        <p:spPr>
          <a:xfrm>
            <a:off x="658368" y="4828032"/>
            <a:ext cx="1920240" cy="146304"/>
          </a:xfrm>
          <a:prstGeom prst="rect">
            <a:avLst/>
          </a:prstGeom>
          <a:noFill/>
          <a:ln/>
        </p:spPr>
        <p:txBody>
          <a:bodyPr wrap="square" lIns="0" tIns="0" rIns="0" bIns="0" rtlCol="0" anchor="ctr"/>
          <a:lstStyle/>
          <a:p>
            <a:pPr marL="0" indent="0">
              <a:buNone/>
            </a:pPr>
            <a:r>
              <a:rPr lang="en-US" sz="650" dirty="0">
                <a:solidFill>
                  <a:srgbClr val="94A3B8"/>
                </a:solidFill>
              </a:rPr>
              <a:t>Colors, typography &amp; components unified across all views</a:t>
            </a:r>
            <a:endParaRPr lang="en-US" sz="650" dirty="0"/>
          </a:p>
        </p:txBody>
      </p:sp>
      <p:sp>
        <p:nvSpPr>
          <p:cNvPr id="74" name="Text 44">
            <a:extLst>
              <a:ext uri="{FF2B5EF4-FFF2-40B4-BE49-F238E27FC236}">
                <a16:creationId xmlns:a16="http://schemas.microsoft.com/office/drawing/2014/main" id="{C4ABB8FE-2687-75AD-F3B1-FC8B99C4FF69}"/>
              </a:ext>
            </a:extLst>
          </p:cNvPr>
          <p:cNvSpPr/>
          <p:nvPr/>
        </p:nvSpPr>
        <p:spPr>
          <a:xfrm>
            <a:off x="2706624" y="4681728"/>
            <a:ext cx="1920240" cy="146304"/>
          </a:xfrm>
          <a:prstGeom prst="rect">
            <a:avLst/>
          </a:prstGeom>
          <a:noFill/>
          <a:ln/>
        </p:spPr>
        <p:txBody>
          <a:bodyPr wrap="square" lIns="0" tIns="0" rIns="0" bIns="0" rtlCol="0" anchor="ctr"/>
          <a:lstStyle/>
          <a:p>
            <a:pPr marL="0" indent="0">
              <a:buNone/>
            </a:pPr>
            <a:r>
              <a:rPr lang="en-US" sz="800" b="1" dirty="0">
                <a:solidFill>
                  <a:srgbClr val="FFFFFF"/>
                </a:solidFill>
              </a:rPr>
              <a:t>📱  Responsive Design</a:t>
            </a:r>
            <a:endParaRPr lang="en-US" sz="800" dirty="0"/>
          </a:p>
        </p:txBody>
      </p:sp>
      <p:sp>
        <p:nvSpPr>
          <p:cNvPr id="75" name="Text 45">
            <a:extLst>
              <a:ext uri="{FF2B5EF4-FFF2-40B4-BE49-F238E27FC236}">
                <a16:creationId xmlns:a16="http://schemas.microsoft.com/office/drawing/2014/main" id="{3535C6FA-833A-AB79-5213-DAE25E209FD4}"/>
              </a:ext>
            </a:extLst>
          </p:cNvPr>
          <p:cNvSpPr/>
          <p:nvPr/>
        </p:nvSpPr>
        <p:spPr>
          <a:xfrm>
            <a:off x="2706624" y="4828032"/>
            <a:ext cx="1920240" cy="146304"/>
          </a:xfrm>
          <a:prstGeom prst="rect">
            <a:avLst/>
          </a:prstGeom>
          <a:noFill/>
          <a:ln/>
        </p:spPr>
        <p:txBody>
          <a:bodyPr wrap="square" lIns="0" tIns="0" rIns="0" bIns="0" rtlCol="0" anchor="ctr"/>
          <a:lstStyle/>
          <a:p>
            <a:pPr marL="0" indent="0">
              <a:buNone/>
            </a:pPr>
            <a:r>
              <a:rPr lang="en-US" sz="650" dirty="0">
                <a:solidFill>
                  <a:srgbClr val="94A3B8"/>
                </a:solidFill>
              </a:rPr>
              <a:t>Layouts adapt across desktop and mobile breakpoints</a:t>
            </a:r>
            <a:endParaRPr lang="en-US" sz="650" dirty="0"/>
          </a:p>
        </p:txBody>
      </p:sp>
      <p:sp>
        <p:nvSpPr>
          <p:cNvPr id="76" name="Text 46">
            <a:extLst>
              <a:ext uri="{FF2B5EF4-FFF2-40B4-BE49-F238E27FC236}">
                <a16:creationId xmlns:a16="http://schemas.microsoft.com/office/drawing/2014/main" id="{837CE29A-3EEF-4D8A-88BF-666FC65DBDC3}"/>
              </a:ext>
            </a:extLst>
          </p:cNvPr>
          <p:cNvSpPr/>
          <p:nvPr/>
        </p:nvSpPr>
        <p:spPr>
          <a:xfrm>
            <a:off x="4754880" y="4681728"/>
            <a:ext cx="1920240" cy="146304"/>
          </a:xfrm>
          <a:prstGeom prst="rect">
            <a:avLst/>
          </a:prstGeom>
          <a:noFill/>
          <a:ln/>
        </p:spPr>
        <p:txBody>
          <a:bodyPr wrap="square" lIns="0" tIns="0" rIns="0" bIns="0" rtlCol="0" anchor="ctr"/>
          <a:lstStyle/>
          <a:p>
            <a:pPr marL="0" indent="0">
              <a:buNone/>
            </a:pPr>
            <a:r>
              <a:rPr lang="en-US" sz="800" b="1" dirty="0">
                <a:solidFill>
                  <a:srgbClr val="FFFFFF"/>
                </a:solidFill>
              </a:rPr>
              <a:t>🔒  Role-Based UI</a:t>
            </a:r>
            <a:endParaRPr lang="en-US" sz="800" dirty="0"/>
          </a:p>
        </p:txBody>
      </p:sp>
      <p:sp>
        <p:nvSpPr>
          <p:cNvPr id="77" name="Text 47">
            <a:extLst>
              <a:ext uri="{FF2B5EF4-FFF2-40B4-BE49-F238E27FC236}">
                <a16:creationId xmlns:a16="http://schemas.microsoft.com/office/drawing/2014/main" id="{9AD0FFCA-2B77-EA08-B098-F49134144E69}"/>
              </a:ext>
            </a:extLst>
          </p:cNvPr>
          <p:cNvSpPr/>
          <p:nvPr/>
        </p:nvSpPr>
        <p:spPr>
          <a:xfrm>
            <a:off x="4754880" y="4828032"/>
            <a:ext cx="1920240" cy="146304"/>
          </a:xfrm>
          <a:prstGeom prst="rect">
            <a:avLst/>
          </a:prstGeom>
          <a:noFill/>
          <a:ln/>
        </p:spPr>
        <p:txBody>
          <a:bodyPr wrap="square" lIns="0" tIns="0" rIns="0" bIns="0" rtlCol="0" anchor="ctr"/>
          <a:lstStyle/>
          <a:p>
            <a:pPr marL="0" indent="0">
              <a:buNone/>
            </a:pPr>
            <a:r>
              <a:rPr lang="en-US" sz="650" dirty="0">
                <a:solidFill>
                  <a:srgbClr val="94A3B8"/>
                </a:solidFill>
              </a:rPr>
              <a:t>Admin views restricted; customers see only their flows</a:t>
            </a:r>
            <a:endParaRPr lang="en-US" sz="650" dirty="0"/>
          </a:p>
        </p:txBody>
      </p:sp>
      <p:sp>
        <p:nvSpPr>
          <p:cNvPr id="78" name="Text 48">
            <a:extLst>
              <a:ext uri="{FF2B5EF4-FFF2-40B4-BE49-F238E27FC236}">
                <a16:creationId xmlns:a16="http://schemas.microsoft.com/office/drawing/2014/main" id="{A0C00045-1AD6-987F-3773-9FB5BDE6A2AD}"/>
              </a:ext>
            </a:extLst>
          </p:cNvPr>
          <p:cNvSpPr/>
          <p:nvPr/>
        </p:nvSpPr>
        <p:spPr>
          <a:xfrm>
            <a:off x="6803136" y="4681728"/>
            <a:ext cx="1920240" cy="146304"/>
          </a:xfrm>
          <a:prstGeom prst="rect">
            <a:avLst/>
          </a:prstGeom>
          <a:noFill/>
          <a:ln/>
        </p:spPr>
        <p:txBody>
          <a:bodyPr wrap="square" lIns="0" tIns="0" rIns="0" bIns="0" rtlCol="0" anchor="ctr"/>
          <a:lstStyle/>
          <a:p>
            <a:pPr marL="0" indent="0">
              <a:buNone/>
            </a:pPr>
            <a:r>
              <a:rPr lang="en-US" sz="800" b="1" dirty="0">
                <a:solidFill>
                  <a:srgbClr val="FFFFFF"/>
                </a:solidFill>
              </a:rPr>
              <a:t>⚡  State Management</a:t>
            </a:r>
            <a:endParaRPr lang="en-US" sz="800" dirty="0"/>
          </a:p>
        </p:txBody>
      </p:sp>
      <p:sp>
        <p:nvSpPr>
          <p:cNvPr id="79" name="Text 49">
            <a:extLst>
              <a:ext uri="{FF2B5EF4-FFF2-40B4-BE49-F238E27FC236}">
                <a16:creationId xmlns:a16="http://schemas.microsoft.com/office/drawing/2014/main" id="{95AC6EFD-D09B-01FE-FEC2-90F8FD8F8661}"/>
              </a:ext>
            </a:extLst>
          </p:cNvPr>
          <p:cNvSpPr/>
          <p:nvPr/>
        </p:nvSpPr>
        <p:spPr>
          <a:xfrm>
            <a:off x="6803136" y="4828032"/>
            <a:ext cx="1920240" cy="146304"/>
          </a:xfrm>
          <a:prstGeom prst="rect">
            <a:avLst/>
          </a:prstGeom>
          <a:noFill/>
          <a:ln/>
        </p:spPr>
        <p:txBody>
          <a:bodyPr wrap="square" lIns="0" tIns="0" rIns="0" bIns="0" rtlCol="0" anchor="ctr"/>
          <a:lstStyle/>
          <a:p>
            <a:pPr marL="0" indent="0">
              <a:buNone/>
            </a:pPr>
            <a:r>
              <a:rPr lang="en-US" sz="650" dirty="0">
                <a:solidFill>
                  <a:srgbClr val="94A3B8"/>
                </a:solidFill>
              </a:rPr>
              <a:t>Loading, empty, error &amp; success states on every view</a:t>
            </a:r>
            <a:endParaRPr lang="en-US" sz="650" dirty="0"/>
          </a:p>
        </p:txBody>
      </p:sp>
    </p:spTree>
    <p:extLst>
      <p:ext uri="{BB962C8B-B14F-4D97-AF65-F5344CB8AC3E}">
        <p14:creationId xmlns:p14="http://schemas.microsoft.com/office/powerpoint/2010/main" val="184323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290">
                                          <p:stCondLst>
                                            <p:cond delay="0"/>
                                          </p:stCondLst>
                                        </p:cTn>
                                        <p:tgtEl>
                                          <p:spTgt spid="31"/>
                                        </p:tgtEl>
                                      </p:cBhvr>
                                    </p:animEffect>
                                    <p:anim calcmode="lin" valueType="num">
                                      <p:cBhvr>
                                        <p:cTn id="8" dur="911"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31"/>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31"/>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31"/>
                                        </p:tgtEl>
                                        <p:attrNameLst>
                                          <p:attrName>ppt_y</p:attrName>
                                        </p:attrNameLst>
                                      </p:cBhvr>
                                      <p:tavLst>
                                        <p:tav tm="0" fmla="#ppt_y-sin(pi*$)/81">
                                          <p:val>
                                            <p:fltVal val="0"/>
                                          </p:val>
                                        </p:tav>
                                        <p:tav tm="100000">
                                          <p:val>
                                            <p:fltVal val="1"/>
                                          </p:val>
                                        </p:tav>
                                      </p:tavLst>
                                    </p:anim>
                                    <p:animScale>
                                      <p:cBhvr>
                                        <p:cTn id="13" dur="13">
                                          <p:stCondLst>
                                            <p:cond delay="325"/>
                                          </p:stCondLst>
                                        </p:cTn>
                                        <p:tgtEl>
                                          <p:spTgt spid="31"/>
                                        </p:tgtEl>
                                      </p:cBhvr>
                                      <p:to x="100000" y="60000"/>
                                    </p:animScale>
                                    <p:animScale>
                                      <p:cBhvr>
                                        <p:cTn id="14" dur="83" decel="50000">
                                          <p:stCondLst>
                                            <p:cond delay="338"/>
                                          </p:stCondLst>
                                        </p:cTn>
                                        <p:tgtEl>
                                          <p:spTgt spid="31"/>
                                        </p:tgtEl>
                                      </p:cBhvr>
                                      <p:to x="100000" y="100000"/>
                                    </p:animScale>
                                    <p:animScale>
                                      <p:cBhvr>
                                        <p:cTn id="15" dur="13">
                                          <p:stCondLst>
                                            <p:cond delay="656"/>
                                          </p:stCondLst>
                                        </p:cTn>
                                        <p:tgtEl>
                                          <p:spTgt spid="31"/>
                                        </p:tgtEl>
                                      </p:cBhvr>
                                      <p:to x="100000" y="80000"/>
                                    </p:animScale>
                                    <p:animScale>
                                      <p:cBhvr>
                                        <p:cTn id="16" dur="83" decel="50000">
                                          <p:stCondLst>
                                            <p:cond delay="669"/>
                                          </p:stCondLst>
                                        </p:cTn>
                                        <p:tgtEl>
                                          <p:spTgt spid="31"/>
                                        </p:tgtEl>
                                      </p:cBhvr>
                                      <p:to x="100000" y="100000"/>
                                    </p:animScale>
                                    <p:animScale>
                                      <p:cBhvr>
                                        <p:cTn id="17" dur="13">
                                          <p:stCondLst>
                                            <p:cond delay="821"/>
                                          </p:stCondLst>
                                        </p:cTn>
                                        <p:tgtEl>
                                          <p:spTgt spid="31"/>
                                        </p:tgtEl>
                                      </p:cBhvr>
                                      <p:to x="100000" y="90000"/>
                                    </p:animScale>
                                    <p:animScale>
                                      <p:cBhvr>
                                        <p:cTn id="18" dur="83" decel="50000">
                                          <p:stCondLst>
                                            <p:cond delay="834"/>
                                          </p:stCondLst>
                                        </p:cTn>
                                        <p:tgtEl>
                                          <p:spTgt spid="31"/>
                                        </p:tgtEl>
                                      </p:cBhvr>
                                      <p:to x="100000" y="100000"/>
                                    </p:animScale>
                                    <p:animScale>
                                      <p:cBhvr>
                                        <p:cTn id="19" dur="13">
                                          <p:stCondLst>
                                            <p:cond delay="904"/>
                                          </p:stCondLst>
                                        </p:cTn>
                                        <p:tgtEl>
                                          <p:spTgt spid="31"/>
                                        </p:tgtEl>
                                      </p:cBhvr>
                                      <p:to x="100000" y="95000"/>
                                    </p:animScale>
                                    <p:animScale>
                                      <p:cBhvr>
                                        <p:cTn id="20" dur="83" decel="50000">
                                          <p:stCondLst>
                                            <p:cond delay="917"/>
                                          </p:stCondLst>
                                        </p:cTn>
                                        <p:tgtEl>
                                          <p:spTgt spid="31"/>
                                        </p:tgtEl>
                                      </p:cBhvr>
                                      <p:to x="100000" y="100000"/>
                                    </p:animScale>
                                  </p:childTnLst>
                                </p:cTn>
                              </p:par>
                            </p:childTnLst>
                          </p:cTn>
                        </p:par>
                        <p:par>
                          <p:cTn id="21" fill="hold">
                            <p:stCondLst>
                              <p:cond delay="1000"/>
                            </p:stCondLst>
                            <p:childTnLst>
                              <p:par>
                                <p:cTn id="22" presetID="2" presetClass="entr" presetSubtype="4"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 calcmode="lin" valueType="num">
                                      <p:cBhvr additive="base">
                                        <p:cTn id="24" dur="2000" fill="hold"/>
                                        <p:tgtEl>
                                          <p:spTgt spid="34"/>
                                        </p:tgtEl>
                                        <p:attrNameLst>
                                          <p:attrName>ppt_x</p:attrName>
                                        </p:attrNameLst>
                                      </p:cBhvr>
                                      <p:tavLst>
                                        <p:tav tm="0">
                                          <p:val>
                                            <p:strVal val="#ppt_x"/>
                                          </p:val>
                                        </p:tav>
                                        <p:tav tm="100000">
                                          <p:val>
                                            <p:strVal val="#ppt_x"/>
                                          </p:val>
                                        </p:tav>
                                      </p:tavLst>
                                    </p:anim>
                                    <p:anim calcmode="lin" valueType="num">
                                      <p:cBhvr additive="base">
                                        <p:cTn id="25" dur="2000" fill="hold"/>
                                        <p:tgtEl>
                                          <p:spTgt spid="34"/>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additive="base">
                                        <p:cTn id="28" dur="2000" fill="hold"/>
                                        <p:tgtEl>
                                          <p:spTgt spid="35"/>
                                        </p:tgtEl>
                                        <p:attrNameLst>
                                          <p:attrName>ppt_x</p:attrName>
                                        </p:attrNameLst>
                                      </p:cBhvr>
                                      <p:tavLst>
                                        <p:tav tm="0">
                                          <p:val>
                                            <p:strVal val="#ppt_x"/>
                                          </p:val>
                                        </p:tav>
                                        <p:tav tm="100000">
                                          <p:val>
                                            <p:strVal val="#ppt_x"/>
                                          </p:val>
                                        </p:tav>
                                      </p:tavLst>
                                    </p:anim>
                                    <p:anim calcmode="lin" valueType="num">
                                      <p:cBhvr additive="base">
                                        <p:cTn id="29" dur="2000" fill="hold"/>
                                        <p:tgtEl>
                                          <p:spTgt spid="35"/>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additive="base">
                                        <p:cTn id="32" dur="2000" fill="hold"/>
                                        <p:tgtEl>
                                          <p:spTgt spid="36"/>
                                        </p:tgtEl>
                                        <p:attrNameLst>
                                          <p:attrName>ppt_x</p:attrName>
                                        </p:attrNameLst>
                                      </p:cBhvr>
                                      <p:tavLst>
                                        <p:tav tm="0">
                                          <p:val>
                                            <p:strVal val="#ppt_x"/>
                                          </p:val>
                                        </p:tav>
                                        <p:tav tm="100000">
                                          <p:val>
                                            <p:strVal val="#ppt_x"/>
                                          </p:val>
                                        </p:tav>
                                      </p:tavLst>
                                    </p:anim>
                                    <p:anim calcmode="lin" valueType="num">
                                      <p:cBhvr additive="base">
                                        <p:cTn id="33" dur="2000" fill="hold"/>
                                        <p:tgtEl>
                                          <p:spTgt spid="36"/>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additive="base">
                                        <p:cTn id="36" dur="2000" fill="hold"/>
                                        <p:tgtEl>
                                          <p:spTgt spid="37"/>
                                        </p:tgtEl>
                                        <p:attrNameLst>
                                          <p:attrName>ppt_x</p:attrName>
                                        </p:attrNameLst>
                                      </p:cBhvr>
                                      <p:tavLst>
                                        <p:tav tm="0">
                                          <p:val>
                                            <p:strVal val="#ppt_x"/>
                                          </p:val>
                                        </p:tav>
                                        <p:tav tm="100000">
                                          <p:val>
                                            <p:strVal val="#ppt_x"/>
                                          </p:val>
                                        </p:tav>
                                      </p:tavLst>
                                    </p:anim>
                                    <p:anim calcmode="lin" valueType="num">
                                      <p:cBhvr additive="base">
                                        <p:cTn id="37" dur="2000" fill="hold"/>
                                        <p:tgtEl>
                                          <p:spTgt spid="3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 calcmode="lin" valueType="num">
                                      <p:cBhvr additive="base">
                                        <p:cTn id="40" dur="2000" fill="hold"/>
                                        <p:tgtEl>
                                          <p:spTgt spid="38"/>
                                        </p:tgtEl>
                                        <p:attrNameLst>
                                          <p:attrName>ppt_x</p:attrName>
                                        </p:attrNameLst>
                                      </p:cBhvr>
                                      <p:tavLst>
                                        <p:tav tm="0">
                                          <p:val>
                                            <p:strVal val="#ppt_x"/>
                                          </p:val>
                                        </p:tav>
                                        <p:tav tm="100000">
                                          <p:val>
                                            <p:strVal val="#ppt_x"/>
                                          </p:val>
                                        </p:tav>
                                      </p:tavLst>
                                    </p:anim>
                                    <p:anim calcmode="lin" valueType="num">
                                      <p:cBhvr additive="base">
                                        <p:cTn id="41" dur="2000" fill="hold"/>
                                        <p:tgtEl>
                                          <p:spTgt spid="38"/>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additive="base">
                                        <p:cTn id="44" dur="2000" fill="hold"/>
                                        <p:tgtEl>
                                          <p:spTgt spid="39"/>
                                        </p:tgtEl>
                                        <p:attrNameLst>
                                          <p:attrName>ppt_x</p:attrName>
                                        </p:attrNameLst>
                                      </p:cBhvr>
                                      <p:tavLst>
                                        <p:tav tm="0">
                                          <p:val>
                                            <p:strVal val="#ppt_x"/>
                                          </p:val>
                                        </p:tav>
                                        <p:tav tm="100000">
                                          <p:val>
                                            <p:strVal val="#ppt_x"/>
                                          </p:val>
                                        </p:tav>
                                      </p:tavLst>
                                    </p:anim>
                                    <p:anim calcmode="lin" valueType="num">
                                      <p:cBhvr additive="base">
                                        <p:cTn id="45" dur="2000" fill="hold"/>
                                        <p:tgtEl>
                                          <p:spTgt spid="39"/>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40"/>
                                        </p:tgtEl>
                                        <p:attrNameLst>
                                          <p:attrName>style.visibility</p:attrName>
                                        </p:attrNameLst>
                                      </p:cBhvr>
                                      <p:to>
                                        <p:strVal val="visible"/>
                                      </p:to>
                                    </p:set>
                                    <p:anim calcmode="lin" valueType="num">
                                      <p:cBhvr additive="base">
                                        <p:cTn id="48" dur="2000" fill="hold"/>
                                        <p:tgtEl>
                                          <p:spTgt spid="40"/>
                                        </p:tgtEl>
                                        <p:attrNameLst>
                                          <p:attrName>ppt_x</p:attrName>
                                        </p:attrNameLst>
                                      </p:cBhvr>
                                      <p:tavLst>
                                        <p:tav tm="0">
                                          <p:val>
                                            <p:strVal val="#ppt_x"/>
                                          </p:val>
                                        </p:tav>
                                        <p:tav tm="100000">
                                          <p:val>
                                            <p:strVal val="#ppt_x"/>
                                          </p:val>
                                        </p:tav>
                                      </p:tavLst>
                                    </p:anim>
                                    <p:anim calcmode="lin" valueType="num">
                                      <p:cBhvr additive="base">
                                        <p:cTn id="49" dur="2000" fill="hold"/>
                                        <p:tgtEl>
                                          <p:spTgt spid="40"/>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 calcmode="lin" valueType="num">
                                      <p:cBhvr additive="base">
                                        <p:cTn id="52" dur="2000" fill="hold"/>
                                        <p:tgtEl>
                                          <p:spTgt spid="41"/>
                                        </p:tgtEl>
                                        <p:attrNameLst>
                                          <p:attrName>ppt_x</p:attrName>
                                        </p:attrNameLst>
                                      </p:cBhvr>
                                      <p:tavLst>
                                        <p:tav tm="0">
                                          <p:val>
                                            <p:strVal val="#ppt_x"/>
                                          </p:val>
                                        </p:tav>
                                        <p:tav tm="100000">
                                          <p:val>
                                            <p:strVal val="#ppt_x"/>
                                          </p:val>
                                        </p:tav>
                                      </p:tavLst>
                                    </p:anim>
                                    <p:anim calcmode="lin" valueType="num">
                                      <p:cBhvr additive="base">
                                        <p:cTn id="53" dur="2000" fill="hold"/>
                                        <p:tgtEl>
                                          <p:spTgt spid="41"/>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 calcmode="lin" valueType="num">
                                      <p:cBhvr additive="base">
                                        <p:cTn id="56" dur="2000" fill="hold"/>
                                        <p:tgtEl>
                                          <p:spTgt spid="42"/>
                                        </p:tgtEl>
                                        <p:attrNameLst>
                                          <p:attrName>ppt_x</p:attrName>
                                        </p:attrNameLst>
                                      </p:cBhvr>
                                      <p:tavLst>
                                        <p:tav tm="0">
                                          <p:val>
                                            <p:strVal val="#ppt_x"/>
                                          </p:val>
                                        </p:tav>
                                        <p:tav tm="100000">
                                          <p:val>
                                            <p:strVal val="#ppt_x"/>
                                          </p:val>
                                        </p:tav>
                                      </p:tavLst>
                                    </p:anim>
                                    <p:anim calcmode="lin" valueType="num">
                                      <p:cBhvr additive="base">
                                        <p:cTn id="57" dur="2000" fill="hold"/>
                                        <p:tgtEl>
                                          <p:spTgt spid="42"/>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55"/>
                                        </p:tgtEl>
                                        <p:attrNameLst>
                                          <p:attrName>style.visibility</p:attrName>
                                        </p:attrNameLst>
                                      </p:cBhvr>
                                      <p:to>
                                        <p:strVal val="visible"/>
                                      </p:to>
                                    </p:set>
                                    <p:anim calcmode="lin" valueType="num">
                                      <p:cBhvr additive="base">
                                        <p:cTn id="60" dur="2000" fill="hold"/>
                                        <p:tgtEl>
                                          <p:spTgt spid="55"/>
                                        </p:tgtEl>
                                        <p:attrNameLst>
                                          <p:attrName>ppt_x</p:attrName>
                                        </p:attrNameLst>
                                      </p:cBhvr>
                                      <p:tavLst>
                                        <p:tav tm="0">
                                          <p:val>
                                            <p:strVal val="#ppt_x"/>
                                          </p:val>
                                        </p:tav>
                                        <p:tav tm="100000">
                                          <p:val>
                                            <p:strVal val="#ppt_x"/>
                                          </p:val>
                                        </p:tav>
                                      </p:tavLst>
                                    </p:anim>
                                    <p:anim calcmode="lin" valueType="num">
                                      <p:cBhvr additive="base">
                                        <p:cTn id="61" dur="2000" fill="hold"/>
                                        <p:tgtEl>
                                          <p:spTgt spid="55"/>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56"/>
                                        </p:tgtEl>
                                        <p:attrNameLst>
                                          <p:attrName>style.visibility</p:attrName>
                                        </p:attrNameLst>
                                      </p:cBhvr>
                                      <p:to>
                                        <p:strVal val="visible"/>
                                      </p:to>
                                    </p:set>
                                    <p:anim calcmode="lin" valueType="num">
                                      <p:cBhvr additive="base">
                                        <p:cTn id="64" dur="2000" fill="hold"/>
                                        <p:tgtEl>
                                          <p:spTgt spid="56"/>
                                        </p:tgtEl>
                                        <p:attrNameLst>
                                          <p:attrName>ppt_x</p:attrName>
                                        </p:attrNameLst>
                                      </p:cBhvr>
                                      <p:tavLst>
                                        <p:tav tm="0">
                                          <p:val>
                                            <p:strVal val="#ppt_x"/>
                                          </p:val>
                                        </p:tav>
                                        <p:tav tm="100000">
                                          <p:val>
                                            <p:strVal val="#ppt_x"/>
                                          </p:val>
                                        </p:tav>
                                      </p:tavLst>
                                    </p:anim>
                                    <p:anim calcmode="lin" valueType="num">
                                      <p:cBhvr additive="base">
                                        <p:cTn id="65" dur="2000" fill="hold"/>
                                        <p:tgtEl>
                                          <p:spTgt spid="56"/>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57"/>
                                        </p:tgtEl>
                                        <p:attrNameLst>
                                          <p:attrName>style.visibility</p:attrName>
                                        </p:attrNameLst>
                                      </p:cBhvr>
                                      <p:to>
                                        <p:strVal val="visible"/>
                                      </p:to>
                                    </p:set>
                                    <p:anim calcmode="lin" valueType="num">
                                      <p:cBhvr additive="base">
                                        <p:cTn id="68" dur="2000" fill="hold"/>
                                        <p:tgtEl>
                                          <p:spTgt spid="57"/>
                                        </p:tgtEl>
                                        <p:attrNameLst>
                                          <p:attrName>ppt_x</p:attrName>
                                        </p:attrNameLst>
                                      </p:cBhvr>
                                      <p:tavLst>
                                        <p:tav tm="0">
                                          <p:val>
                                            <p:strVal val="#ppt_x"/>
                                          </p:val>
                                        </p:tav>
                                        <p:tav tm="100000">
                                          <p:val>
                                            <p:strVal val="#ppt_x"/>
                                          </p:val>
                                        </p:tav>
                                      </p:tavLst>
                                    </p:anim>
                                    <p:anim calcmode="lin" valueType="num">
                                      <p:cBhvr additive="base">
                                        <p:cTn id="69" dur="2000" fill="hold"/>
                                        <p:tgtEl>
                                          <p:spTgt spid="57"/>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58"/>
                                        </p:tgtEl>
                                        <p:attrNameLst>
                                          <p:attrName>style.visibility</p:attrName>
                                        </p:attrNameLst>
                                      </p:cBhvr>
                                      <p:to>
                                        <p:strVal val="visible"/>
                                      </p:to>
                                    </p:set>
                                    <p:anim calcmode="lin" valueType="num">
                                      <p:cBhvr additive="base">
                                        <p:cTn id="72" dur="2000" fill="hold"/>
                                        <p:tgtEl>
                                          <p:spTgt spid="58"/>
                                        </p:tgtEl>
                                        <p:attrNameLst>
                                          <p:attrName>ppt_x</p:attrName>
                                        </p:attrNameLst>
                                      </p:cBhvr>
                                      <p:tavLst>
                                        <p:tav tm="0">
                                          <p:val>
                                            <p:strVal val="#ppt_x"/>
                                          </p:val>
                                        </p:tav>
                                        <p:tav tm="100000">
                                          <p:val>
                                            <p:strVal val="#ppt_x"/>
                                          </p:val>
                                        </p:tav>
                                      </p:tavLst>
                                    </p:anim>
                                    <p:anim calcmode="lin" valueType="num">
                                      <p:cBhvr additive="base">
                                        <p:cTn id="73" dur="2000" fill="hold"/>
                                        <p:tgtEl>
                                          <p:spTgt spid="58"/>
                                        </p:tgtEl>
                                        <p:attrNameLst>
                                          <p:attrName>ppt_y</p:attrName>
                                        </p:attrNameLst>
                                      </p:cBhvr>
                                      <p:tavLst>
                                        <p:tav tm="0">
                                          <p:val>
                                            <p:strVal val="1+#ppt_h/2"/>
                                          </p:val>
                                        </p:tav>
                                        <p:tav tm="100000">
                                          <p:val>
                                            <p:strVal val="#ppt_y"/>
                                          </p:val>
                                        </p:tav>
                                      </p:tavLst>
                                    </p:anim>
                                  </p:childTnLst>
                                </p:cTn>
                              </p:par>
                            </p:childTnLst>
                          </p:cTn>
                        </p:par>
                        <p:par>
                          <p:cTn id="74" fill="hold">
                            <p:stCondLst>
                              <p:cond delay="3000"/>
                            </p:stCondLst>
                            <p:childTnLst>
                              <p:par>
                                <p:cTn id="75" presetID="2" presetClass="entr" presetSubtype="4" fill="hold" grpId="0" nodeType="afterEffect">
                                  <p:stCondLst>
                                    <p:cond delay="0"/>
                                  </p:stCondLst>
                                  <p:childTnLst>
                                    <p:set>
                                      <p:cBhvr>
                                        <p:cTn id="76" dur="1" fill="hold">
                                          <p:stCondLst>
                                            <p:cond delay="0"/>
                                          </p:stCondLst>
                                        </p:cTn>
                                        <p:tgtEl>
                                          <p:spTgt spid="43"/>
                                        </p:tgtEl>
                                        <p:attrNameLst>
                                          <p:attrName>style.visibility</p:attrName>
                                        </p:attrNameLst>
                                      </p:cBhvr>
                                      <p:to>
                                        <p:strVal val="visible"/>
                                      </p:to>
                                    </p:set>
                                    <p:anim calcmode="lin" valueType="num">
                                      <p:cBhvr additive="base">
                                        <p:cTn id="77" dur="2000" fill="hold"/>
                                        <p:tgtEl>
                                          <p:spTgt spid="43"/>
                                        </p:tgtEl>
                                        <p:attrNameLst>
                                          <p:attrName>ppt_x</p:attrName>
                                        </p:attrNameLst>
                                      </p:cBhvr>
                                      <p:tavLst>
                                        <p:tav tm="0">
                                          <p:val>
                                            <p:strVal val="#ppt_x"/>
                                          </p:val>
                                        </p:tav>
                                        <p:tav tm="100000">
                                          <p:val>
                                            <p:strVal val="#ppt_x"/>
                                          </p:val>
                                        </p:tav>
                                      </p:tavLst>
                                    </p:anim>
                                    <p:anim calcmode="lin" valueType="num">
                                      <p:cBhvr additive="base">
                                        <p:cTn id="78" dur="2000" fill="hold"/>
                                        <p:tgtEl>
                                          <p:spTgt spid="43"/>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44"/>
                                        </p:tgtEl>
                                        <p:attrNameLst>
                                          <p:attrName>style.visibility</p:attrName>
                                        </p:attrNameLst>
                                      </p:cBhvr>
                                      <p:to>
                                        <p:strVal val="visible"/>
                                      </p:to>
                                    </p:set>
                                    <p:anim calcmode="lin" valueType="num">
                                      <p:cBhvr additive="base">
                                        <p:cTn id="81" dur="2000" fill="hold"/>
                                        <p:tgtEl>
                                          <p:spTgt spid="44"/>
                                        </p:tgtEl>
                                        <p:attrNameLst>
                                          <p:attrName>ppt_x</p:attrName>
                                        </p:attrNameLst>
                                      </p:cBhvr>
                                      <p:tavLst>
                                        <p:tav tm="0">
                                          <p:val>
                                            <p:strVal val="#ppt_x"/>
                                          </p:val>
                                        </p:tav>
                                        <p:tav tm="100000">
                                          <p:val>
                                            <p:strVal val="#ppt_x"/>
                                          </p:val>
                                        </p:tav>
                                      </p:tavLst>
                                    </p:anim>
                                    <p:anim calcmode="lin" valueType="num">
                                      <p:cBhvr additive="base">
                                        <p:cTn id="82" dur="2000" fill="hold"/>
                                        <p:tgtEl>
                                          <p:spTgt spid="44"/>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45"/>
                                        </p:tgtEl>
                                        <p:attrNameLst>
                                          <p:attrName>style.visibility</p:attrName>
                                        </p:attrNameLst>
                                      </p:cBhvr>
                                      <p:to>
                                        <p:strVal val="visible"/>
                                      </p:to>
                                    </p:set>
                                    <p:anim calcmode="lin" valueType="num">
                                      <p:cBhvr additive="base">
                                        <p:cTn id="85" dur="2000" fill="hold"/>
                                        <p:tgtEl>
                                          <p:spTgt spid="45"/>
                                        </p:tgtEl>
                                        <p:attrNameLst>
                                          <p:attrName>ppt_x</p:attrName>
                                        </p:attrNameLst>
                                      </p:cBhvr>
                                      <p:tavLst>
                                        <p:tav tm="0">
                                          <p:val>
                                            <p:strVal val="#ppt_x"/>
                                          </p:val>
                                        </p:tav>
                                        <p:tav tm="100000">
                                          <p:val>
                                            <p:strVal val="#ppt_x"/>
                                          </p:val>
                                        </p:tav>
                                      </p:tavLst>
                                    </p:anim>
                                    <p:anim calcmode="lin" valueType="num">
                                      <p:cBhvr additive="base">
                                        <p:cTn id="86" dur="2000" fill="hold"/>
                                        <p:tgtEl>
                                          <p:spTgt spid="45"/>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anim calcmode="lin" valueType="num">
                                      <p:cBhvr additive="base">
                                        <p:cTn id="89" dur="2000" fill="hold"/>
                                        <p:tgtEl>
                                          <p:spTgt spid="46"/>
                                        </p:tgtEl>
                                        <p:attrNameLst>
                                          <p:attrName>ppt_x</p:attrName>
                                        </p:attrNameLst>
                                      </p:cBhvr>
                                      <p:tavLst>
                                        <p:tav tm="0">
                                          <p:val>
                                            <p:strVal val="#ppt_x"/>
                                          </p:val>
                                        </p:tav>
                                        <p:tav tm="100000">
                                          <p:val>
                                            <p:strVal val="#ppt_x"/>
                                          </p:val>
                                        </p:tav>
                                      </p:tavLst>
                                    </p:anim>
                                    <p:anim calcmode="lin" valueType="num">
                                      <p:cBhvr additive="base">
                                        <p:cTn id="90" dur="2000" fill="hold"/>
                                        <p:tgtEl>
                                          <p:spTgt spid="46"/>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anim calcmode="lin" valueType="num">
                                      <p:cBhvr additive="base">
                                        <p:cTn id="93" dur="2000" fill="hold"/>
                                        <p:tgtEl>
                                          <p:spTgt spid="59"/>
                                        </p:tgtEl>
                                        <p:attrNameLst>
                                          <p:attrName>ppt_x</p:attrName>
                                        </p:attrNameLst>
                                      </p:cBhvr>
                                      <p:tavLst>
                                        <p:tav tm="0">
                                          <p:val>
                                            <p:strVal val="#ppt_x"/>
                                          </p:val>
                                        </p:tav>
                                        <p:tav tm="100000">
                                          <p:val>
                                            <p:strVal val="#ppt_x"/>
                                          </p:val>
                                        </p:tav>
                                      </p:tavLst>
                                    </p:anim>
                                    <p:anim calcmode="lin" valueType="num">
                                      <p:cBhvr additive="base">
                                        <p:cTn id="94" dur="2000" fill="hold"/>
                                        <p:tgtEl>
                                          <p:spTgt spid="59"/>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60"/>
                                        </p:tgtEl>
                                        <p:attrNameLst>
                                          <p:attrName>style.visibility</p:attrName>
                                        </p:attrNameLst>
                                      </p:cBhvr>
                                      <p:to>
                                        <p:strVal val="visible"/>
                                      </p:to>
                                    </p:set>
                                    <p:anim calcmode="lin" valueType="num">
                                      <p:cBhvr additive="base">
                                        <p:cTn id="97" dur="2000" fill="hold"/>
                                        <p:tgtEl>
                                          <p:spTgt spid="60"/>
                                        </p:tgtEl>
                                        <p:attrNameLst>
                                          <p:attrName>ppt_x</p:attrName>
                                        </p:attrNameLst>
                                      </p:cBhvr>
                                      <p:tavLst>
                                        <p:tav tm="0">
                                          <p:val>
                                            <p:strVal val="#ppt_x"/>
                                          </p:val>
                                        </p:tav>
                                        <p:tav tm="100000">
                                          <p:val>
                                            <p:strVal val="#ppt_x"/>
                                          </p:val>
                                        </p:tav>
                                      </p:tavLst>
                                    </p:anim>
                                    <p:anim calcmode="lin" valueType="num">
                                      <p:cBhvr additive="base">
                                        <p:cTn id="98" dur="2000" fill="hold"/>
                                        <p:tgtEl>
                                          <p:spTgt spid="60"/>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61"/>
                                        </p:tgtEl>
                                        <p:attrNameLst>
                                          <p:attrName>style.visibility</p:attrName>
                                        </p:attrNameLst>
                                      </p:cBhvr>
                                      <p:to>
                                        <p:strVal val="visible"/>
                                      </p:to>
                                    </p:set>
                                    <p:anim calcmode="lin" valueType="num">
                                      <p:cBhvr additive="base">
                                        <p:cTn id="101" dur="2000" fill="hold"/>
                                        <p:tgtEl>
                                          <p:spTgt spid="61"/>
                                        </p:tgtEl>
                                        <p:attrNameLst>
                                          <p:attrName>ppt_x</p:attrName>
                                        </p:attrNameLst>
                                      </p:cBhvr>
                                      <p:tavLst>
                                        <p:tav tm="0">
                                          <p:val>
                                            <p:strVal val="#ppt_x"/>
                                          </p:val>
                                        </p:tav>
                                        <p:tav tm="100000">
                                          <p:val>
                                            <p:strVal val="#ppt_x"/>
                                          </p:val>
                                        </p:tav>
                                      </p:tavLst>
                                    </p:anim>
                                    <p:anim calcmode="lin" valueType="num">
                                      <p:cBhvr additive="base">
                                        <p:cTn id="102" dur="2000" fill="hold"/>
                                        <p:tgtEl>
                                          <p:spTgt spid="61"/>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62"/>
                                        </p:tgtEl>
                                        <p:attrNameLst>
                                          <p:attrName>style.visibility</p:attrName>
                                        </p:attrNameLst>
                                      </p:cBhvr>
                                      <p:to>
                                        <p:strVal val="visible"/>
                                      </p:to>
                                    </p:set>
                                    <p:anim calcmode="lin" valueType="num">
                                      <p:cBhvr additive="base">
                                        <p:cTn id="105" dur="2000" fill="hold"/>
                                        <p:tgtEl>
                                          <p:spTgt spid="62"/>
                                        </p:tgtEl>
                                        <p:attrNameLst>
                                          <p:attrName>ppt_x</p:attrName>
                                        </p:attrNameLst>
                                      </p:cBhvr>
                                      <p:tavLst>
                                        <p:tav tm="0">
                                          <p:val>
                                            <p:strVal val="#ppt_x"/>
                                          </p:val>
                                        </p:tav>
                                        <p:tav tm="100000">
                                          <p:val>
                                            <p:strVal val="#ppt_x"/>
                                          </p:val>
                                        </p:tav>
                                      </p:tavLst>
                                    </p:anim>
                                    <p:anim calcmode="lin" valueType="num">
                                      <p:cBhvr additive="base">
                                        <p:cTn id="106" dur="2000" fill="hold"/>
                                        <p:tgtEl>
                                          <p:spTgt spid="62"/>
                                        </p:tgtEl>
                                        <p:attrNameLst>
                                          <p:attrName>ppt_y</p:attrName>
                                        </p:attrNameLst>
                                      </p:cBhvr>
                                      <p:tavLst>
                                        <p:tav tm="0">
                                          <p:val>
                                            <p:strVal val="1+#ppt_h/2"/>
                                          </p:val>
                                        </p:tav>
                                        <p:tav tm="100000">
                                          <p:val>
                                            <p:strVal val="#ppt_y"/>
                                          </p:val>
                                        </p:tav>
                                      </p:tavLst>
                                    </p:anim>
                                  </p:childTnLst>
                                </p:cTn>
                              </p:par>
                            </p:childTnLst>
                          </p:cTn>
                        </p:par>
                        <p:par>
                          <p:cTn id="107" fill="hold">
                            <p:stCondLst>
                              <p:cond delay="5000"/>
                            </p:stCondLst>
                            <p:childTnLst>
                              <p:par>
                                <p:cTn id="108" presetID="2" presetClass="entr" presetSubtype="4" fill="hold" grpId="0" nodeType="afterEffect">
                                  <p:stCondLst>
                                    <p:cond delay="0"/>
                                  </p:stCondLst>
                                  <p:childTnLst>
                                    <p:set>
                                      <p:cBhvr>
                                        <p:cTn id="109" dur="1" fill="hold">
                                          <p:stCondLst>
                                            <p:cond delay="0"/>
                                          </p:stCondLst>
                                        </p:cTn>
                                        <p:tgtEl>
                                          <p:spTgt spid="47"/>
                                        </p:tgtEl>
                                        <p:attrNameLst>
                                          <p:attrName>style.visibility</p:attrName>
                                        </p:attrNameLst>
                                      </p:cBhvr>
                                      <p:to>
                                        <p:strVal val="visible"/>
                                      </p:to>
                                    </p:set>
                                    <p:anim calcmode="lin" valueType="num">
                                      <p:cBhvr additive="base">
                                        <p:cTn id="110" dur="1000" fill="hold"/>
                                        <p:tgtEl>
                                          <p:spTgt spid="47"/>
                                        </p:tgtEl>
                                        <p:attrNameLst>
                                          <p:attrName>ppt_x</p:attrName>
                                        </p:attrNameLst>
                                      </p:cBhvr>
                                      <p:tavLst>
                                        <p:tav tm="0">
                                          <p:val>
                                            <p:strVal val="#ppt_x"/>
                                          </p:val>
                                        </p:tav>
                                        <p:tav tm="100000">
                                          <p:val>
                                            <p:strVal val="#ppt_x"/>
                                          </p:val>
                                        </p:tav>
                                      </p:tavLst>
                                    </p:anim>
                                    <p:anim calcmode="lin" valueType="num">
                                      <p:cBhvr additive="base">
                                        <p:cTn id="111" dur="1000" fill="hold"/>
                                        <p:tgtEl>
                                          <p:spTgt spid="47"/>
                                        </p:tgtEl>
                                        <p:attrNameLst>
                                          <p:attrName>ppt_y</p:attrName>
                                        </p:attrNameLst>
                                      </p:cBhvr>
                                      <p:tavLst>
                                        <p:tav tm="0">
                                          <p:val>
                                            <p:strVal val="1+#ppt_h/2"/>
                                          </p:val>
                                        </p:tav>
                                        <p:tav tm="100000">
                                          <p:val>
                                            <p:strVal val="#ppt_y"/>
                                          </p:val>
                                        </p:tav>
                                      </p:tavLst>
                                    </p:anim>
                                  </p:childTnLst>
                                </p:cTn>
                              </p:par>
                              <p:par>
                                <p:cTn id="112" presetID="2" presetClass="entr" presetSubtype="4" fill="hold" grpId="0" nodeType="withEffect">
                                  <p:stCondLst>
                                    <p:cond delay="0"/>
                                  </p:stCondLst>
                                  <p:childTnLst>
                                    <p:set>
                                      <p:cBhvr>
                                        <p:cTn id="113" dur="1" fill="hold">
                                          <p:stCondLst>
                                            <p:cond delay="0"/>
                                          </p:stCondLst>
                                        </p:cTn>
                                        <p:tgtEl>
                                          <p:spTgt spid="48"/>
                                        </p:tgtEl>
                                        <p:attrNameLst>
                                          <p:attrName>style.visibility</p:attrName>
                                        </p:attrNameLst>
                                      </p:cBhvr>
                                      <p:to>
                                        <p:strVal val="visible"/>
                                      </p:to>
                                    </p:set>
                                    <p:anim calcmode="lin" valueType="num">
                                      <p:cBhvr additive="base">
                                        <p:cTn id="114" dur="1000" fill="hold"/>
                                        <p:tgtEl>
                                          <p:spTgt spid="48"/>
                                        </p:tgtEl>
                                        <p:attrNameLst>
                                          <p:attrName>ppt_x</p:attrName>
                                        </p:attrNameLst>
                                      </p:cBhvr>
                                      <p:tavLst>
                                        <p:tav tm="0">
                                          <p:val>
                                            <p:strVal val="#ppt_x"/>
                                          </p:val>
                                        </p:tav>
                                        <p:tav tm="100000">
                                          <p:val>
                                            <p:strVal val="#ppt_x"/>
                                          </p:val>
                                        </p:tav>
                                      </p:tavLst>
                                    </p:anim>
                                    <p:anim calcmode="lin" valueType="num">
                                      <p:cBhvr additive="base">
                                        <p:cTn id="115" dur="1000" fill="hold"/>
                                        <p:tgtEl>
                                          <p:spTgt spid="48"/>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9"/>
                                        </p:tgtEl>
                                        <p:attrNameLst>
                                          <p:attrName>style.visibility</p:attrName>
                                        </p:attrNameLst>
                                      </p:cBhvr>
                                      <p:to>
                                        <p:strVal val="visible"/>
                                      </p:to>
                                    </p:set>
                                    <p:anim calcmode="lin" valueType="num">
                                      <p:cBhvr additive="base">
                                        <p:cTn id="118" dur="1000" fill="hold"/>
                                        <p:tgtEl>
                                          <p:spTgt spid="49"/>
                                        </p:tgtEl>
                                        <p:attrNameLst>
                                          <p:attrName>ppt_x</p:attrName>
                                        </p:attrNameLst>
                                      </p:cBhvr>
                                      <p:tavLst>
                                        <p:tav tm="0">
                                          <p:val>
                                            <p:strVal val="#ppt_x"/>
                                          </p:val>
                                        </p:tav>
                                        <p:tav tm="100000">
                                          <p:val>
                                            <p:strVal val="#ppt_x"/>
                                          </p:val>
                                        </p:tav>
                                      </p:tavLst>
                                    </p:anim>
                                    <p:anim calcmode="lin" valueType="num">
                                      <p:cBhvr additive="base">
                                        <p:cTn id="119" dur="1000" fill="hold"/>
                                        <p:tgtEl>
                                          <p:spTgt spid="49"/>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50"/>
                                        </p:tgtEl>
                                        <p:attrNameLst>
                                          <p:attrName>style.visibility</p:attrName>
                                        </p:attrNameLst>
                                      </p:cBhvr>
                                      <p:to>
                                        <p:strVal val="visible"/>
                                      </p:to>
                                    </p:set>
                                    <p:anim calcmode="lin" valueType="num">
                                      <p:cBhvr additive="base">
                                        <p:cTn id="122" dur="1000" fill="hold"/>
                                        <p:tgtEl>
                                          <p:spTgt spid="50"/>
                                        </p:tgtEl>
                                        <p:attrNameLst>
                                          <p:attrName>ppt_x</p:attrName>
                                        </p:attrNameLst>
                                      </p:cBhvr>
                                      <p:tavLst>
                                        <p:tav tm="0">
                                          <p:val>
                                            <p:strVal val="#ppt_x"/>
                                          </p:val>
                                        </p:tav>
                                        <p:tav tm="100000">
                                          <p:val>
                                            <p:strVal val="#ppt_x"/>
                                          </p:val>
                                        </p:tav>
                                      </p:tavLst>
                                    </p:anim>
                                    <p:anim calcmode="lin" valueType="num">
                                      <p:cBhvr additive="base">
                                        <p:cTn id="123" dur="1000" fill="hold"/>
                                        <p:tgtEl>
                                          <p:spTgt spid="50"/>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63"/>
                                        </p:tgtEl>
                                        <p:attrNameLst>
                                          <p:attrName>style.visibility</p:attrName>
                                        </p:attrNameLst>
                                      </p:cBhvr>
                                      <p:to>
                                        <p:strVal val="visible"/>
                                      </p:to>
                                    </p:set>
                                    <p:anim calcmode="lin" valueType="num">
                                      <p:cBhvr additive="base">
                                        <p:cTn id="126" dur="1000" fill="hold"/>
                                        <p:tgtEl>
                                          <p:spTgt spid="63"/>
                                        </p:tgtEl>
                                        <p:attrNameLst>
                                          <p:attrName>ppt_x</p:attrName>
                                        </p:attrNameLst>
                                      </p:cBhvr>
                                      <p:tavLst>
                                        <p:tav tm="0">
                                          <p:val>
                                            <p:strVal val="#ppt_x"/>
                                          </p:val>
                                        </p:tav>
                                        <p:tav tm="100000">
                                          <p:val>
                                            <p:strVal val="#ppt_x"/>
                                          </p:val>
                                        </p:tav>
                                      </p:tavLst>
                                    </p:anim>
                                    <p:anim calcmode="lin" valueType="num">
                                      <p:cBhvr additive="base">
                                        <p:cTn id="127" dur="1000" fill="hold"/>
                                        <p:tgtEl>
                                          <p:spTgt spid="63"/>
                                        </p:tgtEl>
                                        <p:attrNameLst>
                                          <p:attrName>ppt_y</p:attrName>
                                        </p:attrNameLst>
                                      </p:cBhvr>
                                      <p:tavLst>
                                        <p:tav tm="0">
                                          <p:val>
                                            <p:strVal val="1+#ppt_h/2"/>
                                          </p:val>
                                        </p:tav>
                                        <p:tav tm="100000">
                                          <p:val>
                                            <p:strVal val="#ppt_y"/>
                                          </p:val>
                                        </p:tav>
                                      </p:tavLst>
                                    </p:anim>
                                  </p:childTnLst>
                                </p:cTn>
                              </p:par>
                              <p:par>
                                <p:cTn id="128" presetID="2" presetClass="entr" presetSubtype="4" fill="hold" grpId="0" nodeType="withEffect">
                                  <p:stCondLst>
                                    <p:cond delay="0"/>
                                  </p:stCondLst>
                                  <p:childTnLst>
                                    <p:set>
                                      <p:cBhvr>
                                        <p:cTn id="129" dur="1" fill="hold">
                                          <p:stCondLst>
                                            <p:cond delay="0"/>
                                          </p:stCondLst>
                                        </p:cTn>
                                        <p:tgtEl>
                                          <p:spTgt spid="64"/>
                                        </p:tgtEl>
                                        <p:attrNameLst>
                                          <p:attrName>style.visibility</p:attrName>
                                        </p:attrNameLst>
                                      </p:cBhvr>
                                      <p:to>
                                        <p:strVal val="visible"/>
                                      </p:to>
                                    </p:set>
                                    <p:anim calcmode="lin" valueType="num">
                                      <p:cBhvr additive="base">
                                        <p:cTn id="130" dur="1000" fill="hold"/>
                                        <p:tgtEl>
                                          <p:spTgt spid="64"/>
                                        </p:tgtEl>
                                        <p:attrNameLst>
                                          <p:attrName>ppt_x</p:attrName>
                                        </p:attrNameLst>
                                      </p:cBhvr>
                                      <p:tavLst>
                                        <p:tav tm="0">
                                          <p:val>
                                            <p:strVal val="#ppt_x"/>
                                          </p:val>
                                        </p:tav>
                                        <p:tav tm="100000">
                                          <p:val>
                                            <p:strVal val="#ppt_x"/>
                                          </p:val>
                                        </p:tav>
                                      </p:tavLst>
                                    </p:anim>
                                    <p:anim calcmode="lin" valueType="num">
                                      <p:cBhvr additive="base">
                                        <p:cTn id="131" dur="1000" fill="hold"/>
                                        <p:tgtEl>
                                          <p:spTgt spid="64"/>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65"/>
                                        </p:tgtEl>
                                        <p:attrNameLst>
                                          <p:attrName>style.visibility</p:attrName>
                                        </p:attrNameLst>
                                      </p:cBhvr>
                                      <p:to>
                                        <p:strVal val="visible"/>
                                      </p:to>
                                    </p:set>
                                    <p:anim calcmode="lin" valueType="num">
                                      <p:cBhvr additive="base">
                                        <p:cTn id="134" dur="1000" fill="hold"/>
                                        <p:tgtEl>
                                          <p:spTgt spid="65"/>
                                        </p:tgtEl>
                                        <p:attrNameLst>
                                          <p:attrName>ppt_x</p:attrName>
                                        </p:attrNameLst>
                                      </p:cBhvr>
                                      <p:tavLst>
                                        <p:tav tm="0">
                                          <p:val>
                                            <p:strVal val="#ppt_x"/>
                                          </p:val>
                                        </p:tav>
                                        <p:tav tm="100000">
                                          <p:val>
                                            <p:strVal val="#ppt_x"/>
                                          </p:val>
                                        </p:tav>
                                      </p:tavLst>
                                    </p:anim>
                                    <p:anim calcmode="lin" valueType="num">
                                      <p:cBhvr additive="base">
                                        <p:cTn id="135" dur="1000" fill="hold"/>
                                        <p:tgtEl>
                                          <p:spTgt spid="65"/>
                                        </p:tgtEl>
                                        <p:attrNameLst>
                                          <p:attrName>ppt_y</p:attrName>
                                        </p:attrNameLst>
                                      </p:cBhvr>
                                      <p:tavLst>
                                        <p:tav tm="0">
                                          <p:val>
                                            <p:strVal val="1+#ppt_h/2"/>
                                          </p:val>
                                        </p:tav>
                                        <p:tav tm="100000">
                                          <p:val>
                                            <p:strVal val="#ppt_y"/>
                                          </p:val>
                                        </p:tav>
                                      </p:tavLst>
                                    </p:anim>
                                  </p:childTnLst>
                                </p:cTn>
                              </p:par>
                              <p:par>
                                <p:cTn id="136" presetID="2" presetClass="entr" presetSubtype="4" fill="hold" grpId="0" nodeType="withEffect">
                                  <p:stCondLst>
                                    <p:cond delay="0"/>
                                  </p:stCondLst>
                                  <p:childTnLst>
                                    <p:set>
                                      <p:cBhvr>
                                        <p:cTn id="137" dur="1" fill="hold">
                                          <p:stCondLst>
                                            <p:cond delay="0"/>
                                          </p:stCondLst>
                                        </p:cTn>
                                        <p:tgtEl>
                                          <p:spTgt spid="66"/>
                                        </p:tgtEl>
                                        <p:attrNameLst>
                                          <p:attrName>style.visibility</p:attrName>
                                        </p:attrNameLst>
                                      </p:cBhvr>
                                      <p:to>
                                        <p:strVal val="visible"/>
                                      </p:to>
                                    </p:set>
                                    <p:anim calcmode="lin" valueType="num">
                                      <p:cBhvr additive="base">
                                        <p:cTn id="138" dur="1000" fill="hold"/>
                                        <p:tgtEl>
                                          <p:spTgt spid="66"/>
                                        </p:tgtEl>
                                        <p:attrNameLst>
                                          <p:attrName>ppt_x</p:attrName>
                                        </p:attrNameLst>
                                      </p:cBhvr>
                                      <p:tavLst>
                                        <p:tav tm="0">
                                          <p:val>
                                            <p:strVal val="#ppt_x"/>
                                          </p:val>
                                        </p:tav>
                                        <p:tav tm="100000">
                                          <p:val>
                                            <p:strVal val="#ppt_x"/>
                                          </p:val>
                                        </p:tav>
                                      </p:tavLst>
                                    </p:anim>
                                    <p:anim calcmode="lin" valueType="num">
                                      <p:cBhvr additive="base">
                                        <p:cTn id="139" dur="1000" fill="hold"/>
                                        <p:tgtEl>
                                          <p:spTgt spid="66"/>
                                        </p:tgtEl>
                                        <p:attrNameLst>
                                          <p:attrName>ppt_y</p:attrName>
                                        </p:attrNameLst>
                                      </p:cBhvr>
                                      <p:tavLst>
                                        <p:tav tm="0">
                                          <p:val>
                                            <p:strVal val="1+#ppt_h/2"/>
                                          </p:val>
                                        </p:tav>
                                        <p:tav tm="100000">
                                          <p:val>
                                            <p:strVal val="#ppt_y"/>
                                          </p:val>
                                        </p:tav>
                                      </p:tavLst>
                                    </p:anim>
                                  </p:childTnLst>
                                </p:cTn>
                              </p:par>
                            </p:childTnLst>
                          </p:cTn>
                        </p:par>
                        <p:par>
                          <p:cTn id="140" fill="hold">
                            <p:stCondLst>
                              <p:cond delay="6000"/>
                            </p:stCondLst>
                            <p:childTnLst>
                              <p:par>
                                <p:cTn id="141" presetID="2" presetClass="entr" presetSubtype="4" fill="hold" grpId="0" nodeType="afterEffect">
                                  <p:stCondLst>
                                    <p:cond delay="0"/>
                                  </p:stCondLst>
                                  <p:childTnLst>
                                    <p:set>
                                      <p:cBhvr>
                                        <p:cTn id="142" dur="1" fill="hold">
                                          <p:stCondLst>
                                            <p:cond delay="0"/>
                                          </p:stCondLst>
                                        </p:cTn>
                                        <p:tgtEl>
                                          <p:spTgt spid="53"/>
                                        </p:tgtEl>
                                        <p:attrNameLst>
                                          <p:attrName>style.visibility</p:attrName>
                                        </p:attrNameLst>
                                      </p:cBhvr>
                                      <p:to>
                                        <p:strVal val="visible"/>
                                      </p:to>
                                    </p:set>
                                    <p:anim calcmode="lin" valueType="num">
                                      <p:cBhvr additive="base">
                                        <p:cTn id="143" dur="500" fill="hold"/>
                                        <p:tgtEl>
                                          <p:spTgt spid="53"/>
                                        </p:tgtEl>
                                        <p:attrNameLst>
                                          <p:attrName>ppt_x</p:attrName>
                                        </p:attrNameLst>
                                      </p:cBhvr>
                                      <p:tavLst>
                                        <p:tav tm="0">
                                          <p:val>
                                            <p:strVal val="#ppt_x"/>
                                          </p:val>
                                        </p:tav>
                                        <p:tav tm="100000">
                                          <p:val>
                                            <p:strVal val="#ppt_x"/>
                                          </p:val>
                                        </p:tav>
                                      </p:tavLst>
                                    </p:anim>
                                    <p:anim calcmode="lin" valueType="num">
                                      <p:cBhvr additive="base">
                                        <p:cTn id="144" dur="500" fill="hold"/>
                                        <p:tgtEl>
                                          <p:spTgt spid="53"/>
                                        </p:tgtEl>
                                        <p:attrNameLst>
                                          <p:attrName>ppt_y</p:attrName>
                                        </p:attrNameLst>
                                      </p:cBhvr>
                                      <p:tavLst>
                                        <p:tav tm="0">
                                          <p:val>
                                            <p:strVal val="1+#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54"/>
                                        </p:tgtEl>
                                        <p:attrNameLst>
                                          <p:attrName>style.visibility</p:attrName>
                                        </p:attrNameLst>
                                      </p:cBhvr>
                                      <p:to>
                                        <p:strVal val="visible"/>
                                      </p:to>
                                    </p:set>
                                    <p:anim calcmode="lin" valueType="num">
                                      <p:cBhvr additive="base">
                                        <p:cTn id="147" dur="500" fill="hold"/>
                                        <p:tgtEl>
                                          <p:spTgt spid="54"/>
                                        </p:tgtEl>
                                        <p:attrNameLst>
                                          <p:attrName>ppt_x</p:attrName>
                                        </p:attrNameLst>
                                      </p:cBhvr>
                                      <p:tavLst>
                                        <p:tav tm="0">
                                          <p:val>
                                            <p:strVal val="#ppt_x"/>
                                          </p:val>
                                        </p:tav>
                                        <p:tav tm="100000">
                                          <p:val>
                                            <p:strVal val="#ppt_x"/>
                                          </p:val>
                                        </p:tav>
                                      </p:tavLst>
                                    </p:anim>
                                    <p:anim calcmode="lin" valueType="num">
                                      <p:cBhvr additive="base">
                                        <p:cTn id="148" dur="500" fill="hold"/>
                                        <p:tgtEl>
                                          <p:spTgt spid="54"/>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69"/>
                                        </p:tgtEl>
                                        <p:attrNameLst>
                                          <p:attrName>style.visibility</p:attrName>
                                        </p:attrNameLst>
                                      </p:cBhvr>
                                      <p:to>
                                        <p:strVal val="visible"/>
                                      </p:to>
                                    </p:set>
                                    <p:anim calcmode="lin" valueType="num">
                                      <p:cBhvr additive="base">
                                        <p:cTn id="151" dur="500" fill="hold"/>
                                        <p:tgtEl>
                                          <p:spTgt spid="69"/>
                                        </p:tgtEl>
                                        <p:attrNameLst>
                                          <p:attrName>ppt_x</p:attrName>
                                        </p:attrNameLst>
                                      </p:cBhvr>
                                      <p:tavLst>
                                        <p:tav tm="0">
                                          <p:val>
                                            <p:strVal val="#ppt_x"/>
                                          </p:val>
                                        </p:tav>
                                        <p:tav tm="100000">
                                          <p:val>
                                            <p:strVal val="#ppt_x"/>
                                          </p:val>
                                        </p:tav>
                                      </p:tavLst>
                                    </p:anim>
                                    <p:anim calcmode="lin" valueType="num">
                                      <p:cBhvr additive="base">
                                        <p:cTn id="152" dur="500" fill="hold"/>
                                        <p:tgtEl>
                                          <p:spTgt spid="69"/>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70"/>
                                        </p:tgtEl>
                                        <p:attrNameLst>
                                          <p:attrName>style.visibility</p:attrName>
                                        </p:attrNameLst>
                                      </p:cBhvr>
                                      <p:to>
                                        <p:strVal val="visible"/>
                                      </p:to>
                                    </p:set>
                                    <p:anim calcmode="lin" valueType="num">
                                      <p:cBhvr additive="base">
                                        <p:cTn id="155" dur="500" fill="hold"/>
                                        <p:tgtEl>
                                          <p:spTgt spid="70"/>
                                        </p:tgtEl>
                                        <p:attrNameLst>
                                          <p:attrName>ppt_x</p:attrName>
                                        </p:attrNameLst>
                                      </p:cBhvr>
                                      <p:tavLst>
                                        <p:tav tm="0">
                                          <p:val>
                                            <p:strVal val="#ppt_x"/>
                                          </p:val>
                                        </p:tav>
                                        <p:tav tm="100000">
                                          <p:val>
                                            <p:strVal val="#ppt_x"/>
                                          </p:val>
                                        </p:tav>
                                      </p:tavLst>
                                    </p:anim>
                                    <p:anim calcmode="lin" valueType="num">
                                      <p:cBhvr additive="base">
                                        <p:cTn id="156"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9" grpId="0" animBg="1"/>
      <p:bldP spid="7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a:extLst>
            <a:ext uri="{FF2B5EF4-FFF2-40B4-BE49-F238E27FC236}">
              <a16:creationId xmlns:a16="http://schemas.microsoft.com/office/drawing/2014/main" id="{C78CB47F-8D70-0381-08E3-BC912EE20E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C50509C-14BC-71D6-0205-203A60195B9A}"/>
              </a:ext>
            </a:extLst>
          </p:cNvPr>
          <p:cNvSpPr/>
          <p:nvPr/>
        </p:nvSpPr>
        <p:spPr>
          <a:xfrm>
            <a:off x="457200" y="256032"/>
            <a:ext cx="5486400" cy="182880"/>
          </a:xfrm>
          <a:prstGeom prst="rect">
            <a:avLst/>
          </a:prstGeom>
          <a:noFill/>
          <a:ln/>
        </p:spPr>
        <p:txBody>
          <a:bodyPr wrap="square" lIns="0" tIns="0" rIns="0" bIns="0" rtlCol="0" anchor="ctr"/>
          <a:lstStyle/>
          <a:p>
            <a:pPr marL="0" indent="0" algn="l">
              <a:buNone/>
            </a:pPr>
            <a:r>
              <a:rPr lang="en-US" sz="850" b="1" kern="0" spc="300" dirty="0">
                <a:solidFill>
                  <a:srgbClr val="1D9E75"/>
                </a:solidFill>
              </a:rPr>
              <a:t>FRONTEND &amp; USER EXPERIENCE</a:t>
            </a:r>
            <a:endParaRPr lang="en-US" sz="850" dirty="0"/>
          </a:p>
        </p:txBody>
      </p:sp>
      <p:sp>
        <p:nvSpPr>
          <p:cNvPr id="3" name="Text 1">
            <a:extLst>
              <a:ext uri="{FF2B5EF4-FFF2-40B4-BE49-F238E27FC236}">
                <a16:creationId xmlns:a16="http://schemas.microsoft.com/office/drawing/2014/main" id="{72477F2A-9A91-DF02-ECA3-856BF2B56D9D}"/>
              </a:ext>
            </a:extLst>
          </p:cNvPr>
          <p:cNvSpPr/>
          <p:nvPr/>
        </p:nvSpPr>
        <p:spPr>
          <a:xfrm>
            <a:off x="457200" y="457200"/>
            <a:ext cx="6858000" cy="502920"/>
          </a:xfrm>
          <a:prstGeom prst="rect">
            <a:avLst/>
          </a:prstGeom>
          <a:noFill/>
          <a:ln/>
        </p:spPr>
        <p:txBody>
          <a:bodyPr wrap="square" lIns="0" tIns="0" rIns="0" bIns="0" rtlCol="0" anchor="ctr"/>
          <a:lstStyle/>
          <a:p>
            <a:pPr marL="0" indent="0" algn="l">
              <a:buNone/>
            </a:pPr>
            <a:r>
              <a:rPr lang="en-US" sz="3400" b="1" dirty="0">
                <a:solidFill>
                  <a:srgbClr val="0D1B3E"/>
                </a:solidFill>
                <a:latin typeface="Calibri" pitchFamily="34" charset="0"/>
                <a:ea typeface="Calibri" pitchFamily="34" charset="-122"/>
                <a:cs typeface="Calibri" pitchFamily="34" charset="-120"/>
              </a:rPr>
              <a:t>In Action</a:t>
            </a:r>
            <a:endParaRPr lang="en-US" sz="3400" dirty="0"/>
          </a:p>
        </p:txBody>
      </p:sp>
      <p:sp>
        <p:nvSpPr>
          <p:cNvPr id="4" name="Text 2">
            <a:extLst>
              <a:ext uri="{FF2B5EF4-FFF2-40B4-BE49-F238E27FC236}">
                <a16:creationId xmlns:a16="http://schemas.microsoft.com/office/drawing/2014/main" id="{ED845693-C0A8-64FA-BDBC-DDBAFE2EED6F}"/>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Rachel Mizer</a:t>
            </a:r>
            <a:endParaRPr lang="en-US" sz="800" dirty="0"/>
          </a:p>
        </p:txBody>
      </p:sp>
      <p:sp>
        <p:nvSpPr>
          <p:cNvPr id="5" name="Text 3">
            <a:extLst>
              <a:ext uri="{FF2B5EF4-FFF2-40B4-BE49-F238E27FC236}">
                <a16:creationId xmlns:a16="http://schemas.microsoft.com/office/drawing/2014/main" id="{C1FFC6B1-0702-0D9E-C770-64B80A4F3810}"/>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Frontend &amp; UI/UX Lead</a:t>
            </a:r>
            <a:endParaRPr lang="en-US" sz="700" dirty="0"/>
          </a:p>
        </p:txBody>
      </p:sp>
      <p:sp>
        <p:nvSpPr>
          <p:cNvPr id="6" name="Shape 4">
            <a:extLst>
              <a:ext uri="{FF2B5EF4-FFF2-40B4-BE49-F238E27FC236}">
                <a16:creationId xmlns:a16="http://schemas.microsoft.com/office/drawing/2014/main" id="{5E9ED67E-F45A-8B1D-7770-63BD7DCCC72F}"/>
              </a:ext>
            </a:extLst>
          </p:cNvPr>
          <p:cNvSpPr/>
          <p:nvPr/>
        </p:nvSpPr>
        <p:spPr>
          <a:xfrm>
            <a:off x="457200" y="1024128"/>
            <a:ext cx="8229600" cy="10973"/>
          </a:xfrm>
          <a:prstGeom prst="rect">
            <a:avLst/>
          </a:prstGeom>
          <a:solidFill>
            <a:srgbClr val="D8DCE5"/>
          </a:solidFill>
          <a:ln w="12700">
            <a:solidFill>
              <a:srgbClr val="D8DCE5"/>
            </a:solidFill>
            <a:prstDash val="solid"/>
          </a:ln>
        </p:spPr>
        <p:txBody>
          <a:bodyPr/>
          <a:lstStyle/>
          <a:p>
            <a:endParaRPr lang="en-US"/>
          </a:p>
        </p:txBody>
      </p:sp>
      <p:sp>
        <p:nvSpPr>
          <p:cNvPr id="7" name="Shape 5">
            <a:extLst>
              <a:ext uri="{FF2B5EF4-FFF2-40B4-BE49-F238E27FC236}">
                <a16:creationId xmlns:a16="http://schemas.microsoft.com/office/drawing/2014/main" id="{B23F636C-F194-B1B2-5248-CCA191C36108}"/>
              </a:ext>
            </a:extLst>
          </p:cNvPr>
          <p:cNvSpPr/>
          <p:nvPr/>
        </p:nvSpPr>
        <p:spPr>
          <a:xfrm>
            <a:off x="457200" y="1115568"/>
            <a:ext cx="4023360" cy="310896"/>
          </a:xfrm>
          <a:prstGeom prst="rect">
            <a:avLst/>
          </a:prstGeom>
          <a:solidFill>
            <a:srgbClr val="00AEEF"/>
          </a:solidFill>
          <a:ln w="12700">
            <a:solidFill>
              <a:srgbClr val="00AEEF"/>
            </a:solidFill>
            <a:prstDash val="solid"/>
          </a:ln>
        </p:spPr>
        <p:txBody>
          <a:bodyPr/>
          <a:lstStyle/>
          <a:p>
            <a:endParaRPr lang="en-US"/>
          </a:p>
        </p:txBody>
      </p:sp>
      <p:sp>
        <p:nvSpPr>
          <p:cNvPr id="8" name="Text 6">
            <a:extLst>
              <a:ext uri="{FF2B5EF4-FFF2-40B4-BE49-F238E27FC236}">
                <a16:creationId xmlns:a16="http://schemas.microsoft.com/office/drawing/2014/main" id="{56B45CEA-7587-5151-C26A-D31600DFCEC6}"/>
              </a:ext>
            </a:extLst>
          </p:cNvPr>
          <p:cNvSpPr/>
          <p:nvPr/>
        </p:nvSpPr>
        <p:spPr>
          <a:xfrm>
            <a:off x="566928" y="1115568"/>
            <a:ext cx="3749040" cy="182880"/>
          </a:xfrm>
          <a:prstGeom prst="rect">
            <a:avLst/>
          </a:prstGeom>
          <a:noFill/>
          <a:ln/>
        </p:spPr>
        <p:txBody>
          <a:bodyPr wrap="square" lIns="0" tIns="0" rIns="0" bIns="0" rtlCol="0" anchor="ctr"/>
          <a:lstStyle/>
          <a:p>
            <a:pPr marL="0" indent="0">
              <a:buNone/>
            </a:pPr>
            <a:r>
              <a:rPr lang="en-US" sz="1200" b="1" dirty="0">
                <a:solidFill>
                  <a:srgbClr val="FFFFFF"/>
                </a:solidFill>
              </a:rPr>
              <a:t>Customer Storefront</a:t>
            </a:r>
            <a:endParaRPr lang="en-US" sz="1200" dirty="0"/>
          </a:p>
        </p:txBody>
      </p:sp>
      <p:sp>
        <p:nvSpPr>
          <p:cNvPr id="9" name="Text 7">
            <a:extLst>
              <a:ext uri="{FF2B5EF4-FFF2-40B4-BE49-F238E27FC236}">
                <a16:creationId xmlns:a16="http://schemas.microsoft.com/office/drawing/2014/main" id="{EA765D42-820A-09FA-DF64-848172D63AC2}"/>
              </a:ext>
            </a:extLst>
          </p:cNvPr>
          <p:cNvSpPr/>
          <p:nvPr/>
        </p:nvSpPr>
        <p:spPr>
          <a:xfrm>
            <a:off x="566928" y="1280160"/>
            <a:ext cx="3749040" cy="128016"/>
          </a:xfrm>
          <a:prstGeom prst="rect">
            <a:avLst/>
          </a:prstGeom>
          <a:noFill/>
          <a:ln/>
        </p:spPr>
        <p:txBody>
          <a:bodyPr wrap="square" lIns="0" tIns="0" rIns="0" bIns="0" rtlCol="0" anchor="ctr"/>
          <a:lstStyle/>
          <a:p>
            <a:pPr marL="0" indent="0">
              <a:buNone/>
            </a:pPr>
            <a:r>
              <a:rPr lang="en-US" sz="750" dirty="0">
                <a:solidFill>
                  <a:srgbClr val="CADCFC"/>
                </a:solidFill>
              </a:rPr>
              <a:t>Product browsing · Cart · Checkout flow</a:t>
            </a:r>
            <a:endParaRPr lang="en-US" sz="750" dirty="0"/>
          </a:p>
        </p:txBody>
      </p:sp>
      <p:sp>
        <p:nvSpPr>
          <p:cNvPr id="10" name="Shape 8">
            <a:extLst>
              <a:ext uri="{FF2B5EF4-FFF2-40B4-BE49-F238E27FC236}">
                <a16:creationId xmlns:a16="http://schemas.microsoft.com/office/drawing/2014/main" id="{8C917F27-14DA-8C83-B1A5-E78AA36A60B7}"/>
              </a:ext>
            </a:extLst>
          </p:cNvPr>
          <p:cNvSpPr/>
          <p:nvPr/>
        </p:nvSpPr>
        <p:spPr>
          <a:xfrm>
            <a:off x="457200" y="1463040"/>
            <a:ext cx="4023360" cy="3291840"/>
          </a:xfrm>
          <a:prstGeom prst="rect">
            <a:avLst/>
          </a:prstGeom>
          <a:solidFill>
            <a:srgbClr val="F0F2F6"/>
          </a:solidFill>
          <a:ln w="12700">
            <a:solidFill>
              <a:srgbClr val="D8DCE5"/>
            </a:solidFill>
            <a:prstDash val="solid"/>
          </a:ln>
        </p:spPr>
        <p:txBody>
          <a:bodyPr/>
          <a:lstStyle/>
          <a:p>
            <a:endParaRPr lang="en-US"/>
          </a:p>
        </p:txBody>
      </p:sp>
      <p:sp>
        <p:nvSpPr>
          <p:cNvPr id="11" name="Shape 9">
            <a:extLst>
              <a:ext uri="{FF2B5EF4-FFF2-40B4-BE49-F238E27FC236}">
                <a16:creationId xmlns:a16="http://schemas.microsoft.com/office/drawing/2014/main" id="{3FEBC012-4308-97DD-5009-8BF9C19E27C6}"/>
              </a:ext>
            </a:extLst>
          </p:cNvPr>
          <p:cNvSpPr/>
          <p:nvPr/>
        </p:nvSpPr>
        <p:spPr>
          <a:xfrm>
            <a:off x="594360" y="1600200"/>
            <a:ext cx="3749040" cy="3017520"/>
          </a:xfrm>
          <a:prstGeom prst="rect">
            <a:avLst/>
          </a:prstGeom>
          <a:solidFill>
            <a:srgbClr val="E8EAF0"/>
          </a:solidFill>
          <a:ln w="6350">
            <a:solidFill>
              <a:srgbClr val="C8CDD8"/>
            </a:solidFill>
            <a:prstDash val="dash"/>
          </a:ln>
        </p:spPr>
        <p:txBody>
          <a:bodyPr/>
          <a:lstStyle/>
          <a:p>
            <a:endParaRPr lang="en-US" dirty="0"/>
          </a:p>
        </p:txBody>
      </p:sp>
      <p:sp>
        <p:nvSpPr>
          <p:cNvPr id="12" name="Text 10">
            <a:extLst>
              <a:ext uri="{FF2B5EF4-FFF2-40B4-BE49-F238E27FC236}">
                <a16:creationId xmlns:a16="http://schemas.microsoft.com/office/drawing/2014/main" id="{2E5D196A-7700-476E-E796-63DE69745D2F}"/>
              </a:ext>
            </a:extLst>
          </p:cNvPr>
          <p:cNvSpPr/>
          <p:nvPr/>
        </p:nvSpPr>
        <p:spPr>
          <a:xfrm>
            <a:off x="640080" y="2743200"/>
            <a:ext cx="3657600" cy="457200"/>
          </a:xfrm>
          <a:prstGeom prst="rect">
            <a:avLst/>
          </a:prstGeom>
          <a:noFill/>
          <a:ln/>
        </p:spPr>
        <p:txBody>
          <a:bodyPr wrap="square" lIns="0" tIns="0" rIns="0" bIns="0" rtlCol="0" anchor="ctr"/>
          <a:lstStyle/>
          <a:p>
            <a:pPr marL="0" indent="0" algn="ctr">
              <a:buNone/>
            </a:pPr>
            <a:r>
              <a:rPr lang="en-US" sz="900" i="1" dirty="0">
                <a:solidFill>
                  <a:srgbClr val="94A3B8"/>
                </a:solidFill>
              </a:rPr>
              <a:t>[ Replace with storefront screenshot ]</a:t>
            </a:r>
            <a:endParaRPr lang="en-US" sz="900" dirty="0"/>
          </a:p>
        </p:txBody>
      </p:sp>
      <p:sp>
        <p:nvSpPr>
          <p:cNvPr id="15" name="Shape 13">
            <a:extLst>
              <a:ext uri="{FF2B5EF4-FFF2-40B4-BE49-F238E27FC236}">
                <a16:creationId xmlns:a16="http://schemas.microsoft.com/office/drawing/2014/main" id="{9084282C-6F12-24E5-FF4E-5192AA414B44}"/>
              </a:ext>
            </a:extLst>
          </p:cNvPr>
          <p:cNvSpPr/>
          <p:nvPr/>
        </p:nvSpPr>
        <p:spPr>
          <a:xfrm>
            <a:off x="4617720" y="1115568"/>
            <a:ext cx="4023360" cy="310896"/>
          </a:xfrm>
          <a:prstGeom prst="rect">
            <a:avLst/>
          </a:prstGeom>
          <a:solidFill>
            <a:srgbClr val="1B2A4A"/>
          </a:solidFill>
          <a:ln w="12700">
            <a:solidFill>
              <a:srgbClr val="1B2A4A"/>
            </a:solidFill>
            <a:prstDash val="solid"/>
          </a:ln>
        </p:spPr>
        <p:txBody>
          <a:bodyPr/>
          <a:lstStyle/>
          <a:p>
            <a:endParaRPr lang="en-US"/>
          </a:p>
        </p:txBody>
      </p:sp>
      <p:sp>
        <p:nvSpPr>
          <p:cNvPr id="16" name="Text 14">
            <a:extLst>
              <a:ext uri="{FF2B5EF4-FFF2-40B4-BE49-F238E27FC236}">
                <a16:creationId xmlns:a16="http://schemas.microsoft.com/office/drawing/2014/main" id="{30A772D7-CD43-7F75-F9BC-DE7CEF34071E}"/>
              </a:ext>
            </a:extLst>
          </p:cNvPr>
          <p:cNvSpPr/>
          <p:nvPr/>
        </p:nvSpPr>
        <p:spPr>
          <a:xfrm>
            <a:off x="4727448" y="1115568"/>
            <a:ext cx="3749040" cy="182880"/>
          </a:xfrm>
          <a:prstGeom prst="rect">
            <a:avLst/>
          </a:prstGeom>
          <a:noFill/>
          <a:ln/>
        </p:spPr>
        <p:txBody>
          <a:bodyPr wrap="square" lIns="0" tIns="0" rIns="0" bIns="0" rtlCol="0" anchor="ctr"/>
          <a:lstStyle/>
          <a:p>
            <a:pPr marL="0" indent="0">
              <a:buNone/>
            </a:pPr>
            <a:r>
              <a:rPr lang="en-US" sz="1200" b="1" dirty="0">
                <a:solidFill>
                  <a:srgbClr val="FFFFFF"/>
                </a:solidFill>
              </a:rPr>
              <a:t>Admin Dashboard</a:t>
            </a:r>
            <a:endParaRPr lang="en-US" sz="1200" dirty="0"/>
          </a:p>
        </p:txBody>
      </p:sp>
      <p:sp>
        <p:nvSpPr>
          <p:cNvPr id="17" name="Text 15">
            <a:extLst>
              <a:ext uri="{FF2B5EF4-FFF2-40B4-BE49-F238E27FC236}">
                <a16:creationId xmlns:a16="http://schemas.microsoft.com/office/drawing/2014/main" id="{A48C89B8-9DEF-7118-AC62-22B947264B8C}"/>
              </a:ext>
            </a:extLst>
          </p:cNvPr>
          <p:cNvSpPr/>
          <p:nvPr/>
        </p:nvSpPr>
        <p:spPr>
          <a:xfrm>
            <a:off x="4727448" y="1280160"/>
            <a:ext cx="3749040" cy="128016"/>
          </a:xfrm>
          <a:prstGeom prst="rect">
            <a:avLst/>
          </a:prstGeom>
          <a:noFill/>
          <a:ln/>
        </p:spPr>
        <p:txBody>
          <a:bodyPr wrap="square" lIns="0" tIns="0" rIns="0" bIns="0" rtlCol="0" anchor="ctr"/>
          <a:lstStyle/>
          <a:p>
            <a:pPr marL="0" indent="0">
              <a:buNone/>
            </a:pPr>
            <a:r>
              <a:rPr lang="en-US" sz="750" dirty="0">
                <a:solidFill>
                  <a:srgbClr val="CADCFC"/>
                </a:solidFill>
              </a:rPr>
              <a:t>Navigation · Role-restricted Views · Admin Layout</a:t>
            </a:r>
            <a:endParaRPr lang="en-US" sz="750" dirty="0"/>
          </a:p>
        </p:txBody>
      </p:sp>
      <p:sp>
        <p:nvSpPr>
          <p:cNvPr id="18" name="Shape 16">
            <a:extLst>
              <a:ext uri="{FF2B5EF4-FFF2-40B4-BE49-F238E27FC236}">
                <a16:creationId xmlns:a16="http://schemas.microsoft.com/office/drawing/2014/main" id="{FBB93498-50D6-DAEE-4104-E70F6EC952C6}"/>
              </a:ext>
            </a:extLst>
          </p:cNvPr>
          <p:cNvSpPr/>
          <p:nvPr/>
        </p:nvSpPr>
        <p:spPr>
          <a:xfrm>
            <a:off x="4617720" y="1463040"/>
            <a:ext cx="4023360" cy="3291840"/>
          </a:xfrm>
          <a:prstGeom prst="rect">
            <a:avLst/>
          </a:prstGeom>
          <a:solidFill>
            <a:srgbClr val="F0F2F6"/>
          </a:solidFill>
          <a:ln w="12700">
            <a:solidFill>
              <a:srgbClr val="D8DCE5"/>
            </a:solidFill>
            <a:prstDash val="solid"/>
          </a:ln>
        </p:spPr>
        <p:txBody>
          <a:bodyPr/>
          <a:lstStyle/>
          <a:p>
            <a:endParaRPr lang="en-US"/>
          </a:p>
        </p:txBody>
      </p:sp>
      <p:pic>
        <p:nvPicPr>
          <p:cNvPr id="25" name="Picture 24">
            <a:extLst>
              <a:ext uri="{FF2B5EF4-FFF2-40B4-BE49-F238E27FC236}">
                <a16:creationId xmlns:a16="http://schemas.microsoft.com/office/drawing/2014/main" id="{5F90F470-48CB-8F75-4DDB-A47A7FD48DAB}"/>
              </a:ext>
            </a:extLst>
          </p:cNvPr>
          <p:cNvPicPr>
            <a:picLocks noChangeAspect="1"/>
          </p:cNvPicPr>
          <p:nvPr/>
        </p:nvPicPr>
        <p:blipFill>
          <a:blip r:embed="rId3"/>
          <a:srcRect l="4358" t="477" r="3369" b="-477"/>
          <a:stretch>
            <a:fillRect/>
          </a:stretch>
        </p:blipFill>
        <p:spPr>
          <a:xfrm>
            <a:off x="594360" y="1600200"/>
            <a:ext cx="3755970" cy="3028090"/>
          </a:xfrm>
          <a:prstGeom prst="rect">
            <a:avLst/>
          </a:prstGeom>
        </p:spPr>
      </p:pic>
      <p:sp>
        <p:nvSpPr>
          <p:cNvPr id="23" name="Shape 21">
            <a:extLst>
              <a:ext uri="{FF2B5EF4-FFF2-40B4-BE49-F238E27FC236}">
                <a16:creationId xmlns:a16="http://schemas.microsoft.com/office/drawing/2014/main" id="{FCCCEEE9-7BE8-F449-BE69-5C3CBEA17F51}"/>
              </a:ext>
            </a:extLst>
          </p:cNvPr>
          <p:cNvSpPr/>
          <p:nvPr/>
        </p:nvSpPr>
        <p:spPr>
          <a:xfrm>
            <a:off x="457200" y="4828032"/>
            <a:ext cx="8229600" cy="201168"/>
          </a:xfrm>
          <a:prstGeom prst="rect">
            <a:avLst/>
          </a:prstGeom>
          <a:solidFill>
            <a:srgbClr val="F8FAFC"/>
          </a:solidFill>
          <a:ln w="6350">
            <a:solidFill>
              <a:srgbClr val="D8DCE5"/>
            </a:solidFill>
            <a:prstDash val="solid"/>
          </a:ln>
        </p:spPr>
        <p:txBody>
          <a:bodyPr/>
          <a:lstStyle/>
          <a:p>
            <a:endParaRPr lang="en-US"/>
          </a:p>
        </p:txBody>
      </p:sp>
      <p:sp>
        <p:nvSpPr>
          <p:cNvPr id="24" name="Text 22">
            <a:extLst>
              <a:ext uri="{FF2B5EF4-FFF2-40B4-BE49-F238E27FC236}">
                <a16:creationId xmlns:a16="http://schemas.microsoft.com/office/drawing/2014/main" id="{9CEA55B8-302A-302A-86F4-5D9F250A11EB}"/>
              </a:ext>
            </a:extLst>
          </p:cNvPr>
          <p:cNvSpPr/>
          <p:nvPr/>
        </p:nvSpPr>
        <p:spPr>
          <a:xfrm>
            <a:off x="566928" y="4828032"/>
            <a:ext cx="8010144" cy="201168"/>
          </a:xfrm>
          <a:prstGeom prst="rect">
            <a:avLst/>
          </a:prstGeom>
          <a:noFill/>
          <a:ln/>
        </p:spPr>
        <p:txBody>
          <a:bodyPr wrap="square" lIns="0" tIns="0" rIns="0" bIns="0" rtlCol="0" anchor="ctr"/>
          <a:lstStyle/>
          <a:p>
            <a:pPr marL="0" indent="0" algn="ctr">
              <a:buNone/>
            </a:pPr>
            <a:r>
              <a:rPr lang="en-US" sz="750" dirty="0">
                <a:solidFill>
                  <a:srgbClr val="475569"/>
                </a:solidFill>
              </a:rPr>
              <a:t>React SPA  ·  SimpleJWT authentication  ·  Role-enforced routing  ·  Component-based architecture</a:t>
            </a:r>
            <a:endParaRPr lang="en-US" sz="750" dirty="0"/>
          </a:p>
        </p:txBody>
      </p:sp>
      <p:sp>
        <p:nvSpPr>
          <p:cNvPr id="13" name="Shape 11">
            <a:extLst>
              <a:ext uri="{FF2B5EF4-FFF2-40B4-BE49-F238E27FC236}">
                <a16:creationId xmlns:a16="http://schemas.microsoft.com/office/drawing/2014/main" id="{340814F4-496C-EAA8-4B0F-7BDA8947CF45}"/>
              </a:ext>
            </a:extLst>
          </p:cNvPr>
          <p:cNvSpPr/>
          <p:nvPr/>
        </p:nvSpPr>
        <p:spPr>
          <a:xfrm>
            <a:off x="3814155" y="1511430"/>
            <a:ext cx="594360" cy="201168"/>
          </a:xfrm>
          <a:prstGeom prst="rect">
            <a:avLst/>
          </a:prstGeom>
          <a:solidFill>
            <a:srgbClr val="00AEEF"/>
          </a:solidFill>
          <a:ln w="12700">
            <a:solidFill>
              <a:srgbClr val="00AEEF"/>
            </a:solidFill>
            <a:prstDash val="solid"/>
          </a:ln>
        </p:spPr>
        <p:txBody>
          <a:bodyPr/>
          <a:lstStyle/>
          <a:p>
            <a:endParaRPr lang="en-US"/>
          </a:p>
        </p:txBody>
      </p:sp>
      <p:sp>
        <p:nvSpPr>
          <p:cNvPr id="14" name="Text 12">
            <a:extLst>
              <a:ext uri="{FF2B5EF4-FFF2-40B4-BE49-F238E27FC236}">
                <a16:creationId xmlns:a16="http://schemas.microsoft.com/office/drawing/2014/main" id="{865BE1E0-8588-870B-9933-4749E70EB23D}"/>
              </a:ext>
            </a:extLst>
          </p:cNvPr>
          <p:cNvSpPr/>
          <p:nvPr/>
        </p:nvSpPr>
        <p:spPr>
          <a:xfrm>
            <a:off x="3840480" y="1508760"/>
            <a:ext cx="594360" cy="201168"/>
          </a:xfrm>
          <a:prstGeom prst="rect">
            <a:avLst/>
          </a:prstGeom>
          <a:noFill/>
          <a:ln/>
        </p:spPr>
        <p:txBody>
          <a:bodyPr wrap="square" lIns="0" tIns="0" rIns="0" bIns="0" rtlCol="0" anchor="ctr"/>
          <a:lstStyle/>
          <a:p>
            <a:pPr marL="0" indent="0" algn="ctr">
              <a:buNone/>
            </a:pPr>
            <a:r>
              <a:rPr lang="en-US" sz="750" b="1" dirty="0">
                <a:solidFill>
                  <a:srgbClr val="FFFFFF"/>
                </a:solidFill>
              </a:rPr>
              <a:t>UI</a:t>
            </a:r>
            <a:endParaRPr lang="en-US" sz="750" dirty="0"/>
          </a:p>
        </p:txBody>
      </p:sp>
      <p:pic>
        <p:nvPicPr>
          <p:cNvPr id="26" name="Picture 25">
            <a:extLst>
              <a:ext uri="{FF2B5EF4-FFF2-40B4-BE49-F238E27FC236}">
                <a16:creationId xmlns:a16="http://schemas.microsoft.com/office/drawing/2014/main" id="{4ADC6104-CFE4-A3CA-6DF7-0677907B74EE}"/>
              </a:ext>
            </a:extLst>
          </p:cNvPr>
          <p:cNvPicPr>
            <a:picLocks noChangeAspect="1"/>
          </p:cNvPicPr>
          <p:nvPr/>
        </p:nvPicPr>
        <p:blipFill>
          <a:blip r:embed="rId4"/>
          <a:srcRect l="19000" t="266" r="491" b="-266"/>
          <a:stretch>
            <a:fillRect/>
          </a:stretch>
        </p:blipFill>
        <p:spPr>
          <a:xfrm>
            <a:off x="4754880" y="1506931"/>
            <a:ext cx="3749040" cy="3076956"/>
          </a:xfrm>
          <a:prstGeom prst="rect">
            <a:avLst/>
          </a:prstGeom>
        </p:spPr>
      </p:pic>
      <p:sp>
        <p:nvSpPr>
          <p:cNvPr id="21" name="Shape 19">
            <a:extLst>
              <a:ext uri="{FF2B5EF4-FFF2-40B4-BE49-F238E27FC236}">
                <a16:creationId xmlns:a16="http://schemas.microsoft.com/office/drawing/2014/main" id="{218ECAA6-03F3-57E4-E01C-50B74917703E}"/>
              </a:ext>
            </a:extLst>
          </p:cNvPr>
          <p:cNvSpPr/>
          <p:nvPr/>
        </p:nvSpPr>
        <p:spPr>
          <a:xfrm>
            <a:off x="7989671" y="1517904"/>
            <a:ext cx="594360" cy="201168"/>
          </a:xfrm>
          <a:prstGeom prst="rect">
            <a:avLst/>
          </a:prstGeom>
          <a:solidFill>
            <a:srgbClr val="1B2A4A"/>
          </a:solidFill>
          <a:ln w="12700">
            <a:solidFill>
              <a:srgbClr val="1B2A4A"/>
            </a:solidFill>
            <a:prstDash val="solid"/>
          </a:ln>
        </p:spPr>
        <p:txBody>
          <a:bodyPr/>
          <a:lstStyle/>
          <a:p>
            <a:endParaRPr lang="en-US"/>
          </a:p>
        </p:txBody>
      </p:sp>
      <p:sp>
        <p:nvSpPr>
          <p:cNvPr id="22" name="Text 20">
            <a:extLst>
              <a:ext uri="{FF2B5EF4-FFF2-40B4-BE49-F238E27FC236}">
                <a16:creationId xmlns:a16="http://schemas.microsoft.com/office/drawing/2014/main" id="{BF22A46F-730B-7A46-5FC8-065F292800DB}"/>
              </a:ext>
            </a:extLst>
          </p:cNvPr>
          <p:cNvSpPr/>
          <p:nvPr/>
        </p:nvSpPr>
        <p:spPr>
          <a:xfrm>
            <a:off x="7989671" y="1517904"/>
            <a:ext cx="594360" cy="201168"/>
          </a:xfrm>
          <a:prstGeom prst="rect">
            <a:avLst/>
          </a:prstGeom>
          <a:noFill/>
          <a:ln/>
        </p:spPr>
        <p:txBody>
          <a:bodyPr wrap="square" lIns="0" tIns="0" rIns="0" bIns="0" rtlCol="0" anchor="ctr"/>
          <a:lstStyle/>
          <a:p>
            <a:pPr marL="0" indent="0" algn="ctr">
              <a:buNone/>
            </a:pPr>
            <a:r>
              <a:rPr lang="en-US" sz="750" b="1" dirty="0">
                <a:solidFill>
                  <a:srgbClr val="FFFFFF"/>
                </a:solidFill>
              </a:rPr>
              <a:t>UI</a:t>
            </a:r>
            <a:endParaRPr lang="en-US" sz="750" dirty="0"/>
          </a:p>
        </p:txBody>
      </p:sp>
    </p:spTree>
    <p:extLst>
      <p:ext uri="{BB962C8B-B14F-4D97-AF65-F5344CB8AC3E}">
        <p14:creationId xmlns:p14="http://schemas.microsoft.com/office/powerpoint/2010/main" val="3381649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par>
                          <p:cTn id="8" fill="hold">
                            <p:stCondLst>
                              <p:cond delay="2000"/>
                            </p:stCondLst>
                            <p:childTnLst>
                              <p:par>
                                <p:cTn id="9" presetID="9" presetClass="entr" presetSubtype="0" fill="hold" grpId="0" nodeType="afterEffect">
                                  <p:stCondLst>
                                    <p:cond delay="6000"/>
                                  </p:stCondLst>
                                  <p:childTnLst>
                                    <p:set>
                                      <p:cBhvr>
                                        <p:cTn id="10" dur="1" fill="hold">
                                          <p:stCondLst>
                                            <p:cond delay="0"/>
                                          </p:stCondLst>
                                        </p:cTn>
                                        <p:tgtEl>
                                          <p:spTgt spid="15"/>
                                        </p:tgtEl>
                                        <p:attrNameLst>
                                          <p:attrName>style.visibility</p:attrName>
                                        </p:attrNameLst>
                                      </p:cBhvr>
                                      <p:to>
                                        <p:strVal val="visible"/>
                                      </p:to>
                                    </p:set>
                                    <p:animEffect transition="in" filter="dissolve">
                                      <p:cBhvr>
                                        <p:cTn id="11" dur="500"/>
                                        <p:tgtEl>
                                          <p:spTgt spid="15"/>
                                        </p:tgtEl>
                                      </p:cBhvr>
                                    </p:animEffect>
                                  </p:childTnLst>
                                </p:cTn>
                              </p:par>
                            </p:childTnLst>
                          </p:cTn>
                        </p:par>
                        <p:par>
                          <p:cTn id="12" fill="hold">
                            <p:stCondLst>
                              <p:cond delay="8500"/>
                            </p:stCondLst>
                            <p:childTnLst>
                              <p:par>
                                <p:cTn id="13" presetID="9"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dissolve">
                                      <p:cBhvr>
                                        <p:cTn id="15" dur="500"/>
                                        <p:tgtEl>
                                          <p:spTgt spid="16"/>
                                        </p:tgtEl>
                                      </p:cBhvr>
                                    </p:animEffect>
                                  </p:childTnLst>
                                </p:cTn>
                              </p:par>
                            </p:childTnLst>
                          </p:cTn>
                        </p:par>
                        <p:par>
                          <p:cTn id="16" fill="hold">
                            <p:stCondLst>
                              <p:cond delay="9000"/>
                            </p:stCondLst>
                            <p:childTnLst>
                              <p:par>
                                <p:cTn id="17" presetID="9" presetClass="entr" presetSubtype="0"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dissolve">
                                      <p:cBhvr>
                                        <p:cTn id="19" dur="500"/>
                                        <p:tgtEl>
                                          <p:spTgt spid="17"/>
                                        </p:tgtEl>
                                      </p:cBhvr>
                                    </p:animEffect>
                                  </p:childTnLst>
                                </p:cTn>
                              </p:par>
                            </p:childTnLst>
                          </p:cTn>
                        </p:par>
                        <p:par>
                          <p:cTn id="20" fill="hold">
                            <p:stCondLst>
                              <p:cond delay="9500"/>
                            </p:stCondLst>
                            <p:childTnLst>
                              <p:par>
                                <p:cTn id="21" presetID="9" presetClass="entr" presetSubtype="0"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dissolve">
                                      <p:cBhvr>
                                        <p:cTn id="23" dur="500"/>
                                        <p:tgtEl>
                                          <p:spTgt spid="18"/>
                                        </p:tgtEl>
                                      </p:cBhvr>
                                    </p:animEffect>
                                  </p:childTnLst>
                                </p:cTn>
                              </p:par>
                            </p:childTnLst>
                          </p:cTn>
                        </p:par>
                        <p:par>
                          <p:cTn id="24" fill="hold">
                            <p:stCondLst>
                              <p:cond delay="10000"/>
                            </p:stCondLst>
                            <p:childTnLst>
                              <p:par>
                                <p:cTn id="25" presetID="9" presetClass="entr" presetSubtype="0"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dissolve">
                                      <p:cBhvr>
                                        <p:cTn id="27" dur="500"/>
                                        <p:tgtEl>
                                          <p:spTgt spid="26"/>
                                        </p:tgtEl>
                                      </p:cBhvr>
                                    </p:animEffect>
                                  </p:childTnLst>
                                </p:cTn>
                              </p:par>
                            </p:childTnLst>
                          </p:cTn>
                        </p:par>
                        <p:par>
                          <p:cTn id="28" fill="hold">
                            <p:stCondLst>
                              <p:cond delay="10500"/>
                            </p:stCondLst>
                            <p:childTnLst>
                              <p:par>
                                <p:cTn id="29" presetID="9" presetClass="entr" presetSubtype="0"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childTnLst>
                          </p:cTn>
                        </p:par>
                        <p:par>
                          <p:cTn id="32" fill="hold">
                            <p:stCondLst>
                              <p:cond delay="11000"/>
                            </p:stCondLst>
                            <p:childTnLst>
                              <p:par>
                                <p:cTn id="33" presetID="9" presetClass="entr" presetSubtype="0" fill="hold" grpId="0"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par>
                          <p:cTn id="36" fill="hold">
                            <p:stCondLst>
                              <p:cond delay="11500"/>
                            </p:stCondLst>
                            <p:childTnLst>
                              <p:par>
                                <p:cTn id="37" presetID="2" presetClass="entr" presetSubtype="4"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500" fill="hold"/>
                                        <p:tgtEl>
                                          <p:spTgt spid="24"/>
                                        </p:tgtEl>
                                        <p:attrNameLst>
                                          <p:attrName>ppt_x</p:attrName>
                                        </p:attrNameLst>
                                      </p:cBhvr>
                                      <p:tavLst>
                                        <p:tav tm="0">
                                          <p:val>
                                            <p:strVal val="#ppt_x"/>
                                          </p:val>
                                        </p:tav>
                                        <p:tav tm="100000">
                                          <p:val>
                                            <p:strVal val="#ppt_x"/>
                                          </p:val>
                                        </p:tav>
                                      </p:tavLst>
                                    </p:anim>
                                    <p:anim calcmode="lin" valueType="num">
                                      <p:cBhvr additive="base">
                                        <p:cTn id="4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P spid="16" grpId="0" animBg="1"/>
      <p:bldP spid="17" grpId="0" animBg="1"/>
      <p:bldP spid="18" grpId="0" animBg="1"/>
      <p:bldP spid="24" grpId="0" animBg="1"/>
      <p:bldP spid="21"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a:extLst>
            <a:ext uri="{FF2B5EF4-FFF2-40B4-BE49-F238E27FC236}">
              <a16:creationId xmlns:a16="http://schemas.microsoft.com/office/drawing/2014/main" id="{D457BC8D-BFBA-CCF8-24BD-47EF05531F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46EC5CC-763D-01E7-C0C4-064543FD66B8}"/>
              </a:ext>
            </a:extLst>
          </p:cNvPr>
          <p:cNvSpPr/>
          <p:nvPr/>
        </p:nvSpPr>
        <p:spPr>
          <a:xfrm>
            <a:off x="457200" y="256032"/>
            <a:ext cx="5486400" cy="182880"/>
          </a:xfrm>
          <a:prstGeom prst="rect">
            <a:avLst/>
          </a:prstGeom>
          <a:noFill/>
          <a:ln/>
        </p:spPr>
        <p:txBody>
          <a:bodyPr wrap="square" lIns="0" tIns="0" rIns="0" bIns="0" rtlCol="0" anchor="ctr"/>
          <a:lstStyle/>
          <a:p>
            <a:pPr marL="0" indent="0" algn="l">
              <a:buNone/>
            </a:pPr>
            <a:r>
              <a:rPr lang="en-US" sz="850" b="1" kern="0" spc="300" dirty="0">
                <a:solidFill>
                  <a:srgbClr val="1D9E75"/>
                </a:solidFill>
              </a:rPr>
              <a:t>FRONTEND &amp; USER EXPERIENCE</a:t>
            </a:r>
            <a:endParaRPr lang="en-US" sz="850" dirty="0"/>
          </a:p>
        </p:txBody>
      </p:sp>
      <p:sp>
        <p:nvSpPr>
          <p:cNvPr id="3" name="Text 1">
            <a:extLst>
              <a:ext uri="{FF2B5EF4-FFF2-40B4-BE49-F238E27FC236}">
                <a16:creationId xmlns:a16="http://schemas.microsoft.com/office/drawing/2014/main" id="{9C905C9F-C73E-C869-E79F-756CBD393CAA}"/>
              </a:ext>
            </a:extLst>
          </p:cNvPr>
          <p:cNvSpPr/>
          <p:nvPr/>
        </p:nvSpPr>
        <p:spPr>
          <a:xfrm>
            <a:off x="457200" y="457200"/>
            <a:ext cx="6858000" cy="502920"/>
          </a:xfrm>
          <a:prstGeom prst="rect">
            <a:avLst/>
          </a:prstGeom>
          <a:noFill/>
          <a:ln/>
        </p:spPr>
        <p:txBody>
          <a:bodyPr wrap="square" lIns="0" tIns="0" rIns="0" bIns="0" rtlCol="0" anchor="ctr"/>
          <a:lstStyle/>
          <a:p>
            <a:pPr marL="0" indent="0" algn="l">
              <a:buNone/>
            </a:pPr>
            <a:r>
              <a:rPr lang="en-US" sz="3400" b="1" dirty="0">
                <a:solidFill>
                  <a:srgbClr val="0D1B3E"/>
                </a:solidFill>
                <a:latin typeface="Calibri" pitchFamily="34" charset="0"/>
                <a:ea typeface="Calibri" pitchFamily="34" charset="-122"/>
                <a:cs typeface="Calibri" pitchFamily="34" charset="-120"/>
              </a:rPr>
              <a:t>In Action</a:t>
            </a:r>
            <a:endParaRPr lang="en-US" sz="3400" dirty="0"/>
          </a:p>
        </p:txBody>
      </p:sp>
      <p:sp>
        <p:nvSpPr>
          <p:cNvPr id="4" name="Text 2">
            <a:extLst>
              <a:ext uri="{FF2B5EF4-FFF2-40B4-BE49-F238E27FC236}">
                <a16:creationId xmlns:a16="http://schemas.microsoft.com/office/drawing/2014/main" id="{BC428D9C-7277-C59B-9075-E55F8DC87A9F}"/>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Rachel Mizer</a:t>
            </a:r>
            <a:endParaRPr lang="en-US" sz="800" dirty="0"/>
          </a:p>
        </p:txBody>
      </p:sp>
      <p:sp>
        <p:nvSpPr>
          <p:cNvPr id="5" name="Text 3">
            <a:extLst>
              <a:ext uri="{FF2B5EF4-FFF2-40B4-BE49-F238E27FC236}">
                <a16:creationId xmlns:a16="http://schemas.microsoft.com/office/drawing/2014/main" id="{E5959F35-87FB-6DB4-717A-438CD9105E79}"/>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Frontend &amp; UI/UX Lead</a:t>
            </a:r>
            <a:endParaRPr lang="en-US" sz="700" dirty="0"/>
          </a:p>
        </p:txBody>
      </p:sp>
      <p:sp>
        <p:nvSpPr>
          <p:cNvPr id="6" name="Shape 4">
            <a:extLst>
              <a:ext uri="{FF2B5EF4-FFF2-40B4-BE49-F238E27FC236}">
                <a16:creationId xmlns:a16="http://schemas.microsoft.com/office/drawing/2014/main" id="{CA98978A-6AEE-11F9-36B0-36CD29514E22}"/>
              </a:ext>
            </a:extLst>
          </p:cNvPr>
          <p:cNvSpPr/>
          <p:nvPr/>
        </p:nvSpPr>
        <p:spPr>
          <a:xfrm>
            <a:off x="457200" y="1024128"/>
            <a:ext cx="8229600" cy="10973"/>
          </a:xfrm>
          <a:prstGeom prst="rect">
            <a:avLst/>
          </a:prstGeom>
          <a:solidFill>
            <a:srgbClr val="D8DCE5"/>
          </a:solidFill>
          <a:ln w="12700">
            <a:solidFill>
              <a:srgbClr val="D8DCE5"/>
            </a:solidFill>
            <a:prstDash val="solid"/>
          </a:ln>
        </p:spPr>
        <p:txBody>
          <a:bodyPr/>
          <a:lstStyle/>
          <a:p>
            <a:endParaRPr lang="en-US"/>
          </a:p>
        </p:txBody>
      </p:sp>
      <p:sp>
        <p:nvSpPr>
          <p:cNvPr id="7" name="Shape 5">
            <a:extLst>
              <a:ext uri="{FF2B5EF4-FFF2-40B4-BE49-F238E27FC236}">
                <a16:creationId xmlns:a16="http://schemas.microsoft.com/office/drawing/2014/main" id="{E6F04FCE-5078-FE1D-61C2-CE148AB9F06B}"/>
              </a:ext>
            </a:extLst>
          </p:cNvPr>
          <p:cNvSpPr/>
          <p:nvPr/>
        </p:nvSpPr>
        <p:spPr>
          <a:xfrm>
            <a:off x="457200" y="1115568"/>
            <a:ext cx="4023360" cy="310896"/>
          </a:xfrm>
          <a:prstGeom prst="rect">
            <a:avLst/>
          </a:prstGeom>
          <a:solidFill>
            <a:srgbClr val="00AEEF"/>
          </a:solidFill>
          <a:ln w="12700">
            <a:solidFill>
              <a:srgbClr val="00AEEF"/>
            </a:solidFill>
            <a:prstDash val="solid"/>
          </a:ln>
        </p:spPr>
        <p:txBody>
          <a:bodyPr/>
          <a:lstStyle/>
          <a:p>
            <a:endParaRPr lang="en-US"/>
          </a:p>
        </p:txBody>
      </p:sp>
      <p:sp>
        <p:nvSpPr>
          <p:cNvPr id="8" name="Text 6">
            <a:extLst>
              <a:ext uri="{FF2B5EF4-FFF2-40B4-BE49-F238E27FC236}">
                <a16:creationId xmlns:a16="http://schemas.microsoft.com/office/drawing/2014/main" id="{1EAFD97D-9CE5-261C-E95A-7F1F11EF29AC}"/>
              </a:ext>
            </a:extLst>
          </p:cNvPr>
          <p:cNvSpPr/>
          <p:nvPr/>
        </p:nvSpPr>
        <p:spPr>
          <a:xfrm>
            <a:off x="566928" y="1115568"/>
            <a:ext cx="3749040" cy="182880"/>
          </a:xfrm>
          <a:prstGeom prst="rect">
            <a:avLst/>
          </a:prstGeom>
          <a:noFill/>
          <a:ln/>
        </p:spPr>
        <p:txBody>
          <a:bodyPr wrap="square" lIns="0" tIns="0" rIns="0" bIns="0" rtlCol="0" anchor="ctr"/>
          <a:lstStyle/>
          <a:p>
            <a:pPr marL="0" indent="0">
              <a:buNone/>
            </a:pPr>
            <a:r>
              <a:rPr lang="en-US" sz="1200" b="1" dirty="0">
                <a:solidFill>
                  <a:srgbClr val="FFFFFF"/>
                </a:solidFill>
              </a:rPr>
              <a:t>Customer Profile</a:t>
            </a:r>
            <a:endParaRPr lang="en-US" sz="1200" dirty="0"/>
          </a:p>
        </p:txBody>
      </p:sp>
      <p:sp>
        <p:nvSpPr>
          <p:cNvPr id="9" name="Text 7">
            <a:extLst>
              <a:ext uri="{FF2B5EF4-FFF2-40B4-BE49-F238E27FC236}">
                <a16:creationId xmlns:a16="http://schemas.microsoft.com/office/drawing/2014/main" id="{54876047-AC9D-617B-8BF7-8E37EC4C737B}"/>
              </a:ext>
            </a:extLst>
          </p:cNvPr>
          <p:cNvSpPr/>
          <p:nvPr/>
        </p:nvSpPr>
        <p:spPr>
          <a:xfrm>
            <a:off x="566928" y="1280160"/>
            <a:ext cx="3749040" cy="128016"/>
          </a:xfrm>
          <a:prstGeom prst="rect">
            <a:avLst/>
          </a:prstGeom>
          <a:noFill/>
          <a:ln/>
        </p:spPr>
        <p:txBody>
          <a:bodyPr wrap="square" lIns="0" tIns="0" rIns="0" bIns="0" rtlCol="0" anchor="ctr"/>
          <a:lstStyle/>
          <a:p>
            <a:pPr marL="0" indent="0">
              <a:buNone/>
            </a:pPr>
            <a:r>
              <a:rPr lang="en-US" sz="750" dirty="0">
                <a:solidFill>
                  <a:srgbClr val="CADCFC"/>
                </a:solidFill>
              </a:rPr>
              <a:t>Account Management · Order History · Profile Editing</a:t>
            </a:r>
            <a:endParaRPr lang="en-US" sz="750" dirty="0"/>
          </a:p>
        </p:txBody>
      </p:sp>
      <p:sp>
        <p:nvSpPr>
          <p:cNvPr id="10" name="Shape 8">
            <a:extLst>
              <a:ext uri="{FF2B5EF4-FFF2-40B4-BE49-F238E27FC236}">
                <a16:creationId xmlns:a16="http://schemas.microsoft.com/office/drawing/2014/main" id="{9576614E-FABB-25E3-41EE-F3210F876B1C}"/>
              </a:ext>
            </a:extLst>
          </p:cNvPr>
          <p:cNvSpPr/>
          <p:nvPr/>
        </p:nvSpPr>
        <p:spPr>
          <a:xfrm>
            <a:off x="457200" y="1463040"/>
            <a:ext cx="4023360" cy="3291840"/>
          </a:xfrm>
          <a:prstGeom prst="rect">
            <a:avLst/>
          </a:prstGeom>
          <a:solidFill>
            <a:srgbClr val="F0F2F6"/>
          </a:solidFill>
          <a:ln w="12700">
            <a:solidFill>
              <a:srgbClr val="D8DCE5"/>
            </a:solidFill>
            <a:prstDash val="solid"/>
          </a:ln>
        </p:spPr>
        <p:txBody>
          <a:bodyPr/>
          <a:lstStyle/>
          <a:p>
            <a:endParaRPr lang="en-US"/>
          </a:p>
        </p:txBody>
      </p:sp>
      <p:sp>
        <p:nvSpPr>
          <p:cNvPr id="11" name="Shape 9">
            <a:extLst>
              <a:ext uri="{FF2B5EF4-FFF2-40B4-BE49-F238E27FC236}">
                <a16:creationId xmlns:a16="http://schemas.microsoft.com/office/drawing/2014/main" id="{917259BF-657C-8EE6-96BA-05357B738E0D}"/>
              </a:ext>
            </a:extLst>
          </p:cNvPr>
          <p:cNvSpPr/>
          <p:nvPr/>
        </p:nvSpPr>
        <p:spPr>
          <a:xfrm>
            <a:off x="594360" y="1600200"/>
            <a:ext cx="3749040" cy="3017520"/>
          </a:xfrm>
          <a:prstGeom prst="rect">
            <a:avLst/>
          </a:prstGeom>
          <a:solidFill>
            <a:srgbClr val="E8EAF0"/>
          </a:solidFill>
          <a:ln w="6350">
            <a:solidFill>
              <a:srgbClr val="C8CDD8"/>
            </a:solidFill>
            <a:prstDash val="dash"/>
          </a:ln>
        </p:spPr>
        <p:txBody>
          <a:bodyPr/>
          <a:lstStyle/>
          <a:p>
            <a:endParaRPr lang="en-US"/>
          </a:p>
        </p:txBody>
      </p:sp>
      <p:sp>
        <p:nvSpPr>
          <p:cNvPr id="12" name="Text 10">
            <a:extLst>
              <a:ext uri="{FF2B5EF4-FFF2-40B4-BE49-F238E27FC236}">
                <a16:creationId xmlns:a16="http://schemas.microsoft.com/office/drawing/2014/main" id="{13282C6B-E67A-03AC-345A-AE28AD86EC5A}"/>
              </a:ext>
            </a:extLst>
          </p:cNvPr>
          <p:cNvSpPr/>
          <p:nvPr/>
        </p:nvSpPr>
        <p:spPr>
          <a:xfrm>
            <a:off x="640080" y="2743200"/>
            <a:ext cx="3657600" cy="457200"/>
          </a:xfrm>
          <a:prstGeom prst="rect">
            <a:avLst/>
          </a:prstGeom>
          <a:noFill/>
          <a:ln/>
        </p:spPr>
        <p:txBody>
          <a:bodyPr wrap="square" lIns="0" tIns="0" rIns="0" bIns="0" rtlCol="0" anchor="ctr"/>
          <a:lstStyle/>
          <a:p>
            <a:pPr marL="0" indent="0" algn="ctr">
              <a:buNone/>
            </a:pPr>
            <a:r>
              <a:rPr lang="en-US" sz="900" i="1" dirty="0">
                <a:solidFill>
                  <a:srgbClr val="94A3B8"/>
                </a:solidFill>
              </a:rPr>
              <a:t>[ Replace with customer profile screenshot ]</a:t>
            </a:r>
            <a:endParaRPr lang="en-US" sz="900" dirty="0"/>
          </a:p>
        </p:txBody>
      </p:sp>
      <p:sp>
        <p:nvSpPr>
          <p:cNvPr id="15" name="Shape 13">
            <a:extLst>
              <a:ext uri="{FF2B5EF4-FFF2-40B4-BE49-F238E27FC236}">
                <a16:creationId xmlns:a16="http://schemas.microsoft.com/office/drawing/2014/main" id="{C33899B5-0D41-059C-FAC1-16B8F779C19B}"/>
              </a:ext>
            </a:extLst>
          </p:cNvPr>
          <p:cNvSpPr/>
          <p:nvPr/>
        </p:nvSpPr>
        <p:spPr>
          <a:xfrm>
            <a:off x="4617720" y="1115568"/>
            <a:ext cx="4023360" cy="310896"/>
          </a:xfrm>
          <a:prstGeom prst="rect">
            <a:avLst/>
          </a:prstGeom>
          <a:solidFill>
            <a:srgbClr val="1D9E75"/>
          </a:solidFill>
          <a:ln w="12700">
            <a:solidFill>
              <a:srgbClr val="1D9E75"/>
            </a:solidFill>
            <a:prstDash val="solid"/>
          </a:ln>
        </p:spPr>
        <p:txBody>
          <a:bodyPr/>
          <a:lstStyle/>
          <a:p>
            <a:endParaRPr lang="en-US"/>
          </a:p>
        </p:txBody>
      </p:sp>
      <p:sp>
        <p:nvSpPr>
          <p:cNvPr id="16" name="Text 14">
            <a:extLst>
              <a:ext uri="{FF2B5EF4-FFF2-40B4-BE49-F238E27FC236}">
                <a16:creationId xmlns:a16="http://schemas.microsoft.com/office/drawing/2014/main" id="{CEC263B7-12AC-A817-26B6-F018BD8AD547}"/>
              </a:ext>
            </a:extLst>
          </p:cNvPr>
          <p:cNvSpPr/>
          <p:nvPr/>
        </p:nvSpPr>
        <p:spPr>
          <a:xfrm>
            <a:off x="4727448" y="1115568"/>
            <a:ext cx="3749040" cy="182880"/>
          </a:xfrm>
          <a:prstGeom prst="rect">
            <a:avLst/>
          </a:prstGeom>
          <a:noFill/>
          <a:ln/>
        </p:spPr>
        <p:txBody>
          <a:bodyPr wrap="square" lIns="0" tIns="0" rIns="0" bIns="0" rtlCol="0" anchor="ctr"/>
          <a:lstStyle/>
          <a:p>
            <a:pPr marL="0" indent="0">
              <a:buNone/>
            </a:pPr>
            <a:r>
              <a:rPr lang="en-US" sz="1200" b="1" dirty="0">
                <a:solidFill>
                  <a:srgbClr val="FFFFFF"/>
                </a:solidFill>
              </a:rPr>
              <a:t>Business Tools</a:t>
            </a:r>
            <a:endParaRPr lang="en-US" sz="1200" dirty="0"/>
          </a:p>
        </p:txBody>
      </p:sp>
      <p:sp>
        <p:nvSpPr>
          <p:cNvPr id="17" name="Text 15">
            <a:extLst>
              <a:ext uri="{FF2B5EF4-FFF2-40B4-BE49-F238E27FC236}">
                <a16:creationId xmlns:a16="http://schemas.microsoft.com/office/drawing/2014/main" id="{C939F9CF-AEF4-E267-602B-6AA72F5165C8}"/>
              </a:ext>
            </a:extLst>
          </p:cNvPr>
          <p:cNvSpPr/>
          <p:nvPr/>
        </p:nvSpPr>
        <p:spPr>
          <a:xfrm>
            <a:off x="4727448" y="1280160"/>
            <a:ext cx="3749040" cy="128016"/>
          </a:xfrm>
          <a:prstGeom prst="rect">
            <a:avLst/>
          </a:prstGeom>
          <a:noFill/>
          <a:ln/>
        </p:spPr>
        <p:txBody>
          <a:bodyPr wrap="square" lIns="0" tIns="0" rIns="0" bIns="0" rtlCol="0" anchor="ctr"/>
          <a:lstStyle/>
          <a:p>
            <a:r>
              <a:rPr lang="en-US" sz="750" dirty="0">
                <a:solidFill>
                  <a:srgbClr val="CADCFC"/>
                </a:solidFill>
              </a:rPr>
              <a:t>Product &amp; Inventory Management · Sales Dashboard · Settings</a:t>
            </a:r>
            <a:endParaRPr lang="en-US" sz="750" dirty="0"/>
          </a:p>
        </p:txBody>
      </p:sp>
      <p:sp>
        <p:nvSpPr>
          <p:cNvPr id="18" name="Shape 16">
            <a:extLst>
              <a:ext uri="{FF2B5EF4-FFF2-40B4-BE49-F238E27FC236}">
                <a16:creationId xmlns:a16="http://schemas.microsoft.com/office/drawing/2014/main" id="{04068518-4647-49A4-BC81-4DFC9E23F16B}"/>
              </a:ext>
            </a:extLst>
          </p:cNvPr>
          <p:cNvSpPr/>
          <p:nvPr/>
        </p:nvSpPr>
        <p:spPr>
          <a:xfrm>
            <a:off x="4617720" y="1463040"/>
            <a:ext cx="4023360" cy="3291840"/>
          </a:xfrm>
          <a:prstGeom prst="rect">
            <a:avLst/>
          </a:prstGeom>
          <a:solidFill>
            <a:srgbClr val="F0F2F6"/>
          </a:solidFill>
          <a:ln w="12700">
            <a:solidFill>
              <a:srgbClr val="D8DCE5"/>
            </a:solidFill>
            <a:prstDash val="solid"/>
          </a:ln>
        </p:spPr>
        <p:txBody>
          <a:bodyPr/>
          <a:lstStyle/>
          <a:p>
            <a:endParaRPr lang="en-US"/>
          </a:p>
        </p:txBody>
      </p:sp>
      <p:sp>
        <p:nvSpPr>
          <p:cNvPr id="19" name="Shape 17">
            <a:extLst>
              <a:ext uri="{FF2B5EF4-FFF2-40B4-BE49-F238E27FC236}">
                <a16:creationId xmlns:a16="http://schemas.microsoft.com/office/drawing/2014/main" id="{FDAA8B83-4B30-DE7B-9135-F58F382796CE}"/>
              </a:ext>
            </a:extLst>
          </p:cNvPr>
          <p:cNvSpPr/>
          <p:nvPr/>
        </p:nvSpPr>
        <p:spPr>
          <a:xfrm>
            <a:off x="4754880" y="1600200"/>
            <a:ext cx="3749040" cy="3017520"/>
          </a:xfrm>
          <a:prstGeom prst="rect">
            <a:avLst/>
          </a:prstGeom>
          <a:solidFill>
            <a:srgbClr val="E8EAF0"/>
          </a:solidFill>
          <a:ln w="6350">
            <a:solidFill>
              <a:srgbClr val="C8CDD8"/>
            </a:solidFill>
            <a:prstDash val="dash"/>
          </a:ln>
        </p:spPr>
        <p:txBody>
          <a:bodyPr/>
          <a:lstStyle/>
          <a:p>
            <a:endParaRPr lang="en-US"/>
          </a:p>
        </p:txBody>
      </p:sp>
      <p:sp>
        <p:nvSpPr>
          <p:cNvPr id="23" name="Shape 21">
            <a:extLst>
              <a:ext uri="{FF2B5EF4-FFF2-40B4-BE49-F238E27FC236}">
                <a16:creationId xmlns:a16="http://schemas.microsoft.com/office/drawing/2014/main" id="{E16DF484-6009-023B-41D1-CCA84D58930C}"/>
              </a:ext>
            </a:extLst>
          </p:cNvPr>
          <p:cNvSpPr/>
          <p:nvPr/>
        </p:nvSpPr>
        <p:spPr>
          <a:xfrm>
            <a:off x="457200" y="4828032"/>
            <a:ext cx="8229600" cy="201168"/>
          </a:xfrm>
          <a:prstGeom prst="rect">
            <a:avLst/>
          </a:prstGeom>
          <a:solidFill>
            <a:srgbClr val="F8FAFC"/>
          </a:solidFill>
          <a:ln w="6350">
            <a:solidFill>
              <a:srgbClr val="D8DCE5"/>
            </a:solidFill>
            <a:prstDash val="solid"/>
          </a:ln>
        </p:spPr>
        <p:txBody>
          <a:bodyPr/>
          <a:lstStyle/>
          <a:p>
            <a:endParaRPr lang="en-US"/>
          </a:p>
        </p:txBody>
      </p:sp>
      <p:sp>
        <p:nvSpPr>
          <p:cNvPr id="24" name="Text 22">
            <a:extLst>
              <a:ext uri="{FF2B5EF4-FFF2-40B4-BE49-F238E27FC236}">
                <a16:creationId xmlns:a16="http://schemas.microsoft.com/office/drawing/2014/main" id="{950FDA77-E641-ED75-F586-4D39E349E52F}"/>
              </a:ext>
            </a:extLst>
          </p:cNvPr>
          <p:cNvSpPr/>
          <p:nvPr/>
        </p:nvSpPr>
        <p:spPr>
          <a:xfrm>
            <a:off x="566928" y="4828032"/>
            <a:ext cx="8010144" cy="201168"/>
          </a:xfrm>
          <a:prstGeom prst="rect">
            <a:avLst/>
          </a:prstGeom>
          <a:noFill/>
          <a:ln/>
        </p:spPr>
        <p:txBody>
          <a:bodyPr wrap="square" lIns="0" tIns="0" rIns="0" bIns="0" rtlCol="0" anchor="ctr"/>
          <a:lstStyle/>
          <a:p>
            <a:pPr marL="0" indent="0" algn="ctr">
              <a:buNone/>
            </a:pPr>
            <a:r>
              <a:rPr lang="en-US" sz="750" dirty="0">
                <a:solidFill>
                  <a:srgbClr val="475569"/>
                </a:solidFill>
              </a:rPr>
              <a:t>Branding consistent across all views  ·  Loading, error &amp; empty states on every page  ·  77+ automated tests passing</a:t>
            </a:r>
            <a:endParaRPr lang="en-US" sz="750" dirty="0"/>
          </a:p>
        </p:txBody>
      </p:sp>
      <p:pic>
        <p:nvPicPr>
          <p:cNvPr id="26" name="Picture 25">
            <a:extLst>
              <a:ext uri="{FF2B5EF4-FFF2-40B4-BE49-F238E27FC236}">
                <a16:creationId xmlns:a16="http://schemas.microsoft.com/office/drawing/2014/main" id="{C1C1036D-E155-826E-DF2C-3B8B1294D965}"/>
              </a:ext>
            </a:extLst>
          </p:cNvPr>
          <p:cNvPicPr>
            <a:picLocks noChangeAspect="1"/>
          </p:cNvPicPr>
          <p:nvPr/>
        </p:nvPicPr>
        <p:blipFill>
          <a:blip r:embed="rId3"/>
          <a:srcRect l="26469" t="15269" r="23530" b="12751"/>
          <a:stretch>
            <a:fillRect/>
          </a:stretch>
        </p:blipFill>
        <p:spPr>
          <a:xfrm>
            <a:off x="594360" y="1600199"/>
            <a:ext cx="3886200" cy="3017521"/>
          </a:xfrm>
          <a:prstGeom prst="rect">
            <a:avLst/>
          </a:prstGeom>
        </p:spPr>
      </p:pic>
      <p:sp>
        <p:nvSpPr>
          <p:cNvPr id="13" name="Shape 11">
            <a:extLst>
              <a:ext uri="{FF2B5EF4-FFF2-40B4-BE49-F238E27FC236}">
                <a16:creationId xmlns:a16="http://schemas.microsoft.com/office/drawing/2014/main" id="{E806DC52-004B-0DC6-C0F7-08DEB3CAC32F}"/>
              </a:ext>
            </a:extLst>
          </p:cNvPr>
          <p:cNvSpPr/>
          <p:nvPr/>
        </p:nvSpPr>
        <p:spPr>
          <a:xfrm>
            <a:off x="3840480" y="1503904"/>
            <a:ext cx="594360" cy="201168"/>
          </a:xfrm>
          <a:prstGeom prst="rect">
            <a:avLst/>
          </a:prstGeom>
          <a:solidFill>
            <a:srgbClr val="00AEEF"/>
          </a:solidFill>
          <a:ln w="12700">
            <a:solidFill>
              <a:srgbClr val="00AEEF"/>
            </a:solidFill>
            <a:prstDash val="solid"/>
          </a:ln>
        </p:spPr>
        <p:txBody>
          <a:bodyPr/>
          <a:lstStyle/>
          <a:p>
            <a:endParaRPr lang="en-US"/>
          </a:p>
        </p:txBody>
      </p:sp>
      <p:sp>
        <p:nvSpPr>
          <p:cNvPr id="14" name="Text 12">
            <a:extLst>
              <a:ext uri="{FF2B5EF4-FFF2-40B4-BE49-F238E27FC236}">
                <a16:creationId xmlns:a16="http://schemas.microsoft.com/office/drawing/2014/main" id="{52AAD1CF-74BB-B14C-3E05-6517FA0E2688}"/>
              </a:ext>
            </a:extLst>
          </p:cNvPr>
          <p:cNvSpPr/>
          <p:nvPr/>
        </p:nvSpPr>
        <p:spPr>
          <a:xfrm>
            <a:off x="3840480" y="1503904"/>
            <a:ext cx="594360" cy="201168"/>
          </a:xfrm>
          <a:prstGeom prst="rect">
            <a:avLst/>
          </a:prstGeom>
          <a:noFill/>
          <a:ln/>
        </p:spPr>
        <p:txBody>
          <a:bodyPr wrap="square" lIns="0" tIns="0" rIns="0" bIns="0" rtlCol="0" anchor="ctr"/>
          <a:lstStyle/>
          <a:p>
            <a:pPr marL="0" indent="0" algn="ctr">
              <a:buNone/>
            </a:pPr>
            <a:r>
              <a:rPr lang="en-US" sz="750" b="1" dirty="0">
                <a:solidFill>
                  <a:srgbClr val="FFFFFF"/>
                </a:solidFill>
              </a:rPr>
              <a:t>UI</a:t>
            </a:r>
            <a:endParaRPr lang="en-US" sz="750" dirty="0"/>
          </a:p>
        </p:txBody>
      </p:sp>
      <p:pic>
        <p:nvPicPr>
          <p:cNvPr id="27" name="Picture 26">
            <a:extLst>
              <a:ext uri="{FF2B5EF4-FFF2-40B4-BE49-F238E27FC236}">
                <a16:creationId xmlns:a16="http://schemas.microsoft.com/office/drawing/2014/main" id="{7D652E62-78B7-5835-91BC-E407DA124A2F}"/>
              </a:ext>
            </a:extLst>
          </p:cNvPr>
          <p:cNvPicPr>
            <a:picLocks noChangeAspect="1"/>
          </p:cNvPicPr>
          <p:nvPr/>
        </p:nvPicPr>
        <p:blipFill>
          <a:blip r:embed="rId4"/>
          <a:srcRect l="1920" r="32007"/>
          <a:stretch>
            <a:fillRect/>
          </a:stretch>
        </p:blipFill>
        <p:spPr>
          <a:xfrm>
            <a:off x="4741164" y="1600199"/>
            <a:ext cx="3776472" cy="3035409"/>
          </a:xfrm>
          <a:prstGeom prst="rect">
            <a:avLst/>
          </a:prstGeom>
        </p:spPr>
      </p:pic>
      <p:sp>
        <p:nvSpPr>
          <p:cNvPr id="21" name="Shape 19">
            <a:extLst>
              <a:ext uri="{FF2B5EF4-FFF2-40B4-BE49-F238E27FC236}">
                <a16:creationId xmlns:a16="http://schemas.microsoft.com/office/drawing/2014/main" id="{D9828094-89E8-272E-D765-C5F1878062D7}"/>
              </a:ext>
            </a:extLst>
          </p:cNvPr>
          <p:cNvSpPr/>
          <p:nvPr/>
        </p:nvSpPr>
        <p:spPr>
          <a:xfrm>
            <a:off x="7986515" y="1506931"/>
            <a:ext cx="594360" cy="201168"/>
          </a:xfrm>
          <a:prstGeom prst="rect">
            <a:avLst/>
          </a:prstGeom>
          <a:solidFill>
            <a:srgbClr val="1D9E75"/>
          </a:solidFill>
          <a:ln w="12700">
            <a:solidFill>
              <a:srgbClr val="1D9E75"/>
            </a:solidFill>
            <a:prstDash val="solid"/>
          </a:ln>
        </p:spPr>
        <p:txBody>
          <a:bodyPr/>
          <a:lstStyle/>
          <a:p>
            <a:endParaRPr lang="en-US"/>
          </a:p>
        </p:txBody>
      </p:sp>
      <p:sp>
        <p:nvSpPr>
          <p:cNvPr id="22" name="Text 20">
            <a:extLst>
              <a:ext uri="{FF2B5EF4-FFF2-40B4-BE49-F238E27FC236}">
                <a16:creationId xmlns:a16="http://schemas.microsoft.com/office/drawing/2014/main" id="{32A83AD3-6F18-7300-924A-DBCB92CD26E8}"/>
              </a:ext>
            </a:extLst>
          </p:cNvPr>
          <p:cNvSpPr/>
          <p:nvPr/>
        </p:nvSpPr>
        <p:spPr>
          <a:xfrm>
            <a:off x="7986515" y="1506931"/>
            <a:ext cx="594360" cy="201168"/>
          </a:xfrm>
          <a:prstGeom prst="rect">
            <a:avLst/>
          </a:prstGeom>
          <a:noFill/>
          <a:ln/>
        </p:spPr>
        <p:txBody>
          <a:bodyPr wrap="square" lIns="0" tIns="0" rIns="0" bIns="0" rtlCol="0" anchor="ctr"/>
          <a:lstStyle/>
          <a:p>
            <a:pPr marL="0" indent="0" algn="ctr">
              <a:buNone/>
            </a:pPr>
            <a:r>
              <a:rPr lang="en-US" sz="750" b="1" dirty="0">
                <a:solidFill>
                  <a:srgbClr val="FFFFFF"/>
                </a:solidFill>
              </a:rPr>
              <a:t>UI</a:t>
            </a:r>
            <a:endParaRPr lang="en-US" sz="750" dirty="0"/>
          </a:p>
        </p:txBody>
      </p:sp>
    </p:spTree>
    <p:extLst>
      <p:ext uri="{BB962C8B-B14F-4D97-AF65-F5344CB8AC3E}">
        <p14:creationId xmlns:p14="http://schemas.microsoft.com/office/powerpoint/2010/main" val="1831737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par>
                          <p:cTn id="12" fill="hold">
                            <p:stCondLst>
                              <p:cond delay="850"/>
                            </p:stCondLst>
                            <p:childTnLst>
                              <p:par>
                                <p:cTn id="13" presetID="9" presetClass="entr" presetSubtype="0" fill="hold" grpId="0" nodeType="afterEffect">
                                  <p:stCondLst>
                                    <p:cond delay="4000"/>
                                  </p:stCondLst>
                                  <p:childTnLst>
                                    <p:set>
                                      <p:cBhvr>
                                        <p:cTn id="14" dur="1" fill="hold">
                                          <p:stCondLst>
                                            <p:cond delay="0"/>
                                          </p:stCondLst>
                                        </p:cTn>
                                        <p:tgtEl>
                                          <p:spTgt spid="19"/>
                                        </p:tgtEl>
                                        <p:attrNameLst>
                                          <p:attrName>style.visibility</p:attrName>
                                        </p:attrNameLst>
                                      </p:cBhvr>
                                      <p:to>
                                        <p:strVal val="visible"/>
                                      </p:to>
                                    </p:set>
                                    <p:animEffect transition="in" filter="dissolve">
                                      <p:cBhvr>
                                        <p:cTn id="15" dur="500"/>
                                        <p:tgtEl>
                                          <p:spTgt spid="19"/>
                                        </p:tgtEl>
                                      </p:cBhvr>
                                    </p:animEffect>
                                  </p:childTnLst>
                                </p:cTn>
                              </p:par>
                            </p:childTnLst>
                          </p:cTn>
                        </p:par>
                        <p:par>
                          <p:cTn id="16" fill="hold">
                            <p:stCondLst>
                              <p:cond delay="5350"/>
                            </p:stCondLst>
                            <p:childTnLst>
                              <p:par>
                                <p:cTn id="17" presetID="9" presetClass="entr" presetSubtype="0" repeatCount="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dissolve">
                                      <p:cBhvr>
                                        <p:cTn id="19" dur="500"/>
                                        <p:tgtEl>
                                          <p:spTgt spid="27"/>
                                        </p:tgtEl>
                                      </p:cBhvr>
                                    </p:animEffect>
                                  </p:childTnLst>
                                </p:cTn>
                              </p:par>
                            </p:childTnLst>
                          </p:cTn>
                        </p:par>
                        <p:par>
                          <p:cTn id="20" fill="hold">
                            <p:stCondLst>
                              <p:cond delay="5850"/>
                            </p:stCondLst>
                            <p:childTnLst>
                              <p:par>
                                <p:cTn id="21" presetID="9" presetClass="entr" presetSubtype="0" repeatCount="0"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dissolve">
                                      <p:cBhvr>
                                        <p:cTn id="23" dur="500"/>
                                        <p:tgtEl>
                                          <p:spTgt spid="21"/>
                                        </p:tgtEl>
                                      </p:cBhvr>
                                    </p:animEffect>
                                  </p:childTnLst>
                                </p:cTn>
                              </p:par>
                            </p:childTnLst>
                          </p:cTn>
                        </p:par>
                        <p:par>
                          <p:cTn id="24" fill="hold">
                            <p:stCondLst>
                              <p:cond delay="6350"/>
                            </p:stCondLst>
                            <p:childTnLst>
                              <p:par>
                                <p:cTn id="25" presetID="9" presetClass="entr" presetSubtype="0" repeatCount="0"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par>
                          <p:cTn id="28" fill="hold">
                            <p:stCondLst>
                              <p:cond delay="6850"/>
                            </p:stCondLst>
                            <p:childTnLst>
                              <p:par>
                                <p:cTn id="29" presetID="37" presetClass="entr" presetSubtype="0" fill="hold" nodeType="afterEffect">
                                  <p:stCondLst>
                                    <p:cond delay="1000"/>
                                  </p:stCondLst>
                                  <p:childTnLst>
                                    <p:set>
                                      <p:cBhvr>
                                        <p:cTn id="30" dur="1" fill="hold">
                                          <p:stCondLst>
                                            <p:cond delay="0"/>
                                          </p:stCondLst>
                                        </p:cTn>
                                        <p:tgtEl>
                                          <p:spTgt spid="24">
                                            <p:txEl>
                                              <p:pRg st="0" end="0"/>
                                            </p:txEl>
                                          </p:spTgt>
                                        </p:tgtEl>
                                        <p:attrNameLst>
                                          <p:attrName>style.visibility</p:attrName>
                                        </p:attrNameLst>
                                      </p:cBhvr>
                                      <p:to>
                                        <p:strVal val="visible"/>
                                      </p:to>
                                    </p:set>
                                    <p:animEffect transition="in" filter="fade">
                                      <p:cBhvr>
                                        <p:cTn id="31" dur="1000"/>
                                        <p:tgtEl>
                                          <p:spTgt spid="24">
                                            <p:txEl>
                                              <p:pRg st="0" end="0"/>
                                            </p:txEl>
                                          </p:spTgt>
                                        </p:tgtEl>
                                      </p:cBhvr>
                                    </p:animEffect>
                                    <p:anim calcmode="lin" valueType="num">
                                      <p:cBhvr>
                                        <p:cTn id="32"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33" dur="900" decel="100000" fill="hold"/>
                                        <p:tgtEl>
                                          <p:spTgt spid="24">
                                            <p:txEl>
                                              <p:pRg st="0" end="0"/>
                                            </p:txEl>
                                          </p:spTgt>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24">
                                            <p:txEl>
                                              <p:pRg st="0" end="0"/>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9" grpId="0" animBg="1"/>
      <p:bldP spid="21"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54" name="Text 0">
            <a:extLst>
              <a:ext uri="{FF2B5EF4-FFF2-40B4-BE49-F238E27FC236}">
                <a16:creationId xmlns:a16="http://schemas.microsoft.com/office/drawing/2014/main" id="{0ED63F8C-5F5E-FC7F-D090-7DF1629F19BE}"/>
              </a:ext>
            </a:extLst>
          </p:cNvPr>
          <p:cNvSpPr/>
          <p:nvPr/>
        </p:nvSpPr>
        <p:spPr>
          <a:xfrm>
            <a:off x="457200" y="256032"/>
            <a:ext cx="3657600" cy="182880"/>
          </a:xfrm>
          <a:prstGeom prst="rect">
            <a:avLst/>
          </a:prstGeom>
          <a:noFill/>
          <a:ln/>
        </p:spPr>
        <p:txBody>
          <a:bodyPr wrap="square" lIns="0" tIns="0" rIns="0" bIns="0" rtlCol="0" anchor="ctr"/>
          <a:lstStyle/>
          <a:p>
            <a:pPr marL="0" indent="0" algn="l">
              <a:buNone/>
            </a:pPr>
            <a:r>
              <a:rPr lang="en-US" sz="850" b="1" kern="0" spc="300" dirty="0">
                <a:solidFill>
                  <a:srgbClr val="1D9E75"/>
                </a:solidFill>
              </a:rPr>
              <a:t>ARCHITECTURE &amp; DESIGN</a:t>
            </a:r>
            <a:endParaRPr lang="en-US" sz="850" dirty="0"/>
          </a:p>
        </p:txBody>
      </p:sp>
      <p:sp>
        <p:nvSpPr>
          <p:cNvPr id="55" name="Text 1">
            <a:extLst>
              <a:ext uri="{FF2B5EF4-FFF2-40B4-BE49-F238E27FC236}">
                <a16:creationId xmlns:a16="http://schemas.microsoft.com/office/drawing/2014/main" id="{F5146563-6AAF-81EF-4D27-79F771B994A8}"/>
              </a:ext>
            </a:extLst>
          </p:cNvPr>
          <p:cNvSpPr/>
          <p:nvPr/>
        </p:nvSpPr>
        <p:spPr>
          <a:xfrm>
            <a:off x="457200" y="475488"/>
            <a:ext cx="8229600" cy="502920"/>
          </a:xfrm>
          <a:prstGeom prst="rect">
            <a:avLst/>
          </a:prstGeom>
          <a:noFill/>
          <a:ln/>
        </p:spPr>
        <p:txBody>
          <a:bodyPr wrap="square" lIns="0" tIns="0" rIns="0" bIns="0" rtlCol="0" anchor="ctr"/>
          <a:lstStyle/>
          <a:p>
            <a:pPr marL="0" indent="0" algn="l">
              <a:buNone/>
            </a:pPr>
            <a:r>
              <a:rPr lang="en-US" sz="3400" b="1" dirty="0">
                <a:solidFill>
                  <a:srgbClr val="0D1B3E"/>
                </a:solidFill>
                <a:latin typeface="Calibri" pitchFamily="34" charset="0"/>
                <a:ea typeface="Calibri" pitchFamily="34" charset="-122"/>
                <a:cs typeface="Calibri" pitchFamily="34" charset="-120"/>
              </a:rPr>
              <a:t>Software Architecture</a:t>
            </a:r>
            <a:endParaRPr lang="en-US" sz="3400" dirty="0"/>
          </a:p>
        </p:txBody>
      </p:sp>
      <p:sp>
        <p:nvSpPr>
          <p:cNvPr id="56" name="Shape 2">
            <a:extLst>
              <a:ext uri="{FF2B5EF4-FFF2-40B4-BE49-F238E27FC236}">
                <a16:creationId xmlns:a16="http://schemas.microsoft.com/office/drawing/2014/main" id="{676B14F0-D263-0BA7-854F-20FFC222ABB2}"/>
              </a:ext>
            </a:extLst>
          </p:cNvPr>
          <p:cNvSpPr/>
          <p:nvPr/>
        </p:nvSpPr>
        <p:spPr>
          <a:xfrm>
            <a:off x="457200" y="1097280"/>
            <a:ext cx="2606040" cy="502920"/>
          </a:xfrm>
          <a:prstGeom prst="rect">
            <a:avLst/>
          </a:prstGeom>
          <a:solidFill>
            <a:srgbClr val="00AEEF"/>
          </a:solidFill>
          <a:ln w="12700">
            <a:solidFill>
              <a:srgbClr val="00AEEF"/>
            </a:solidFill>
            <a:prstDash val="solid"/>
          </a:ln>
        </p:spPr>
        <p:txBody>
          <a:bodyPr/>
          <a:lstStyle/>
          <a:p>
            <a:endParaRPr lang="en-US" dirty="0"/>
          </a:p>
        </p:txBody>
      </p:sp>
      <p:sp>
        <p:nvSpPr>
          <p:cNvPr id="58" name="Shape 4">
            <a:extLst>
              <a:ext uri="{FF2B5EF4-FFF2-40B4-BE49-F238E27FC236}">
                <a16:creationId xmlns:a16="http://schemas.microsoft.com/office/drawing/2014/main" id="{EBC3BFA7-7A66-EB99-3554-A9064C3302A6}"/>
              </a:ext>
            </a:extLst>
          </p:cNvPr>
          <p:cNvSpPr/>
          <p:nvPr/>
        </p:nvSpPr>
        <p:spPr>
          <a:xfrm>
            <a:off x="457200" y="1600200"/>
            <a:ext cx="2606040" cy="68580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59" name="Text 5">
            <a:extLst>
              <a:ext uri="{FF2B5EF4-FFF2-40B4-BE49-F238E27FC236}">
                <a16:creationId xmlns:a16="http://schemas.microsoft.com/office/drawing/2014/main" id="{B4D11A6C-CBFD-D6B4-7588-08295B98BCAF}"/>
              </a:ext>
            </a:extLst>
          </p:cNvPr>
          <p:cNvSpPr/>
          <p:nvPr/>
        </p:nvSpPr>
        <p:spPr>
          <a:xfrm>
            <a:off x="566928" y="1664208"/>
            <a:ext cx="2377440" cy="182880"/>
          </a:xfrm>
          <a:prstGeom prst="rect">
            <a:avLst/>
          </a:prstGeom>
          <a:noFill/>
          <a:ln/>
        </p:spPr>
        <p:txBody>
          <a:bodyPr wrap="square" lIns="0" tIns="0" rIns="0" bIns="0" rtlCol="0" anchor="ctr"/>
          <a:lstStyle/>
          <a:p>
            <a:pPr marL="0" indent="0">
              <a:buNone/>
            </a:pPr>
            <a:r>
              <a:rPr lang="en-US" sz="1100" b="1" dirty="0">
                <a:solidFill>
                  <a:srgbClr val="0D1B3E"/>
                </a:solidFill>
              </a:rPr>
              <a:t>React</a:t>
            </a:r>
            <a:endParaRPr lang="en-US" sz="1100" dirty="0"/>
          </a:p>
        </p:txBody>
      </p:sp>
      <p:sp>
        <p:nvSpPr>
          <p:cNvPr id="60" name="Text 6">
            <a:extLst>
              <a:ext uri="{FF2B5EF4-FFF2-40B4-BE49-F238E27FC236}">
                <a16:creationId xmlns:a16="http://schemas.microsoft.com/office/drawing/2014/main" id="{83598DC0-ED9D-E0C1-BFA7-5CBF331A01FB}"/>
              </a:ext>
            </a:extLst>
          </p:cNvPr>
          <p:cNvSpPr/>
          <p:nvPr/>
        </p:nvSpPr>
        <p:spPr>
          <a:xfrm>
            <a:off x="566928" y="1847088"/>
            <a:ext cx="2377440" cy="365760"/>
          </a:xfrm>
          <a:prstGeom prst="rect">
            <a:avLst/>
          </a:prstGeom>
          <a:noFill/>
          <a:ln/>
        </p:spPr>
        <p:txBody>
          <a:bodyPr wrap="square" lIns="0" tIns="0" rIns="0" bIns="0" rtlCol="0" anchor="ctr"/>
          <a:lstStyle/>
          <a:p>
            <a:pPr marL="0" indent="0">
              <a:buNone/>
            </a:pPr>
            <a:r>
              <a:rPr lang="en-US" sz="800" dirty="0">
                <a:solidFill>
                  <a:srgbClr val="475569"/>
                </a:solidFill>
              </a:rPr>
              <a:t>SPA – Component Based – SimpleJWT auth</a:t>
            </a:r>
            <a:endParaRPr lang="en-US" sz="800" dirty="0"/>
          </a:p>
        </p:txBody>
      </p:sp>
      <p:sp>
        <p:nvSpPr>
          <p:cNvPr id="61" name="Shape 7">
            <a:extLst>
              <a:ext uri="{FF2B5EF4-FFF2-40B4-BE49-F238E27FC236}">
                <a16:creationId xmlns:a16="http://schemas.microsoft.com/office/drawing/2014/main" id="{B2D9734B-5957-F413-0BB4-460C53BEB4B3}"/>
              </a:ext>
            </a:extLst>
          </p:cNvPr>
          <p:cNvSpPr/>
          <p:nvPr/>
        </p:nvSpPr>
        <p:spPr>
          <a:xfrm>
            <a:off x="3291840" y="1097280"/>
            <a:ext cx="2606040" cy="502920"/>
          </a:xfrm>
          <a:prstGeom prst="rect">
            <a:avLst/>
          </a:prstGeom>
          <a:solidFill>
            <a:srgbClr val="1B2A4A"/>
          </a:solidFill>
          <a:ln w="12700">
            <a:solidFill>
              <a:srgbClr val="1B2A4A"/>
            </a:solidFill>
            <a:prstDash val="solid"/>
          </a:ln>
        </p:spPr>
        <p:txBody>
          <a:bodyPr/>
          <a:lstStyle/>
          <a:p>
            <a:endParaRPr lang="en-US"/>
          </a:p>
        </p:txBody>
      </p:sp>
      <p:sp>
        <p:nvSpPr>
          <p:cNvPr id="63" name="Shape 9">
            <a:extLst>
              <a:ext uri="{FF2B5EF4-FFF2-40B4-BE49-F238E27FC236}">
                <a16:creationId xmlns:a16="http://schemas.microsoft.com/office/drawing/2014/main" id="{7EFB7336-A024-C2C3-7990-8EBA54522DA2}"/>
              </a:ext>
            </a:extLst>
          </p:cNvPr>
          <p:cNvSpPr/>
          <p:nvPr/>
        </p:nvSpPr>
        <p:spPr>
          <a:xfrm>
            <a:off x="3291840" y="1600200"/>
            <a:ext cx="2606040" cy="68580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64" name="Text 10">
            <a:extLst>
              <a:ext uri="{FF2B5EF4-FFF2-40B4-BE49-F238E27FC236}">
                <a16:creationId xmlns:a16="http://schemas.microsoft.com/office/drawing/2014/main" id="{35D68F9F-F816-370D-5CD8-10DD0513BD7D}"/>
              </a:ext>
            </a:extLst>
          </p:cNvPr>
          <p:cNvSpPr/>
          <p:nvPr/>
        </p:nvSpPr>
        <p:spPr>
          <a:xfrm>
            <a:off x="3401568" y="1664208"/>
            <a:ext cx="2377440" cy="182880"/>
          </a:xfrm>
          <a:prstGeom prst="rect">
            <a:avLst/>
          </a:prstGeom>
          <a:noFill/>
          <a:ln/>
        </p:spPr>
        <p:txBody>
          <a:bodyPr wrap="square" lIns="0" tIns="0" rIns="0" bIns="0" rtlCol="0" anchor="ctr"/>
          <a:lstStyle/>
          <a:p>
            <a:pPr marL="0" indent="0">
              <a:buNone/>
            </a:pPr>
            <a:r>
              <a:rPr lang="en-US" sz="1100" b="1" dirty="0">
                <a:solidFill>
                  <a:srgbClr val="0D1B3E"/>
                </a:solidFill>
              </a:rPr>
              <a:t>Django + DRF</a:t>
            </a:r>
            <a:endParaRPr lang="en-US" sz="1100" dirty="0"/>
          </a:p>
        </p:txBody>
      </p:sp>
      <p:sp>
        <p:nvSpPr>
          <p:cNvPr id="65" name="Text 11">
            <a:extLst>
              <a:ext uri="{FF2B5EF4-FFF2-40B4-BE49-F238E27FC236}">
                <a16:creationId xmlns:a16="http://schemas.microsoft.com/office/drawing/2014/main" id="{F7F26A5F-C45C-A579-586A-1FAF380072BC}"/>
              </a:ext>
            </a:extLst>
          </p:cNvPr>
          <p:cNvSpPr/>
          <p:nvPr/>
        </p:nvSpPr>
        <p:spPr>
          <a:xfrm>
            <a:off x="3401568" y="1847088"/>
            <a:ext cx="2377440" cy="365760"/>
          </a:xfrm>
          <a:prstGeom prst="rect">
            <a:avLst/>
          </a:prstGeom>
          <a:noFill/>
          <a:ln/>
        </p:spPr>
        <p:txBody>
          <a:bodyPr wrap="square" lIns="0" tIns="0" rIns="0" bIns="0" rtlCol="0" anchor="ctr"/>
          <a:lstStyle/>
          <a:p>
            <a:pPr marL="0" indent="0">
              <a:buNone/>
            </a:pPr>
            <a:r>
              <a:rPr lang="en-US" sz="800" dirty="0">
                <a:solidFill>
                  <a:srgbClr val="475569"/>
                </a:solidFill>
              </a:rPr>
              <a:t>REST API – JWT auth – Business Logic</a:t>
            </a:r>
            <a:endParaRPr lang="en-US" sz="800" dirty="0"/>
          </a:p>
        </p:txBody>
      </p:sp>
      <p:sp>
        <p:nvSpPr>
          <p:cNvPr id="66" name="Shape 12">
            <a:extLst>
              <a:ext uri="{FF2B5EF4-FFF2-40B4-BE49-F238E27FC236}">
                <a16:creationId xmlns:a16="http://schemas.microsoft.com/office/drawing/2014/main" id="{8D96B1B9-9506-3AA8-66FD-91E72E83773B}"/>
              </a:ext>
            </a:extLst>
          </p:cNvPr>
          <p:cNvSpPr/>
          <p:nvPr/>
        </p:nvSpPr>
        <p:spPr>
          <a:xfrm>
            <a:off x="6126480" y="1097280"/>
            <a:ext cx="2606040" cy="502920"/>
          </a:xfrm>
          <a:prstGeom prst="rect">
            <a:avLst/>
          </a:prstGeom>
          <a:solidFill>
            <a:srgbClr val="1D9E75"/>
          </a:solidFill>
          <a:ln w="12700">
            <a:solidFill>
              <a:srgbClr val="1D9E75"/>
            </a:solidFill>
            <a:prstDash val="solid"/>
          </a:ln>
        </p:spPr>
        <p:txBody>
          <a:bodyPr/>
          <a:lstStyle/>
          <a:p>
            <a:endParaRPr lang="en-US"/>
          </a:p>
        </p:txBody>
      </p:sp>
      <p:sp>
        <p:nvSpPr>
          <p:cNvPr id="68" name="Shape 14">
            <a:extLst>
              <a:ext uri="{FF2B5EF4-FFF2-40B4-BE49-F238E27FC236}">
                <a16:creationId xmlns:a16="http://schemas.microsoft.com/office/drawing/2014/main" id="{F6DD4974-74DD-D34A-E0AD-6233A1EF3569}"/>
              </a:ext>
            </a:extLst>
          </p:cNvPr>
          <p:cNvSpPr/>
          <p:nvPr/>
        </p:nvSpPr>
        <p:spPr>
          <a:xfrm>
            <a:off x="6126480" y="1600200"/>
            <a:ext cx="2606040" cy="685800"/>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69" name="Text 15">
            <a:extLst>
              <a:ext uri="{FF2B5EF4-FFF2-40B4-BE49-F238E27FC236}">
                <a16:creationId xmlns:a16="http://schemas.microsoft.com/office/drawing/2014/main" id="{71EC4547-6D91-B66C-6231-30A49961B632}"/>
              </a:ext>
            </a:extLst>
          </p:cNvPr>
          <p:cNvSpPr/>
          <p:nvPr/>
        </p:nvSpPr>
        <p:spPr>
          <a:xfrm>
            <a:off x="6236208" y="1664208"/>
            <a:ext cx="2377440" cy="182880"/>
          </a:xfrm>
          <a:prstGeom prst="rect">
            <a:avLst/>
          </a:prstGeom>
          <a:noFill/>
          <a:ln/>
        </p:spPr>
        <p:txBody>
          <a:bodyPr wrap="square" lIns="0" tIns="0" rIns="0" bIns="0" rtlCol="0" anchor="ctr"/>
          <a:lstStyle/>
          <a:p>
            <a:pPr marL="0" indent="0">
              <a:buNone/>
            </a:pPr>
            <a:r>
              <a:rPr lang="en-US" sz="1100" b="1" dirty="0">
                <a:solidFill>
                  <a:srgbClr val="0D1B3E"/>
                </a:solidFill>
              </a:rPr>
              <a:t>MySQL 8.0</a:t>
            </a:r>
            <a:endParaRPr lang="en-US" sz="1100" dirty="0"/>
          </a:p>
        </p:txBody>
      </p:sp>
      <p:sp>
        <p:nvSpPr>
          <p:cNvPr id="70" name="Text 16">
            <a:extLst>
              <a:ext uri="{FF2B5EF4-FFF2-40B4-BE49-F238E27FC236}">
                <a16:creationId xmlns:a16="http://schemas.microsoft.com/office/drawing/2014/main" id="{441060B9-6EFC-7328-9A6E-8BF0C70E0791}"/>
              </a:ext>
            </a:extLst>
          </p:cNvPr>
          <p:cNvSpPr/>
          <p:nvPr/>
        </p:nvSpPr>
        <p:spPr>
          <a:xfrm>
            <a:off x="6236208" y="1847088"/>
            <a:ext cx="2377440" cy="365760"/>
          </a:xfrm>
          <a:prstGeom prst="rect">
            <a:avLst/>
          </a:prstGeom>
          <a:noFill/>
          <a:ln/>
        </p:spPr>
        <p:txBody>
          <a:bodyPr wrap="square" lIns="0" tIns="0" rIns="0" bIns="0" rtlCol="0" anchor="ctr"/>
          <a:lstStyle/>
          <a:p>
            <a:pPr marL="0" indent="0">
              <a:buNone/>
            </a:pPr>
            <a:r>
              <a:rPr lang="en-US" sz="800" dirty="0">
                <a:solidFill>
                  <a:srgbClr val="475569"/>
                </a:solidFill>
              </a:rPr>
              <a:t>Relational Schema – Seed Data – Migrations</a:t>
            </a:r>
            <a:endParaRPr lang="en-US" sz="800" dirty="0"/>
          </a:p>
        </p:txBody>
      </p:sp>
      <p:sp>
        <p:nvSpPr>
          <p:cNvPr id="71" name="Text 17">
            <a:extLst>
              <a:ext uri="{FF2B5EF4-FFF2-40B4-BE49-F238E27FC236}">
                <a16:creationId xmlns:a16="http://schemas.microsoft.com/office/drawing/2014/main" id="{C930D2EA-1438-FFF9-94B7-8764BD7E9D8A}"/>
              </a:ext>
            </a:extLst>
          </p:cNvPr>
          <p:cNvSpPr/>
          <p:nvPr/>
        </p:nvSpPr>
        <p:spPr>
          <a:xfrm>
            <a:off x="457200" y="2395728"/>
            <a:ext cx="2743200" cy="228600"/>
          </a:xfrm>
          <a:prstGeom prst="rect">
            <a:avLst/>
          </a:prstGeom>
          <a:noFill/>
          <a:ln/>
        </p:spPr>
        <p:txBody>
          <a:bodyPr wrap="square" lIns="0" tIns="0" rIns="0" bIns="0" rtlCol="0" anchor="ctr"/>
          <a:lstStyle/>
          <a:p>
            <a:pPr marL="0" indent="0">
              <a:buNone/>
            </a:pPr>
            <a:r>
              <a:rPr lang="en-US" sz="1100" b="1" dirty="0">
                <a:solidFill>
                  <a:srgbClr val="0D1B3E"/>
                </a:solidFill>
              </a:rPr>
              <a:t>Tools &amp; Stack</a:t>
            </a:r>
            <a:endParaRPr lang="en-US" sz="1100" dirty="0"/>
          </a:p>
        </p:txBody>
      </p:sp>
      <p:sp>
        <p:nvSpPr>
          <p:cNvPr id="72" name="Shape 18">
            <a:extLst>
              <a:ext uri="{FF2B5EF4-FFF2-40B4-BE49-F238E27FC236}">
                <a16:creationId xmlns:a16="http://schemas.microsoft.com/office/drawing/2014/main" id="{A2F16956-9D71-9F2F-72BB-534626206FC4}"/>
              </a:ext>
            </a:extLst>
          </p:cNvPr>
          <p:cNvSpPr/>
          <p:nvPr/>
        </p:nvSpPr>
        <p:spPr>
          <a:xfrm>
            <a:off x="457200" y="2651760"/>
            <a:ext cx="1316736" cy="274320"/>
          </a:xfrm>
          <a:prstGeom prst="rect">
            <a:avLst/>
          </a:prstGeom>
          <a:solidFill>
            <a:srgbClr val="0EA5E9"/>
          </a:solidFill>
          <a:ln w="12700">
            <a:solidFill>
              <a:srgbClr val="0EA5E9"/>
            </a:solidFill>
            <a:prstDash val="solid"/>
          </a:ln>
        </p:spPr>
        <p:txBody>
          <a:bodyPr/>
          <a:lstStyle/>
          <a:p>
            <a:endParaRPr lang="en-US"/>
          </a:p>
        </p:txBody>
      </p:sp>
      <p:sp>
        <p:nvSpPr>
          <p:cNvPr id="73" name="Text 19">
            <a:extLst>
              <a:ext uri="{FF2B5EF4-FFF2-40B4-BE49-F238E27FC236}">
                <a16:creationId xmlns:a16="http://schemas.microsoft.com/office/drawing/2014/main" id="{5809C058-CA4E-6880-0C64-9E8B95F9AC7E}"/>
              </a:ext>
            </a:extLst>
          </p:cNvPr>
          <p:cNvSpPr/>
          <p:nvPr/>
        </p:nvSpPr>
        <p:spPr>
          <a:xfrm>
            <a:off x="457200" y="2651760"/>
            <a:ext cx="1316736" cy="274320"/>
          </a:xfrm>
          <a:prstGeom prst="rect">
            <a:avLst/>
          </a:prstGeom>
          <a:noFill/>
          <a:ln/>
        </p:spPr>
        <p:txBody>
          <a:bodyPr wrap="square" lIns="0" tIns="0" rIns="0" bIns="0" rtlCol="0" anchor="ctr"/>
          <a:lstStyle/>
          <a:p>
            <a:pPr marL="0" indent="0" algn="ctr">
              <a:buNone/>
            </a:pPr>
            <a:r>
              <a:rPr lang="en-US" sz="850" b="1" dirty="0">
                <a:solidFill>
                  <a:srgbClr val="FFFFFF"/>
                </a:solidFill>
              </a:rPr>
              <a:t>React</a:t>
            </a:r>
            <a:endParaRPr lang="en-US" sz="850" dirty="0"/>
          </a:p>
        </p:txBody>
      </p:sp>
      <p:sp>
        <p:nvSpPr>
          <p:cNvPr id="74" name="Shape 20">
            <a:extLst>
              <a:ext uri="{FF2B5EF4-FFF2-40B4-BE49-F238E27FC236}">
                <a16:creationId xmlns:a16="http://schemas.microsoft.com/office/drawing/2014/main" id="{AB515E14-E6BD-894E-9427-7587661A43DC}"/>
              </a:ext>
            </a:extLst>
          </p:cNvPr>
          <p:cNvSpPr/>
          <p:nvPr/>
        </p:nvSpPr>
        <p:spPr>
          <a:xfrm>
            <a:off x="1865376" y="2651760"/>
            <a:ext cx="1316736" cy="274320"/>
          </a:xfrm>
          <a:prstGeom prst="rect">
            <a:avLst/>
          </a:prstGeom>
          <a:solidFill>
            <a:srgbClr val="4F46E5"/>
          </a:solidFill>
          <a:ln w="12700">
            <a:solidFill>
              <a:srgbClr val="4F46E5"/>
            </a:solidFill>
            <a:prstDash val="solid"/>
          </a:ln>
        </p:spPr>
        <p:txBody>
          <a:bodyPr/>
          <a:lstStyle/>
          <a:p>
            <a:endParaRPr lang="en-US"/>
          </a:p>
        </p:txBody>
      </p:sp>
      <p:sp>
        <p:nvSpPr>
          <p:cNvPr id="75" name="Text 21">
            <a:extLst>
              <a:ext uri="{FF2B5EF4-FFF2-40B4-BE49-F238E27FC236}">
                <a16:creationId xmlns:a16="http://schemas.microsoft.com/office/drawing/2014/main" id="{DE64E97A-3B1A-C421-8846-31A10A560D78}"/>
              </a:ext>
            </a:extLst>
          </p:cNvPr>
          <p:cNvSpPr/>
          <p:nvPr/>
        </p:nvSpPr>
        <p:spPr>
          <a:xfrm>
            <a:off x="1865376" y="2651760"/>
            <a:ext cx="1316736" cy="274320"/>
          </a:xfrm>
          <a:prstGeom prst="rect">
            <a:avLst/>
          </a:prstGeom>
          <a:noFill/>
          <a:ln/>
        </p:spPr>
        <p:txBody>
          <a:bodyPr wrap="square" lIns="0" tIns="0" rIns="0" bIns="0" rtlCol="0" anchor="ctr"/>
          <a:lstStyle/>
          <a:p>
            <a:pPr marL="0" indent="0" algn="ctr">
              <a:buNone/>
            </a:pPr>
            <a:r>
              <a:rPr lang="en-US" sz="850" b="1" dirty="0">
                <a:solidFill>
                  <a:srgbClr val="FFFFFF"/>
                </a:solidFill>
              </a:rPr>
              <a:t>Django + DRF</a:t>
            </a:r>
            <a:endParaRPr lang="en-US" sz="850" dirty="0"/>
          </a:p>
        </p:txBody>
      </p:sp>
      <p:sp>
        <p:nvSpPr>
          <p:cNvPr id="76" name="Shape 22">
            <a:extLst>
              <a:ext uri="{FF2B5EF4-FFF2-40B4-BE49-F238E27FC236}">
                <a16:creationId xmlns:a16="http://schemas.microsoft.com/office/drawing/2014/main" id="{232CA1A5-0633-5BA2-7FFE-C5F1C2A1DC9D}"/>
              </a:ext>
            </a:extLst>
          </p:cNvPr>
          <p:cNvSpPr/>
          <p:nvPr/>
        </p:nvSpPr>
        <p:spPr>
          <a:xfrm>
            <a:off x="3273552" y="2651760"/>
            <a:ext cx="1316736" cy="274320"/>
          </a:xfrm>
          <a:prstGeom prst="rect">
            <a:avLst/>
          </a:prstGeom>
          <a:solidFill>
            <a:srgbClr val="F59E0B"/>
          </a:solidFill>
          <a:ln w="12700">
            <a:solidFill>
              <a:srgbClr val="F59E0B"/>
            </a:solidFill>
            <a:prstDash val="solid"/>
          </a:ln>
        </p:spPr>
        <p:txBody>
          <a:bodyPr/>
          <a:lstStyle/>
          <a:p>
            <a:endParaRPr lang="en-US"/>
          </a:p>
        </p:txBody>
      </p:sp>
      <p:sp>
        <p:nvSpPr>
          <p:cNvPr id="77" name="Text 23">
            <a:extLst>
              <a:ext uri="{FF2B5EF4-FFF2-40B4-BE49-F238E27FC236}">
                <a16:creationId xmlns:a16="http://schemas.microsoft.com/office/drawing/2014/main" id="{9AA33D6C-B668-2A76-4517-0A27156C2070}"/>
              </a:ext>
            </a:extLst>
          </p:cNvPr>
          <p:cNvSpPr/>
          <p:nvPr/>
        </p:nvSpPr>
        <p:spPr>
          <a:xfrm>
            <a:off x="3273552" y="2651760"/>
            <a:ext cx="1316736" cy="274320"/>
          </a:xfrm>
          <a:prstGeom prst="rect">
            <a:avLst/>
          </a:prstGeom>
          <a:noFill/>
          <a:ln/>
        </p:spPr>
        <p:txBody>
          <a:bodyPr wrap="square" lIns="0" tIns="0" rIns="0" bIns="0" rtlCol="0" anchor="ctr"/>
          <a:lstStyle/>
          <a:p>
            <a:pPr marL="0" indent="0" algn="ctr">
              <a:buNone/>
            </a:pPr>
            <a:r>
              <a:rPr lang="en-US" sz="850" b="1" dirty="0">
                <a:solidFill>
                  <a:srgbClr val="FFFFFF"/>
                </a:solidFill>
              </a:rPr>
              <a:t>MySQL 8.0</a:t>
            </a:r>
            <a:endParaRPr lang="en-US" sz="850" dirty="0"/>
          </a:p>
        </p:txBody>
      </p:sp>
      <p:sp>
        <p:nvSpPr>
          <p:cNvPr id="78" name="Shape 24">
            <a:extLst>
              <a:ext uri="{FF2B5EF4-FFF2-40B4-BE49-F238E27FC236}">
                <a16:creationId xmlns:a16="http://schemas.microsoft.com/office/drawing/2014/main" id="{FE726050-0B2D-8B00-DAA5-753D9739BCF7}"/>
              </a:ext>
            </a:extLst>
          </p:cNvPr>
          <p:cNvSpPr/>
          <p:nvPr/>
        </p:nvSpPr>
        <p:spPr>
          <a:xfrm>
            <a:off x="4681728" y="2651760"/>
            <a:ext cx="1316736" cy="274320"/>
          </a:xfrm>
          <a:prstGeom prst="rect">
            <a:avLst/>
          </a:prstGeom>
          <a:solidFill>
            <a:srgbClr val="10B981"/>
          </a:solidFill>
          <a:ln w="12700">
            <a:solidFill>
              <a:srgbClr val="10B981"/>
            </a:solidFill>
            <a:prstDash val="solid"/>
          </a:ln>
        </p:spPr>
        <p:txBody>
          <a:bodyPr/>
          <a:lstStyle/>
          <a:p>
            <a:endParaRPr lang="en-US"/>
          </a:p>
        </p:txBody>
      </p:sp>
      <p:sp>
        <p:nvSpPr>
          <p:cNvPr id="79" name="Text 25">
            <a:extLst>
              <a:ext uri="{FF2B5EF4-FFF2-40B4-BE49-F238E27FC236}">
                <a16:creationId xmlns:a16="http://schemas.microsoft.com/office/drawing/2014/main" id="{B37CC9EC-31A3-57C9-7CF6-4BE4D268AA31}"/>
              </a:ext>
            </a:extLst>
          </p:cNvPr>
          <p:cNvSpPr/>
          <p:nvPr/>
        </p:nvSpPr>
        <p:spPr>
          <a:xfrm>
            <a:off x="4681728" y="2651760"/>
            <a:ext cx="1316736" cy="274320"/>
          </a:xfrm>
          <a:prstGeom prst="rect">
            <a:avLst/>
          </a:prstGeom>
          <a:noFill/>
          <a:ln/>
        </p:spPr>
        <p:txBody>
          <a:bodyPr wrap="square" lIns="0" tIns="0" rIns="0" bIns="0" rtlCol="0" anchor="ctr"/>
          <a:lstStyle/>
          <a:p>
            <a:pPr marL="0" indent="0" algn="ctr">
              <a:buNone/>
            </a:pPr>
            <a:r>
              <a:rPr lang="en-US" sz="850" b="1" dirty="0">
                <a:solidFill>
                  <a:srgbClr val="FFFFFF"/>
                </a:solidFill>
              </a:rPr>
              <a:t>SimpleJWT</a:t>
            </a:r>
            <a:endParaRPr lang="en-US" sz="850" dirty="0"/>
          </a:p>
        </p:txBody>
      </p:sp>
      <p:sp>
        <p:nvSpPr>
          <p:cNvPr id="80" name="Shape 26">
            <a:extLst>
              <a:ext uri="{FF2B5EF4-FFF2-40B4-BE49-F238E27FC236}">
                <a16:creationId xmlns:a16="http://schemas.microsoft.com/office/drawing/2014/main" id="{6D7A9168-37FC-EA77-327D-BE88EC86FCAA}"/>
              </a:ext>
            </a:extLst>
          </p:cNvPr>
          <p:cNvSpPr/>
          <p:nvPr/>
        </p:nvSpPr>
        <p:spPr>
          <a:xfrm>
            <a:off x="6089904" y="2651760"/>
            <a:ext cx="1316736" cy="274320"/>
          </a:xfrm>
          <a:prstGeom prst="rect">
            <a:avLst/>
          </a:prstGeom>
          <a:solidFill>
            <a:srgbClr val="EF4444"/>
          </a:solidFill>
          <a:ln w="12700">
            <a:solidFill>
              <a:srgbClr val="EF4444"/>
            </a:solidFill>
            <a:prstDash val="solid"/>
          </a:ln>
        </p:spPr>
        <p:txBody>
          <a:bodyPr/>
          <a:lstStyle/>
          <a:p>
            <a:endParaRPr lang="en-US"/>
          </a:p>
        </p:txBody>
      </p:sp>
      <p:sp>
        <p:nvSpPr>
          <p:cNvPr id="81" name="Text 27">
            <a:extLst>
              <a:ext uri="{FF2B5EF4-FFF2-40B4-BE49-F238E27FC236}">
                <a16:creationId xmlns:a16="http://schemas.microsoft.com/office/drawing/2014/main" id="{A3E45DE9-E8C8-829F-7A0B-BDBC1E949230}"/>
              </a:ext>
            </a:extLst>
          </p:cNvPr>
          <p:cNvSpPr/>
          <p:nvPr/>
        </p:nvSpPr>
        <p:spPr>
          <a:xfrm>
            <a:off x="6089904" y="2651760"/>
            <a:ext cx="1316736" cy="274320"/>
          </a:xfrm>
          <a:prstGeom prst="rect">
            <a:avLst/>
          </a:prstGeom>
          <a:noFill/>
          <a:ln/>
        </p:spPr>
        <p:txBody>
          <a:bodyPr wrap="square" lIns="0" tIns="0" rIns="0" bIns="0" rtlCol="0" anchor="ctr"/>
          <a:lstStyle/>
          <a:p>
            <a:pPr marL="0" indent="0" algn="ctr">
              <a:buNone/>
            </a:pPr>
            <a:r>
              <a:rPr lang="en-US" sz="850" b="1" dirty="0">
                <a:solidFill>
                  <a:srgbClr val="FFFFFF"/>
                </a:solidFill>
              </a:rPr>
              <a:t>Robot Framework</a:t>
            </a:r>
            <a:endParaRPr lang="en-US" sz="850" dirty="0"/>
          </a:p>
        </p:txBody>
      </p:sp>
      <p:sp>
        <p:nvSpPr>
          <p:cNvPr id="82" name="Shape 28">
            <a:extLst>
              <a:ext uri="{FF2B5EF4-FFF2-40B4-BE49-F238E27FC236}">
                <a16:creationId xmlns:a16="http://schemas.microsoft.com/office/drawing/2014/main" id="{1321C424-7357-A9D2-CA22-789D59CCA104}"/>
              </a:ext>
            </a:extLst>
          </p:cNvPr>
          <p:cNvSpPr/>
          <p:nvPr/>
        </p:nvSpPr>
        <p:spPr>
          <a:xfrm>
            <a:off x="7498080" y="2651760"/>
            <a:ext cx="1316736" cy="274320"/>
          </a:xfrm>
          <a:prstGeom prst="rect">
            <a:avLst/>
          </a:prstGeom>
          <a:solidFill>
            <a:srgbClr val="1E293B"/>
          </a:solidFill>
          <a:ln w="12700">
            <a:solidFill>
              <a:srgbClr val="1E293B"/>
            </a:solidFill>
            <a:prstDash val="solid"/>
          </a:ln>
        </p:spPr>
        <p:txBody>
          <a:bodyPr/>
          <a:lstStyle/>
          <a:p>
            <a:endParaRPr lang="en-US"/>
          </a:p>
        </p:txBody>
      </p:sp>
      <p:sp>
        <p:nvSpPr>
          <p:cNvPr id="83" name="Text 29">
            <a:extLst>
              <a:ext uri="{FF2B5EF4-FFF2-40B4-BE49-F238E27FC236}">
                <a16:creationId xmlns:a16="http://schemas.microsoft.com/office/drawing/2014/main" id="{903AA382-269C-750A-186D-FB57A216325F}"/>
              </a:ext>
            </a:extLst>
          </p:cNvPr>
          <p:cNvSpPr/>
          <p:nvPr/>
        </p:nvSpPr>
        <p:spPr>
          <a:xfrm>
            <a:off x="7498080" y="2651760"/>
            <a:ext cx="1316736" cy="274320"/>
          </a:xfrm>
          <a:prstGeom prst="rect">
            <a:avLst/>
          </a:prstGeom>
          <a:noFill/>
          <a:ln/>
        </p:spPr>
        <p:txBody>
          <a:bodyPr wrap="square" lIns="0" tIns="0" rIns="0" bIns="0" rtlCol="0" anchor="ctr"/>
          <a:lstStyle/>
          <a:p>
            <a:pPr marL="0" indent="0" algn="ctr">
              <a:buNone/>
            </a:pPr>
            <a:r>
              <a:rPr lang="en-US" sz="850" b="1" dirty="0">
                <a:solidFill>
                  <a:srgbClr val="FFFFFF"/>
                </a:solidFill>
              </a:rPr>
              <a:t>GitHub Actions</a:t>
            </a:r>
            <a:endParaRPr lang="en-US" sz="850" dirty="0"/>
          </a:p>
        </p:txBody>
      </p:sp>
      <p:sp>
        <p:nvSpPr>
          <p:cNvPr id="84" name="Shape 30">
            <a:extLst>
              <a:ext uri="{FF2B5EF4-FFF2-40B4-BE49-F238E27FC236}">
                <a16:creationId xmlns:a16="http://schemas.microsoft.com/office/drawing/2014/main" id="{F0AD0DFC-0761-9914-A2F1-85A08A290C2D}"/>
              </a:ext>
            </a:extLst>
          </p:cNvPr>
          <p:cNvSpPr/>
          <p:nvPr/>
        </p:nvSpPr>
        <p:spPr>
          <a:xfrm>
            <a:off x="457200" y="3044952"/>
            <a:ext cx="8229600" cy="1810512"/>
          </a:xfrm>
          <a:prstGeom prst="rect">
            <a:avLst/>
          </a:prstGeom>
          <a:solidFill>
            <a:srgbClr val="FFFFFF"/>
          </a:solidFill>
          <a:ln w="6350">
            <a:solidFill>
              <a:srgbClr val="D8DCE5"/>
            </a:solidFill>
            <a:prstDash val="solid"/>
          </a:ln>
          <a:effectLst>
            <a:outerShdw blurRad="101600" dist="25400" dir="16200000" algn="bl" rotWithShape="0">
              <a:srgbClr val="000000">
                <a:alpha val="8000"/>
              </a:srgbClr>
            </a:outerShdw>
          </a:effectLst>
        </p:spPr>
        <p:txBody>
          <a:bodyPr/>
          <a:lstStyle/>
          <a:p>
            <a:endParaRPr lang="en-US"/>
          </a:p>
        </p:txBody>
      </p:sp>
      <p:sp>
        <p:nvSpPr>
          <p:cNvPr id="85" name="Text 31">
            <a:extLst>
              <a:ext uri="{FF2B5EF4-FFF2-40B4-BE49-F238E27FC236}">
                <a16:creationId xmlns:a16="http://schemas.microsoft.com/office/drawing/2014/main" id="{BA8F7C36-9577-AF90-1C6E-97E95FD719E9}"/>
              </a:ext>
            </a:extLst>
          </p:cNvPr>
          <p:cNvSpPr/>
          <p:nvPr/>
        </p:nvSpPr>
        <p:spPr>
          <a:xfrm>
            <a:off x="566928" y="3127248"/>
            <a:ext cx="914400" cy="201168"/>
          </a:xfrm>
          <a:prstGeom prst="rect">
            <a:avLst/>
          </a:prstGeom>
          <a:noFill/>
          <a:ln/>
        </p:spPr>
        <p:txBody>
          <a:bodyPr wrap="square" lIns="0" tIns="0" rIns="0" bIns="0" rtlCol="0" anchor="ctr"/>
          <a:lstStyle/>
          <a:p>
            <a:pPr marL="0" indent="0">
              <a:buNone/>
            </a:pPr>
            <a:r>
              <a:rPr lang="en-US" sz="1100" b="1" dirty="0">
                <a:solidFill>
                  <a:srgbClr val="0D1B3E"/>
                </a:solidFill>
              </a:rPr>
              <a:t>APIs</a:t>
            </a:r>
            <a:endParaRPr lang="en-US" sz="1100" dirty="0"/>
          </a:p>
        </p:txBody>
      </p:sp>
      <p:sp>
        <p:nvSpPr>
          <p:cNvPr id="86" name="Text 32">
            <a:extLst>
              <a:ext uri="{FF2B5EF4-FFF2-40B4-BE49-F238E27FC236}">
                <a16:creationId xmlns:a16="http://schemas.microsoft.com/office/drawing/2014/main" id="{19457A24-0BD9-A653-DD2B-3DBAA8B5EABC}"/>
              </a:ext>
            </a:extLst>
          </p:cNvPr>
          <p:cNvSpPr/>
          <p:nvPr/>
        </p:nvSpPr>
        <p:spPr>
          <a:xfrm>
            <a:off x="566928" y="3319272"/>
            <a:ext cx="7863840" cy="164592"/>
          </a:xfrm>
          <a:prstGeom prst="rect">
            <a:avLst/>
          </a:prstGeom>
          <a:noFill/>
          <a:ln/>
        </p:spPr>
        <p:txBody>
          <a:bodyPr wrap="square" lIns="0" tIns="0" rIns="0" bIns="0" rtlCol="0" anchor="ctr"/>
          <a:lstStyle/>
          <a:p>
            <a:pPr marL="0" indent="0">
              <a:buNone/>
            </a:pPr>
            <a:r>
              <a:rPr lang="en-US" sz="750" dirty="0">
                <a:solidFill>
                  <a:srgbClr val="475569"/>
                </a:solidFill>
              </a:rPr>
              <a:t>REST  ·  versioned at /api/v1/  ·  JWT-authenticated  ·  role-enforced (Customer / Business / Guest)</a:t>
            </a:r>
            <a:endParaRPr lang="en-US" sz="750" dirty="0"/>
          </a:p>
        </p:txBody>
      </p:sp>
      <p:sp>
        <p:nvSpPr>
          <p:cNvPr id="87" name="Shape 33">
            <a:extLst>
              <a:ext uri="{FF2B5EF4-FFF2-40B4-BE49-F238E27FC236}">
                <a16:creationId xmlns:a16="http://schemas.microsoft.com/office/drawing/2014/main" id="{94A3EAB6-F583-6B6C-C67E-292FB36551E2}"/>
              </a:ext>
            </a:extLst>
          </p:cNvPr>
          <p:cNvSpPr/>
          <p:nvPr/>
        </p:nvSpPr>
        <p:spPr>
          <a:xfrm>
            <a:off x="566928" y="3493008"/>
            <a:ext cx="7644384" cy="9144"/>
          </a:xfrm>
          <a:prstGeom prst="rect">
            <a:avLst/>
          </a:prstGeom>
          <a:solidFill>
            <a:srgbClr val="D8DCE5"/>
          </a:solidFill>
          <a:ln w="12700">
            <a:solidFill>
              <a:srgbClr val="D8DCE5"/>
            </a:solidFill>
            <a:prstDash val="solid"/>
          </a:ln>
        </p:spPr>
        <p:txBody>
          <a:bodyPr/>
          <a:lstStyle/>
          <a:p>
            <a:endParaRPr lang="en-US"/>
          </a:p>
        </p:txBody>
      </p:sp>
      <p:sp>
        <p:nvSpPr>
          <p:cNvPr id="88" name="Shape 34">
            <a:extLst>
              <a:ext uri="{FF2B5EF4-FFF2-40B4-BE49-F238E27FC236}">
                <a16:creationId xmlns:a16="http://schemas.microsoft.com/office/drawing/2014/main" id="{0A1B6897-7E10-F9EA-0335-858DD3322E26}"/>
              </a:ext>
            </a:extLst>
          </p:cNvPr>
          <p:cNvSpPr/>
          <p:nvPr/>
        </p:nvSpPr>
        <p:spPr>
          <a:xfrm>
            <a:off x="594360" y="3566160"/>
            <a:ext cx="384048" cy="155448"/>
          </a:xfrm>
          <a:prstGeom prst="rect">
            <a:avLst/>
          </a:prstGeom>
          <a:solidFill>
            <a:srgbClr val="DCFCE7"/>
          </a:solidFill>
          <a:ln w="12700">
            <a:solidFill>
              <a:srgbClr val="DCFCE7"/>
            </a:solidFill>
            <a:prstDash val="solid"/>
          </a:ln>
        </p:spPr>
        <p:txBody>
          <a:bodyPr/>
          <a:lstStyle/>
          <a:p>
            <a:endParaRPr lang="en-US"/>
          </a:p>
        </p:txBody>
      </p:sp>
      <p:sp>
        <p:nvSpPr>
          <p:cNvPr id="89" name="Text 35">
            <a:extLst>
              <a:ext uri="{FF2B5EF4-FFF2-40B4-BE49-F238E27FC236}">
                <a16:creationId xmlns:a16="http://schemas.microsoft.com/office/drawing/2014/main" id="{04AC7289-1E1F-64DB-AAFA-0DC6A3097DB8}"/>
              </a:ext>
            </a:extLst>
          </p:cNvPr>
          <p:cNvSpPr/>
          <p:nvPr/>
        </p:nvSpPr>
        <p:spPr>
          <a:xfrm>
            <a:off x="594360" y="3566160"/>
            <a:ext cx="384048" cy="155448"/>
          </a:xfrm>
          <a:prstGeom prst="rect">
            <a:avLst/>
          </a:prstGeom>
          <a:noFill/>
          <a:ln/>
        </p:spPr>
        <p:txBody>
          <a:bodyPr wrap="square" lIns="0" tIns="0" rIns="0" bIns="0" rtlCol="0" anchor="ctr"/>
          <a:lstStyle/>
          <a:p>
            <a:pPr marL="0" indent="0" algn="ctr">
              <a:buNone/>
            </a:pPr>
            <a:r>
              <a:rPr lang="en-US" sz="600" b="1" dirty="0">
                <a:solidFill>
                  <a:srgbClr val="166534"/>
                </a:solidFill>
              </a:rPr>
              <a:t>POST</a:t>
            </a:r>
            <a:endParaRPr lang="en-US" sz="600" dirty="0"/>
          </a:p>
        </p:txBody>
      </p:sp>
      <p:sp>
        <p:nvSpPr>
          <p:cNvPr id="90" name="Text 36">
            <a:extLst>
              <a:ext uri="{FF2B5EF4-FFF2-40B4-BE49-F238E27FC236}">
                <a16:creationId xmlns:a16="http://schemas.microsoft.com/office/drawing/2014/main" id="{B609767F-9EF2-6E18-50C8-78A460291F32}"/>
              </a:ext>
            </a:extLst>
          </p:cNvPr>
          <p:cNvSpPr/>
          <p:nvPr/>
        </p:nvSpPr>
        <p:spPr>
          <a:xfrm>
            <a:off x="2377440" y="3557016"/>
            <a:ext cx="3108960" cy="164592"/>
          </a:xfrm>
          <a:prstGeom prst="rect">
            <a:avLst/>
          </a:prstGeom>
          <a:noFill/>
          <a:ln/>
        </p:spPr>
        <p:txBody>
          <a:bodyPr wrap="square" lIns="0" tIns="0" rIns="0" bIns="0" rtlCol="0" anchor="ctr"/>
          <a:lstStyle/>
          <a:p>
            <a:pPr marL="0" indent="0">
              <a:buNone/>
            </a:pPr>
            <a:r>
              <a:rPr lang="en-US" sz="800" dirty="0">
                <a:solidFill>
                  <a:srgbClr val="0D1B3E"/>
                </a:solidFill>
                <a:latin typeface="Courier New" pitchFamily="34" charset="0"/>
                <a:ea typeface="Courier New" pitchFamily="34" charset="-122"/>
                <a:cs typeface="Courier New" pitchFamily="34" charset="-120"/>
              </a:rPr>
              <a:t>/api/v1/auth/login/</a:t>
            </a:r>
            <a:endParaRPr lang="en-US" sz="800" dirty="0"/>
          </a:p>
        </p:txBody>
      </p:sp>
      <p:sp>
        <p:nvSpPr>
          <p:cNvPr id="91" name="Text 37">
            <a:extLst>
              <a:ext uri="{FF2B5EF4-FFF2-40B4-BE49-F238E27FC236}">
                <a16:creationId xmlns:a16="http://schemas.microsoft.com/office/drawing/2014/main" id="{3163E7E2-025C-33CE-5F81-D1CCB79C01B9}"/>
              </a:ext>
            </a:extLst>
          </p:cNvPr>
          <p:cNvSpPr/>
          <p:nvPr/>
        </p:nvSpPr>
        <p:spPr>
          <a:xfrm>
            <a:off x="5486400" y="3557016"/>
            <a:ext cx="2103120" cy="164592"/>
          </a:xfrm>
          <a:prstGeom prst="rect">
            <a:avLst/>
          </a:prstGeom>
          <a:noFill/>
          <a:ln/>
        </p:spPr>
        <p:txBody>
          <a:bodyPr wrap="square" lIns="0" tIns="0" rIns="0" bIns="0" rtlCol="0" anchor="ctr"/>
          <a:lstStyle/>
          <a:p>
            <a:pPr marL="0" indent="0">
              <a:buNone/>
            </a:pPr>
            <a:r>
              <a:rPr lang="en-US" sz="750" dirty="0">
                <a:solidFill>
                  <a:srgbClr val="475569"/>
                </a:solidFill>
              </a:rPr>
              <a:t>Issues JWT access + refresh tokens</a:t>
            </a:r>
            <a:endParaRPr lang="en-US" sz="750" dirty="0"/>
          </a:p>
        </p:txBody>
      </p:sp>
      <p:sp>
        <p:nvSpPr>
          <p:cNvPr id="92" name="Shape 38">
            <a:extLst>
              <a:ext uri="{FF2B5EF4-FFF2-40B4-BE49-F238E27FC236}">
                <a16:creationId xmlns:a16="http://schemas.microsoft.com/office/drawing/2014/main" id="{8F6E5A85-6DF8-E9CF-CEA9-C97B4201CAAD}"/>
              </a:ext>
            </a:extLst>
          </p:cNvPr>
          <p:cNvSpPr/>
          <p:nvPr/>
        </p:nvSpPr>
        <p:spPr>
          <a:xfrm>
            <a:off x="7616952" y="3566160"/>
            <a:ext cx="566928" cy="146304"/>
          </a:xfrm>
          <a:prstGeom prst="rect">
            <a:avLst/>
          </a:prstGeom>
          <a:solidFill>
            <a:srgbClr val="EDE9FE"/>
          </a:solidFill>
          <a:ln w="12700">
            <a:solidFill>
              <a:srgbClr val="EDE9FE"/>
            </a:solidFill>
            <a:prstDash val="solid"/>
          </a:ln>
        </p:spPr>
        <p:txBody>
          <a:bodyPr/>
          <a:lstStyle/>
          <a:p>
            <a:endParaRPr lang="en-US"/>
          </a:p>
        </p:txBody>
      </p:sp>
      <p:sp>
        <p:nvSpPr>
          <p:cNvPr id="93" name="Text 39">
            <a:extLst>
              <a:ext uri="{FF2B5EF4-FFF2-40B4-BE49-F238E27FC236}">
                <a16:creationId xmlns:a16="http://schemas.microsoft.com/office/drawing/2014/main" id="{FDC525ED-3C98-CF09-8CF1-FFF9FADB4C5F}"/>
              </a:ext>
            </a:extLst>
          </p:cNvPr>
          <p:cNvSpPr/>
          <p:nvPr/>
        </p:nvSpPr>
        <p:spPr>
          <a:xfrm>
            <a:off x="7616952" y="3566160"/>
            <a:ext cx="566928" cy="146304"/>
          </a:xfrm>
          <a:prstGeom prst="rect">
            <a:avLst/>
          </a:prstGeom>
          <a:noFill/>
          <a:ln/>
        </p:spPr>
        <p:txBody>
          <a:bodyPr wrap="square" lIns="0" tIns="0" rIns="0" bIns="0" rtlCol="0" anchor="ctr"/>
          <a:lstStyle/>
          <a:p>
            <a:pPr marL="0" indent="0" algn="ctr">
              <a:buNone/>
            </a:pPr>
            <a:r>
              <a:rPr lang="en-US" sz="650" b="1" dirty="0">
                <a:solidFill>
                  <a:srgbClr val="5B21B6"/>
                </a:solidFill>
              </a:rPr>
              <a:t>JWT</a:t>
            </a:r>
            <a:endParaRPr lang="en-US" sz="650" dirty="0"/>
          </a:p>
        </p:txBody>
      </p:sp>
      <p:sp>
        <p:nvSpPr>
          <p:cNvPr id="94" name="Shape 40">
            <a:extLst>
              <a:ext uri="{FF2B5EF4-FFF2-40B4-BE49-F238E27FC236}">
                <a16:creationId xmlns:a16="http://schemas.microsoft.com/office/drawing/2014/main" id="{ECDEEEB3-CD4F-5442-1EC6-7495E12F5701}"/>
              </a:ext>
            </a:extLst>
          </p:cNvPr>
          <p:cNvSpPr/>
          <p:nvPr/>
        </p:nvSpPr>
        <p:spPr>
          <a:xfrm>
            <a:off x="566928" y="3758184"/>
            <a:ext cx="7644384" cy="4572"/>
          </a:xfrm>
          <a:prstGeom prst="rect">
            <a:avLst/>
          </a:prstGeom>
          <a:solidFill>
            <a:srgbClr val="D8DCE5"/>
          </a:solidFill>
          <a:ln w="12700">
            <a:solidFill>
              <a:srgbClr val="D8DCE5"/>
            </a:solidFill>
            <a:prstDash val="solid"/>
          </a:ln>
        </p:spPr>
        <p:txBody>
          <a:bodyPr/>
          <a:lstStyle/>
          <a:p>
            <a:endParaRPr lang="en-US"/>
          </a:p>
        </p:txBody>
      </p:sp>
      <p:sp>
        <p:nvSpPr>
          <p:cNvPr id="95" name="Shape 41">
            <a:extLst>
              <a:ext uri="{FF2B5EF4-FFF2-40B4-BE49-F238E27FC236}">
                <a16:creationId xmlns:a16="http://schemas.microsoft.com/office/drawing/2014/main" id="{22A799A9-D15F-6154-4638-E3A4A4281F03}"/>
              </a:ext>
            </a:extLst>
          </p:cNvPr>
          <p:cNvSpPr/>
          <p:nvPr/>
        </p:nvSpPr>
        <p:spPr>
          <a:xfrm>
            <a:off x="594360" y="3794760"/>
            <a:ext cx="384048" cy="155448"/>
          </a:xfrm>
          <a:prstGeom prst="rect">
            <a:avLst/>
          </a:prstGeom>
          <a:solidFill>
            <a:srgbClr val="DBEAFE"/>
          </a:solidFill>
          <a:ln w="12700">
            <a:solidFill>
              <a:srgbClr val="DBEAFE"/>
            </a:solidFill>
            <a:prstDash val="solid"/>
          </a:ln>
        </p:spPr>
        <p:txBody>
          <a:bodyPr/>
          <a:lstStyle/>
          <a:p>
            <a:endParaRPr lang="en-US"/>
          </a:p>
        </p:txBody>
      </p:sp>
      <p:sp>
        <p:nvSpPr>
          <p:cNvPr id="96" name="Text 42">
            <a:extLst>
              <a:ext uri="{FF2B5EF4-FFF2-40B4-BE49-F238E27FC236}">
                <a16:creationId xmlns:a16="http://schemas.microsoft.com/office/drawing/2014/main" id="{66E6E10B-2BBD-9283-61C9-D4158D7270EF}"/>
              </a:ext>
            </a:extLst>
          </p:cNvPr>
          <p:cNvSpPr/>
          <p:nvPr/>
        </p:nvSpPr>
        <p:spPr>
          <a:xfrm>
            <a:off x="594360" y="3794760"/>
            <a:ext cx="384048" cy="155448"/>
          </a:xfrm>
          <a:prstGeom prst="rect">
            <a:avLst/>
          </a:prstGeom>
          <a:noFill/>
          <a:ln/>
        </p:spPr>
        <p:txBody>
          <a:bodyPr wrap="square" lIns="0" tIns="0" rIns="0" bIns="0" rtlCol="0" anchor="ctr"/>
          <a:lstStyle/>
          <a:p>
            <a:pPr marL="0" indent="0" algn="ctr">
              <a:buNone/>
            </a:pPr>
            <a:r>
              <a:rPr lang="en-US" sz="600" b="1" dirty="0">
                <a:solidFill>
                  <a:srgbClr val="1E40AF"/>
                </a:solidFill>
              </a:rPr>
              <a:t>GET</a:t>
            </a:r>
            <a:endParaRPr lang="en-US" sz="600" dirty="0"/>
          </a:p>
        </p:txBody>
      </p:sp>
      <p:sp>
        <p:nvSpPr>
          <p:cNvPr id="97" name="Shape 43">
            <a:extLst>
              <a:ext uri="{FF2B5EF4-FFF2-40B4-BE49-F238E27FC236}">
                <a16:creationId xmlns:a16="http://schemas.microsoft.com/office/drawing/2014/main" id="{09CBDFFA-6A6D-9BAA-3F0F-22C32C36EC03}"/>
              </a:ext>
            </a:extLst>
          </p:cNvPr>
          <p:cNvSpPr/>
          <p:nvPr/>
        </p:nvSpPr>
        <p:spPr>
          <a:xfrm>
            <a:off x="1014984" y="3794760"/>
            <a:ext cx="384048" cy="155448"/>
          </a:xfrm>
          <a:prstGeom prst="rect">
            <a:avLst/>
          </a:prstGeom>
          <a:solidFill>
            <a:srgbClr val="DCFCE7"/>
          </a:solidFill>
          <a:ln w="12700">
            <a:solidFill>
              <a:srgbClr val="DCFCE7"/>
            </a:solidFill>
            <a:prstDash val="solid"/>
          </a:ln>
        </p:spPr>
        <p:txBody>
          <a:bodyPr/>
          <a:lstStyle/>
          <a:p>
            <a:endParaRPr lang="en-US"/>
          </a:p>
        </p:txBody>
      </p:sp>
      <p:sp>
        <p:nvSpPr>
          <p:cNvPr id="98" name="Text 44">
            <a:extLst>
              <a:ext uri="{FF2B5EF4-FFF2-40B4-BE49-F238E27FC236}">
                <a16:creationId xmlns:a16="http://schemas.microsoft.com/office/drawing/2014/main" id="{F9151A57-E1AF-98AF-0931-D263620294D5}"/>
              </a:ext>
            </a:extLst>
          </p:cNvPr>
          <p:cNvSpPr/>
          <p:nvPr/>
        </p:nvSpPr>
        <p:spPr>
          <a:xfrm>
            <a:off x="1014984" y="3794760"/>
            <a:ext cx="384048" cy="155448"/>
          </a:xfrm>
          <a:prstGeom prst="rect">
            <a:avLst/>
          </a:prstGeom>
          <a:noFill/>
          <a:ln/>
        </p:spPr>
        <p:txBody>
          <a:bodyPr wrap="square" lIns="0" tIns="0" rIns="0" bIns="0" rtlCol="0" anchor="ctr"/>
          <a:lstStyle/>
          <a:p>
            <a:pPr marL="0" indent="0" algn="ctr">
              <a:buNone/>
            </a:pPr>
            <a:r>
              <a:rPr lang="en-US" sz="600" b="1" dirty="0">
                <a:solidFill>
                  <a:srgbClr val="166534"/>
                </a:solidFill>
              </a:rPr>
              <a:t>POST</a:t>
            </a:r>
            <a:endParaRPr lang="en-US" sz="600" dirty="0"/>
          </a:p>
        </p:txBody>
      </p:sp>
      <p:sp>
        <p:nvSpPr>
          <p:cNvPr id="99" name="Shape 45">
            <a:extLst>
              <a:ext uri="{FF2B5EF4-FFF2-40B4-BE49-F238E27FC236}">
                <a16:creationId xmlns:a16="http://schemas.microsoft.com/office/drawing/2014/main" id="{49E3D096-EB13-6C08-86BC-3A7AF54BA255}"/>
              </a:ext>
            </a:extLst>
          </p:cNvPr>
          <p:cNvSpPr/>
          <p:nvPr/>
        </p:nvSpPr>
        <p:spPr>
          <a:xfrm>
            <a:off x="1435608" y="3794760"/>
            <a:ext cx="384048" cy="155448"/>
          </a:xfrm>
          <a:prstGeom prst="rect">
            <a:avLst/>
          </a:prstGeom>
          <a:solidFill>
            <a:srgbClr val="FEF9C3"/>
          </a:solidFill>
          <a:ln w="12700">
            <a:solidFill>
              <a:srgbClr val="FEF9C3"/>
            </a:solidFill>
            <a:prstDash val="solid"/>
          </a:ln>
        </p:spPr>
        <p:txBody>
          <a:bodyPr/>
          <a:lstStyle/>
          <a:p>
            <a:endParaRPr lang="en-US"/>
          </a:p>
        </p:txBody>
      </p:sp>
      <p:sp>
        <p:nvSpPr>
          <p:cNvPr id="100" name="Text 46">
            <a:extLst>
              <a:ext uri="{FF2B5EF4-FFF2-40B4-BE49-F238E27FC236}">
                <a16:creationId xmlns:a16="http://schemas.microsoft.com/office/drawing/2014/main" id="{01FE61E5-280C-FBE2-4A05-2A825D9527A5}"/>
              </a:ext>
            </a:extLst>
          </p:cNvPr>
          <p:cNvSpPr/>
          <p:nvPr/>
        </p:nvSpPr>
        <p:spPr>
          <a:xfrm>
            <a:off x="1435608" y="3794760"/>
            <a:ext cx="384048" cy="155448"/>
          </a:xfrm>
          <a:prstGeom prst="rect">
            <a:avLst/>
          </a:prstGeom>
          <a:noFill/>
          <a:ln/>
        </p:spPr>
        <p:txBody>
          <a:bodyPr wrap="square" lIns="0" tIns="0" rIns="0" bIns="0" rtlCol="0" anchor="ctr"/>
          <a:lstStyle/>
          <a:p>
            <a:pPr marL="0" indent="0" algn="ctr">
              <a:buNone/>
            </a:pPr>
            <a:r>
              <a:rPr lang="en-US" sz="600" b="1" dirty="0">
                <a:solidFill>
                  <a:srgbClr val="854D0E"/>
                </a:solidFill>
              </a:rPr>
              <a:t>PATCH</a:t>
            </a:r>
            <a:endParaRPr lang="en-US" sz="600" dirty="0"/>
          </a:p>
        </p:txBody>
      </p:sp>
      <p:sp>
        <p:nvSpPr>
          <p:cNvPr id="101" name="Shape 47">
            <a:extLst>
              <a:ext uri="{FF2B5EF4-FFF2-40B4-BE49-F238E27FC236}">
                <a16:creationId xmlns:a16="http://schemas.microsoft.com/office/drawing/2014/main" id="{B5EDC3E9-9224-68C9-95B6-9AEDC291C570}"/>
              </a:ext>
            </a:extLst>
          </p:cNvPr>
          <p:cNvSpPr/>
          <p:nvPr/>
        </p:nvSpPr>
        <p:spPr>
          <a:xfrm>
            <a:off x="1856232" y="3794760"/>
            <a:ext cx="384048" cy="155448"/>
          </a:xfrm>
          <a:prstGeom prst="rect">
            <a:avLst/>
          </a:prstGeom>
          <a:solidFill>
            <a:srgbClr val="FEE2E2"/>
          </a:solidFill>
          <a:ln w="12700">
            <a:solidFill>
              <a:srgbClr val="FEE2E2"/>
            </a:solidFill>
            <a:prstDash val="solid"/>
          </a:ln>
        </p:spPr>
        <p:txBody>
          <a:bodyPr/>
          <a:lstStyle/>
          <a:p>
            <a:endParaRPr lang="en-US"/>
          </a:p>
        </p:txBody>
      </p:sp>
      <p:sp>
        <p:nvSpPr>
          <p:cNvPr id="102" name="Text 48">
            <a:extLst>
              <a:ext uri="{FF2B5EF4-FFF2-40B4-BE49-F238E27FC236}">
                <a16:creationId xmlns:a16="http://schemas.microsoft.com/office/drawing/2014/main" id="{9702F993-6D87-3782-D4D9-F7D89CB7074A}"/>
              </a:ext>
            </a:extLst>
          </p:cNvPr>
          <p:cNvSpPr/>
          <p:nvPr/>
        </p:nvSpPr>
        <p:spPr>
          <a:xfrm>
            <a:off x="1856232" y="3794760"/>
            <a:ext cx="384048" cy="155448"/>
          </a:xfrm>
          <a:prstGeom prst="rect">
            <a:avLst/>
          </a:prstGeom>
          <a:noFill/>
          <a:ln/>
        </p:spPr>
        <p:txBody>
          <a:bodyPr wrap="square" lIns="0" tIns="0" rIns="0" bIns="0" rtlCol="0" anchor="ctr"/>
          <a:lstStyle/>
          <a:p>
            <a:pPr marL="0" indent="0" algn="ctr">
              <a:buNone/>
            </a:pPr>
            <a:r>
              <a:rPr lang="en-US" sz="600" b="1" dirty="0">
                <a:solidFill>
                  <a:srgbClr val="991B1B"/>
                </a:solidFill>
              </a:rPr>
              <a:t>DELETE</a:t>
            </a:r>
            <a:endParaRPr lang="en-US" sz="600" dirty="0"/>
          </a:p>
        </p:txBody>
      </p:sp>
      <p:sp>
        <p:nvSpPr>
          <p:cNvPr id="103" name="Text 49">
            <a:extLst>
              <a:ext uri="{FF2B5EF4-FFF2-40B4-BE49-F238E27FC236}">
                <a16:creationId xmlns:a16="http://schemas.microsoft.com/office/drawing/2014/main" id="{1A0E1397-DD3D-7F2A-71B7-004B91A2AD50}"/>
              </a:ext>
            </a:extLst>
          </p:cNvPr>
          <p:cNvSpPr/>
          <p:nvPr/>
        </p:nvSpPr>
        <p:spPr>
          <a:xfrm>
            <a:off x="2377440" y="3785616"/>
            <a:ext cx="3108960" cy="164592"/>
          </a:xfrm>
          <a:prstGeom prst="rect">
            <a:avLst/>
          </a:prstGeom>
          <a:noFill/>
          <a:ln/>
        </p:spPr>
        <p:txBody>
          <a:bodyPr wrap="square" lIns="0" tIns="0" rIns="0" bIns="0" rtlCol="0" anchor="ctr"/>
          <a:lstStyle/>
          <a:p>
            <a:pPr marL="0" indent="0">
              <a:buNone/>
            </a:pPr>
            <a:r>
              <a:rPr lang="en-US" sz="800" dirty="0">
                <a:solidFill>
                  <a:srgbClr val="0D1B3E"/>
                </a:solidFill>
                <a:latin typeface="Courier New" pitchFamily="34" charset="0"/>
                <a:ea typeface="Courier New" pitchFamily="34" charset="-122"/>
                <a:cs typeface="Courier New" pitchFamily="34" charset="-120"/>
              </a:rPr>
              <a:t>/api/v1/products</a:t>
            </a:r>
            <a:endParaRPr lang="en-US" sz="800" dirty="0"/>
          </a:p>
        </p:txBody>
      </p:sp>
      <p:sp>
        <p:nvSpPr>
          <p:cNvPr id="104" name="Text 50">
            <a:extLst>
              <a:ext uri="{FF2B5EF4-FFF2-40B4-BE49-F238E27FC236}">
                <a16:creationId xmlns:a16="http://schemas.microsoft.com/office/drawing/2014/main" id="{F7330509-530D-37DA-B38D-0BED5212275E}"/>
              </a:ext>
            </a:extLst>
          </p:cNvPr>
          <p:cNvSpPr/>
          <p:nvPr/>
        </p:nvSpPr>
        <p:spPr>
          <a:xfrm>
            <a:off x="5486400" y="3785616"/>
            <a:ext cx="2103120" cy="164592"/>
          </a:xfrm>
          <a:prstGeom prst="rect">
            <a:avLst/>
          </a:prstGeom>
          <a:noFill/>
          <a:ln/>
        </p:spPr>
        <p:txBody>
          <a:bodyPr wrap="square" lIns="0" tIns="0" rIns="0" bIns="0" rtlCol="0" anchor="ctr"/>
          <a:lstStyle/>
          <a:p>
            <a:pPr marL="0" indent="0">
              <a:buNone/>
            </a:pPr>
            <a:r>
              <a:rPr lang="en-US" sz="750" dirty="0">
                <a:solidFill>
                  <a:srgbClr val="475569"/>
                </a:solidFill>
              </a:rPr>
              <a:t>Product catalog CRUD</a:t>
            </a:r>
            <a:endParaRPr lang="en-US" sz="750" dirty="0"/>
          </a:p>
        </p:txBody>
      </p:sp>
      <p:sp>
        <p:nvSpPr>
          <p:cNvPr id="105" name="Shape 51">
            <a:extLst>
              <a:ext uri="{FF2B5EF4-FFF2-40B4-BE49-F238E27FC236}">
                <a16:creationId xmlns:a16="http://schemas.microsoft.com/office/drawing/2014/main" id="{55102050-6551-B591-E6FE-F9A79E59B1FA}"/>
              </a:ext>
            </a:extLst>
          </p:cNvPr>
          <p:cNvSpPr/>
          <p:nvPr/>
        </p:nvSpPr>
        <p:spPr>
          <a:xfrm>
            <a:off x="7616952" y="3794760"/>
            <a:ext cx="566928" cy="146304"/>
          </a:xfrm>
          <a:prstGeom prst="rect">
            <a:avLst/>
          </a:prstGeom>
          <a:solidFill>
            <a:srgbClr val="FCE7F3"/>
          </a:solidFill>
          <a:ln w="12700">
            <a:solidFill>
              <a:srgbClr val="FCE7F3"/>
            </a:solidFill>
            <a:prstDash val="solid"/>
          </a:ln>
        </p:spPr>
        <p:txBody>
          <a:bodyPr/>
          <a:lstStyle/>
          <a:p>
            <a:endParaRPr lang="en-US"/>
          </a:p>
        </p:txBody>
      </p:sp>
      <p:sp>
        <p:nvSpPr>
          <p:cNvPr id="106" name="Text 52">
            <a:extLst>
              <a:ext uri="{FF2B5EF4-FFF2-40B4-BE49-F238E27FC236}">
                <a16:creationId xmlns:a16="http://schemas.microsoft.com/office/drawing/2014/main" id="{53ED20F4-45FA-D7C0-18B4-CF34067C40F2}"/>
              </a:ext>
            </a:extLst>
          </p:cNvPr>
          <p:cNvSpPr/>
          <p:nvPr/>
        </p:nvSpPr>
        <p:spPr>
          <a:xfrm>
            <a:off x="7616952" y="3794760"/>
            <a:ext cx="566928" cy="146304"/>
          </a:xfrm>
          <a:prstGeom prst="rect">
            <a:avLst/>
          </a:prstGeom>
          <a:noFill/>
          <a:ln/>
        </p:spPr>
        <p:txBody>
          <a:bodyPr wrap="square" lIns="0" tIns="0" rIns="0" bIns="0" rtlCol="0" anchor="ctr"/>
          <a:lstStyle/>
          <a:p>
            <a:pPr marL="0" indent="0" algn="ctr">
              <a:buNone/>
            </a:pPr>
            <a:r>
              <a:rPr lang="en-US" sz="650" b="1" dirty="0">
                <a:solidFill>
                  <a:srgbClr val="9D174D"/>
                </a:solidFill>
              </a:rPr>
              <a:t>Business</a:t>
            </a:r>
            <a:endParaRPr lang="en-US" sz="650" dirty="0"/>
          </a:p>
        </p:txBody>
      </p:sp>
      <p:sp>
        <p:nvSpPr>
          <p:cNvPr id="107" name="Shape 53">
            <a:extLst>
              <a:ext uri="{FF2B5EF4-FFF2-40B4-BE49-F238E27FC236}">
                <a16:creationId xmlns:a16="http://schemas.microsoft.com/office/drawing/2014/main" id="{22BEFB21-BDB9-D420-B134-07A41A0B5C56}"/>
              </a:ext>
            </a:extLst>
          </p:cNvPr>
          <p:cNvSpPr/>
          <p:nvPr/>
        </p:nvSpPr>
        <p:spPr>
          <a:xfrm>
            <a:off x="566928" y="3986784"/>
            <a:ext cx="7644384" cy="4572"/>
          </a:xfrm>
          <a:prstGeom prst="rect">
            <a:avLst/>
          </a:prstGeom>
          <a:solidFill>
            <a:srgbClr val="D8DCE5"/>
          </a:solidFill>
          <a:ln w="12700">
            <a:solidFill>
              <a:srgbClr val="D8DCE5"/>
            </a:solidFill>
            <a:prstDash val="solid"/>
          </a:ln>
        </p:spPr>
        <p:txBody>
          <a:bodyPr/>
          <a:lstStyle/>
          <a:p>
            <a:endParaRPr lang="en-US"/>
          </a:p>
        </p:txBody>
      </p:sp>
      <p:sp>
        <p:nvSpPr>
          <p:cNvPr id="108" name="Shape 54">
            <a:extLst>
              <a:ext uri="{FF2B5EF4-FFF2-40B4-BE49-F238E27FC236}">
                <a16:creationId xmlns:a16="http://schemas.microsoft.com/office/drawing/2014/main" id="{2AD27C57-55CF-4D4A-5F60-1A4C14161599}"/>
              </a:ext>
            </a:extLst>
          </p:cNvPr>
          <p:cNvSpPr/>
          <p:nvPr/>
        </p:nvSpPr>
        <p:spPr>
          <a:xfrm>
            <a:off x="594360" y="4023360"/>
            <a:ext cx="384048" cy="155448"/>
          </a:xfrm>
          <a:prstGeom prst="rect">
            <a:avLst/>
          </a:prstGeom>
          <a:solidFill>
            <a:srgbClr val="DCFCE7"/>
          </a:solidFill>
          <a:ln w="12700">
            <a:solidFill>
              <a:srgbClr val="DCFCE7"/>
            </a:solidFill>
            <a:prstDash val="solid"/>
          </a:ln>
        </p:spPr>
        <p:txBody>
          <a:bodyPr/>
          <a:lstStyle/>
          <a:p>
            <a:endParaRPr lang="en-US"/>
          </a:p>
        </p:txBody>
      </p:sp>
      <p:sp>
        <p:nvSpPr>
          <p:cNvPr id="109" name="Text 55">
            <a:extLst>
              <a:ext uri="{FF2B5EF4-FFF2-40B4-BE49-F238E27FC236}">
                <a16:creationId xmlns:a16="http://schemas.microsoft.com/office/drawing/2014/main" id="{83A63171-8F3A-B36D-10E0-FEECEEF0DA36}"/>
              </a:ext>
            </a:extLst>
          </p:cNvPr>
          <p:cNvSpPr/>
          <p:nvPr/>
        </p:nvSpPr>
        <p:spPr>
          <a:xfrm>
            <a:off x="594360" y="4023360"/>
            <a:ext cx="384048" cy="155448"/>
          </a:xfrm>
          <a:prstGeom prst="rect">
            <a:avLst/>
          </a:prstGeom>
          <a:noFill/>
          <a:ln/>
        </p:spPr>
        <p:txBody>
          <a:bodyPr wrap="square" lIns="0" tIns="0" rIns="0" bIns="0" rtlCol="0" anchor="ctr"/>
          <a:lstStyle/>
          <a:p>
            <a:pPr marL="0" indent="0" algn="ctr">
              <a:buNone/>
            </a:pPr>
            <a:r>
              <a:rPr lang="en-US" sz="600" b="1" dirty="0">
                <a:solidFill>
                  <a:srgbClr val="166534"/>
                </a:solidFill>
              </a:rPr>
              <a:t>POST</a:t>
            </a:r>
            <a:endParaRPr lang="en-US" sz="600" dirty="0"/>
          </a:p>
        </p:txBody>
      </p:sp>
      <p:sp>
        <p:nvSpPr>
          <p:cNvPr id="110" name="Shape 56">
            <a:extLst>
              <a:ext uri="{FF2B5EF4-FFF2-40B4-BE49-F238E27FC236}">
                <a16:creationId xmlns:a16="http://schemas.microsoft.com/office/drawing/2014/main" id="{34088CE7-1B7B-FCA6-8415-FFF852D63C79}"/>
              </a:ext>
            </a:extLst>
          </p:cNvPr>
          <p:cNvSpPr/>
          <p:nvPr/>
        </p:nvSpPr>
        <p:spPr>
          <a:xfrm>
            <a:off x="1014984" y="4023360"/>
            <a:ext cx="384048" cy="155448"/>
          </a:xfrm>
          <a:prstGeom prst="rect">
            <a:avLst/>
          </a:prstGeom>
          <a:solidFill>
            <a:srgbClr val="FEF9C3"/>
          </a:solidFill>
          <a:ln w="12700">
            <a:solidFill>
              <a:srgbClr val="FEF9C3"/>
            </a:solidFill>
            <a:prstDash val="solid"/>
          </a:ln>
        </p:spPr>
        <p:txBody>
          <a:bodyPr/>
          <a:lstStyle/>
          <a:p>
            <a:endParaRPr lang="en-US"/>
          </a:p>
        </p:txBody>
      </p:sp>
      <p:sp>
        <p:nvSpPr>
          <p:cNvPr id="111" name="Text 57">
            <a:extLst>
              <a:ext uri="{FF2B5EF4-FFF2-40B4-BE49-F238E27FC236}">
                <a16:creationId xmlns:a16="http://schemas.microsoft.com/office/drawing/2014/main" id="{796D6AAB-0A35-DB23-900B-6B5C6A8094BC}"/>
              </a:ext>
            </a:extLst>
          </p:cNvPr>
          <p:cNvSpPr/>
          <p:nvPr/>
        </p:nvSpPr>
        <p:spPr>
          <a:xfrm>
            <a:off x="1014984" y="4023360"/>
            <a:ext cx="384048" cy="155448"/>
          </a:xfrm>
          <a:prstGeom prst="rect">
            <a:avLst/>
          </a:prstGeom>
          <a:noFill/>
          <a:ln/>
        </p:spPr>
        <p:txBody>
          <a:bodyPr wrap="square" lIns="0" tIns="0" rIns="0" bIns="0" rtlCol="0" anchor="ctr"/>
          <a:lstStyle/>
          <a:p>
            <a:pPr marL="0" indent="0" algn="ctr">
              <a:buNone/>
            </a:pPr>
            <a:r>
              <a:rPr lang="en-US" sz="600" b="1" dirty="0">
                <a:solidFill>
                  <a:srgbClr val="854D0E"/>
                </a:solidFill>
              </a:rPr>
              <a:t>PATCH</a:t>
            </a:r>
            <a:endParaRPr lang="en-US" sz="600" dirty="0"/>
          </a:p>
        </p:txBody>
      </p:sp>
      <p:sp>
        <p:nvSpPr>
          <p:cNvPr id="112" name="Text 58">
            <a:extLst>
              <a:ext uri="{FF2B5EF4-FFF2-40B4-BE49-F238E27FC236}">
                <a16:creationId xmlns:a16="http://schemas.microsoft.com/office/drawing/2014/main" id="{22406778-BE24-CBC7-9499-129184F0B620}"/>
              </a:ext>
            </a:extLst>
          </p:cNvPr>
          <p:cNvSpPr/>
          <p:nvPr/>
        </p:nvSpPr>
        <p:spPr>
          <a:xfrm>
            <a:off x="2377440" y="4014216"/>
            <a:ext cx="3108960" cy="164592"/>
          </a:xfrm>
          <a:prstGeom prst="rect">
            <a:avLst/>
          </a:prstGeom>
          <a:noFill/>
          <a:ln/>
        </p:spPr>
        <p:txBody>
          <a:bodyPr wrap="square" lIns="0" tIns="0" rIns="0" bIns="0" rtlCol="0" anchor="ctr"/>
          <a:lstStyle/>
          <a:p>
            <a:pPr marL="0" indent="0">
              <a:buNone/>
            </a:pPr>
            <a:r>
              <a:rPr lang="en-US" sz="800" dirty="0">
                <a:solidFill>
                  <a:srgbClr val="0D1B3E"/>
                </a:solidFill>
                <a:latin typeface="Courier New" pitchFamily="34" charset="0"/>
                <a:ea typeface="Courier New" pitchFamily="34" charset="-122"/>
                <a:cs typeface="Courier New" pitchFamily="34" charset="-120"/>
              </a:rPr>
              <a:t>/api/v1/orders / orders/{id}/submit</a:t>
            </a:r>
            <a:endParaRPr lang="en-US" sz="800" dirty="0"/>
          </a:p>
        </p:txBody>
      </p:sp>
      <p:sp>
        <p:nvSpPr>
          <p:cNvPr id="113" name="Text 59">
            <a:extLst>
              <a:ext uri="{FF2B5EF4-FFF2-40B4-BE49-F238E27FC236}">
                <a16:creationId xmlns:a16="http://schemas.microsoft.com/office/drawing/2014/main" id="{84E0BC9E-1DD7-83E3-0380-FB3D045BA6F5}"/>
              </a:ext>
            </a:extLst>
          </p:cNvPr>
          <p:cNvSpPr/>
          <p:nvPr/>
        </p:nvSpPr>
        <p:spPr>
          <a:xfrm>
            <a:off x="5486400" y="4014216"/>
            <a:ext cx="2103120" cy="164592"/>
          </a:xfrm>
          <a:prstGeom prst="rect">
            <a:avLst/>
          </a:prstGeom>
          <a:noFill/>
          <a:ln/>
        </p:spPr>
        <p:txBody>
          <a:bodyPr wrap="square" lIns="0" tIns="0" rIns="0" bIns="0" rtlCol="0" anchor="ctr"/>
          <a:lstStyle/>
          <a:p>
            <a:pPr marL="0" indent="0">
              <a:buNone/>
            </a:pPr>
            <a:r>
              <a:rPr lang="en-US" sz="750" dirty="0">
                <a:solidFill>
                  <a:srgbClr val="475569"/>
                </a:solidFill>
              </a:rPr>
              <a:t>Create &amp; submit customer orders</a:t>
            </a:r>
            <a:endParaRPr lang="en-US" sz="750" dirty="0"/>
          </a:p>
        </p:txBody>
      </p:sp>
      <p:sp>
        <p:nvSpPr>
          <p:cNvPr id="114" name="Shape 60">
            <a:extLst>
              <a:ext uri="{FF2B5EF4-FFF2-40B4-BE49-F238E27FC236}">
                <a16:creationId xmlns:a16="http://schemas.microsoft.com/office/drawing/2014/main" id="{82F255E5-95AC-EF2F-6BC2-D8E07200E946}"/>
              </a:ext>
            </a:extLst>
          </p:cNvPr>
          <p:cNvSpPr/>
          <p:nvPr/>
        </p:nvSpPr>
        <p:spPr>
          <a:xfrm>
            <a:off x="7616952" y="4023360"/>
            <a:ext cx="566928" cy="146304"/>
          </a:xfrm>
          <a:prstGeom prst="rect">
            <a:avLst/>
          </a:prstGeom>
          <a:solidFill>
            <a:srgbClr val="E0F2FE"/>
          </a:solidFill>
          <a:ln w="12700">
            <a:solidFill>
              <a:srgbClr val="E0F2FE"/>
            </a:solidFill>
            <a:prstDash val="solid"/>
          </a:ln>
        </p:spPr>
        <p:txBody>
          <a:bodyPr/>
          <a:lstStyle/>
          <a:p>
            <a:endParaRPr lang="en-US"/>
          </a:p>
        </p:txBody>
      </p:sp>
      <p:sp>
        <p:nvSpPr>
          <p:cNvPr id="115" name="Text 61">
            <a:extLst>
              <a:ext uri="{FF2B5EF4-FFF2-40B4-BE49-F238E27FC236}">
                <a16:creationId xmlns:a16="http://schemas.microsoft.com/office/drawing/2014/main" id="{A1786989-BAF8-992E-8BAC-8C5D2C45BE3D}"/>
              </a:ext>
            </a:extLst>
          </p:cNvPr>
          <p:cNvSpPr/>
          <p:nvPr/>
        </p:nvSpPr>
        <p:spPr>
          <a:xfrm>
            <a:off x="7616952" y="4023360"/>
            <a:ext cx="566928" cy="146304"/>
          </a:xfrm>
          <a:prstGeom prst="rect">
            <a:avLst/>
          </a:prstGeom>
          <a:noFill/>
          <a:ln/>
        </p:spPr>
        <p:txBody>
          <a:bodyPr wrap="square" lIns="0" tIns="0" rIns="0" bIns="0" rtlCol="0" anchor="ctr"/>
          <a:lstStyle/>
          <a:p>
            <a:pPr marL="0" indent="0" algn="ctr">
              <a:buNone/>
            </a:pPr>
            <a:r>
              <a:rPr lang="en-US" sz="650" b="1" dirty="0">
                <a:solidFill>
                  <a:srgbClr val="0369A1"/>
                </a:solidFill>
              </a:rPr>
              <a:t>Customer</a:t>
            </a:r>
            <a:endParaRPr lang="en-US" sz="650" dirty="0"/>
          </a:p>
        </p:txBody>
      </p:sp>
      <p:sp>
        <p:nvSpPr>
          <p:cNvPr id="116" name="Shape 62">
            <a:extLst>
              <a:ext uri="{FF2B5EF4-FFF2-40B4-BE49-F238E27FC236}">
                <a16:creationId xmlns:a16="http://schemas.microsoft.com/office/drawing/2014/main" id="{6C755F24-346E-66E1-DCAA-3F847CE21DAB}"/>
              </a:ext>
            </a:extLst>
          </p:cNvPr>
          <p:cNvSpPr/>
          <p:nvPr/>
        </p:nvSpPr>
        <p:spPr>
          <a:xfrm>
            <a:off x="566928" y="4215384"/>
            <a:ext cx="7644384" cy="4572"/>
          </a:xfrm>
          <a:prstGeom prst="rect">
            <a:avLst/>
          </a:prstGeom>
          <a:solidFill>
            <a:srgbClr val="D8DCE5"/>
          </a:solidFill>
          <a:ln w="12700">
            <a:solidFill>
              <a:srgbClr val="D8DCE5"/>
            </a:solidFill>
            <a:prstDash val="solid"/>
          </a:ln>
        </p:spPr>
        <p:txBody>
          <a:bodyPr/>
          <a:lstStyle/>
          <a:p>
            <a:endParaRPr lang="en-US"/>
          </a:p>
        </p:txBody>
      </p:sp>
      <p:sp>
        <p:nvSpPr>
          <p:cNvPr id="117" name="Shape 63">
            <a:extLst>
              <a:ext uri="{FF2B5EF4-FFF2-40B4-BE49-F238E27FC236}">
                <a16:creationId xmlns:a16="http://schemas.microsoft.com/office/drawing/2014/main" id="{5809A4CB-4E70-10AD-3D2D-8B2EF7F16552}"/>
              </a:ext>
            </a:extLst>
          </p:cNvPr>
          <p:cNvSpPr/>
          <p:nvPr/>
        </p:nvSpPr>
        <p:spPr>
          <a:xfrm>
            <a:off x="594360" y="4251960"/>
            <a:ext cx="384048" cy="155448"/>
          </a:xfrm>
          <a:prstGeom prst="rect">
            <a:avLst/>
          </a:prstGeom>
          <a:solidFill>
            <a:srgbClr val="DBEAFE"/>
          </a:solidFill>
          <a:ln w="12700">
            <a:solidFill>
              <a:srgbClr val="DBEAFE"/>
            </a:solidFill>
            <a:prstDash val="solid"/>
          </a:ln>
        </p:spPr>
        <p:txBody>
          <a:bodyPr/>
          <a:lstStyle/>
          <a:p>
            <a:endParaRPr lang="en-US"/>
          </a:p>
        </p:txBody>
      </p:sp>
      <p:sp>
        <p:nvSpPr>
          <p:cNvPr id="118" name="Text 64">
            <a:extLst>
              <a:ext uri="{FF2B5EF4-FFF2-40B4-BE49-F238E27FC236}">
                <a16:creationId xmlns:a16="http://schemas.microsoft.com/office/drawing/2014/main" id="{36050456-8F91-047A-0B91-3247737479CB}"/>
              </a:ext>
            </a:extLst>
          </p:cNvPr>
          <p:cNvSpPr/>
          <p:nvPr/>
        </p:nvSpPr>
        <p:spPr>
          <a:xfrm>
            <a:off x="594360" y="4251960"/>
            <a:ext cx="384048" cy="155448"/>
          </a:xfrm>
          <a:prstGeom prst="rect">
            <a:avLst/>
          </a:prstGeom>
          <a:noFill/>
          <a:ln/>
        </p:spPr>
        <p:txBody>
          <a:bodyPr wrap="square" lIns="0" tIns="0" rIns="0" bIns="0" rtlCol="0" anchor="ctr"/>
          <a:lstStyle/>
          <a:p>
            <a:pPr marL="0" indent="0" algn="ctr">
              <a:buNone/>
            </a:pPr>
            <a:r>
              <a:rPr lang="en-US" sz="600" b="1" dirty="0">
                <a:solidFill>
                  <a:srgbClr val="1E40AF"/>
                </a:solidFill>
              </a:rPr>
              <a:t>GET</a:t>
            </a:r>
            <a:endParaRPr lang="en-US" sz="600" dirty="0"/>
          </a:p>
        </p:txBody>
      </p:sp>
      <p:sp>
        <p:nvSpPr>
          <p:cNvPr id="119" name="Text 65">
            <a:extLst>
              <a:ext uri="{FF2B5EF4-FFF2-40B4-BE49-F238E27FC236}">
                <a16:creationId xmlns:a16="http://schemas.microsoft.com/office/drawing/2014/main" id="{613754F3-CE12-F1B4-E18F-A874546F7BCB}"/>
              </a:ext>
            </a:extLst>
          </p:cNvPr>
          <p:cNvSpPr/>
          <p:nvPr/>
        </p:nvSpPr>
        <p:spPr>
          <a:xfrm>
            <a:off x="2377440" y="4242816"/>
            <a:ext cx="3108960" cy="164592"/>
          </a:xfrm>
          <a:prstGeom prst="rect">
            <a:avLst/>
          </a:prstGeom>
          <a:noFill/>
          <a:ln/>
        </p:spPr>
        <p:txBody>
          <a:bodyPr wrap="square" lIns="0" tIns="0" rIns="0" bIns="0" rtlCol="0" anchor="ctr"/>
          <a:lstStyle/>
          <a:p>
            <a:pPr marL="0" indent="0">
              <a:buNone/>
            </a:pPr>
            <a:r>
              <a:rPr lang="en-US" sz="800" dirty="0">
                <a:solidFill>
                  <a:srgbClr val="0D1B3E"/>
                </a:solidFill>
                <a:latin typeface="Courier New" pitchFamily="34" charset="0"/>
                <a:ea typeface="Courier New" pitchFamily="34" charset="-122"/>
                <a:cs typeface="Courier New" pitchFamily="34" charset="-120"/>
              </a:rPr>
              <a:t>/api/v1/reports/sales · /low-stock</a:t>
            </a:r>
            <a:endParaRPr lang="en-US" sz="800" dirty="0"/>
          </a:p>
        </p:txBody>
      </p:sp>
      <p:sp>
        <p:nvSpPr>
          <p:cNvPr id="120" name="Text 66">
            <a:extLst>
              <a:ext uri="{FF2B5EF4-FFF2-40B4-BE49-F238E27FC236}">
                <a16:creationId xmlns:a16="http://schemas.microsoft.com/office/drawing/2014/main" id="{37FD6A23-CAC1-3A13-7191-B6EC0462E2ED}"/>
              </a:ext>
            </a:extLst>
          </p:cNvPr>
          <p:cNvSpPr/>
          <p:nvPr/>
        </p:nvSpPr>
        <p:spPr>
          <a:xfrm>
            <a:off x="5486400" y="4242816"/>
            <a:ext cx="2103120" cy="164592"/>
          </a:xfrm>
          <a:prstGeom prst="rect">
            <a:avLst/>
          </a:prstGeom>
          <a:noFill/>
          <a:ln/>
        </p:spPr>
        <p:txBody>
          <a:bodyPr wrap="square" lIns="0" tIns="0" rIns="0" bIns="0" rtlCol="0" anchor="ctr"/>
          <a:lstStyle/>
          <a:p>
            <a:pPr marL="0" indent="0">
              <a:buNone/>
            </a:pPr>
            <a:r>
              <a:rPr lang="en-US" sz="750" dirty="0">
                <a:solidFill>
                  <a:srgbClr val="475569"/>
                </a:solidFill>
              </a:rPr>
              <a:t>Sales summary &amp; low-stock report</a:t>
            </a:r>
            <a:endParaRPr lang="en-US" sz="750" dirty="0"/>
          </a:p>
        </p:txBody>
      </p:sp>
      <p:sp>
        <p:nvSpPr>
          <p:cNvPr id="121" name="Shape 67">
            <a:extLst>
              <a:ext uri="{FF2B5EF4-FFF2-40B4-BE49-F238E27FC236}">
                <a16:creationId xmlns:a16="http://schemas.microsoft.com/office/drawing/2014/main" id="{A8E36612-C5A2-7B1C-651C-5D99284C8336}"/>
              </a:ext>
            </a:extLst>
          </p:cNvPr>
          <p:cNvSpPr/>
          <p:nvPr/>
        </p:nvSpPr>
        <p:spPr>
          <a:xfrm>
            <a:off x="7616952" y="4251960"/>
            <a:ext cx="566928" cy="146304"/>
          </a:xfrm>
          <a:prstGeom prst="rect">
            <a:avLst/>
          </a:prstGeom>
          <a:solidFill>
            <a:srgbClr val="FCE7F3"/>
          </a:solidFill>
          <a:ln w="12700">
            <a:solidFill>
              <a:srgbClr val="FCE7F3"/>
            </a:solidFill>
            <a:prstDash val="solid"/>
          </a:ln>
        </p:spPr>
        <p:txBody>
          <a:bodyPr/>
          <a:lstStyle/>
          <a:p>
            <a:endParaRPr lang="en-US"/>
          </a:p>
        </p:txBody>
      </p:sp>
      <p:sp>
        <p:nvSpPr>
          <p:cNvPr id="122" name="Text 68">
            <a:extLst>
              <a:ext uri="{FF2B5EF4-FFF2-40B4-BE49-F238E27FC236}">
                <a16:creationId xmlns:a16="http://schemas.microsoft.com/office/drawing/2014/main" id="{CCAE7DCB-9FDA-78B6-4BD5-5CF09AFCC3AD}"/>
              </a:ext>
            </a:extLst>
          </p:cNvPr>
          <p:cNvSpPr/>
          <p:nvPr/>
        </p:nvSpPr>
        <p:spPr>
          <a:xfrm>
            <a:off x="7616952" y="4251960"/>
            <a:ext cx="566928" cy="146304"/>
          </a:xfrm>
          <a:prstGeom prst="rect">
            <a:avLst/>
          </a:prstGeom>
          <a:noFill/>
          <a:ln/>
        </p:spPr>
        <p:txBody>
          <a:bodyPr wrap="square" lIns="0" tIns="0" rIns="0" bIns="0" rtlCol="0" anchor="ctr"/>
          <a:lstStyle/>
          <a:p>
            <a:pPr marL="0" indent="0" algn="ctr">
              <a:buNone/>
            </a:pPr>
            <a:r>
              <a:rPr lang="en-US" sz="650" b="1" dirty="0">
                <a:solidFill>
                  <a:srgbClr val="9D174D"/>
                </a:solidFill>
              </a:rPr>
              <a:t>Business</a:t>
            </a:r>
            <a:endParaRPr lang="en-US" sz="650" dirty="0"/>
          </a:p>
        </p:txBody>
      </p:sp>
      <p:sp>
        <p:nvSpPr>
          <p:cNvPr id="123" name="Shape 69">
            <a:extLst>
              <a:ext uri="{FF2B5EF4-FFF2-40B4-BE49-F238E27FC236}">
                <a16:creationId xmlns:a16="http://schemas.microsoft.com/office/drawing/2014/main" id="{9EEC8C0A-526A-D655-6CF6-6B349AE30FF8}"/>
              </a:ext>
            </a:extLst>
          </p:cNvPr>
          <p:cNvSpPr/>
          <p:nvPr/>
        </p:nvSpPr>
        <p:spPr>
          <a:xfrm>
            <a:off x="566928" y="4443984"/>
            <a:ext cx="7644384" cy="4572"/>
          </a:xfrm>
          <a:prstGeom prst="rect">
            <a:avLst/>
          </a:prstGeom>
          <a:solidFill>
            <a:srgbClr val="D8DCE5"/>
          </a:solidFill>
          <a:ln w="12700">
            <a:solidFill>
              <a:srgbClr val="D8DCE5"/>
            </a:solidFill>
            <a:prstDash val="solid"/>
          </a:ln>
        </p:spPr>
        <p:txBody>
          <a:bodyPr/>
          <a:lstStyle/>
          <a:p>
            <a:endParaRPr lang="en-US"/>
          </a:p>
        </p:txBody>
      </p:sp>
      <p:sp>
        <p:nvSpPr>
          <p:cNvPr id="124" name="Shape 70">
            <a:extLst>
              <a:ext uri="{FF2B5EF4-FFF2-40B4-BE49-F238E27FC236}">
                <a16:creationId xmlns:a16="http://schemas.microsoft.com/office/drawing/2014/main" id="{535D7817-7D64-D97A-6AAD-705C0722798A}"/>
              </a:ext>
            </a:extLst>
          </p:cNvPr>
          <p:cNvSpPr/>
          <p:nvPr/>
        </p:nvSpPr>
        <p:spPr>
          <a:xfrm>
            <a:off x="594360" y="4480560"/>
            <a:ext cx="384048" cy="155448"/>
          </a:xfrm>
          <a:prstGeom prst="rect">
            <a:avLst/>
          </a:prstGeom>
          <a:solidFill>
            <a:srgbClr val="DBEAFE"/>
          </a:solidFill>
          <a:ln w="12700">
            <a:solidFill>
              <a:srgbClr val="DBEAFE"/>
            </a:solidFill>
            <a:prstDash val="solid"/>
          </a:ln>
        </p:spPr>
        <p:txBody>
          <a:bodyPr/>
          <a:lstStyle/>
          <a:p>
            <a:endParaRPr lang="en-US"/>
          </a:p>
        </p:txBody>
      </p:sp>
      <p:sp>
        <p:nvSpPr>
          <p:cNvPr id="125" name="Text 71">
            <a:extLst>
              <a:ext uri="{FF2B5EF4-FFF2-40B4-BE49-F238E27FC236}">
                <a16:creationId xmlns:a16="http://schemas.microsoft.com/office/drawing/2014/main" id="{B954FC77-8A2C-6F9D-4739-F92CA1848B36}"/>
              </a:ext>
            </a:extLst>
          </p:cNvPr>
          <p:cNvSpPr/>
          <p:nvPr/>
        </p:nvSpPr>
        <p:spPr>
          <a:xfrm>
            <a:off x="594360" y="4480560"/>
            <a:ext cx="384048" cy="155448"/>
          </a:xfrm>
          <a:prstGeom prst="rect">
            <a:avLst/>
          </a:prstGeom>
          <a:noFill/>
          <a:ln/>
        </p:spPr>
        <p:txBody>
          <a:bodyPr wrap="square" lIns="0" tIns="0" rIns="0" bIns="0" rtlCol="0" anchor="ctr"/>
          <a:lstStyle/>
          <a:p>
            <a:pPr marL="0" indent="0" algn="ctr">
              <a:buNone/>
            </a:pPr>
            <a:r>
              <a:rPr lang="en-US" sz="600" b="1" dirty="0">
                <a:solidFill>
                  <a:srgbClr val="1E40AF"/>
                </a:solidFill>
              </a:rPr>
              <a:t>GET</a:t>
            </a:r>
            <a:endParaRPr lang="en-US" sz="600" dirty="0"/>
          </a:p>
        </p:txBody>
      </p:sp>
      <p:sp>
        <p:nvSpPr>
          <p:cNvPr id="126" name="Shape 72">
            <a:extLst>
              <a:ext uri="{FF2B5EF4-FFF2-40B4-BE49-F238E27FC236}">
                <a16:creationId xmlns:a16="http://schemas.microsoft.com/office/drawing/2014/main" id="{B8A23C5C-5655-7697-0B84-3B08AD56D60D}"/>
              </a:ext>
            </a:extLst>
          </p:cNvPr>
          <p:cNvSpPr/>
          <p:nvPr/>
        </p:nvSpPr>
        <p:spPr>
          <a:xfrm>
            <a:off x="1014984" y="4480560"/>
            <a:ext cx="384048" cy="155448"/>
          </a:xfrm>
          <a:prstGeom prst="rect">
            <a:avLst/>
          </a:prstGeom>
          <a:solidFill>
            <a:srgbClr val="FEF9C3"/>
          </a:solidFill>
          <a:ln w="12700">
            <a:solidFill>
              <a:srgbClr val="FEF9C3"/>
            </a:solidFill>
            <a:prstDash val="solid"/>
          </a:ln>
        </p:spPr>
        <p:txBody>
          <a:bodyPr/>
          <a:lstStyle/>
          <a:p>
            <a:endParaRPr lang="en-US"/>
          </a:p>
        </p:txBody>
      </p:sp>
      <p:sp>
        <p:nvSpPr>
          <p:cNvPr id="127" name="Text 73">
            <a:extLst>
              <a:ext uri="{FF2B5EF4-FFF2-40B4-BE49-F238E27FC236}">
                <a16:creationId xmlns:a16="http://schemas.microsoft.com/office/drawing/2014/main" id="{1BC303F5-C5C9-87FD-FCC1-79C831A73428}"/>
              </a:ext>
            </a:extLst>
          </p:cNvPr>
          <p:cNvSpPr/>
          <p:nvPr/>
        </p:nvSpPr>
        <p:spPr>
          <a:xfrm>
            <a:off x="1014984" y="4480560"/>
            <a:ext cx="384048" cy="155448"/>
          </a:xfrm>
          <a:prstGeom prst="rect">
            <a:avLst/>
          </a:prstGeom>
          <a:noFill/>
          <a:ln/>
        </p:spPr>
        <p:txBody>
          <a:bodyPr wrap="square" lIns="0" tIns="0" rIns="0" bIns="0" rtlCol="0" anchor="ctr"/>
          <a:lstStyle/>
          <a:p>
            <a:pPr marL="0" indent="0" algn="ctr">
              <a:buNone/>
            </a:pPr>
            <a:r>
              <a:rPr lang="en-US" sz="600" b="1" dirty="0">
                <a:solidFill>
                  <a:srgbClr val="854D0E"/>
                </a:solidFill>
              </a:rPr>
              <a:t>PATCH</a:t>
            </a:r>
            <a:endParaRPr lang="en-US" sz="600" dirty="0"/>
          </a:p>
        </p:txBody>
      </p:sp>
      <p:sp>
        <p:nvSpPr>
          <p:cNvPr id="128" name="Text 74">
            <a:extLst>
              <a:ext uri="{FF2B5EF4-FFF2-40B4-BE49-F238E27FC236}">
                <a16:creationId xmlns:a16="http://schemas.microsoft.com/office/drawing/2014/main" id="{D40BAF5E-D2D0-61B3-F45F-BACB19BF6F75}"/>
              </a:ext>
            </a:extLst>
          </p:cNvPr>
          <p:cNvSpPr/>
          <p:nvPr/>
        </p:nvSpPr>
        <p:spPr>
          <a:xfrm>
            <a:off x="2377440" y="4471416"/>
            <a:ext cx="3108960" cy="164592"/>
          </a:xfrm>
          <a:prstGeom prst="rect">
            <a:avLst/>
          </a:prstGeom>
          <a:noFill/>
          <a:ln/>
        </p:spPr>
        <p:txBody>
          <a:bodyPr wrap="square" lIns="0" tIns="0" rIns="0" bIns="0" rtlCol="0" anchor="ctr"/>
          <a:lstStyle/>
          <a:p>
            <a:pPr marL="0" indent="0">
              <a:buNone/>
            </a:pPr>
            <a:r>
              <a:rPr lang="en-US" sz="800" dirty="0">
                <a:solidFill>
                  <a:srgbClr val="0D1B3E"/>
                </a:solidFill>
                <a:latin typeface="Courier New" pitchFamily="34" charset="0"/>
                <a:ea typeface="Courier New" pitchFamily="34" charset="-122"/>
                <a:cs typeface="Courier New" pitchFamily="34" charset="-120"/>
              </a:rPr>
              <a:t>/api/v1/inventory</a:t>
            </a:r>
            <a:endParaRPr lang="en-US" sz="800" dirty="0"/>
          </a:p>
        </p:txBody>
      </p:sp>
      <p:sp>
        <p:nvSpPr>
          <p:cNvPr id="129" name="Text 75">
            <a:extLst>
              <a:ext uri="{FF2B5EF4-FFF2-40B4-BE49-F238E27FC236}">
                <a16:creationId xmlns:a16="http://schemas.microsoft.com/office/drawing/2014/main" id="{751945C9-FDB8-AC24-9108-0B3C1AB42352}"/>
              </a:ext>
            </a:extLst>
          </p:cNvPr>
          <p:cNvSpPr/>
          <p:nvPr/>
        </p:nvSpPr>
        <p:spPr>
          <a:xfrm>
            <a:off x="5486400" y="4471416"/>
            <a:ext cx="2103120" cy="164592"/>
          </a:xfrm>
          <a:prstGeom prst="rect">
            <a:avLst/>
          </a:prstGeom>
          <a:noFill/>
          <a:ln/>
        </p:spPr>
        <p:txBody>
          <a:bodyPr wrap="square" lIns="0" tIns="0" rIns="0" bIns="0" rtlCol="0" anchor="ctr"/>
          <a:lstStyle/>
          <a:p>
            <a:pPr marL="0" indent="0">
              <a:buNone/>
            </a:pPr>
            <a:r>
              <a:rPr lang="en-US" sz="750" dirty="0">
                <a:solidFill>
                  <a:srgbClr val="475569"/>
                </a:solidFill>
              </a:rPr>
              <a:t>Stock view &amp; update</a:t>
            </a:r>
            <a:endParaRPr lang="en-US" sz="750" dirty="0"/>
          </a:p>
        </p:txBody>
      </p:sp>
      <p:sp>
        <p:nvSpPr>
          <p:cNvPr id="130" name="Shape 76">
            <a:extLst>
              <a:ext uri="{FF2B5EF4-FFF2-40B4-BE49-F238E27FC236}">
                <a16:creationId xmlns:a16="http://schemas.microsoft.com/office/drawing/2014/main" id="{79294ED0-1490-BAB6-EB7D-AAB272CBF309}"/>
              </a:ext>
            </a:extLst>
          </p:cNvPr>
          <p:cNvSpPr/>
          <p:nvPr/>
        </p:nvSpPr>
        <p:spPr>
          <a:xfrm>
            <a:off x="7616952" y="4480560"/>
            <a:ext cx="566928" cy="146304"/>
          </a:xfrm>
          <a:prstGeom prst="rect">
            <a:avLst/>
          </a:prstGeom>
          <a:solidFill>
            <a:srgbClr val="FCE7F3"/>
          </a:solidFill>
          <a:ln w="12700">
            <a:solidFill>
              <a:srgbClr val="FCE7F3"/>
            </a:solidFill>
            <a:prstDash val="solid"/>
          </a:ln>
        </p:spPr>
        <p:txBody>
          <a:bodyPr/>
          <a:lstStyle/>
          <a:p>
            <a:endParaRPr lang="en-US"/>
          </a:p>
        </p:txBody>
      </p:sp>
      <p:sp>
        <p:nvSpPr>
          <p:cNvPr id="131" name="Text 77">
            <a:extLst>
              <a:ext uri="{FF2B5EF4-FFF2-40B4-BE49-F238E27FC236}">
                <a16:creationId xmlns:a16="http://schemas.microsoft.com/office/drawing/2014/main" id="{F42900C4-AB74-841B-A461-F22695D84B63}"/>
              </a:ext>
            </a:extLst>
          </p:cNvPr>
          <p:cNvSpPr/>
          <p:nvPr/>
        </p:nvSpPr>
        <p:spPr>
          <a:xfrm>
            <a:off x="7616952" y="4480560"/>
            <a:ext cx="566928" cy="146304"/>
          </a:xfrm>
          <a:prstGeom prst="rect">
            <a:avLst/>
          </a:prstGeom>
          <a:noFill/>
          <a:ln/>
        </p:spPr>
        <p:txBody>
          <a:bodyPr wrap="square" lIns="0" tIns="0" rIns="0" bIns="0" rtlCol="0" anchor="ctr"/>
          <a:lstStyle/>
          <a:p>
            <a:pPr marL="0" indent="0" algn="ctr">
              <a:buNone/>
            </a:pPr>
            <a:r>
              <a:rPr lang="en-US" sz="650" b="1" dirty="0">
                <a:solidFill>
                  <a:srgbClr val="9D174D"/>
                </a:solidFill>
              </a:rPr>
              <a:t>Business</a:t>
            </a:r>
            <a:endParaRPr lang="en-US" sz="650" dirty="0"/>
          </a:p>
        </p:txBody>
      </p:sp>
      <p:sp>
        <p:nvSpPr>
          <p:cNvPr id="132" name="Shape 78">
            <a:extLst>
              <a:ext uri="{FF2B5EF4-FFF2-40B4-BE49-F238E27FC236}">
                <a16:creationId xmlns:a16="http://schemas.microsoft.com/office/drawing/2014/main" id="{D5385CB1-DA2C-D9EA-1AF8-269A37AEDD4E}"/>
              </a:ext>
            </a:extLst>
          </p:cNvPr>
          <p:cNvSpPr/>
          <p:nvPr/>
        </p:nvSpPr>
        <p:spPr>
          <a:xfrm>
            <a:off x="457200" y="4718304"/>
            <a:ext cx="8229600" cy="228600"/>
          </a:xfrm>
          <a:prstGeom prst="rect">
            <a:avLst/>
          </a:prstGeom>
          <a:solidFill>
            <a:srgbClr val="1E293B"/>
          </a:solidFill>
          <a:ln w="12700">
            <a:solidFill>
              <a:srgbClr val="1E293B"/>
            </a:solidFill>
            <a:prstDash val="solid"/>
          </a:ln>
        </p:spPr>
        <p:txBody>
          <a:bodyPr/>
          <a:lstStyle/>
          <a:p>
            <a:endParaRPr lang="en-US"/>
          </a:p>
        </p:txBody>
      </p:sp>
      <p:sp>
        <p:nvSpPr>
          <p:cNvPr id="133" name="Text 79">
            <a:extLst>
              <a:ext uri="{FF2B5EF4-FFF2-40B4-BE49-F238E27FC236}">
                <a16:creationId xmlns:a16="http://schemas.microsoft.com/office/drawing/2014/main" id="{00EA5CE6-2BC6-830B-FB71-9CDF206C8D7A}"/>
              </a:ext>
            </a:extLst>
          </p:cNvPr>
          <p:cNvSpPr/>
          <p:nvPr/>
        </p:nvSpPr>
        <p:spPr>
          <a:xfrm>
            <a:off x="594360" y="4718304"/>
            <a:ext cx="7955280" cy="228600"/>
          </a:xfrm>
          <a:prstGeom prst="rect">
            <a:avLst/>
          </a:prstGeom>
          <a:noFill/>
          <a:ln/>
        </p:spPr>
        <p:txBody>
          <a:bodyPr wrap="square" lIns="0" tIns="0" rIns="0" bIns="0" rtlCol="0" anchor="ctr"/>
          <a:lstStyle/>
          <a:p>
            <a:pPr marL="0" indent="0">
              <a:buNone/>
            </a:pPr>
            <a:r>
              <a:rPr lang="en-US" sz="750" dirty="0">
                <a:solidFill>
                  <a:srgbClr val="94A3B8"/>
                </a:solidFill>
                <a:latin typeface="Courier New" pitchFamily="34" charset="0"/>
                <a:ea typeface="Courier New" pitchFamily="34" charset="-122"/>
                <a:cs typeface="Courier New" pitchFamily="34" charset="-120"/>
              </a:rPr>
              <a:t>Consistent error format across all endpoints:  { "error": "ERROR_TYPE",  "message": "Human readable message" }</a:t>
            </a:r>
            <a:endParaRPr lang="en-US" sz="750" dirty="0"/>
          </a:p>
        </p:txBody>
      </p:sp>
      <p:pic>
        <p:nvPicPr>
          <p:cNvPr id="134" name="Image 0" descr="preencoded.png">
            <a:extLst>
              <a:ext uri="{FF2B5EF4-FFF2-40B4-BE49-F238E27FC236}">
                <a16:creationId xmlns:a16="http://schemas.microsoft.com/office/drawing/2014/main" id="{38837380-42F9-96A3-E8FD-18F5F89CC834}"/>
              </a:ext>
            </a:extLst>
          </p:cNvPr>
          <p:cNvPicPr>
            <a:picLocks noChangeAspect="1"/>
          </p:cNvPicPr>
          <p:nvPr/>
        </p:nvPicPr>
        <p:blipFill>
          <a:blip r:embed="rId3"/>
          <a:stretch>
            <a:fillRect/>
          </a:stretch>
        </p:blipFill>
        <p:spPr>
          <a:xfrm>
            <a:off x="566928" y="1161288"/>
            <a:ext cx="411480" cy="411480"/>
          </a:xfrm>
          <a:prstGeom prst="rect">
            <a:avLst/>
          </a:prstGeom>
        </p:spPr>
      </p:pic>
      <p:sp>
        <p:nvSpPr>
          <p:cNvPr id="136" name="TextBox 135">
            <a:extLst>
              <a:ext uri="{FF2B5EF4-FFF2-40B4-BE49-F238E27FC236}">
                <a16:creationId xmlns:a16="http://schemas.microsoft.com/office/drawing/2014/main" id="{11EC5FDD-B0D9-EAD4-BDF4-4E2CD71479C6}"/>
              </a:ext>
            </a:extLst>
          </p:cNvPr>
          <p:cNvSpPr txBox="1"/>
          <p:nvPr/>
        </p:nvSpPr>
        <p:spPr>
          <a:xfrm>
            <a:off x="978408" y="1174218"/>
            <a:ext cx="1889490" cy="369332"/>
          </a:xfrm>
          <a:prstGeom prst="rect">
            <a:avLst/>
          </a:prstGeom>
          <a:noFill/>
        </p:spPr>
        <p:txBody>
          <a:bodyPr wrap="square">
            <a:spAutoFit/>
          </a:bodyPr>
          <a:lstStyle/>
          <a:p>
            <a:pPr marL="0" indent="0">
              <a:buNone/>
            </a:pPr>
            <a:r>
              <a:rPr lang="en-US" sz="1800" b="1" dirty="0">
                <a:solidFill>
                  <a:srgbClr val="FFFFFF"/>
                </a:solidFill>
                <a:latin typeface="Calibri" pitchFamily="34" charset="0"/>
                <a:ea typeface="Calibri" pitchFamily="34" charset="-122"/>
                <a:cs typeface="Calibri" pitchFamily="34" charset="-120"/>
              </a:rPr>
              <a:t>Frontend</a:t>
            </a:r>
            <a:endParaRPr lang="en-US" sz="1800" dirty="0"/>
          </a:p>
        </p:txBody>
      </p:sp>
      <p:pic>
        <p:nvPicPr>
          <p:cNvPr id="137" name="Image 1" descr="preencoded.png">
            <a:extLst>
              <a:ext uri="{FF2B5EF4-FFF2-40B4-BE49-F238E27FC236}">
                <a16:creationId xmlns:a16="http://schemas.microsoft.com/office/drawing/2014/main" id="{057A1AF1-7F29-47B7-3658-D06CBF7CF0F8}"/>
              </a:ext>
            </a:extLst>
          </p:cNvPr>
          <p:cNvPicPr>
            <a:picLocks noChangeAspect="1"/>
          </p:cNvPicPr>
          <p:nvPr/>
        </p:nvPicPr>
        <p:blipFill>
          <a:blip r:embed="rId4"/>
          <a:stretch>
            <a:fillRect/>
          </a:stretch>
        </p:blipFill>
        <p:spPr>
          <a:xfrm>
            <a:off x="3401568" y="1138428"/>
            <a:ext cx="411480" cy="411480"/>
          </a:xfrm>
          <a:prstGeom prst="rect">
            <a:avLst/>
          </a:prstGeom>
        </p:spPr>
      </p:pic>
      <p:sp>
        <p:nvSpPr>
          <p:cNvPr id="139" name="TextBox 138">
            <a:extLst>
              <a:ext uri="{FF2B5EF4-FFF2-40B4-BE49-F238E27FC236}">
                <a16:creationId xmlns:a16="http://schemas.microsoft.com/office/drawing/2014/main" id="{1EFB3F96-2788-182F-B032-629103756E21}"/>
              </a:ext>
            </a:extLst>
          </p:cNvPr>
          <p:cNvSpPr txBox="1"/>
          <p:nvPr/>
        </p:nvSpPr>
        <p:spPr>
          <a:xfrm>
            <a:off x="3796864" y="1159502"/>
            <a:ext cx="1403968" cy="369332"/>
          </a:xfrm>
          <a:prstGeom prst="rect">
            <a:avLst/>
          </a:prstGeom>
          <a:noFill/>
        </p:spPr>
        <p:txBody>
          <a:bodyPr wrap="square">
            <a:spAutoFit/>
          </a:bodyPr>
          <a:lstStyle/>
          <a:p>
            <a:pPr marL="0" indent="0">
              <a:buNone/>
            </a:pPr>
            <a:r>
              <a:rPr lang="en-US" sz="1800" b="1" dirty="0">
                <a:solidFill>
                  <a:srgbClr val="FFFFFF"/>
                </a:solidFill>
                <a:latin typeface="Calibri" pitchFamily="34" charset="0"/>
                <a:ea typeface="Calibri" pitchFamily="34" charset="-122"/>
                <a:cs typeface="Calibri" pitchFamily="34" charset="-120"/>
              </a:rPr>
              <a:t>Backend</a:t>
            </a:r>
            <a:endParaRPr lang="en-US" sz="1800" dirty="0"/>
          </a:p>
        </p:txBody>
      </p:sp>
      <p:pic>
        <p:nvPicPr>
          <p:cNvPr id="140" name="Image 2" descr="preencoded.png">
            <a:extLst>
              <a:ext uri="{FF2B5EF4-FFF2-40B4-BE49-F238E27FC236}">
                <a16:creationId xmlns:a16="http://schemas.microsoft.com/office/drawing/2014/main" id="{3A3278C3-39A8-3709-EF2D-8202190E5340}"/>
              </a:ext>
            </a:extLst>
          </p:cNvPr>
          <p:cNvPicPr>
            <a:picLocks noChangeAspect="1"/>
          </p:cNvPicPr>
          <p:nvPr/>
        </p:nvPicPr>
        <p:blipFill>
          <a:blip r:embed="rId5"/>
          <a:stretch>
            <a:fillRect/>
          </a:stretch>
        </p:blipFill>
        <p:spPr>
          <a:xfrm>
            <a:off x="6236208" y="1138428"/>
            <a:ext cx="411480" cy="411480"/>
          </a:xfrm>
          <a:prstGeom prst="rect">
            <a:avLst/>
          </a:prstGeom>
        </p:spPr>
      </p:pic>
      <p:sp>
        <p:nvSpPr>
          <p:cNvPr id="142" name="TextBox 141">
            <a:extLst>
              <a:ext uri="{FF2B5EF4-FFF2-40B4-BE49-F238E27FC236}">
                <a16:creationId xmlns:a16="http://schemas.microsoft.com/office/drawing/2014/main" id="{CB338483-EAD8-9A1F-4488-80B03E769FEB}"/>
              </a:ext>
            </a:extLst>
          </p:cNvPr>
          <p:cNvSpPr txBox="1"/>
          <p:nvPr/>
        </p:nvSpPr>
        <p:spPr>
          <a:xfrm>
            <a:off x="6639515" y="1166360"/>
            <a:ext cx="1420152" cy="369332"/>
          </a:xfrm>
          <a:prstGeom prst="rect">
            <a:avLst/>
          </a:prstGeom>
          <a:noFill/>
        </p:spPr>
        <p:txBody>
          <a:bodyPr wrap="square">
            <a:spAutoFit/>
          </a:bodyPr>
          <a:lstStyle/>
          <a:p>
            <a:pPr marL="0" indent="0">
              <a:buNone/>
            </a:pPr>
            <a:r>
              <a:rPr lang="en-US" sz="1800" b="1" dirty="0">
                <a:solidFill>
                  <a:srgbClr val="FFFFFF"/>
                </a:solidFill>
                <a:latin typeface="Calibri" pitchFamily="34" charset="0"/>
                <a:ea typeface="Calibri" pitchFamily="34" charset="-122"/>
                <a:cs typeface="Calibri" pitchFamily="34" charset="-120"/>
              </a:rPr>
              <a:t>Database</a:t>
            </a:r>
            <a:endParaRPr lang="en-US" sz="1800" dirty="0"/>
          </a:p>
        </p:txBody>
      </p:sp>
      <p:sp>
        <p:nvSpPr>
          <p:cNvPr id="143" name="Text 2">
            <a:extLst>
              <a:ext uri="{FF2B5EF4-FFF2-40B4-BE49-F238E27FC236}">
                <a16:creationId xmlns:a16="http://schemas.microsoft.com/office/drawing/2014/main" id="{517FD148-BD51-1447-C7ED-4CD224F9CAC3}"/>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Tristin Gatt</a:t>
            </a:r>
            <a:endParaRPr lang="en-US" sz="800" dirty="0"/>
          </a:p>
        </p:txBody>
      </p:sp>
      <p:sp>
        <p:nvSpPr>
          <p:cNvPr id="144" name="Text 3">
            <a:extLst>
              <a:ext uri="{FF2B5EF4-FFF2-40B4-BE49-F238E27FC236}">
                <a16:creationId xmlns:a16="http://schemas.microsoft.com/office/drawing/2014/main" id="{1CB87F4C-0575-1924-1BEB-A2E4C21045B7}"/>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Software Architecture  &amp; Backend Lead</a:t>
            </a:r>
            <a:endParaRPr lang="en-US" sz="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5"/>
                                        </p:tgtEl>
                                        <p:attrNameLst>
                                          <p:attrName>ppt_y</p:attrName>
                                        </p:attrNameLst>
                                      </p:cBhvr>
                                      <p:tavLst>
                                        <p:tav tm="0">
                                          <p:val>
                                            <p:strVal val="#ppt_y"/>
                                          </p:val>
                                        </p:tav>
                                        <p:tav tm="100000">
                                          <p:val>
                                            <p:strVal val="#ppt_y"/>
                                          </p:val>
                                        </p:tav>
                                      </p:tavLst>
                                    </p:anim>
                                    <p:anim calcmode="lin" valueType="num">
                                      <p:cBhvr>
                                        <p:cTn id="9" dur="500" fill="hold"/>
                                        <p:tgtEl>
                                          <p:spTgt spid="5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5"/>
                                        </p:tgtEl>
                                      </p:cBhvr>
                                    </p:animEffect>
                                  </p:childTnLst>
                                </p:cTn>
                              </p:par>
                            </p:childTnLst>
                          </p:cTn>
                        </p:par>
                        <p:par>
                          <p:cTn id="12" fill="hold">
                            <p:stCondLst>
                              <p:cond delay="1450"/>
                            </p:stCondLst>
                            <p:childTnLst>
                              <p:par>
                                <p:cTn id="13" presetID="2" presetClass="entr" presetSubtype="4" fill="hold" grpId="0" nodeType="afterEffect">
                                  <p:stCondLst>
                                    <p:cond delay="0"/>
                                  </p:stCondLst>
                                  <p:childTnLst>
                                    <p:set>
                                      <p:cBhvr>
                                        <p:cTn id="14" dur="1" fill="hold">
                                          <p:stCondLst>
                                            <p:cond delay="0"/>
                                          </p:stCondLst>
                                        </p:cTn>
                                        <p:tgtEl>
                                          <p:spTgt spid="54"/>
                                        </p:tgtEl>
                                        <p:attrNameLst>
                                          <p:attrName>style.visibility</p:attrName>
                                        </p:attrNameLst>
                                      </p:cBhvr>
                                      <p:to>
                                        <p:strVal val="visible"/>
                                      </p:to>
                                    </p:set>
                                    <p:anim calcmode="lin" valueType="num">
                                      <p:cBhvr additive="base">
                                        <p:cTn id="15" dur="1000" fill="hold"/>
                                        <p:tgtEl>
                                          <p:spTgt spid="54"/>
                                        </p:tgtEl>
                                        <p:attrNameLst>
                                          <p:attrName>ppt_x</p:attrName>
                                        </p:attrNameLst>
                                      </p:cBhvr>
                                      <p:tavLst>
                                        <p:tav tm="0">
                                          <p:val>
                                            <p:strVal val="#ppt_x"/>
                                          </p:val>
                                        </p:tav>
                                        <p:tav tm="100000">
                                          <p:val>
                                            <p:strVal val="#ppt_x"/>
                                          </p:val>
                                        </p:tav>
                                      </p:tavLst>
                                    </p:anim>
                                    <p:anim calcmode="lin" valueType="num">
                                      <p:cBhvr additive="base">
                                        <p:cTn id="16" dur="1000" fill="hold"/>
                                        <p:tgtEl>
                                          <p:spTgt spid="54"/>
                                        </p:tgtEl>
                                        <p:attrNameLst>
                                          <p:attrName>ppt_y</p:attrName>
                                        </p:attrNameLst>
                                      </p:cBhvr>
                                      <p:tavLst>
                                        <p:tav tm="0">
                                          <p:val>
                                            <p:strVal val="1+#ppt_h/2"/>
                                          </p:val>
                                        </p:tav>
                                        <p:tav tm="100000">
                                          <p:val>
                                            <p:strVal val="#ppt_y"/>
                                          </p:val>
                                        </p:tav>
                                      </p:tavLst>
                                    </p:anim>
                                  </p:childTnLst>
                                </p:cTn>
                              </p:par>
                            </p:childTnLst>
                          </p:cTn>
                        </p:par>
                        <p:par>
                          <p:cTn id="17" fill="hold">
                            <p:stCondLst>
                              <p:cond delay="2450"/>
                            </p:stCondLst>
                            <p:childTnLst>
                              <p:par>
                                <p:cTn id="18" presetID="22" presetClass="entr" presetSubtype="4" fill="hold" grpId="0" nodeType="afterEffect">
                                  <p:stCondLst>
                                    <p:cond delay="4000"/>
                                  </p:stCondLst>
                                  <p:childTnLst>
                                    <p:set>
                                      <p:cBhvr>
                                        <p:cTn id="19" dur="1" fill="hold">
                                          <p:stCondLst>
                                            <p:cond delay="0"/>
                                          </p:stCondLst>
                                        </p:cTn>
                                        <p:tgtEl>
                                          <p:spTgt spid="84"/>
                                        </p:tgtEl>
                                        <p:attrNameLst>
                                          <p:attrName>style.visibility</p:attrName>
                                        </p:attrNameLst>
                                      </p:cBhvr>
                                      <p:to>
                                        <p:strVal val="visible"/>
                                      </p:to>
                                    </p:set>
                                    <p:animEffect transition="in" filter="wipe(down)">
                                      <p:cBhvr>
                                        <p:cTn id="20" dur="2000"/>
                                        <p:tgtEl>
                                          <p:spTgt spid="84"/>
                                        </p:tgtEl>
                                      </p:cBhvr>
                                    </p:animEffect>
                                  </p:childTnLst>
                                </p:cTn>
                              </p:par>
                            </p:childTnLst>
                          </p:cTn>
                        </p:par>
                        <p:par>
                          <p:cTn id="21" fill="hold">
                            <p:stCondLst>
                              <p:cond delay="8450"/>
                            </p:stCondLst>
                            <p:childTnLst>
                              <p:par>
                                <p:cTn id="22" presetID="22" presetClass="entr" presetSubtype="4" fill="hold" grpId="0" nodeType="afterEffect">
                                  <p:stCondLst>
                                    <p:cond delay="1000"/>
                                  </p:stCondLst>
                                  <p:childTnLst>
                                    <p:set>
                                      <p:cBhvr>
                                        <p:cTn id="23" dur="1" fill="hold">
                                          <p:stCondLst>
                                            <p:cond delay="0"/>
                                          </p:stCondLst>
                                        </p:cTn>
                                        <p:tgtEl>
                                          <p:spTgt spid="85"/>
                                        </p:tgtEl>
                                        <p:attrNameLst>
                                          <p:attrName>style.visibility</p:attrName>
                                        </p:attrNameLst>
                                      </p:cBhvr>
                                      <p:to>
                                        <p:strVal val="visible"/>
                                      </p:to>
                                    </p:set>
                                    <p:animEffect transition="in" filter="wipe(down)">
                                      <p:cBhvr>
                                        <p:cTn id="24" dur="2000"/>
                                        <p:tgtEl>
                                          <p:spTgt spid="85"/>
                                        </p:tgtEl>
                                      </p:cBhvr>
                                    </p:animEffect>
                                  </p:childTnLst>
                                </p:cTn>
                              </p:par>
                            </p:childTnLst>
                          </p:cTn>
                        </p:par>
                        <p:par>
                          <p:cTn id="25" fill="hold">
                            <p:stCondLst>
                              <p:cond delay="11450"/>
                            </p:stCondLst>
                            <p:childTnLst>
                              <p:par>
                                <p:cTn id="26" presetID="22" presetClass="entr" presetSubtype="4" fill="hold" grpId="0" nodeType="afterEffect">
                                  <p:stCondLst>
                                    <p:cond delay="0"/>
                                  </p:stCondLst>
                                  <p:childTnLst>
                                    <p:set>
                                      <p:cBhvr>
                                        <p:cTn id="27" dur="1" fill="hold">
                                          <p:stCondLst>
                                            <p:cond delay="0"/>
                                          </p:stCondLst>
                                        </p:cTn>
                                        <p:tgtEl>
                                          <p:spTgt spid="86"/>
                                        </p:tgtEl>
                                        <p:attrNameLst>
                                          <p:attrName>style.visibility</p:attrName>
                                        </p:attrNameLst>
                                      </p:cBhvr>
                                      <p:to>
                                        <p:strVal val="visible"/>
                                      </p:to>
                                    </p:set>
                                    <p:animEffect transition="in" filter="wipe(down)">
                                      <p:cBhvr>
                                        <p:cTn id="28" dur="500"/>
                                        <p:tgtEl>
                                          <p:spTgt spid="86"/>
                                        </p:tgtEl>
                                      </p:cBhvr>
                                    </p:animEffect>
                                  </p:childTnLst>
                                </p:cTn>
                              </p:par>
                            </p:childTnLst>
                          </p:cTn>
                        </p:par>
                        <p:par>
                          <p:cTn id="29" fill="hold">
                            <p:stCondLst>
                              <p:cond delay="11950"/>
                            </p:stCondLst>
                            <p:childTnLst>
                              <p:par>
                                <p:cTn id="30" presetID="22" presetClass="entr" presetSubtype="4" fill="hold" grpId="0" nodeType="afterEffect">
                                  <p:stCondLst>
                                    <p:cond delay="0"/>
                                  </p:stCondLst>
                                  <p:childTnLst>
                                    <p:set>
                                      <p:cBhvr>
                                        <p:cTn id="31" dur="1" fill="hold">
                                          <p:stCondLst>
                                            <p:cond delay="0"/>
                                          </p:stCondLst>
                                        </p:cTn>
                                        <p:tgtEl>
                                          <p:spTgt spid="87"/>
                                        </p:tgtEl>
                                        <p:attrNameLst>
                                          <p:attrName>style.visibility</p:attrName>
                                        </p:attrNameLst>
                                      </p:cBhvr>
                                      <p:to>
                                        <p:strVal val="visible"/>
                                      </p:to>
                                    </p:set>
                                    <p:animEffect transition="in" filter="wipe(down)">
                                      <p:cBhvr>
                                        <p:cTn id="32" dur="500"/>
                                        <p:tgtEl>
                                          <p:spTgt spid="87"/>
                                        </p:tgtEl>
                                      </p:cBhvr>
                                    </p:animEffect>
                                  </p:childTnLst>
                                </p:cTn>
                              </p:par>
                            </p:childTnLst>
                          </p:cTn>
                        </p:par>
                        <p:par>
                          <p:cTn id="33" fill="hold">
                            <p:stCondLst>
                              <p:cond delay="12450"/>
                            </p:stCondLst>
                            <p:childTnLst>
                              <p:par>
                                <p:cTn id="34" presetID="22" presetClass="entr" presetSubtype="4" fill="hold" grpId="0" nodeType="afterEffect">
                                  <p:stCondLst>
                                    <p:cond delay="0"/>
                                  </p:stCondLst>
                                  <p:childTnLst>
                                    <p:set>
                                      <p:cBhvr>
                                        <p:cTn id="35" dur="1" fill="hold">
                                          <p:stCondLst>
                                            <p:cond delay="0"/>
                                          </p:stCondLst>
                                        </p:cTn>
                                        <p:tgtEl>
                                          <p:spTgt spid="88"/>
                                        </p:tgtEl>
                                        <p:attrNameLst>
                                          <p:attrName>style.visibility</p:attrName>
                                        </p:attrNameLst>
                                      </p:cBhvr>
                                      <p:to>
                                        <p:strVal val="visible"/>
                                      </p:to>
                                    </p:set>
                                    <p:animEffect transition="in" filter="wipe(down)">
                                      <p:cBhvr>
                                        <p:cTn id="36" dur="500"/>
                                        <p:tgtEl>
                                          <p:spTgt spid="88"/>
                                        </p:tgtEl>
                                      </p:cBhvr>
                                    </p:animEffect>
                                  </p:childTnLst>
                                </p:cTn>
                              </p:par>
                            </p:childTnLst>
                          </p:cTn>
                        </p:par>
                        <p:par>
                          <p:cTn id="37" fill="hold">
                            <p:stCondLst>
                              <p:cond delay="12950"/>
                            </p:stCondLst>
                            <p:childTnLst>
                              <p:par>
                                <p:cTn id="38" presetID="22" presetClass="entr" presetSubtype="4" fill="hold" grpId="0" nodeType="afterEffect">
                                  <p:stCondLst>
                                    <p:cond delay="0"/>
                                  </p:stCondLst>
                                  <p:childTnLst>
                                    <p:set>
                                      <p:cBhvr>
                                        <p:cTn id="39" dur="1" fill="hold">
                                          <p:stCondLst>
                                            <p:cond delay="0"/>
                                          </p:stCondLst>
                                        </p:cTn>
                                        <p:tgtEl>
                                          <p:spTgt spid="89"/>
                                        </p:tgtEl>
                                        <p:attrNameLst>
                                          <p:attrName>style.visibility</p:attrName>
                                        </p:attrNameLst>
                                      </p:cBhvr>
                                      <p:to>
                                        <p:strVal val="visible"/>
                                      </p:to>
                                    </p:set>
                                    <p:animEffect transition="in" filter="wipe(down)">
                                      <p:cBhvr>
                                        <p:cTn id="40" dur="500"/>
                                        <p:tgtEl>
                                          <p:spTgt spid="89"/>
                                        </p:tgtEl>
                                      </p:cBhvr>
                                    </p:animEffect>
                                  </p:childTnLst>
                                </p:cTn>
                              </p:par>
                            </p:childTnLst>
                          </p:cTn>
                        </p:par>
                        <p:par>
                          <p:cTn id="41" fill="hold">
                            <p:stCondLst>
                              <p:cond delay="13450"/>
                            </p:stCondLst>
                            <p:childTnLst>
                              <p:par>
                                <p:cTn id="42" presetID="22" presetClass="entr" presetSubtype="4" fill="hold" grpId="0" nodeType="afterEffect">
                                  <p:stCondLst>
                                    <p:cond delay="0"/>
                                  </p:stCondLst>
                                  <p:childTnLst>
                                    <p:set>
                                      <p:cBhvr>
                                        <p:cTn id="43" dur="1" fill="hold">
                                          <p:stCondLst>
                                            <p:cond delay="0"/>
                                          </p:stCondLst>
                                        </p:cTn>
                                        <p:tgtEl>
                                          <p:spTgt spid="90"/>
                                        </p:tgtEl>
                                        <p:attrNameLst>
                                          <p:attrName>style.visibility</p:attrName>
                                        </p:attrNameLst>
                                      </p:cBhvr>
                                      <p:to>
                                        <p:strVal val="visible"/>
                                      </p:to>
                                    </p:set>
                                    <p:animEffect transition="in" filter="wipe(down)">
                                      <p:cBhvr>
                                        <p:cTn id="44" dur="500"/>
                                        <p:tgtEl>
                                          <p:spTgt spid="90"/>
                                        </p:tgtEl>
                                      </p:cBhvr>
                                    </p:animEffect>
                                  </p:childTnLst>
                                </p:cTn>
                              </p:par>
                            </p:childTnLst>
                          </p:cTn>
                        </p:par>
                        <p:par>
                          <p:cTn id="45" fill="hold">
                            <p:stCondLst>
                              <p:cond delay="13950"/>
                            </p:stCondLst>
                            <p:childTnLst>
                              <p:par>
                                <p:cTn id="46" presetID="22" presetClass="entr" presetSubtype="4" fill="hold" grpId="0" nodeType="afterEffect">
                                  <p:stCondLst>
                                    <p:cond delay="0"/>
                                  </p:stCondLst>
                                  <p:childTnLst>
                                    <p:set>
                                      <p:cBhvr>
                                        <p:cTn id="47" dur="1" fill="hold">
                                          <p:stCondLst>
                                            <p:cond delay="0"/>
                                          </p:stCondLst>
                                        </p:cTn>
                                        <p:tgtEl>
                                          <p:spTgt spid="91"/>
                                        </p:tgtEl>
                                        <p:attrNameLst>
                                          <p:attrName>style.visibility</p:attrName>
                                        </p:attrNameLst>
                                      </p:cBhvr>
                                      <p:to>
                                        <p:strVal val="visible"/>
                                      </p:to>
                                    </p:set>
                                    <p:animEffect transition="in" filter="wipe(down)">
                                      <p:cBhvr>
                                        <p:cTn id="48" dur="500"/>
                                        <p:tgtEl>
                                          <p:spTgt spid="91"/>
                                        </p:tgtEl>
                                      </p:cBhvr>
                                    </p:animEffect>
                                  </p:childTnLst>
                                </p:cTn>
                              </p:par>
                            </p:childTnLst>
                          </p:cTn>
                        </p:par>
                        <p:par>
                          <p:cTn id="49" fill="hold">
                            <p:stCondLst>
                              <p:cond delay="14450"/>
                            </p:stCondLst>
                            <p:childTnLst>
                              <p:par>
                                <p:cTn id="50" presetID="22" presetClass="entr" presetSubtype="4" fill="hold" grpId="0" nodeType="afterEffect">
                                  <p:stCondLst>
                                    <p:cond delay="0"/>
                                  </p:stCondLst>
                                  <p:childTnLst>
                                    <p:set>
                                      <p:cBhvr>
                                        <p:cTn id="51" dur="1" fill="hold">
                                          <p:stCondLst>
                                            <p:cond delay="0"/>
                                          </p:stCondLst>
                                        </p:cTn>
                                        <p:tgtEl>
                                          <p:spTgt spid="92"/>
                                        </p:tgtEl>
                                        <p:attrNameLst>
                                          <p:attrName>style.visibility</p:attrName>
                                        </p:attrNameLst>
                                      </p:cBhvr>
                                      <p:to>
                                        <p:strVal val="visible"/>
                                      </p:to>
                                    </p:set>
                                    <p:animEffect transition="in" filter="wipe(down)">
                                      <p:cBhvr>
                                        <p:cTn id="52" dur="500"/>
                                        <p:tgtEl>
                                          <p:spTgt spid="92"/>
                                        </p:tgtEl>
                                      </p:cBhvr>
                                    </p:animEffect>
                                  </p:childTnLst>
                                </p:cTn>
                              </p:par>
                            </p:childTnLst>
                          </p:cTn>
                        </p:par>
                        <p:par>
                          <p:cTn id="53" fill="hold">
                            <p:stCondLst>
                              <p:cond delay="14950"/>
                            </p:stCondLst>
                            <p:childTnLst>
                              <p:par>
                                <p:cTn id="54" presetID="22" presetClass="entr" presetSubtype="4" fill="hold" grpId="0" nodeType="afterEffect">
                                  <p:stCondLst>
                                    <p:cond delay="0"/>
                                  </p:stCondLst>
                                  <p:childTnLst>
                                    <p:set>
                                      <p:cBhvr>
                                        <p:cTn id="55" dur="1" fill="hold">
                                          <p:stCondLst>
                                            <p:cond delay="0"/>
                                          </p:stCondLst>
                                        </p:cTn>
                                        <p:tgtEl>
                                          <p:spTgt spid="93"/>
                                        </p:tgtEl>
                                        <p:attrNameLst>
                                          <p:attrName>style.visibility</p:attrName>
                                        </p:attrNameLst>
                                      </p:cBhvr>
                                      <p:to>
                                        <p:strVal val="visible"/>
                                      </p:to>
                                    </p:set>
                                    <p:animEffect transition="in" filter="wipe(down)">
                                      <p:cBhvr>
                                        <p:cTn id="56" dur="500"/>
                                        <p:tgtEl>
                                          <p:spTgt spid="93"/>
                                        </p:tgtEl>
                                      </p:cBhvr>
                                    </p:animEffect>
                                  </p:childTnLst>
                                </p:cTn>
                              </p:par>
                            </p:childTnLst>
                          </p:cTn>
                        </p:par>
                        <p:par>
                          <p:cTn id="57" fill="hold">
                            <p:stCondLst>
                              <p:cond delay="15450"/>
                            </p:stCondLst>
                            <p:childTnLst>
                              <p:par>
                                <p:cTn id="58" presetID="22" presetClass="entr" presetSubtype="4" fill="hold" grpId="0" nodeType="afterEffect">
                                  <p:stCondLst>
                                    <p:cond delay="0"/>
                                  </p:stCondLst>
                                  <p:childTnLst>
                                    <p:set>
                                      <p:cBhvr>
                                        <p:cTn id="59" dur="1" fill="hold">
                                          <p:stCondLst>
                                            <p:cond delay="0"/>
                                          </p:stCondLst>
                                        </p:cTn>
                                        <p:tgtEl>
                                          <p:spTgt spid="94"/>
                                        </p:tgtEl>
                                        <p:attrNameLst>
                                          <p:attrName>style.visibility</p:attrName>
                                        </p:attrNameLst>
                                      </p:cBhvr>
                                      <p:to>
                                        <p:strVal val="visible"/>
                                      </p:to>
                                    </p:set>
                                    <p:animEffect transition="in" filter="wipe(down)">
                                      <p:cBhvr>
                                        <p:cTn id="60" dur="500"/>
                                        <p:tgtEl>
                                          <p:spTgt spid="94"/>
                                        </p:tgtEl>
                                      </p:cBhvr>
                                    </p:animEffect>
                                  </p:childTnLst>
                                </p:cTn>
                              </p:par>
                            </p:childTnLst>
                          </p:cTn>
                        </p:par>
                        <p:par>
                          <p:cTn id="61" fill="hold">
                            <p:stCondLst>
                              <p:cond delay="15950"/>
                            </p:stCondLst>
                            <p:childTnLst>
                              <p:par>
                                <p:cTn id="62" presetID="22" presetClass="entr" presetSubtype="4" fill="hold" grpId="0" nodeType="afterEffect">
                                  <p:stCondLst>
                                    <p:cond delay="0"/>
                                  </p:stCondLst>
                                  <p:childTnLst>
                                    <p:set>
                                      <p:cBhvr>
                                        <p:cTn id="63" dur="1" fill="hold">
                                          <p:stCondLst>
                                            <p:cond delay="0"/>
                                          </p:stCondLst>
                                        </p:cTn>
                                        <p:tgtEl>
                                          <p:spTgt spid="95"/>
                                        </p:tgtEl>
                                        <p:attrNameLst>
                                          <p:attrName>style.visibility</p:attrName>
                                        </p:attrNameLst>
                                      </p:cBhvr>
                                      <p:to>
                                        <p:strVal val="visible"/>
                                      </p:to>
                                    </p:set>
                                    <p:animEffect transition="in" filter="wipe(down)">
                                      <p:cBhvr>
                                        <p:cTn id="64" dur="500"/>
                                        <p:tgtEl>
                                          <p:spTgt spid="95"/>
                                        </p:tgtEl>
                                      </p:cBhvr>
                                    </p:animEffect>
                                  </p:childTnLst>
                                </p:cTn>
                              </p:par>
                            </p:childTnLst>
                          </p:cTn>
                        </p:par>
                        <p:par>
                          <p:cTn id="65" fill="hold">
                            <p:stCondLst>
                              <p:cond delay="16450"/>
                            </p:stCondLst>
                            <p:childTnLst>
                              <p:par>
                                <p:cTn id="66" presetID="22" presetClass="entr" presetSubtype="4" fill="hold" grpId="0" nodeType="afterEffect">
                                  <p:stCondLst>
                                    <p:cond delay="0"/>
                                  </p:stCondLst>
                                  <p:childTnLst>
                                    <p:set>
                                      <p:cBhvr>
                                        <p:cTn id="67" dur="1" fill="hold">
                                          <p:stCondLst>
                                            <p:cond delay="0"/>
                                          </p:stCondLst>
                                        </p:cTn>
                                        <p:tgtEl>
                                          <p:spTgt spid="96"/>
                                        </p:tgtEl>
                                        <p:attrNameLst>
                                          <p:attrName>style.visibility</p:attrName>
                                        </p:attrNameLst>
                                      </p:cBhvr>
                                      <p:to>
                                        <p:strVal val="visible"/>
                                      </p:to>
                                    </p:set>
                                    <p:animEffect transition="in" filter="wipe(down)">
                                      <p:cBhvr>
                                        <p:cTn id="68" dur="500"/>
                                        <p:tgtEl>
                                          <p:spTgt spid="96"/>
                                        </p:tgtEl>
                                      </p:cBhvr>
                                    </p:animEffect>
                                  </p:childTnLst>
                                </p:cTn>
                              </p:par>
                            </p:childTnLst>
                          </p:cTn>
                        </p:par>
                        <p:par>
                          <p:cTn id="69" fill="hold">
                            <p:stCondLst>
                              <p:cond delay="16950"/>
                            </p:stCondLst>
                            <p:childTnLst>
                              <p:par>
                                <p:cTn id="70" presetID="22" presetClass="entr" presetSubtype="4" fill="hold" grpId="0" nodeType="afterEffect">
                                  <p:stCondLst>
                                    <p:cond delay="0"/>
                                  </p:stCondLst>
                                  <p:childTnLst>
                                    <p:set>
                                      <p:cBhvr>
                                        <p:cTn id="71" dur="1" fill="hold">
                                          <p:stCondLst>
                                            <p:cond delay="0"/>
                                          </p:stCondLst>
                                        </p:cTn>
                                        <p:tgtEl>
                                          <p:spTgt spid="97"/>
                                        </p:tgtEl>
                                        <p:attrNameLst>
                                          <p:attrName>style.visibility</p:attrName>
                                        </p:attrNameLst>
                                      </p:cBhvr>
                                      <p:to>
                                        <p:strVal val="visible"/>
                                      </p:to>
                                    </p:set>
                                    <p:animEffect transition="in" filter="wipe(down)">
                                      <p:cBhvr>
                                        <p:cTn id="72" dur="500"/>
                                        <p:tgtEl>
                                          <p:spTgt spid="97"/>
                                        </p:tgtEl>
                                      </p:cBhvr>
                                    </p:animEffect>
                                  </p:childTnLst>
                                </p:cTn>
                              </p:par>
                            </p:childTnLst>
                          </p:cTn>
                        </p:par>
                        <p:par>
                          <p:cTn id="73" fill="hold">
                            <p:stCondLst>
                              <p:cond delay="17450"/>
                            </p:stCondLst>
                            <p:childTnLst>
                              <p:par>
                                <p:cTn id="74" presetID="22" presetClass="entr" presetSubtype="4" fill="hold" grpId="0" nodeType="afterEffect">
                                  <p:stCondLst>
                                    <p:cond delay="0"/>
                                  </p:stCondLst>
                                  <p:childTnLst>
                                    <p:set>
                                      <p:cBhvr>
                                        <p:cTn id="75" dur="1" fill="hold">
                                          <p:stCondLst>
                                            <p:cond delay="0"/>
                                          </p:stCondLst>
                                        </p:cTn>
                                        <p:tgtEl>
                                          <p:spTgt spid="98"/>
                                        </p:tgtEl>
                                        <p:attrNameLst>
                                          <p:attrName>style.visibility</p:attrName>
                                        </p:attrNameLst>
                                      </p:cBhvr>
                                      <p:to>
                                        <p:strVal val="visible"/>
                                      </p:to>
                                    </p:set>
                                    <p:animEffect transition="in" filter="wipe(down)">
                                      <p:cBhvr>
                                        <p:cTn id="76" dur="500"/>
                                        <p:tgtEl>
                                          <p:spTgt spid="98"/>
                                        </p:tgtEl>
                                      </p:cBhvr>
                                    </p:animEffect>
                                  </p:childTnLst>
                                </p:cTn>
                              </p:par>
                            </p:childTnLst>
                          </p:cTn>
                        </p:par>
                        <p:par>
                          <p:cTn id="77" fill="hold">
                            <p:stCondLst>
                              <p:cond delay="17950"/>
                            </p:stCondLst>
                            <p:childTnLst>
                              <p:par>
                                <p:cTn id="78" presetID="22" presetClass="entr" presetSubtype="4" fill="hold" grpId="0" nodeType="afterEffect">
                                  <p:stCondLst>
                                    <p:cond delay="0"/>
                                  </p:stCondLst>
                                  <p:childTnLst>
                                    <p:set>
                                      <p:cBhvr>
                                        <p:cTn id="79" dur="1" fill="hold">
                                          <p:stCondLst>
                                            <p:cond delay="0"/>
                                          </p:stCondLst>
                                        </p:cTn>
                                        <p:tgtEl>
                                          <p:spTgt spid="99"/>
                                        </p:tgtEl>
                                        <p:attrNameLst>
                                          <p:attrName>style.visibility</p:attrName>
                                        </p:attrNameLst>
                                      </p:cBhvr>
                                      <p:to>
                                        <p:strVal val="visible"/>
                                      </p:to>
                                    </p:set>
                                    <p:animEffect transition="in" filter="wipe(down)">
                                      <p:cBhvr>
                                        <p:cTn id="80" dur="500"/>
                                        <p:tgtEl>
                                          <p:spTgt spid="99"/>
                                        </p:tgtEl>
                                      </p:cBhvr>
                                    </p:animEffect>
                                  </p:childTnLst>
                                </p:cTn>
                              </p:par>
                            </p:childTnLst>
                          </p:cTn>
                        </p:par>
                        <p:par>
                          <p:cTn id="81" fill="hold">
                            <p:stCondLst>
                              <p:cond delay="18450"/>
                            </p:stCondLst>
                            <p:childTnLst>
                              <p:par>
                                <p:cTn id="82" presetID="22" presetClass="entr" presetSubtype="4" fill="hold" grpId="0" nodeType="afterEffect">
                                  <p:stCondLst>
                                    <p:cond delay="0"/>
                                  </p:stCondLst>
                                  <p:childTnLst>
                                    <p:set>
                                      <p:cBhvr>
                                        <p:cTn id="83" dur="1" fill="hold">
                                          <p:stCondLst>
                                            <p:cond delay="0"/>
                                          </p:stCondLst>
                                        </p:cTn>
                                        <p:tgtEl>
                                          <p:spTgt spid="100"/>
                                        </p:tgtEl>
                                        <p:attrNameLst>
                                          <p:attrName>style.visibility</p:attrName>
                                        </p:attrNameLst>
                                      </p:cBhvr>
                                      <p:to>
                                        <p:strVal val="visible"/>
                                      </p:to>
                                    </p:set>
                                    <p:animEffect transition="in" filter="wipe(down)">
                                      <p:cBhvr>
                                        <p:cTn id="84" dur="500"/>
                                        <p:tgtEl>
                                          <p:spTgt spid="100"/>
                                        </p:tgtEl>
                                      </p:cBhvr>
                                    </p:animEffect>
                                  </p:childTnLst>
                                </p:cTn>
                              </p:par>
                            </p:childTnLst>
                          </p:cTn>
                        </p:par>
                        <p:par>
                          <p:cTn id="85" fill="hold">
                            <p:stCondLst>
                              <p:cond delay="18950"/>
                            </p:stCondLst>
                            <p:childTnLst>
                              <p:par>
                                <p:cTn id="86" presetID="22" presetClass="entr" presetSubtype="4" fill="hold" grpId="0" nodeType="afterEffect">
                                  <p:stCondLst>
                                    <p:cond delay="0"/>
                                  </p:stCondLst>
                                  <p:childTnLst>
                                    <p:set>
                                      <p:cBhvr>
                                        <p:cTn id="87" dur="1" fill="hold">
                                          <p:stCondLst>
                                            <p:cond delay="0"/>
                                          </p:stCondLst>
                                        </p:cTn>
                                        <p:tgtEl>
                                          <p:spTgt spid="101"/>
                                        </p:tgtEl>
                                        <p:attrNameLst>
                                          <p:attrName>style.visibility</p:attrName>
                                        </p:attrNameLst>
                                      </p:cBhvr>
                                      <p:to>
                                        <p:strVal val="visible"/>
                                      </p:to>
                                    </p:set>
                                    <p:animEffect transition="in" filter="wipe(down)">
                                      <p:cBhvr>
                                        <p:cTn id="88" dur="500"/>
                                        <p:tgtEl>
                                          <p:spTgt spid="101"/>
                                        </p:tgtEl>
                                      </p:cBhvr>
                                    </p:animEffect>
                                  </p:childTnLst>
                                </p:cTn>
                              </p:par>
                            </p:childTnLst>
                          </p:cTn>
                        </p:par>
                        <p:par>
                          <p:cTn id="89" fill="hold">
                            <p:stCondLst>
                              <p:cond delay="19450"/>
                            </p:stCondLst>
                            <p:childTnLst>
                              <p:par>
                                <p:cTn id="90" presetID="22" presetClass="entr" presetSubtype="4" fill="hold" grpId="0" nodeType="afterEffect">
                                  <p:stCondLst>
                                    <p:cond delay="0"/>
                                  </p:stCondLst>
                                  <p:childTnLst>
                                    <p:set>
                                      <p:cBhvr>
                                        <p:cTn id="91" dur="1" fill="hold">
                                          <p:stCondLst>
                                            <p:cond delay="0"/>
                                          </p:stCondLst>
                                        </p:cTn>
                                        <p:tgtEl>
                                          <p:spTgt spid="102"/>
                                        </p:tgtEl>
                                        <p:attrNameLst>
                                          <p:attrName>style.visibility</p:attrName>
                                        </p:attrNameLst>
                                      </p:cBhvr>
                                      <p:to>
                                        <p:strVal val="visible"/>
                                      </p:to>
                                    </p:set>
                                    <p:animEffect transition="in" filter="wipe(down)">
                                      <p:cBhvr>
                                        <p:cTn id="92" dur="500"/>
                                        <p:tgtEl>
                                          <p:spTgt spid="102"/>
                                        </p:tgtEl>
                                      </p:cBhvr>
                                    </p:animEffect>
                                  </p:childTnLst>
                                </p:cTn>
                              </p:par>
                            </p:childTnLst>
                          </p:cTn>
                        </p:par>
                        <p:par>
                          <p:cTn id="93" fill="hold">
                            <p:stCondLst>
                              <p:cond delay="19950"/>
                            </p:stCondLst>
                            <p:childTnLst>
                              <p:par>
                                <p:cTn id="94" presetID="22" presetClass="entr" presetSubtype="4" fill="hold" grpId="0" nodeType="afterEffect">
                                  <p:stCondLst>
                                    <p:cond delay="0"/>
                                  </p:stCondLst>
                                  <p:childTnLst>
                                    <p:set>
                                      <p:cBhvr>
                                        <p:cTn id="95" dur="1" fill="hold">
                                          <p:stCondLst>
                                            <p:cond delay="0"/>
                                          </p:stCondLst>
                                        </p:cTn>
                                        <p:tgtEl>
                                          <p:spTgt spid="103"/>
                                        </p:tgtEl>
                                        <p:attrNameLst>
                                          <p:attrName>style.visibility</p:attrName>
                                        </p:attrNameLst>
                                      </p:cBhvr>
                                      <p:to>
                                        <p:strVal val="visible"/>
                                      </p:to>
                                    </p:set>
                                    <p:animEffect transition="in" filter="wipe(down)">
                                      <p:cBhvr>
                                        <p:cTn id="96" dur="500"/>
                                        <p:tgtEl>
                                          <p:spTgt spid="103"/>
                                        </p:tgtEl>
                                      </p:cBhvr>
                                    </p:animEffect>
                                  </p:childTnLst>
                                </p:cTn>
                              </p:par>
                            </p:childTnLst>
                          </p:cTn>
                        </p:par>
                        <p:par>
                          <p:cTn id="97" fill="hold">
                            <p:stCondLst>
                              <p:cond delay="20450"/>
                            </p:stCondLst>
                            <p:childTnLst>
                              <p:par>
                                <p:cTn id="98" presetID="22" presetClass="entr" presetSubtype="4" fill="hold" grpId="0" nodeType="afterEffect">
                                  <p:stCondLst>
                                    <p:cond delay="0"/>
                                  </p:stCondLst>
                                  <p:childTnLst>
                                    <p:set>
                                      <p:cBhvr>
                                        <p:cTn id="99" dur="1" fill="hold">
                                          <p:stCondLst>
                                            <p:cond delay="0"/>
                                          </p:stCondLst>
                                        </p:cTn>
                                        <p:tgtEl>
                                          <p:spTgt spid="104"/>
                                        </p:tgtEl>
                                        <p:attrNameLst>
                                          <p:attrName>style.visibility</p:attrName>
                                        </p:attrNameLst>
                                      </p:cBhvr>
                                      <p:to>
                                        <p:strVal val="visible"/>
                                      </p:to>
                                    </p:set>
                                    <p:animEffect transition="in" filter="wipe(down)">
                                      <p:cBhvr>
                                        <p:cTn id="100" dur="500"/>
                                        <p:tgtEl>
                                          <p:spTgt spid="104"/>
                                        </p:tgtEl>
                                      </p:cBhvr>
                                    </p:animEffect>
                                  </p:childTnLst>
                                </p:cTn>
                              </p:par>
                            </p:childTnLst>
                          </p:cTn>
                        </p:par>
                        <p:par>
                          <p:cTn id="101" fill="hold">
                            <p:stCondLst>
                              <p:cond delay="20950"/>
                            </p:stCondLst>
                            <p:childTnLst>
                              <p:par>
                                <p:cTn id="102" presetID="22" presetClass="entr" presetSubtype="4" fill="hold" grpId="0" nodeType="afterEffect">
                                  <p:stCondLst>
                                    <p:cond delay="0"/>
                                  </p:stCondLst>
                                  <p:childTnLst>
                                    <p:set>
                                      <p:cBhvr>
                                        <p:cTn id="103" dur="1" fill="hold">
                                          <p:stCondLst>
                                            <p:cond delay="0"/>
                                          </p:stCondLst>
                                        </p:cTn>
                                        <p:tgtEl>
                                          <p:spTgt spid="105"/>
                                        </p:tgtEl>
                                        <p:attrNameLst>
                                          <p:attrName>style.visibility</p:attrName>
                                        </p:attrNameLst>
                                      </p:cBhvr>
                                      <p:to>
                                        <p:strVal val="visible"/>
                                      </p:to>
                                    </p:set>
                                    <p:animEffect transition="in" filter="wipe(down)">
                                      <p:cBhvr>
                                        <p:cTn id="104" dur="500"/>
                                        <p:tgtEl>
                                          <p:spTgt spid="105"/>
                                        </p:tgtEl>
                                      </p:cBhvr>
                                    </p:animEffect>
                                  </p:childTnLst>
                                </p:cTn>
                              </p:par>
                            </p:childTnLst>
                          </p:cTn>
                        </p:par>
                        <p:par>
                          <p:cTn id="105" fill="hold">
                            <p:stCondLst>
                              <p:cond delay="21450"/>
                            </p:stCondLst>
                            <p:childTnLst>
                              <p:par>
                                <p:cTn id="106" presetID="22" presetClass="entr" presetSubtype="4" fill="hold" grpId="0" nodeType="afterEffect">
                                  <p:stCondLst>
                                    <p:cond delay="0"/>
                                  </p:stCondLst>
                                  <p:childTnLst>
                                    <p:set>
                                      <p:cBhvr>
                                        <p:cTn id="107" dur="1" fill="hold">
                                          <p:stCondLst>
                                            <p:cond delay="0"/>
                                          </p:stCondLst>
                                        </p:cTn>
                                        <p:tgtEl>
                                          <p:spTgt spid="106"/>
                                        </p:tgtEl>
                                        <p:attrNameLst>
                                          <p:attrName>style.visibility</p:attrName>
                                        </p:attrNameLst>
                                      </p:cBhvr>
                                      <p:to>
                                        <p:strVal val="visible"/>
                                      </p:to>
                                    </p:set>
                                    <p:animEffect transition="in" filter="wipe(down)">
                                      <p:cBhvr>
                                        <p:cTn id="108" dur="500"/>
                                        <p:tgtEl>
                                          <p:spTgt spid="106"/>
                                        </p:tgtEl>
                                      </p:cBhvr>
                                    </p:animEffect>
                                  </p:childTnLst>
                                </p:cTn>
                              </p:par>
                            </p:childTnLst>
                          </p:cTn>
                        </p:par>
                        <p:par>
                          <p:cTn id="109" fill="hold">
                            <p:stCondLst>
                              <p:cond delay="21950"/>
                            </p:stCondLst>
                            <p:childTnLst>
                              <p:par>
                                <p:cTn id="110" presetID="22" presetClass="entr" presetSubtype="4" fill="hold" grpId="0" nodeType="afterEffect">
                                  <p:stCondLst>
                                    <p:cond delay="0"/>
                                  </p:stCondLst>
                                  <p:childTnLst>
                                    <p:set>
                                      <p:cBhvr>
                                        <p:cTn id="111" dur="1" fill="hold">
                                          <p:stCondLst>
                                            <p:cond delay="0"/>
                                          </p:stCondLst>
                                        </p:cTn>
                                        <p:tgtEl>
                                          <p:spTgt spid="107"/>
                                        </p:tgtEl>
                                        <p:attrNameLst>
                                          <p:attrName>style.visibility</p:attrName>
                                        </p:attrNameLst>
                                      </p:cBhvr>
                                      <p:to>
                                        <p:strVal val="visible"/>
                                      </p:to>
                                    </p:set>
                                    <p:animEffect transition="in" filter="wipe(down)">
                                      <p:cBhvr>
                                        <p:cTn id="112" dur="500"/>
                                        <p:tgtEl>
                                          <p:spTgt spid="107"/>
                                        </p:tgtEl>
                                      </p:cBhvr>
                                    </p:animEffect>
                                  </p:childTnLst>
                                </p:cTn>
                              </p:par>
                            </p:childTnLst>
                          </p:cTn>
                        </p:par>
                        <p:par>
                          <p:cTn id="113" fill="hold">
                            <p:stCondLst>
                              <p:cond delay="22450"/>
                            </p:stCondLst>
                            <p:childTnLst>
                              <p:par>
                                <p:cTn id="114" presetID="22" presetClass="entr" presetSubtype="4" fill="hold" grpId="0" nodeType="afterEffect">
                                  <p:stCondLst>
                                    <p:cond delay="0"/>
                                  </p:stCondLst>
                                  <p:childTnLst>
                                    <p:set>
                                      <p:cBhvr>
                                        <p:cTn id="115" dur="1" fill="hold">
                                          <p:stCondLst>
                                            <p:cond delay="0"/>
                                          </p:stCondLst>
                                        </p:cTn>
                                        <p:tgtEl>
                                          <p:spTgt spid="108"/>
                                        </p:tgtEl>
                                        <p:attrNameLst>
                                          <p:attrName>style.visibility</p:attrName>
                                        </p:attrNameLst>
                                      </p:cBhvr>
                                      <p:to>
                                        <p:strVal val="visible"/>
                                      </p:to>
                                    </p:set>
                                    <p:animEffect transition="in" filter="wipe(down)">
                                      <p:cBhvr>
                                        <p:cTn id="116" dur="500"/>
                                        <p:tgtEl>
                                          <p:spTgt spid="108"/>
                                        </p:tgtEl>
                                      </p:cBhvr>
                                    </p:animEffect>
                                  </p:childTnLst>
                                </p:cTn>
                              </p:par>
                            </p:childTnLst>
                          </p:cTn>
                        </p:par>
                        <p:par>
                          <p:cTn id="117" fill="hold">
                            <p:stCondLst>
                              <p:cond delay="22950"/>
                            </p:stCondLst>
                            <p:childTnLst>
                              <p:par>
                                <p:cTn id="118" presetID="22" presetClass="entr" presetSubtype="4" fill="hold" grpId="0" nodeType="afterEffect">
                                  <p:stCondLst>
                                    <p:cond delay="0"/>
                                  </p:stCondLst>
                                  <p:childTnLst>
                                    <p:set>
                                      <p:cBhvr>
                                        <p:cTn id="119" dur="1" fill="hold">
                                          <p:stCondLst>
                                            <p:cond delay="0"/>
                                          </p:stCondLst>
                                        </p:cTn>
                                        <p:tgtEl>
                                          <p:spTgt spid="109"/>
                                        </p:tgtEl>
                                        <p:attrNameLst>
                                          <p:attrName>style.visibility</p:attrName>
                                        </p:attrNameLst>
                                      </p:cBhvr>
                                      <p:to>
                                        <p:strVal val="visible"/>
                                      </p:to>
                                    </p:set>
                                    <p:animEffect transition="in" filter="wipe(down)">
                                      <p:cBhvr>
                                        <p:cTn id="120" dur="500"/>
                                        <p:tgtEl>
                                          <p:spTgt spid="109"/>
                                        </p:tgtEl>
                                      </p:cBhvr>
                                    </p:animEffect>
                                  </p:childTnLst>
                                </p:cTn>
                              </p:par>
                            </p:childTnLst>
                          </p:cTn>
                        </p:par>
                        <p:par>
                          <p:cTn id="121" fill="hold">
                            <p:stCondLst>
                              <p:cond delay="23450"/>
                            </p:stCondLst>
                            <p:childTnLst>
                              <p:par>
                                <p:cTn id="122" presetID="22" presetClass="entr" presetSubtype="4" fill="hold" grpId="0" nodeType="afterEffect">
                                  <p:stCondLst>
                                    <p:cond delay="0"/>
                                  </p:stCondLst>
                                  <p:childTnLst>
                                    <p:set>
                                      <p:cBhvr>
                                        <p:cTn id="123" dur="1" fill="hold">
                                          <p:stCondLst>
                                            <p:cond delay="0"/>
                                          </p:stCondLst>
                                        </p:cTn>
                                        <p:tgtEl>
                                          <p:spTgt spid="110"/>
                                        </p:tgtEl>
                                        <p:attrNameLst>
                                          <p:attrName>style.visibility</p:attrName>
                                        </p:attrNameLst>
                                      </p:cBhvr>
                                      <p:to>
                                        <p:strVal val="visible"/>
                                      </p:to>
                                    </p:set>
                                    <p:animEffect transition="in" filter="wipe(down)">
                                      <p:cBhvr>
                                        <p:cTn id="124" dur="500"/>
                                        <p:tgtEl>
                                          <p:spTgt spid="110"/>
                                        </p:tgtEl>
                                      </p:cBhvr>
                                    </p:animEffect>
                                  </p:childTnLst>
                                </p:cTn>
                              </p:par>
                            </p:childTnLst>
                          </p:cTn>
                        </p:par>
                        <p:par>
                          <p:cTn id="125" fill="hold">
                            <p:stCondLst>
                              <p:cond delay="23950"/>
                            </p:stCondLst>
                            <p:childTnLst>
                              <p:par>
                                <p:cTn id="126" presetID="22" presetClass="entr" presetSubtype="4" fill="hold" grpId="0" nodeType="afterEffect">
                                  <p:stCondLst>
                                    <p:cond delay="0"/>
                                  </p:stCondLst>
                                  <p:childTnLst>
                                    <p:set>
                                      <p:cBhvr>
                                        <p:cTn id="127" dur="1" fill="hold">
                                          <p:stCondLst>
                                            <p:cond delay="0"/>
                                          </p:stCondLst>
                                        </p:cTn>
                                        <p:tgtEl>
                                          <p:spTgt spid="111"/>
                                        </p:tgtEl>
                                        <p:attrNameLst>
                                          <p:attrName>style.visibility</p:attrName>
                                        </p:attrNameLst>
                                      </p:cBhvr>
                                      <p:to>
                                        <p:strVal val="visible"/>
                                      </p:to>
                                    </p:set>
                                    <p:animEffect transition="in" filter="wipe(down)">
                                      <p:cBhvr>
                                        <p:cTn id="128" dur="500"/>
                                        <p:tgtEl>
                                          <p:spTgt spid="111"/>
                                        </p:tgtEl>
                                      </p:cBhvr>
                                    </p:animEffect>
                                  </p:childTnLst>
                                </p:cTn>
                              </p:par>
                            </p:childTnLst>
                          </p:cTn>
                        </p:par>
                        <p:par>
                          <p:cTn id="129" fill="hold">
                            <p:stCondLst>
                              <p:cond delay="24450"/>
                            </p:stCondLst>
                            <p:childTnLst>
                              <p:par>
                                <p:cTn id="130" presetID="22" presetClass="entr" presetSubtype="4" fill="hold" grpId="0" nodeType="afterEffect">
                                  <p:stCondLst>
                                    <p:cond delay="0"/>
                                  </p:stCondLst>
                                  <p:childTnLst>
                                    <p:set>
                                      <p:cBhvr>
                                        <p:cTn id="131" dur="1" fill="hold">
                                          <p:stCondLst>
                                            <p:cond delay="0"/>
                                          </p:stCondLst>
                                        </p:cTn>
                                        <p:tgtEl>
                                          <p:spTgt spid="112"/>
                                        </p:tgtEl>
                                        <p:attrNameLst>
                                          <p:attrName>style.visibility</p:attrName>
                                        </p:attrNameLst>
                                      </p:cBhvr>
                                      <p:to>
                                        <p:strVal val="visible"/>
                                      </p:to>
                                    </p:set>
                                    <p:animEffect transition="in" filter="wipe(down)">
                                      <p:cBhvr>
                                        <p:cTn id="132" dur="500"/>
                                        <p:tgtEl>
                                          <p:spTgt spid="112"/>
                                        </p:tgtEl>
                                      </p:cBhvr>
                                    </p:animEffect>
                                  </p:childTnLst>
                                </p:cTn>
                              </p:par>
                            </p:childTnLst>
                          </p:cTn>
                        </p:par>
                        <p:par>
                          <p:cTn id="133" fill="hold">
                            <p:stCondLst>
                              <p:cond delay="24950"/>
                            </p:stCondLst>
                            <p:childTnLst>
                              <p:par>
                                <p:cTn id="134" presetID="22" presetClass="entr" presetSubtype="4" fill="hold" grpId="0" nodeType="afterEffect">
                                  <p:stCondLst>
                                    <p:cond delay="0"/>
                                  </p:stCondLst>
                                  <p:childTnLst>
                                    <p:set>
                                      <p:cBhvr>
                                        <p:cTn id="135" dur="1" fill="hold">
                                          <p:stCondLst>
                                            <p:cond delay="0"/>
                                          </p:stCondLst>
                                        </p:cTn>
                                        <p:tgtEl>
                                          <p:spTgt spid="113"/>
                                        </p:tgtEl>
                                        <p:attrNameLst>
                                          <p:attrName>style.visibility</p:attrName>
                                        </p:attrNameLst>
                                      </p:cBhvr>
                                      <p:to>
                                        <p:strVal val="visible"/>
                                      </p:to>
                                    </p:set>
                                    <p:animEffect transition="in" filter="wipe(down)">
                                      <p:cBhvr>
                                        <p:cTn id="136" dur="500"/>
                                        <p:tgtEl>
                                          <p:spTgt spid="113"/>
                                        </p:tgtEl>
                                      </p:cBhvr>
                                    </p:animEffect>
                                  </p:childTnLst>
                                </p:cTn>
                              </p:par>
                            </p:childTnLst>
                          </p:cTn>
                        </p:par>
                        <p:par>
                          <p:cTn id="137" fill="hold">
                            <p:stCondLst>
                              <p:cond delay="25450"/>
                            </p:stCondLst>
                            <p:childTnLst>
                              <p:par>
                                <p:cTn id="138" presetID="22" presetClass="entr" presetSubtype="4" fill="hold" grpId="0" nodeType="afterEffect">
                                  <p:stCondLst>
                                    <p:cond delay="0"/>
                                  </p:stCondLst>
                                  <p:childTnLst>
                                    <p:set>
                                      <p:cBhvr>
                                        <p:cTn id="139" dur="1" fill="hold">
                                          <p:stCondLst>
                                            <p:cond delay="0"/>
                                          </p:stCondLst>
                                        </p:cTn>
                                        <p:tgtEl>
                                          <p:spTgt spid="114"/>
                                        </p:tgtEl>
                                        <p:attrNameLst>
                                          <p:attrName>style.visibility</p:attrName>
                                        </p:attrNameLst>
                                      </p:cBhvr>
                                      <p:to>
                                        <p:strVal val="visible"/>
                                      </p:to>
                                    </p:set>
                                    <p:animEffect transition="in" filter="wipe(down)">
                                      <p:cBhvr>
                                        <p:cTn id="140" dur="500"/>
                                        <p:tgtEl>
                                          <p:spTgt spid="114"/>
                                        </p:tgtEl>
                                      </p:cBhvr>
                                    </p:animEffect>
                                  </p:childTnLst>
                                </p:cTn>
                              </p:par>
                            </p:childTnLst>
                          </p:cTn>
                        </p:par>
                        <p:par>
                          <p:cTn id="141" fill="hold">
                            <p:stCondLst>
                              <p:cond delay="25950"/>
                            </p:stCondLst>
                            <p:childTnLst>
                              <p:par>
                                <p:cTn id="142" presetID="22" presetClass="entr" presetSubtype="4" fill="hold" grpId="0" nodeType="afterEffect">
                                  <p:stCondLst>
                                    <p:cond delay="0"/>
                                  </p:stCondLst>
                                  <p:childTnLst>
                                    <p:set>
                                      <p:cBhvr>
                                        <p:cTn id="143" dur="1" fill="hold">
                                          <p:stCondLst>
                                            <p:cond delay="0"/>
                                          </p:stCondLst>
                                        </p:cTn>
                                        <p:tgtEl>
                                          <p:spTgt spid="115"/>
                                        </p:tgtEl>
                                        <p:attrNameLst>
                                          <p:attrName>style.visibility</p:attrName>
                                        </p:attrNameLst>
                                      </p:cBhvr>
                                      <p:to>
                                        <p:strVal val="visible"/>
                                      </p:to>
                                    </p:set>
                                    <p:animEffect transition="in" filter="wipe(down)">
                                      <p:cBhvr>
                                        <p:cTn id="144" dur="500"/>
                                        <p:tgtEl>
                                          <p:spTgt spid="115"/>
                                        </p:tgtEl>
                                      </p:cBhvr>
                                    </p:animEffect>
                                  </p:childTnLst>
                                </p:cTn>
                              </p:par>
                            </p:childTnLst>
                          </p:cTn>
                        </p:par>
                        <p:par>
                          <p:cTn id="145" fill="hold">
                            <p:stCondLst>
                              <p:cond delay="26450"/>
                            </p:stCondLst>
                            <p:childTnLst>
                              <p:par>
                                <p:cTn id="146" presetID="22" presetClass="entr" presetSubtype="4" fill="hold" grpId="0" nodeType="afterEffect">
                                  <p:stCondLst>
                                    <p:cond delay="0"/>
                                  </p:stCondLst>
                                  <p:childTnLst>
                                    <p:set>
                                      <p:cBhvr>
                                        <p:cTn id="147" dur="1" fill="hold">
                                          <p:stCondLst>
                                            <p:cond delay="0"/>
                                          </p:stCondLst>
                                        </p:cTn>
                                        <p:tgtEl>
                                          <p:spTgt spid="116"/>
                                        </p:tgtEl>
                                        <p:attrNameLst>
                                          <p:attrName>style.visibility</p:attrName>
                                        </p:attrNameLst>
                                      </p:cBhvr>
                                      <p:to>
                                        <p:strVal val="visible"/>
                                      </p:to>
                                    </p:set>
                                    <p:animEffect transition="in" filter="wipe(down)">
                                      <p:cBhvr>
                                        <p:cTn id="148" dur="500"/>
                                        <p:tgtEl>
                                          <p:spTgt spid="116"/>
                                        </p:tgtEl>
                                      </p:cBhvr>
                                    </p:animEffect>
                                  </p:childTnLst>
                                </p:cTn>
                              </p:par>
                            </p:childTnLst>
                          </p:cTn>
                        </p:par>
                        <p:par>
                          <p:cTn id="149" fill="hold">
                            <p:stCondLst>
                              <p:cond delay="26950"/>
                            </p:stCondLst>
                            <p:childTnLst>
                              <p:par>
                                <p:cTn id="150" presetID="22" presetClass="entr" presetSubtype="4" fill="hold" grpId="0" nodeType="afterEffect">
                                  <p:stCondLst>
                                    <p:cond delay="0"/>
                                  </p:stCondLst>
                                  <p:childTnLst>
                                    <p:set>
                                      <p:cBhvr>
                                        <p:cTn id="151" dur="1" fill="hold">
                                          <p:stCondLst>
                                            <p:cond delay="0"/>
                                          </p:stCondLst>
                                        </p:cTn>
                                        <p:tgtEl>
                                          <p:spTgt spid="117"/>
                                        </p:tgtEl>
                                        <p:attrNameLst>
                                          <p:attrName>style.visibility</p:attrName>
                                        </p:attrNameLst>
                                      </p:cBhvr>
                                      <p:to>
                                        <p:strVal val="visible"/>
                                      </p:to>
                                    </p:set>
                                    <p:animEffect transition="in" filter="wipe(down)">
                                      <p:cBhvr>
                                        <p:cTn id="152" dur="500"/>
                                        <p:tgtEl>
                                          <p:spTgt spid="117"/>
                                        </p:tgtEl>
                                      </p:cBhvr>
                                    </p:animEffect>
                                  </p:childTnLst>
                                </p:cTn>
                              </p:par>
                            </p:childTnLst>
                          </p:cTn>
                        </p:par>
                        <p:par>
                          <p:cTn id="153" fill="hold">
                            <p:stCondLst>
                              <p:cond delay="27450"/>
                            </p:stCondLst>
                            <p:childTnLst>
                              <p:par>
                                <p:cTn id="154" presetID="22" presetClass="entr" presetSubtype="4" fill="hold" grpId="0" nodeType="afterEffect">
                                  <p:stCondLst>
                                    <p:cond delay="0"/>
                                  </p:stCondLst>
                                  <p:childTnLst>
                                    <p:set>
                                      <p:cBhvr>
                                        <p:cTn id="155" dur="1" fill="hold">
                                          <p:stCondLst>
                                            <p:cond delay="0"/>
                                          </p:stCondLst>
                                        </p:cTn>
                                        <p:tgtEl>
                                          <p:spTgt spid="118"/>
                                        </p:tgtEl>
                                        <p:attrNameLst>
                                          <p:attrName>style.visibility</p:attrName>
                                        </p:attrNameLst>
                                      </p:cBhvr>
                                      <p:to>
                                        <p:strVal val="visible"/>
                                      </p:to>
                                    </p:set>
                                    <p:animEffect transition="in" filter="wipe(down)">
                                      <p:cBhvr>
                                        <p:cTn id="156" dur="500"/>
                                        <p:tgtEl>
                                          <p:spTgt spid="118"/>
                                        </p:tgtEl>
                                      </p:cBhvr>
                                    </p:animEffect>
                                  </p:childTnLst>
                                </p:cTn>
                              </p:par>
                            </p:childTnLst>
                          </p:cTn>
                        </p:par>
                        <p:par>
                          <p:cTn id="157" fill="hold">
                            <p:stCondLst>
                              <p:cond delay="27950"/>
                            </p:stCondLst>
                            <p:childTnLst>
                              <p:par>
                                <p:cTn id="158" presetID="22" presetClass="entr" presetSubtype="4" fill="hold" grpId="0" nodeType="afterEffect">
                                  <p:stCondLst>
                                    <p:cond delay="0"/>
                                  </p:stCondLst>
                                  <p:childTnLst>
                                    <p:set>
                                      <p:cBhvr>
                                        <p:cTn id="159" dur="1" fill="hold">
                                          <p:stCondLst>
                                            <p:cond delay="0"/>
                                          </p:stCondLst>
                                        </p:cTn>
                                        <p:tgtEl>
                                          <p:spTgt spid="119"/>
                                        </p:tgtEl>
                                        <p:attrNameLst>
                                          <p:attrName>style.visibility</p:attrName>
                                        </p:attrNameLst>
                                      </p:cBhvr>
                                      <p:to>
                                        <p:strVal val="visible"/>
                                      </p:to>
                                    </p:set>
                                    <p:animEffect transition="in" filter="wipe(down)">
                                      <p:cBhvr>
                                        <p:cTn id="160" dur="500"/>
                                        <p:tgtEl>
                                          <p:spTgt spid="119"/>
                                        </p:tgtEl>
                                      </p:cBhvr>
                                    </p:animEffect>
                                  </p:childTnLst>
                                </p:cTn>
                              </p:par>
                            </p:childTnLst>
                          </p:cTn>
                        </p:par>
                        <p:par>
                          <p:cTn id="161" fill="hold">
                            <p:stCondLst>
                              <p:cond delay="28450"/>
                            </p:stCondLst>
                            <p:childTnLst>
                              <p:par>
                                <p:cTn id="162" presetID="22" presetClass="entr" presetSubtype="4" fill="hold" grpId="0" nodeType="afterEffect">
                                  <p:stCondLst>
                                    <p:cond delay="0"/>
                                  </p:stCondLst>
                                  <p:childTnLst>
                                    <p:set>
                                      <p:cBhvr>
                                        <p:cTn id="163" dur="1" fill="hold">
                                          <p:stCondLst>
                                            <p:cond delay="0"/>
                                          </p:stCondLst>
                                        </p:cTn>
                                        <p:tgtEl>
                                          <p:spTgt spid="120"/>
                                        </p:tgtEl>
                                        <p:attrNameLst>
                                          <p:attrName>style.visibility</p:attrName>
                                        </p:attrNameLst>
                                      </p:cBhvr>
                                      <p:to>
                                        <p:strVal val="visible"/>
                                      </p:to>
                                    </p:set>
                                    <p:animEffect transition="in" filter="wipe(down)">
                                      <p:cBhvr>
                                        <p:cTn id="164" dur="500"/>
                                        <p:tgtEl>
                                          <p:spTgt spid="120"/>
                                        </p:tgtEl>
                                      </p:cBhvr>
                                    </p:animEffect>
                                  </p:childTnLst>
                                </p:cTn>
                              </p:par>
                            </p:childTnLst>
                          </p:cTn>
                        </p:par>
                        <p:par>
                          <p:cTn id="165" fill="hold">
                            <p:stCondLst>
                              <p:cond delay="28950"/>
                            </p:stCondLst>
                            <p:childTnLst>
                              <p:par>
                                <p:cTn id="166" presetID="22" presetClass="entr" presetSubtype="4" fill="hold" grpId="0" nodeType="afterEffect">
                                  <p:stCondLst>
                                    <p:cond delay="0"/>
                                  </p:stCondLst>
                                  <p:childTnLst>
                                    <p:set>
                                      <p:cBhvr>
                                        <p:cTn id="167" dur="1" fill="hold">
                                          <p:stCondLst>
                                            <p:cond delay="0"/>
                                          </p:stCondLst>
                                        </p:cTn>
                                        <p:tgtEl>
                                          <p:spTgt spid="121"/>
                                        </p:tgtEl>
                                        <p:attrNameLst>
                                          <p:attrName>style.visibility</p:attrName>
                                        </p:attrNameLst>
                                      </p:cBhvr>
                                      <p:to>
                                        <p:strVal val="visible"/>
                                      </p:to>
                                    </p:set>
                                    <p:animEffect transition="in" filter="wipe(down)">
                                      <p:cBhvr>
                                        <p:cTn id="168" dur="500"/>
                                        <p:tgtEl>
                                          <p:spTgt spid="121"/>
                                        </p:tgtEl>
                                      </p:cBhvr>
                                    </p:animEffect>
                                  </p:childTnLst>
                                </p:cTn>
                              </p:par>
                            </p:childTnLst>
                          </p:cTn>
                        </p:par>
                        <p:par>
                          <p:cTn id="169" fill="hold">
                            <p:stCondLst>
                              <p:cond delay="29450"/>
                            </p:stCondLst>
                            <p:childTnLst>
                              <p:par>
                                <p:cTn id="170" presetID="22" presetClass="entr" presetSubtype="4" fill="hold" grpId="0" nodeType="afterEffect">
                                  <p:stCondLst>
                                    <p:cond delay="0"/>
                                  </p:stCondLst>
                                  <p:childTnLst>
                                    <p:set>
                                      <p:cBhvr>
                                        <p:cTn id="171" dur="1" fill="hold">
                                          <p:stCondLst>
                                            <p:cond delay="0"/>
                                          </p:stCondLst>
                                        </p:cTn>
                                        <p:tgtEl>
                                          <p:spTgt spid="122"/>
                                        </p:tgtEl>
                                        <p:attrNameLst>
                                          <p:attrName>style.visibility</p:attrName>
                                        </p:attrNameLst>
                                      </p:cBhvr>
                                      <p:to>
                                        <p:strVal val="visible"/>
                                      </p:to>
                                    </p:set>
                                    <p:animEffect transition="in" filter="wipe(down)">
                                      <p:cBhvr>
                                        <p:cTn id="172" dur="500"/>
                                        <p:tgtEl>
                                          <p:spTgt spid="122"/>
                                        </p:tgtEl>
                                      </p:cBhvr>
                                    </p:animEffect>
                                  </p:childTnLst>
                                </p:cTn>
                              </p:par>
                            </p:childTnLst>
                          </p:cTn>
                        </p:par>
                        <p:par>
                          <p:cTn id="173" fill="hold">
                            <p:stCondLst>
                              <p:cond delay="29950"/>
                            </p:stCondLst>
                            <p:childTnLst>
                              <p:par>
                                <p:cTn id="174" presetID="22" presetClass="entr" presetSubtype="4" fill="hold" grpId="0" nodeType="afterEffect">
                                  <p:stCondLst>
                                    <p:cond delay="0"/>
                                  </p:stCondLst>
                                  <p:childTnLst>
                                    <p:set>
                                      <p:cBhvr>
                                        <p:cTn id="175" dur="1" fill="hold">
                                          <p:stCondLst>
                                            <p:cond delay="0"/>
                                          </p:stCondLst>
                                        </p:cTn>
                                        <p:tgtEl>
                                          <p:spTgt spid="123"/>
                                        </p:tgtEl>
                                        <p:attrNameLst>
                                          <p:attrName>style.visibility</p:attrName>
                                        </p:attrNameLst>
                                      </p:cBhvr>
                                      <p:to>
                                        <p:strVal val="visible"/>
                                      </p:to>
                                    </p:set>
                                    <p:animEffect transition="in" filter="wipe(down)">
                                      <p:cBhvr>
                                        <p:cTn id="176" dur="500"/>
                                        <p:tgtEl>
                                          <p:spTgt spid="123"/>
                                        </p:tgtEl>
                                      </p:cBhvr>
                                    </p:animEffect>
                                  </p:childTnLst>
                                </p:cTn>
                              </p:par>
                            </p:childTnLst>
                          </p:cTn>
                        </p:par>
                        <p:par>
                          <p:cTn id="177" fill="hold">
                            <p:stCondLst>
                              <p:cond delay="30450"/>
                            </p:stCondLst>
                            <p:childTnLst>
                              <p:par>
                                <p:cTn id="178" presetID="22" presetClass="entr" presetSubtype="4" fill="hold" grpId="0" nodeType="afterEffect">
                                  <p:stCondLst>
                                    <p:cond delay="0"/>
                                  </p:stCondLst>
                                  <p:childTnLst>
                                    <p:set>
                                      <p:cBhvr>
                                        <p:cTn id="179" dur="1" fill="hold">
                                          <p:stCondLst>
                                            <p:cond delay="0"/>
                                          </p:stCondLst>
                                        </p:cTn>
                                        <p:tgtEl>
                                          <p:spTgt spid="124"/>
                                        </p:tgtEl>
                                        <p:attrNameLst>
                                          <p:attrName>style.visibility</p:attrName>
                                        </p:attrNameLst>
                                      </p:cBhvr>
                                      <p:to>
                                        <p:strVal val="visible"/>
                                      </p:to>
                                    </p:set>
                                    <p:animEffect transition="in" filter="wipe(down)">
                                      <p:cBhvr>
                                        <p:cTn id="180" dur="500"/>
                                        <p:tgtEl>
                                          <p:spTgt spid="124"/>
                                        </p:tgtEl>
                                      </p:cBhvr>
                                    </p:animEffect>
                                  </p:childTnLst>
                                </p:cTn>
                              </p:par>
                            </p:childTnLst>
                          </p:cTn>
                        </p:par>
                        <p:par>
                          <p:cTn id="181" fill="hold">
                            <p:stCondLst>
                              <p:cond delay="30950"/>
                            </p:stCondLst>
                            <p:childTnLst>
                              <p:par>
                                <p:cTn id="182" presetID="22" presetClass="entr" presetSubtype="4" fill="hold" grpId="0" nodeType="afterEffect">
                                  <p:stCondLst>
                                    <p:cond delay="0"/>
                                  </p:stCondLst>
                                  <p:childTnLst>
                                    <p:set>
                                      <p:cBhvr>
                                        <p:cTn id="183" dur="1" fill="hold">
                                          <p:stCondLst>
                                            <p:cond delay="0"/>
                                          </p:stCondLst>
                                        </p:cTn>
                                        <p:tgtEl>
                                          <p:spTgt spid="125"/>
                                        </p:tgtEl>
                                        <p:attrNameLst>
                                          <p:attrName>style.visibility</p:attrName>
                                        </p:attrNameLst>
                                      </p:cBhvr>
                                      <p:to>
                                        <p:strVal val="visible"/>
                                      </p:to>
                                    </p:set>
                                    <p:animEffect transition="in" filter="wipe(down)">
                                      <p:cBhvr>
                                        <p:cTn id="184" dur="500"/>
                                        <p:tgtEl>
                                          <p:spTgt spid="125"/>
                                        </p:tgtEl>
                                      </p:cBhvr>
                                    </p:animEffect>
                                  </p:childTnLst>
                                </p:cTn>
                              </p:par>
                            </p:childTnLst>
                          </p:cTn>
                        </p:par>
                        <p:par>
                          <p:cTn id="185" fill="hold">
                            <p:stCondLst>
                              <p:cond delay="31450"/>
                            </p:stCondLst>
                            <p:childTnLst>
                              <p:par>
                                <p:cTn id="186" presetID="22" presetClass="entr" presetSubtype="4" fill="hold" grpId="0" nodeType="afterEffect">
                                  <p:stCondLst>
                                    <p:cond delay="0"/>
                                  </p:stCondLst>
                                  <p:childTnLst>
                                    <p:set>
                                      <p:cBhvr>
                                        <p:cTn id="187" dur="1" fill="hold">
                                          <p:stCondLst>
                                            <p:cond delay="0"/>
                                          </p:stCondLst>
                                        </p:cTn>
                                        <p:tgtEl>
                                          <p:spTgt spid="126"/>
                                        </p:tgtEl>
                                        <p:attrNameLst>
                                          <p:attrName>style.visibility</p:attrName>
                                        </p:attrNameLst>
                                      </p:cBhvr>
                                      <p:to>
                                        <p:strVal val="visible"/>
                                      </p:to>
                                    </p:set>
                                    <p:animEffect transition="in" filter="wipe(down)">
                                      <p:cBhvr>
                                        <p:cTn id="188" dur="500"/>
                                        <p:tgtEl>
                                          <p:spTgt spid="126"/>
                                        </p:tgtEl>
                                      </p:cBhvr>
                                    </p:animEffect>
                                  </p:childTnLst>
                                </p:cTn>
                              </p:par>
                            </p:childTnLst>
                          </p:cTn>
                        </p:par>
                        <p:par>
                          <p:cTn id="189" fill="hold">
                            <p:stCondLst>
                              <p:cond delay="31950"/>
                            </p:stCondLst>
                            <p:childTnLst>
                              <p:par>
                                <p:cTn id="190" presetID="22" presetClass="entr" presetSubtype="4" fill="hold" grpId="0" nodeType="afterEffect">
                                  <p:stCondLst>
                                    <p:cond delay="0"/>
                                  </p:stCondLst>
                                  <p:childTnLst>
                                    <p:set>
                                      <p:cBhvr>
                                        <p:cTn id="191" dur="1" fill="hold">
                                          <p:stCondLst>
                                            <p:cond delay="0"/>
                                          </p:stCondLst>
                                        </p:cTn>
                                        <p:tgtEl>
                                          <p:spTgt spid="127"/>
                                        </p:tgtEl>
                                        <p:attrNameLst>
                                          <p:attrName>style.visibility</p:attrName>
                                        </p:attrNameLst>
                                      </p:cBhvr>
                                      <p:to>
                                        <p:strVal val="visible"/>
                                      </p:to>
                                    </p:set>
                                    <p:animEffect transition="in" filter="wipe(down)">
                                      <p:cBhvr>
                                        <p:cTn id="192" dur="500"/>
                                        <p:tgtEl>
                                          <p:spTgt spid="127"/>
                                        </p:tgtEl>
                                      </p:cBhvr>
                                    </p:animEffect>
                                  </p:childTnLst>
                                </p:cTn>
                              </p:par>
                            </p:childTnLst>
                          </p:cTn>
                        </p:par>
                        <p:par>
                          <p:cTn id="193" fill="hold">
                            <p:stCondLst>
                              <p:cond delay="32450"/>
                            </p:stCondLst>
                            <p:childTnLst>
                              <p:par>
                                <p:cTn id="194" presetID="22" presetClass="entr" presetSubtype="4" fill="hold" grpId="0" nodeType="afterEffect">
                                  <p:stCondLst>
                                    <p:cond delay="0"/>
                                  </p:stCondLst>
                                  <p:childTnLst>
                                    <p:set>
                                      <p:cBhvr>
                                        <p:cTn id="195" dur="1" fill="hold">
                                          <p:stCondLst>
                                            <p:cond delay="0"/>
                                          </p:stCondLst>
                                        </p:cTn>
                                        <p:tgtEl>
                                          <p:spTgt spid="128"/>
                                        </p:tgtEl>
                                        <p:attrNameLst>
                                          <p:attrName>style.visibility</p:attrName>
                                        </p:attrNameLst>
                                      </p:cBhvr>
                                      <p:to>
                                        <p:strVal val="visible"/>
                                      </p:to>
                                    </p:set>
                                    <p:animEffect transition="in" filter="wipe(down)">
                                      <p:cBhvr>
                                        <p:cTn id="196" dur="500"/>
                                        <p:tgtEl>
                                          <p:spTgt spid="128"/>
                                        </p:tgtEl>
                                      </p:cBhvr>
                                    </p:animEffect>
                                  </p:childTnLst>
                                </p:cTn>
                              </p:par>
                            </p:childTnLst>
                          </p:cTn>
                        </p:par>
                        <p:par>
                          <p:cTn id="197" fill="hold">
                            <p:stCondLst>
                              <p:cond delay="32950"/>
                            </p:stCondLst>
                            <p:childTnLst>
                              <p:par>
                                <p:cTn id="198" presetID="22" presetClass="entr" presetSubtype="4" fill="hold" grpId="0" nodeType="afterEffect">
                                  <p:stCondLst>
                                    <p:cond delay="0"/>
                                  </p:stCondLst>
                                  <p:childTnLst>
                                    <p:set>
                                      <p:cBhvr>
                                        <p:cTn id="199" dur="1" fill="hold">
                                          <p:stCondLst>
                                            <p:cond delay="0"/>
                                          </p:stCondLst>
                                        </p:cTn>
                                        <p:tgtEl>
                                          <p:spTgt spid="129"/>
                                        </p:tgtEl>
                                        <p:attrNameLst>
                                          <p:attrName>style.visibility</p:attrName>
                                        </p:attrNameLst>
                                      </p:cBhvr>
                                      <p:to>
                                        <p:strVal val="visible"/>
                                      </p:to>
                                    </p:set>
                                    <p:animEffect transition="in" filter="wipe(down)">
                                      <p:cBhvr>
                                        <p:cTn id="200" dur="500"/>
                                        <p:tgtEl>
                                          <p:spTgt spid="129"/>
                                        </p:tgtEl>
                                      </p:cBhvr>
                                    </p:animEffect>
                                  </p:childTnLst>
                                </p:cTn>
                              </p:par>
                            </p:childTnLst>
                          </p:cTn>
                        </p:par>
                        <p:par>
                          <p:cTn id="201" fill="hold">
                            <p:stCondLst>
                              <p:cond delay="33450"/>
                            </p:stCondLst>
                            <p:childTnLst>
                              <p:par>
                                <p:cTn id="202" presetID="22" presetClass="entr" presetSubtype="4" fill="hold" grpId="0" nodeType="afterEffect">
                                  <p:stCondLst>
                                    <p:cond delay="0"/>
                                  </p:stCondLst>
                                  <p:childTnLst>
                                    <p:set>
                                      <p:cBhvr>
                                        <p:cTn id="203" dur="1" fill="hold">
                                          <p:stCondLst>
                                            <p:cond delay="0"/>
                                          </p:stCondLst>
                                        </p:cTn>
                                        <p:tgtEl>
                                          <p:spTgt spid="130"/>
                                        </p:tgtEl>
                                        <p:attrNameLst>
                                          <p:attrName>style.visibility</p:attrName>
                                        </p:attrNameLst>
                                      </p:cBhvr>
                                      <p:to>
                                        <p:strVal val="visible"/>
                                      </p:to>
                                    </p:set>
                                    <p:animEffect transition="in" filter="wipe(down)">
                                      <p:cBhvr>
                                        <p:cTn id="204" dur="500"/>
                                        <p:tgtEl>
                                          <p:spTgt spid="130"/>
                                        </p:tgtEl>
                                      </p:cBhvr>
                                    </p:animEffect>
                                  </p:childTnLst>
                                </p:cTn>
                              </p:par>
                            </p:childTnLst>
                          </p:cTn>
                        </p:par>
                        <p:par>
                          <p:cTn id="205" fill="hold">
                            <p:stCondLst>
                              <p:cond delay="33950"/>
                            </p:stCondLst>
                            <p:childTnLst>
                              <p:par>
                                <p:cTn id="206" presetID="22" presetClass="entr" presetSubtype="4" fill="hold" grpId="0" nodeType="afterEffect">
                                  <p:stCondLst>
                                    <p:cond delay="0"/>
                                  </p:stCondLst>
                                  <p:childTnLst>
                                    <p:set>
                                      <p:cBhvr>
                                        <p:cTn id="207" dur="1" fill="hold">
                                          <p:stCondLst>
                                            <p:cond delay="0"/>
                                          </p:stCondLst>
                                        </p:cTn>
                                        <p:tgtEl>
                                          <p:spTgt spid="131"/>
                                        </p:tgtEl>
                                        <p:attrNameLst>
                                          <p:attrName>style.visibility</p:attrName>
                                        </p:attrNameLst>
                                      </p:cBhvr>
                                      <p:to>
                                        <p:strVal val="visible"/>
                                      </p:to>
                                    </p:set>
                                    <p:animEffect transition="in" filter="wipe(down)">
                                      <p:cBhvr>
                                        <p:cTn id="208"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DEPLOYMENT</a:t>
            </a:r>
            <a:endParaRPr lang="en-US" sz="90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marL="0" indent="0" algn="l">
              <a:buNone/>
            </a:pPr>
            <a:r>
              <a:rPr lang="en-US" sz="3200" b="1" dirty="0">
                <a:solidFill>
                  <a:srgbClr val="1B2B5E"/>
                </a:solidFill>
                <a:latin typeface="Calibri" pitchFamily="34" charset="0"/>
                <a:ea typeface="Calibri" pitchFamily="34" charset="-122"/>
                <a:cs typeface="Calibri" pitchFamily="34" charset="-120"/>
              </a:rPr>
              <a:t>Deployment – Docker &amp; AWS</a:t>
            </a:r>
            <a:endParaRPr lang="en-US" sz="3200" dirty="0"/>
          </a:p>
        </p:txBody>
      </p:sp>
      <p:sp>
        <p:nvSpPr>
          <p:cNvPr id="4" name="Shape 2"/>
          <p:cNvSpPr/>
          <p:nvPr/>
        </p:nvSpPr>
        <p:spPr>
          <a:xfrm>
            <a:off x="347472" y="1417320"/>
            <a:ext cx="1298448" cy="658368"/>
          </a:xfrm>
          <a:prstGeom prst="rect">
            <a:avLst/>
          </a:prstGeom>
          <a:solidFill>
            <a:srgbClr val="64748B"/>
          </a:solidFill>
          <a:ln w="12700">
            <a:solidFill>
              <a:srgbClr val="64748B"/>
            </a:solidFill>
            <a:prstDash val="solid"/>
          </a:ln>
        </p:spPr>
        <p:txBody>
          <a:bodyPr/>
          <a:lstStyle/>
          <a:p>
            <a:endParaRPr lang="en-US"/>
          </a:p>
        </p:txBody>
      </p:sp>
      <p:sp>
        <p:nvSpPr>
          <p:cNvPr id="5" name="Text 3"/>
          <p:cNvSpPr/>
          <p:nvPr/>
        </p:nvSpPr>
        <p:spPr>
          <a:xfrm>
            <a:off x="347472" y="1417320"/>
            <a:ext cx="1298448" cy="402336"/>
          </a:xfrm>
          <a:prstGeom prst="rect">
            <a:avLst/>
          </a:prstGeom>
          <a:noFill/>
          <a:ln/>
        </p:spPr>
        <p:txBody>
          <a:bodyPr wrap="square" lIns="25400" tIns="25400" rIns="25400" bIns="25400" rtlCol="0" anchor="b"/>
          <a:lstStyle/>
          <a:p>
            <a:pPr marL="0" indent="0" algn="ctr">
              <a:buNone/>
            </a:pPr>
            <a:r>
              <a:rPr lang="en-US" sz="950" b="1" dirty="0">
                <a:solidFill>
                  <a:srgbClr val="FFFFFF"/>
                </a:solidFill>
                <a:latin typeface="Calibri" pitchFamily="34" charset="0"/>
                <a:ea typeface="Calibri" pitchFamily="34" charset="-122"/>
                <a:cs typeface="Calibri" pitchFamily="34" charset="-120"/>
              </a:rPr>
              <a:t>Containerize</a:t>
            </a:r>
            <a:endParaRPr lang="en-US" sz="950" dirty="0"/>
          </a:p>
        </p:txBody>
      </p:sp>
      <p:sp>
        <p:nvSpPr>
          <p:cNvPr id="6" name="Text 4"/>
          <p:cNvSpPr/>
          <p:nvPr/>
        </p:nvSpPr>
        <p:spPr>
          <a:xfrm>
            <a:off x="347472" y="1819656"/>
            <a:ext cx="1298448" cy="256032"/>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Docker bundles frontend &amp; backend</a:t>
            </a:r>
            <a:endParaRPr lang="en-US" sz="750" dirty="0"/>
          </a:p>
        </p:txBody>
      </p:sp>
      <p:sp>
        <p:nvSpPr>
          <p:cNvPr id="7" name="Shape 5"/>
          <p:cNvSpPr/>
          <p:nvPr/>
        </p:nvSpPr>
        <p:spPr>
          <a:xfrm>
            <a:off x="1645920" y="1709928"/>
            <a:ext cx="137160" cy="73152"/>
          </a:xfrm>
          <a:prstGeom prst="rect">
            <a:avLst/>
          </a:prstGeom>
          <a:solidFill>
            <a:srgbClr val="94A3B8"/>
          </a:solidFill>
          <a:ln w="12700">
            <a:solidFill>
              <a:srgbClr val="94A3B8"/>
            </a:solidFill>
            <a:prstDash val="solid"/>
          </a:ln>
        </p:spPr>
        <p:txBody>
          <a:bodyPr/>
          <a:lstStyle/>
          <a:p>
            <a:endParaRPr lang="en-US"/>
          </a:p>
        </p:txBody>
      </p:sp>
      <p:sp>
        <p:nvSpPr>
          <p:cNvPr id="8" name="Shape 6"/>
          <p:cNvSpPr/>
          <p:nvPr/>
        </p:nvSpPr>
        <p:spPr>
          <a:xfrm>
            <a:off x="1783080" y="1417320"/>
            <a:ext cx="1298448" cy="658368"/>
          </a:xfrm>
          <a:prstGeom prst="rect">
            <a:avLst/>
          </a:prstGeom>
          <a:solidFill>
            <a:srgbClr val="1B2B5E"/>
          </a:solidFill>
          <a:ln w="12700">
            <a:solidFill>
              <a:srgbClr val="1B2B5E"/>
            </a:solidFill>
            <a:prstDash val="solid"/>
          </a:ln>
        </p:spPr>
        <p:txBody>
          <a:bodyPr/>
          <a:lstStyle/>
          <a:p>
            <a:endParaRPr lang="en-US"/>
          </a:p>
        </p:txBody>
      </p:sp>
      <p:sp>
        <p:nvSpPr>
          <p:cNvPr id="9" name="Text 7"/>
          <p:cNvSpPr/>
          <p:nvPr/>
        </p:nvSpPr>
        <p:spPr>
          <a:xfrm>
            <a:off x="1783080" y="1417320"/>
            <a:ext cx="1298448" cy="402336"/>
          </a:xfrm>
          <a:prstGeom prst="rect">
            <a:avLst/>
          </a:prstGeom>
          <a:noFill/>
          <a:ln/>
        </p:spPr>
        <p:txBody>
          <a:bodyPr wrap="square" lIns="25400" tIns="25400" rIns="25400" bIns="25400" rtlCol="0" anchor="b"/>
          <a:lstStyle/>
          <a:p>
            <a:pPr marL="0" indent="0" algn="ctr">
              <a:buNone/>
            </a:pPr>
            <a:r>
              <a:rPr lang="en-US" sz="950" b="1" dirty="0">
                <a:solidFill>
                  <a:srgbClr val="FFFFFF"/>
                </a:solidFill>
                <a:latin typeface="Calibri" pitchFamily="34" charset="0"/>
                <a:ea typeface="Calibri" pitchFamily="34" charset="-122"/>
                <a:cs typeface="Calibri" pitchFamily="34" charset="-120"/>
              </a:rPr>
              <a:t>Push to GitHub</a:t>
            </a:r>
            <a:endParaRPr lang="en-US" sz="950" dirty="0"/>
          </a:p>
        </p:txBody>
      </p:sp>
      <p:sp>
        <p:nvSpPr>
          <p:cNvPr id="10" name="Text 8"/>
          <p:cNvSpPr/>
          <p:nvPr/>
        </p:nvSpPr>
        <p:spPr>
          <a:xfrm>
            <a:off x="1783080" y="1819656"/>
            <a:ext cx="1298448" cy="256032"/>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GitHub Actions triggers on push to main</a:t>
            </a:r>
            <a:endParaRPr lang="en-US" sz="750" dirty="0"/>
          </a:p>
        </p:txBody>
      </p:sp>
      <p:sp>
        <p:nvSpPr>
          <p:cNvPr id="11" name="Shape 9"/>
          <p:cNvSpPr/>
          <p:nvPr/>
        </p:nvSpPr>
        <p:spPr>
          <a:xfrm>
            <a:off x="3081528" y="1709928"/>
            <a:ext cx="137160" cy="73152"/>
          </a:xfrm>
          <a:prstGeom prst="rect">
            <a:avLst/>
          </a:prstGeom>
          <a:solidFill>
            <a:srgbClr val="94A3B8"/>
          </a:solidFill>
          <a:ln w="12700">
            <a:solidFill>
              <a:srgbClr val="94A3B8"/>
            </a:solidFill>
            <a:prstDash val="solid"/>
          </a:ln>
        </p:spPr>
        <p:txBody>
          <a:bodyPr/>
          <a:lstStyle/>
          <a:p>
            <a:endParaRPr lang="en-US"/>
          </a:p>
        </p:txBody>
      </p:sp>
      <p:sp>
        <p:nvSpPr>
          <p:cNvPr id="12" name="Shape 10"/>
          <p:cNvSpPr/>
          <p:nvPr/>
        </p:nvSpPr>
        <p:spPr>
          <a:xfrm>
            <a:off x="3218688" y="1417320"/>
            <a:ext cx="1298448" cy="658368"/>
          </a:xfrm>
          <a:prstGeom prst="rect">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3218688" y="1417320"/>
            <a:ext cx="1298448" cy="402336"/>
          </a:xfrm>
          <a:prstGeom prst="rect">
            <a:avLst/>
          </a:prstGeom>
          <a:noFill/>
          <a:ln/>
        </p:spPr>
        <p:txBody>
          <a:bodyPr wrap="square" lIns="25400" tIns="25400" rIns="25400" bIns="25400" rtlCol="0" anchor="b"/>
          <a:lstStyle/>
          <a:p>
            <a:pPr marL="0" indent="0" algn="ctr">
              <a:buNone/>
            </a:pPr>
            <a:r>
              <a:rPr lang="en-US" sz="950" b="1" dirty="0">
                <a:solidFill>
                  <a:srgbClr val="FFFFFF"/>
                </a:solidFill>
                <a:latin typeface="Calibri" pitchFamily="34" charset="0"/>
                <a:ea typeface="Calibri" pitchFamily="34" charset="-122"/>
                <a:cs typeface="Calibri" pitchFamily="34" charset="-120"/>
              </a:rPr>
              <a:t>CI Passes</a:t>
            </a:r>
            <a:endParaRPr lang="en-US" sz="950" dirty="0"/>
          </a:p>
        </p:txBody>
      </p:sp>
      <p:sp>
        <p:nvSpPr>
          <p:cNvPr id="14" name="Text 12"/>
          <p:cNvSpPr/>
          <p:nvPr/>
        </p:nvSpPr>
        <p:spPr>
          <a:xfrm>
            <a:off x="3218688" y="1819656"/>
            <a:ext cx="1298448" cy="256032"/>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PyTest, NPM, Robot Framework all green</a:t>
            </a:r>
            <a:endParaRPr lang="en-US" sz="750" dirty="0"/>
          </a:p>
        </p:txBody>
      </p:sp>
      <p:sp>
        <p:nvSpPr>
          <p:cNvPr id="15" name="Shape 13"/>
          <p:cNvSpPr/>
          <p:nvPr/>
        </p:nvSpPr>
        <p:spPr>
          <a:xfrm>
            <a:off x="4517136" y="1709928"/>
            <a:ext cx="137160" cy="73152"/>
          </a:xfrm>
          <a:prstGeom prst="rect">
            <a:avLst/>
          </a:prstGeom>
          <a:solidFill>
            <a:srgbClr val="94A3B8"/>
          </a:solidFill>
          <a:ln w="12700">
            <a:solidFill>
              <a:srgbClr val="94A3B8"/>
            </a:solidFill>
            <a:prstDash val="solid"/>
          </a:ln>
        </p:spPr>
        <p:txBody>
          <a:bodyPr/>
          <a:lstStyle/>
          <a:p>
            <a:endParaRPr lang="en-US"/>
          </a:p>
        </p:txBody>
      </p:sp>
      <p:sp>
        <p:nvSpPr>
          <p:cNvPr id="16" name="Shape 14"/>
          <p:cNvSpPr/>
          <p:nvPr/>
        </p:nvSpPr>
        <p:spPr>
          <a:xfrm>
            <a:off x="4654296" y="1417320"/>
            <a:ext cx="1298448" cy="658368"/>
          </a:xfrm>
          <a:prstGeom prst="rect">
            <a:avLst/>
          </a:prstGeom>
          <a:solidFill>
            <a:srgbClr val="0EA5E9"/>
          </a:solidFill>
          <a:ln w="12700">
            <a:solidFill>
              <a:srgbClr val="0EA5E9"/>
            </a:solidFill>
            <a:prstDash val="solid"/>
          </a:ln>
        </p:spPr>
        <p:txBody>
          <a:bodyPr/>
          <a:lstStyle/>
          <a:p>
            <a:endParaRPr lang="en-US"/>
          </a:p>
        </p:txBody>
      </p:sp>
      <p:sp>
        <p:nvSpPr>
          <p:cNvPr id="17" name="Text 15"/>
          <p:cNvSpPr/>
          <p:nvPr/>
        </p:nvSpPr>
        <p:spPr>
          <a:xfrm>
            <a:off x="4654296" y="1417320"/>
            <a:ext cx="1298448" cy="402336"/>
          </a:xfrm>
          <a:prstGeom prst="rect">
            <a:avLst/>
          </a:prstGeom>
          <a:noFill/>
          <a:ln/>
        </p:spPr>
        <p:txBody>
          <a:bodyPr wrap="square" lIns="25400" tIns="25400" rIns="25400" bIns="25400" rtlCol="0" anchor="b"/>
          <a:lstStyle/>
          <a:p>
            <a:pPr marL="0" indent="0" algn="ctr">
              <a:buNone/>
            </a:pPr>
            <a:r>
              <a:rPr lang="en-US" sz="950" b="1" dirty="0">
                <a:solidFill>
                  <a:srgbClr val="FFFFFF"/>
                </a:solidFill>
                <a:latin typeface="Calibri" pitchFamily="34" charset="0"/>
                <a:ea typeface="Calibri" pitchFamily="34" charset="-122"/>
                <a:cs typeface="Calibri" pitchFamily="34" charset="-120"/>
              </a:rPr>
              <a:t>Deploy to EC2</a:t>
            </a:r>
            <a:endParaRPr lang="en-US" sz="950" dirty="0"/>
          </a:p>
        </p:txBody>
      </p:sp>
      <p:sp>
        <p:nvSpPr>
          <p:cNvPr id="18" name="Text 16"/>
          <p:cNvSpPr/>
          <p:nvPr/>
        </p:nvSpPr>
        <p:spPr>
          <a:xfrm>
            <a:off x="4654296" y="1819656"/>
            <a:ext cx="1298448" cy="256032"/>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Docker containers run on AWS EC2 Instance</a:t>
            </a:r>
            <a:endParaRPr lang="en-US" sz="750" dirty="0"/>
          </a:p>
        </p:txBody>
      </p:sp>
      <p:sp>
        <p:nvSpPr>
          <p:cNvPr id="19" name="Shape 17"/>
          <p:cNvSpPr/>
          <p:nvPr/>
        </p:nvSpPr>
        <p:spPr>
          <a:xfrm>
            <a:off x="5952744" y="1709928"/>
            <a:ext cx="137160" cy="73152"/>
          </a:xfrm>
          <a:prstGeom prst="rect">
            <a:avLst/>
          </a:prstGeom>
          <a:solidFill>
            <a:srgbClr val="94A3B8"/>
          </a:solidFill>
          <a:ln w="12700">
            <a:solidFill>
              <a:srgbClr val="94A3B8"/>
            </a:solidFill>
            <a:prstDash val="solid"/>
          </a:ln>
        </p:spPr>
        <p:txBody>
          <a:bodyPr/>
          <a:lstStyle/>
          <a:p>
            <a:endParaRPr lang="en-US"/>
          </a:p>
        </p:txBody>
      </p:sp>
      <p:sp>
        <p:nvSpPr>
          <p:cNvPr id="20" name="Shape 18"/>
          <p:cNvSpPr/>
          <p:nvPr/>
        </p:nvSpPr>
        <p:spPr>
          <a:xfrm>
            <a:off x="6089904" y="1417320"/>
            <a:ext cx="1298448" cy="658368"/>
          </a:xfrm>
          <a:prstGeom prst="rect">
            <a:avLst/>
          </a:prstGeom>
          <a:solidFill>
            <a:srgbClr val="10B981"/>
          </a:solidFill>
          <a:ln w="12700">
            <a:solidFill>
              <a:srgbClr val="10B981"/>
            </a:solidFill>
            <a:prstDash val="solid"/>
          </a:ln>
        </p:spPr>
        <p:txBody>
          <a:bodyPr/>
          <a:lstStyle/>
          <a:p>
            <a:endParaRPr lang="en-US"/>
          </a:p>
        </p:txBody>
      </p:sp>
      <p:sp>
        <p:nvSpPr>
          <p:cNvPr id="21" name="Text 19"/>
          <p:cNvSpPr/>
          <p:nvPr/>
        </p:nvSpPr>
        <p:spPr>
          <a:xfrm>
            <a:off x="6089904" y="1417320"/>
            <a:ext cx="1298448" cy="402336"/>
          </a:xfrm>
          <a:prstGeom prst="rect">
            <a:avLst/>
          </a:prstGeom>
          <a:noFill/>
          <a:ln/>
        </p:spPr>
        <p:txBody>
          <a:bodyPr wrap="square" lIns="25400" tIns="25400" rIns="25400" bIns="25400" rtlCol="0" anchor="b"/>
          <a:lstStyle/>
          <a:p>
            <a:pPr marL="0" indent="0" algn="ctr">
              <a:buNone/>
            </a:pPr>
            <a:r>
              <a:rPr lang="en-US" sz="950" b="1" dirty="0">
                <a:solidFill>
                  <a:srgbClr val="FFFFFF"/>
                </a:solidFill>
                <a:latin typeface="Calibri" pitchFamily="34" charset="0"/>
                <a:ea typeface="Calibri" pitchFamily="34" charset="-122"/>
                <a:cs typeface="Calibri" pitchFamily="34" charset="-120"/>
              </a:rPr>
              <a:t>Connect RDS</a:t>
            </a:r>
            <a:endParaRPr lang="en-US" sz="950" dirty="0"/>
          </a:p>
        </p:txBody>
      </p:sp>
      <p:sp>
        <p:nvSpPr>
          <p:cNvPr id="22" name="Text 20"/>
          <p:cNvSpPr/>
          <p:nvPr/>
        </p:nvSpPr>
        <p:spPr>
          <a:xfrm>
            <a:off x="6089904" y="1819656"/>
            <a:ext cx="1298448" cy="256032"/>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MySQL 8.0 database on AWS RDS</a:t>
            </a:r>
            <a:endParaRPr lang="en-US" sz="750" dirty="0"/>
          </a:p>
        </p:txBody>
      </p:sp>
      <p:sp>
        <p:nvSpPr>
          <p:cNvPr id="23" name="Shape 21"/>
          <p:cNvSpPr/>
          <p:nvPr/>
        </p:nvSpPr>
        <p:spPr>
          <a:xfrm>
            <a:off x="7388352" y="1709928"/>
            <a:ext cx="137160" cy="73152"/>
          </a:xfrm>
          <a:prstGeom prst="rect">
            <a:avLst/>
          </a:prstGeom>
          <a:solidFill>
            <a:srgbClr val="94A3B8"/>
          </a:solidFill>
          <a:ln w="12700">
            <a:solidFill>
              <a:srgbClr val="94A3B8"/>
            </a:solidFill>
            <a:prstDash val="solid"/>
          </a:ln>
        </p:spPr>
        <p:txBody>
          <a:bodyPr/>
          <a:lstStyle/>
          <a:p>
            <a:endParaRPr lang="en-US"/>
          </a:p>
        </p:txBody>
      </p:sp>
      <p:sp>
        <p:nvSpPr>
          <p:cNvPr id="24" name="Shape 22"/>
          <p:cNvSpPr/>
          <p:nvPr/>
        </p:nvSpPr>
        <p:spPr>
          <a:xfrm>
            <a:off x="7525512" y="1417320"/>
            <a:ext cx="1298448" cy="658368"/>
          </a:xfrm>
          <a:prstGeom prst="rect">
            <a:avLst/>
          </a:prstGeom>
          <a:solidFill>
            <a:srgbClr val="3BB77E"/>
          </a:solidFill>
          <a:ln w="12700">
            <a:solidFill>
              <a:srgbClr val="3BB77E"/>
            </a:solidFill>
            <a:prstDash val="solid"/>
          </a:ln>
        </p:spPr>
        <p:txBody>
          <a:bodyPr/>
          <a:lstStyle/>
          <a:p>
            <a:endParaRPr lang="en-US" dirty="0"/>
          </a:p>
        </p:txBody>
      </p:sp>
      <p:sp>
        <p:nvSpPr>
          <p:cNvPr id="25" name="Text 23"/>
          <p:cNvSpPr/>
          <p:nvPr/>
        </p:nvSpPr>
        <p:spPr>
          <a:xfrm>
            <a:off x="7525512" y="1417320"/>
            <a:ext cx="1298448" cy="402336"/>
          </a:xfrm>
          <a:prstGeom prst="rect">
            <a:avLst/>
          </a:prstGeom>
          <a:noFill/>
          <a:ln/>
        </p:spPr>
        <p:txBody>
          <a:bodyPr wrap="square" lIns="25400" tIns="25400" rIns="25400" bIns="25400" rtlCol="0" anchor="b"/>
          <a:lstStyle/>
          <a:p>
            <a:pPr marL="0" indent="0" algn="ctr">
              <a:buNone/>
            </a:pPr>
            <a:r>
              <a:rPr lang="en-US" sz="950" b="1" dirty="0">
                <a:solidFill>
                  <a:srgbClr val="FFFFFF"/>
                </a:solidFill>
                <a:latin typeface="Calibri" pitchFamily="34" charset="0"/>
                <a:ea typeface="Calibri" pitchFamily="34" charset="-122"/>
                <a:cs typeface="Calibri" pitchFamily="34" charset="-120"/>
              </a:rPr>
              <a:t>Live on AWS</a:t>
            </a:r>
            <a:endParaRPr lang="en-US" sz="950" dirty="0"/>
          </a:p>
        </p:txBody>
      </p:sp>
      <p:sp>
        <p:nvSpPr>
          <p:cNvPr id="26" name="Text 24"/>
          <p:cNvSpPr/>
          <p:nvPr/>
        </p:nvSpPr>
        <p:spPr>
          <a:xfrm>
            <a:off x="7525512" y="1819656"/>
            <a:ext cx="1298448" cy="256032"/>
          </a:xfrm>
          <a:prstGeom prst="rect">
            <a:avLst/>
          </a:prstGeom>
          <a:noFill/>
          <a:ln/>
        </p:spPr>
        <p:txBody>
          <a:bodyPr wrap="square" lIns="0" tIns="0" rIns="0" bIns="0" rtlCol="0" anchor="ctr"/>
          <a:lstStyle/>
          <a:p>
            <a:pPr marL="0" indent="0" algn="ctr">
              <a:buNone/>
            </a:pPr>
            <a:r>
              <a:rPr lang="en-US" sz="750" dirty="0">
                <a:solidFill>
                  <a:srgbClr val="CBD5E1"/>
                </a:solidFill>
                <a:latin typeface="Calibri" pitchFamily="34" charset="0"/>
                <a:ea typeface="Calibri" pitchFamily="34" charset="-122"/>
                <a:cs typeface="Calibri" pitchFamily="34" charset="-120"/>
              </a:rPr>
              <a:t>App live at:</a:t>
            </a:r>
            <a:br>
              <a:rPr lang="en-US" sz="750" dirty="0">
                <a:solidFill>
                  <a:srgbClr val="CBD5E1"/>
                </a:solidFill>
                <a:latin typeface="Calibri" pitchFamily="34" charset="0"/>
                <a:ea typeface="Calibri" pitchFamily="34" charset="-122"/>
                <a:cs typeface="Calibri" pitchFamily="34" charset="-120"/>
              </a:rPr>
            </a:br>
            <a:r>
              <a:rPr lang="en-US" sz="750" dirty="0">
                <a:solidFill>
                  <a:srgbClr val="CBD5E1"/>
                </a:solidFill>
                <a:latin typeface="Calibri" pitchFamily="34" charset="0"/>
                <a:ea typeface="Calibri" pitchFamily="34" charset="-122"/>
                <a:cs typeface="Calibri" pitchFamily="34" charset="-120"/>
              </a:rPr>
              <a:t>http://54.145.84.28:3000</a:t>
            </a:r>
            <a:endParaRPr lang="en-US" sz="750" dirty="0"/>
          </a:p>
        </p:txBody>
      </p:sp>
      <p:sp>
        <p:nvSpPr>
          <p:cNvPr id="27" name="Shape 25"/>
          <p:cNvSpPr/>
          <p:nvPr/>
        </p:nvSpPr>
        <p:spPr>
          <a:xfrm>
            <a:off x="365760" y="2331720"/>
            <a:ext cx="4114800" cy="1170432"/>
          </a:xfrm>
          <a:prstGeom prst="rect">
            <a:avLst/>
          </a:prstGeom>
          <a:solidFill>
            <a:srgbClr val="EFF6FF"/>
          </a:solidFill>
          <a:ln w="12700">
            <a:solidFill>
              <a:srgbClr val="BFDBFE"/>
            </a:solidFill>
            <a:prstDash val="solid"/>
          </a:ln>
          <a:effectLst>
            <a:outerShdw blurRad="101600" dist="25400" dir="8100000" algn="bl" rotWithShape="0">
              <a:srgbClr val="000000">
                <a:alpha val="7000"/>
              </a:srgbClr>
            </a:outerShdw>
          </a:effectLst>
        </p:spPr>
        <p:txBody>
          <a:bodyPr/>
          <a:lstStyle/>
          <a:p>
            <a:endParaRPr lang="en-US"/>
          </a:p>
        </p:txBody>
      </p:sp>
      <p:sp>
        <p:nvSpPr>
          <p:cNvPr id="28" name="Text 26"/>
          <p:cNvSpPr/>
          <p:nvPr/>
        </p:nvSpPr>
        <p:spPr>
          <a:xfrm>
            <a:off x="548639" y="2423160"/>
            <a:ext cx="1982419" cy="274320"/>
          </a:xfrm>
          <a:prstGeom prst="rect">
            <a:avLst/>
          </a:prstGeom>
          <a:noFill/>
          <a:ln/>
        </p:spPr>
        <p:txBody>
          <a:bodyPr wrap="square" lIns="0" tIns="0" rIns="0" bIns="0" rtlCol="0" anchor="ctr"/>
          <a:lstStyle/>
          <a:p>
            <a:r>
              <a:rPr lang="en-US" sz="1200" b="1" dirty="0">
                <a:solidFill>
                  <a:srgbClr val="1B2B5E"/>
                </a:solidFill>
                <a:latin typeface="Calibri" pitchFamily="34" charset="0"/>
                <a:ea typeface="Calibri" pitchFamily="34" charset="-122"/>
                <a:cs typeface="Calibri" pitchFamily="34" charset="-120"/>
              </a:rPr>
              <a:t>Run It Yourself:</a:t>
            </a:r>
            <a:endParaRPr lang="en-US" sz="1200" dirty="0"/>
          </a:p>
        </p:txBody>
      </p:sp>
      <p:sp>
        <p:nvSpPr>
          <p:cNvPr id="29" name="Text 27"/>
          <p:cNvSpPr/>
          <p:nvPr/>
        </p:nvSpPr>
        <p:spPr>
          <a:xfrm>
            <a:off x="548640" y="2743200"/>
            <a:ext cx="3749040" cy="274320"/>
          </a:xfrm>
          <a:prstGeom prst="rect">
            <a:avLst/>
          </a:prstGeom>
          <a:noFill/>
          <a:ln/>
        </p:spPr>
        <p:txBody>
          <a:bodyPr wrap="square" lIns="0" tIns="0" rIns="0" bIns="0" rtlCol="0" anchor="ctr"/>
          <a:lstStyle/>
          <a:p>
            <a:r>
              <a:rPr lang="en-US" sz="1100" dirty="0">
                <a:solidFill>
                  <a:srgbClr val="7C3AED"/>
                </a:solidFill>
                <a:latin typeface="Consolas" pitchFamily="34" charset="0"/>
                <a:ea typeface="Consolas" pitchFamily="34" charset="-122"/>
                <a:cs typeface="Consolas" pitchFamily="34" charset="-120"/>
              </a:rPr>
              <a:t>git clone + docker-compose up</a:t>
            </a:r>
            <a:endParaRPr lang="en-US" sz="1100" dirty="0"/>
          </a:p>
        </p:txBody>
      </p:sp>
      <p:sp>
        <p:nvSpPr>
          <p:cNvPr id="30" name="Text 28"/>
          <p:cNvSpPr/>
          <p:nvPr/>
        </p:nvSpPr>
        <p:spPr>
          <a:xfrm>
            <a:off x="548640" y="3054096"/>
            <a:ext cx="3749040" cy="320040"/>
          </a:xfrm>
          <a:prstGeom prst="rect">
            <a:avLst/>
          </a:prstGeom>
          <a:noFill/>
          <a:ln/>
        </p:spPr>
        <p:txBody>
          <a:bodyPr wrap="square" lIns="0" tIns="0" rIns="0" bIns="0" rtlCol="0" anchor="ctr"/>
          <a:lstStyle/>
          <a:p>
            <a:r>
              <a:rPr lang="en-US" sz="950" dirty="0">
                <a:solidFill>
                  <a:srgbClr val="6B7280"/>
                </a:solidFill>
                <a:latin typeface="Calibri" pitchFamily="34" charset="0"/>
                <a:ea typeface="Calibri" pitchFamily="34" charset="-122"/>
                <a:cs typeface="Calibri" pitchFamily="34" charset="-120"/>
              </a:rPr>
              <a:t>The full application runs locally in minutes. Clone the repo, run Docker Compose, and the stack is live.</a:t>
            </a:r>
            <a:endParaRPr lang="en-US" sz="950" dirty="0"/>
          </a:p>
        </p:txBody>
      </p:sp>
      <p:sp>
        <p:nvSpPr>
          <p:cNvPr id="31" name="Shape 29"/>
          <p:cNvSpPr/>
          <p:nvPr/>
        </p:nvSpPr>
        <p:spPr>
          <a:xfrm>
            <a:off x="4709160" y="2331720"/>
            <a:ext cx="4069080" cy="1170432"/>
          </a:xfrm>
          <a:prstGeom prst="rect">
            <a:avLst/>
          </a:prstGeom>
          <a:solidFill>
            <a:srgbClr val="F0FDF4"/>
          </a:solidFill>
          <a:ln w="12700">
            <a:solidFill>
              <a:srgbClr val="86EFAC"/>
            </a:solidFill>
            <a:prstDash val="solid"/>
          </a:ln>
          <a:effectLst>
            <a:outerShdw blurRad="101600" dist="25400" dir="8100000" algn="bl" rotWithShape="0">
              <a:srgbClr val="000000">
                <a:alpha val="7000"/>
              </a:srgbClr>
            </a:outerShdw>
          </a:effectLst>
        </p:spPr>
        <p:txBody>
          <a:bodyPr/>
          <a:lstStyle/>
          <a:p>
            <a:endParaRPr lang="en-US"/>
          </a:p>
        </p:txBody>
      </p:sp>
      <p:sp>
        <p:nvSpPr>
          <p:cNvPr id="32" name="Text 30"/>
          <p:cNvSpPr/>
          <p:nvPr/>
        </p:nvSpPr>
        <p:spPr>
          <a:xfrm>
            <a:off x="4892040" y="2423160"/>
            <a:ext cx="3200400" cy="274320"/>
          </a:xfrm>
          <a:prstGeom prst="rect">
            <a:avLst/>
          </a:prstGeom>
          <a:noFill/>
          <a:ln/>
        </p:spPr>
        <p:txBody>
          <a:bodyPr wrap="square" lIns="0" tIns="0" rIns="0" bIns="0" rtlCol="0" anchor="ctr"/>
          <a:lstStyle/>
          <a:p>
            <a:pPr marL="0" indent="0">
              <a:buNone/>
            </a:pPr>
            <a:r>
              <a:rPr lang="en-US" sz="1200" b="1" dirty="0">
                <a:solidFill>
                  <a:srgbClr val="1B2B5E"/>
                </a:solidFill>
                <a:latin typeface="Calibri" pitchFamily="34" charset="0"/>
                <a:ea typeface="Calibri" pitchFamily="34" charset="-122"/>
                <a:cs typeface="Calibri" pitchFamily="34" charset="-120"/>
              </a:rPr>
              <a:t>Deployment Target</a:t>
            </a:r>
            <a:endParaRPr lang="en-US" sz="1200" dirty="0"/>
          </a:p>
        </p:txBody>
      </p:sp>
      <p:sp>
        <p:nvSpPr>
          <p:cNvPr id="33" name="Text 31"/>
          <p:cNvSpPr/>
          <p:nvPr/>
        </p:nvSpPr>
        <p:spPr>
          <a:xfrm>
            <a:off x="4892040" y="2743200"/>
            <a:ext cx="3749040" cy="64008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AWS EC2 (app) + AWS RDS (MySQL)</a:t>
            </a:r>
            <a:endParaRPr lang="en-US" sz="1000" dirty="0"/>
          </a:p>
          <a:p>
            <a:pPr marL="0" indent="0">
              <a:buNone/>
            </a:pPr>
            <a:r>
              <a:rPr lang="en-US" sz="1000" dirty="0">
                <a:solidFill>
                  <a:srgbClr val="374151"/>
                </a:solidFill>
                <a:latin typeface="Calibri" pitchFamily="34" charset="0"/>
                <a:cs typeface="Calibri" pitchFamily="34" charset="-120"/>
              </a:rPr>
              <a:t>Dockerized frontend &amp; backend</a:t>
            </a:r>
            <a:endParaRPr lang="en-US" sz="1000" dirty="0"/>
          </a:p>
          <a:p>
            <a:pPr marL="0" indent="0">
              <a:buNone/>
            </a:pPr>
            <a:r>
              <a:rPr lang="en-US" sz="1000" dirty="0">
                <a:solidFill>
                  <a:srgbClr val="374151"/>
                </a:solidFill>
                <a:latin typeface="Calibri" pitchFamily="34" charset="0"/>
                <a:cs typeface="Calibri" pitchFamily="34" charset="-120"/>
              </a:rPr>
              <a:t>Environment Variables for secrets</a:t>
            </a:r>
            <a:endParaRPr lang="en-US" sz="1000" dirty="0"/>
          </a:p>
        </p:txBody>
      </p:sp>
      <p:sp>
        <p:nvSpPr>
          <p:cNvPr id="34" name="Shape 32"/>
          <p:cNvSpPr/>
          <p:nvPr/>
        </p:nvSpPr>
        <p:spPr>
          <a:xfrm>
            <a:off x="365760" y="3657600"/>
            <a:ext cx="8412480" cy="117043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35" name="Text 33"/>
          <p:cNvSpPr/>
          <p:nvPr/>
        </p:nvSpPr>
        <p:spPr>
          <a:xfrm>
            <a:off x="548639" y="3749040"/>
            <a:ext cx="2839453" cy="274320"/>
          </a:xfrm>
          <a:prstGeom prst="rect">
            <a:avLst/>
          </a:prstGeom>
          <a:noFill/>
          <a:ln/>
        </p:spPr>
        <p:txBody>
          <a:bodyPr wrap="square" lIns="0" tIns="0" rIns="0" bIns="0" rtlCol="0" anchor="ctr"/>
          <a:lstStyle/>
          <a:p>
            <a:r>
              <a:rPr lang="en-US" sz="1100" b="1" dirty="0">
                <a:solidFill>
                  <a:srgbClr val="1B2B5E"/>
                </a:solidFill>
                <a:latin typeface="Calibri" pitchFamily="34" charset="0"/>
                <a:ea typeface="Calibri" pitchFamily="34" charset="-122"/>
                <a:cs typeface="Calibri" pitchFamily="34" charset="-120"/>
              </a:rPr>
              <a:t>Link to Orderly: http://54.145.84.28:3000/</a:t>
            </a:r>
            <a:endParaRPr lang="en-US" sz="1100" dirty="0"/>
          </a:p>
        </p:txBody>
      </p:sp>
      <p:sp>
        <p:nvSpPr>
          <p:cNvPr id="36" name="Text 34"/>
          <p:cNvSpPr/>
          <p:nvPr/>
        </p:nvSpPr>
        <p:spPr>
          <a:xfrm>
            <a:off x="548640" y="4059936"/>
            <a:ext cx="8046720" cy="640080"/>
          </a:xfrm>
          <a:prstGeom prst="rect">
            <a:avLst/>
          </a:prstGeom>
          <a:noFill/>
          <a:ln/>
        </p:spPr>
        <p:txBody>
          <a:bodyPr wrap="square" lIns="0" tIns="0" rIns="0" bIns="0" rtlCol="0" anchor="ctr"/>
          <a:lstStyle/>
          <a:p>
            <a:r>
              <a:rPr lang="en-US" sz="1000" dirty="0">
                <a:solidFill>
                  <a:srgbClr val="374151"/>
                </a:solidFill>
                <a:latin typeface="Calibri" pitchFamily="34" charset="0"/>
                <a:cs typeface="Calibri" pitchFamily="34" charset="-120"/>
              </a:rPr>
              <a:t>Deployed April 25, 2026.</a:t>
            </a:r>
            <a:br>
              <a:rPr lang="en-US" sz="1000" dirty="0">
                <a:solidFill>
                  <a:srgbClr val="374151"/>
                </a:solidFill>
                <a:latin typeface="Calibri" pitchFamily="34" charset="0"/>
                <a:cs typeface="Calibri" pitchFamily="34" charset="-120"/>
              </a:rPr>
            </a:br>
            <a:r>
              <a:rPr lang="en-US" sz="1000" dirty="0">
                <a:solidFill>
                  <a:srgbClr val="374151"/>
                </a:solidFill>
                <a:latin typeface="Calibri" pitchFamily="34" charset="0"/>
                <a:cs typeface="Calibri" pitchFamily="34" charset="-120"/>
              </a:rPr>
              <a:t>AWS deployment is live and functional. Image rendering requires a final polish pass -- the local build is the recommended demo environment and reflects the full, complete experience.</a:t>
            </a:r>
            <a:endParaRPr lang="en-US" sz="1000" dirty="0"/>
          </a:p>
          <a:p>
            <a:pPr marL="0" indent="0">
              <a:buNone/>
            </a:pPr>
            <a:r>
              <a:rPr lang="en-US" sz="1000" dirty="0">
                <a:solidFill>
                  <a:srgbClr val="374151"/>
                </a:solidFill>
                <a:latin typeface="Calibri" pitchFamily="34" charset="0"/>
                <a:cs typeface="Calibri" pitchFamily="34" charset="-120"/>
              </a:rPr>
              <a:t> </a:t>
            </a:r>
            <a:endParaRPr lang="en-US" sz="1000" dirty="0"/>
          </a:p>
        </p:txBody>
      </p:sp>
      <p:sp>
        <p:nvSpPr>
          <p:cNvPr id="37" name="Text 2">
            <a:extLst>
              <a:ext uri="{FF2B5EF4-FFF2-40B4-BE49-F238E27FC236}">
                <a16:creationId xmlns:a16="http://schemas.microsoft.com/office/drawing/2014/main" id="{2CBB9275-92C1-853E-58CD-65D15166657B}"/>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Tristin Gatt</a:t>
            </a:r>
            <a:endParaRPr lang="en-US" sz="800" dirty="0"/>
          </a:p>
        </p:txBody>
      </p:sp>
      <p:sp>
        <p:nvSpPr>
          <p:cNvPr id="38" name="Text 3">
            <a:extLst>
              <a:ext uri="{FF2B5EF4-FFF2-40B4-BE49-F238E27FC236}">
                <a16:creationId xmlns:a16="http://schemas.microsoft.com/office/drawing/2014/main" id="{14EC1E94-0157-691C-546A-38B9A186586C}"/>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Software Architecture  &amp; Backend Lead</a:t>
            </a:r>
            <a:endParaRPr lang="en-US" sz="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by="(-#ppt_w*2)" calcmode="lin" valueType="num">
                                      <p:cBhvr rctx="PPT">
                                        <p:cTn id="7" dur="250" autoRev="1" fill="hold">
                                          <p:stCondLst>
                                            <p:cond delay="0"/>
                                          </p:stCondLst>
                                        </p:cTn>
                                        <p:tgtEl>
                                          <p:spTgt spid="3"/>
                                        </p:tgtEl>
                                        <p:attrNameLst>
                                          <p:attrName>ppt_w</p:attrName>
                                        </p:attrNameLst>
                                      </p:cBhvr>
                                    </p:anim>
                                    <p:anim by="(#ppt_w*0.50)" calcmode="lin" valueType="num">
                                      <p:cBhvr>
                                        <p:cTn id="8" dur="250" decel="50000" autoRev="1" fill="hold">
                                          <p:stCondLst>
                                            <p:cond delay="0"/>
                                          </p:stCondLst>
                                        </p:cTn>
                                        <p:tgtEl>
                                          <p:spTgt spid="3"/>
                                        </p:tgtEl>
                                        <p:attrNameLst>
                                          <p:attrName>ppt_x</p:attrName>
                                        </p:attrNameLst>
                                      </p:cBhvr>
                                    </p:anim>
                                    <p:anim from="(-#ppt_h/2)" to="(#ppt_y)" calcmode="lin" valueType="num">
                                      <p:cBhvr>
                                        <p:cTn id="9" dur="500" fill="hold">
                                          <p:stCondLst>
                                            <p:cond delay="0"/>
                                          </p:stCondLst>
                                        </p:cTn>
                                        <p:tgtEl>
                                          <p:spTgt spid="3"/>
                                        </p:tgtEl>
                                        <p:attrNameLst>
                                          <p:attrName>ppt_y</p:attrName>
                                        </p:attrNameLst>
                                      </p:cBhvr>
                                    </p:anim>
                                    <p:animRot by="21600000">
                                      <p:cBhvr>
                                        <p:cTn id="10" dur="500" fill="hold">
                                          <p:stCondLst>
                                            <p:cond delay="0"/>
                                          </p:stCondLst>
                                        </p:cTn>
                                        <p:tgtEl>
                                          <p:spTgt spid="3"/>
                                        </p:tgtEl>
                                        <p:attrNameLst>
                                          <p:attrName>r</p:attrName>
                                        </p:attrNameLst>
                                      </p:cBhvr>
                                    </p:animRot>
                                  </p:childTnLst>
                                </p:cTn>
                              </p:par>
                            </p:childTnLst>
                          </p:cTn>
                        </p:par>
                        <p:par>
                          <p:cTn id="11" fill="hold">
                            <p:stCondLst>
                              <p:cond delay="1500"/>
                            </p:stCondLst>
                            <p:childTnLst>
                              <p:par>
                                <p:cTn id="12" presetID="37" presetClass="entr" presetSubtype="0" fill="hold" grpId="0" nodeType="afterEffect">
                                  <p:stCondLst>
                                    <p:cond delay="300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1000"/>
                                        <p:tgtEl>
                                          <p:spTgt spid="27"/>
                                        </p:tgtEl>
                                      </p:cBhvr>
                                    </p:animEffect>
                                    <p:anim calcmode="lin" valueType="num">
                                      <p:cBhvr>
                                        <p:cTn id="15" dur="1000" fill="hold"/>
                                        <p:tgtEl>
                                          <p:spTgt spid="27"/>
                                        </p:tgtEl>
                                        <p:attrNameLst>
                                          <p:attrName>ppt_x</p:attrName>
                                        </p:attrNameLst>
                                      </p:cBhvr>
                                      <p:tavLst>
                                        <p:tav tm="0">
                                          <p:val>
                                            <p:strVal val="#ppt_x"/>
                                          </p:val>
                                        </p:tav>
                                        <p:tav tm="100000">
                                          <p:val>
                                            <p:strVal val="#ppt_x"/>
                                          </p:val>
                                        </p:tav>
                                      </p:tavLst>
                                    </p:anim>
                                    <p:anim calcmode="lin" valueType="num">
                                      <p:cBhvr>
                                        <p:cTn id="16" dur="900" decel="100000" fill="hold"/>
                                        <p:tgtEl>
                                          <p:spTgt spid="27"/>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27"/>
                                        </p:tgtEl>
                                        <p:attrNameLst>
                                          <p:attrName>ppt_y</p:attrName>
                                        </p:attrNameLst>
                                      </p:cBhvr>
                                      <p:tavLst>
                                        <p:tav tm="0">
                                          <p:val>
                                            <p:strVal val="#ppt_y-.03"/>
                                          </p:val>
                                        </p:tav>
                                        <p:tav tm="100000">
                                          <p:val>
                                            <p:strVal val="#ppt_y"/>
                                          </p:val>
                                        </p:tav>
                                      </p:tavLst>
                                    </p:anim>
                                  </p:childTnLst>
                                </p:cTn>
                              </p:par>
                            </p:childTnLst>
                          </p:cTn>
                        </p:par>
                        <p:par>
                          <p:cTn id="18" fill="hold">
                            <p:stCondLst>
                              <p:cond delay="5500"/>
                            </p:stCondLst>
                            <p:childTnLst>
                              <p:par>
                                <p:cTn id="19" presetID="37" presetClass="entr" presetSubtype="0"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1000"/>
                                        <p:tgtEl>
                                          <p:spTgt spid="28"/>
                                        </p:tgtEl>
                                      </p:cBhvr>
                                    </p:animEffect>
                                    <p:anim calcmode="lin" valueType="num">
                                      <p:cBhvr>
                                        <p:cTn id="22" dur="1000" fill="hold"/>
                                        <p:tgtEl>
                                          <p:spTgt spid="28"/>
                                        </p:tgtEl>
                                        <p:attrNameLst>
                                          <p:attrName>ppt_x</p:attrName>
                                        </p:attrNameLst>
                                      </p:cBhvr>
                                      <p:tavLst>
                                        <p:tav tm="0">
                                          <p:val>
                                            <p:strVal val="#ppt_x"/>
                                          </p:val>
                                        </p:tav>
                                        <p:tav tm="100000">
                                          <p:val>
                                            <p:strVal val="#ppt_x"/>
                                          </p:val>
                                        </p:tav>
                                      </p:tavLst>
                                    </p:anim>
                                    <p:anim calcmode="lin" valueType="num">
                                      <p:cBhvr>
                                        <p:cTn id="23" dur="900" decel="100000" fill="hold"/>
                                        <p:tgtEl>
                                          <p:spTgt spid="28"/>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28"/>
                                        </p:tgtEl>
                                        <p:attrNameLst>
                                          <p:attrName>ppt_y</p:attrName>
                                        </p:attrNameLst>
                                      </p:cBhvr>
                                      <p:tavLst>
                                        <p:tav tm="0">
                                          <p:val>
                                            <p:strVal val="#ppt_y-.03"/>
                                          </p:val>
                                        </p:tav>
                                        <p:tav tm="100000">
                                          <p:val>
                                            <p:strVal val="#ppt_y"/>
                                          </p:val>
                                        </p:tav>
                                      </p:tavLst>
                                    </p:anim>
                                  </p:childTnLst>
                                </p:cTn>
                              </p:par>
                            </p:childTnLst>
                          </p:cTn>
                        </p:par>
                        <p:par>
                          <p:cTn id="25" fill="hold">
                            <p:stCondLst>
                              <p:cond delay="6500"/>
                            </p:stCondLst>
                            <p:childTnLst>
                              <p:par>
                                <p:cTn id="26" presetID="37" presetClass="entr" presetSubtype="0" fill="hold" grpId="0" nodeType="after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900" decel="100000" fill="hold"/>
                                        <p:tgtEl>
                                          <p:spTgt spid="29"/>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29"/>
                                        </p:tgtEl>
                                        <p:attrNameLst>
                                          <p:attrName>ppt_y</p:attrName>
                                        </p:attrNameLst>
                                      </p:cBhvr>
                                      <p:tavLst>
                                        <p:tav tm="0">
                                          <p:val>
                                            <p:strVal val="#ppt_y-.03"/>
                                          </p:val>
                                        </p:tav>
                                        <p:tav tm="100000">
                                          <p:val>
                                            <p:strVal val="#ppt_y"/>
                                          </p:val>
                                        </p:tav>
                                      </p:tavLst>
                                    </p:anim>
                                  </p:childTnLst>
                                </p:cTn>
                              </p:par>
                            </p:childTnLst>
                          </p:cTn>
                        </p:par>
                        <p:par>
                          <p:cTn id="32" fill="hold">
                            <p:stCondLst>
                              <p:cond delay="7500"/>
                            </p:stCondLst>
                            <p:childTnLst>
                              <p:par>
                                <p:cTn id="33" presetID="37"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1000"/>
                                        <p:tgtEl>
                                          <p:spTgt spid="30"/>
                                        </p:tgtEl>
                                      </p:cBhvr>
                                    </p:animEffect>
                                    <p:anim calcmode="lin" valueType="num">
                                      <p:cBhvr>
                                        <p:cTn id="36" dur="1000" fill="hold"/>
                                        <p:tgtEl>
                                          <p:spTgt spid="30"/>
                                        </p:tgtEl>
                                        <p:attrNameLst>
                                          <p:attrName>ppt_x</p:attrName>
                                        </p:attrNameLst>
                                      </p:cBhvr>
                                      <p:tavLst>
                                        <p:tav tm="0">
                                          <p:val>
                                            <p:strVal val="#ppt_x"/>
                                          </p:val>
                                        </p:tav>
                                        <p:tav tm="100000">
                                          <p:val>
                                            <p:strVal val="#ppt_x"/>
                                          </p:val>
                                        </p:tav>
                                      </p:tavLst>
                                    </p:anim>
                                    <p:anim calcmode="lin" valueType="num">
                                      <p:cBhvr>
                                        <p:cTn id="37" dur="900" decel="100000" fill="hold"/>
                                        <p:tgtEl>
                                          <p:spTgt spid="30"/>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30"/>
                                        </p:tgtEl>
                                        <p:attrNameLst>
                                          <p:attrName>ppt_y</p:attrName>
                                        </p:attrNameLst>
                                      </p:cBhvr>
                                      <p:tavLst>
                                        <p:tav tm="0">
                                          <p:val>
                                            <p:strVal val="#ppt_y-.03"/>
                                          </p:val>
                                        </p:tav>
                                        <p:tav tm="100000">
                                          <p:val>
                                            <p:strVal val="#ppt_y"/>
                                          </p:val>
                                        </p:tav>
                                      </p:tavLst>
                                    </p:anim>
                                  </p:childTnLst>
                                </p:cTn>
                              </p:par>
                            </p:childTnLst>
                          </p:cTn>
                        </p:par>
                        <p:par>
                          <p:cTn id="39" fill="hold">
                            <p:stCondLst>
                              <p:cond delay="8500"/>
                            </p:stCondLst>
                            <p:childTnLst>
                              <p:par>
                                <p:cTn id="40" presetID="9" presetClass="entr" presetSubtype="0" fill="hold" nodeType="afterEffect">
                                  <p:stCondLst>
                                    <p:cond delay="1000"/>
                                  </p:stCondLst>
                                  <p:childTnLst>
                                    <p:set>
                                      <p:cBhvr>
                                        <p:cTn id="41" dur="1" fill="hold">
                                          <p:stCondLst>
                                            <p:cond delay="0"/>
                                          </p:stCondLst>
                                        </p:cTn>
                                        <p:tgtEl>
                                          <p:spTgt spid="35">
                                            <p:txEl>
                                              <p:pRg st="0" end="0"/>
                                            </p:txEl>
                                          </p:spTgt>
                                        </p:tgtEl>
                                        <p:attrNameLst>
                                          <p:attrName>style.visibility</p:attrName>
                                        </p:attrNameLst>
                                      </p:cBhvr>
                                      <p:to>
                                        <p:strVal val="visible"/>
                                      </p:to>
                                    </p:set>
                                    <p:animEffect transition="in" filter="dissolve">
                                      <p:cBhvr>
                                        <p:cTn id="42" dur="500"/>
                                        <p:tgtEl>
                                          <p:spTgt spid="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7" grpId="0" animBg="1"/>
      <p:bldP spid="28" grpId="0" animBg="1"/>
      <p:bldP spid="29" grpId="0" animBg="1"/>
      <p:bldP spid="3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TESTING &amp; QUALITY ASSURANCE</a:t>
            </a:r>
            <a:endParaRPr lang="en-US" sz="90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marL="0" indent="0" algn="l">
              <a:buNone/>
            </a:pPr>
            <a:r>
              <a:rPr lang="en-US" sz="3200" b="1" dirty="0">
                <a:solidFill>
                  <a:srgbClr val="1B2B5E"/>
                </a:solidFill>
                <a:latin typeface="Calibri" pitchFamily="34" charset="0"/>
                <a:ea typeface="Calibri" pitchFamily="34" charset="-122"/>
                <a:cs typeface="Calibri" pitchFamily="34" charset="-120"/>
              </a:rPr>
              <a:t>Our QA Strategy</a:t>
            </a:r>
            <a:endParaRPr lang="en-US" sz="3200" dirty="0"/>
          </a:p>
        </p:txBody>
      </p:sp>
      <p:sp>
        <p:nvSpPr>
          <p:cNvPr id="4" name="Shape 2"/>
          <p:cNvSpPr/>
          <p:nvPr/>
        </p:nvSpPr>
        <p:spPr>
          <a:xfrm>
            <a:off x="365760" y="1353312"/>
            <a:ext cx="2606040" cy="502920"/>
          </a:xfrm>
          <a:prstGeom prst="rect">
            <a:avLst/>
          </a:prstGeom>
          <a:solidFill>
            <a:srgbClr val="7C3AED"/>
          </a:solidFill>
          <a:ln w="12700">
            <a:solidFill>
              <a:srgbClr val="7C3AED"/>
            </a:solidFill>
            <a:prstDash val="solid"/>
          </a:ln>
        </p:spPr>
        <p:txBody>
          <a:bodyPr/>
          <a:lstStyle/>
          <a:p>
            <a:endParaRPr lang="en-US" dirty="0"/>
          </a:p>
        </p:txBody>
      </p:sp>
      <p:pic>
        <p:nvPicPr>
          <p:cNvPr id="5" name="Image 0" descr="preencoded.png"/>
          <p:cNvPicPr>
            <a:picLocks noChangeAspect="1"/>
          </p:cNvPicPr>
          <p:nvPr/>
        </p:nvPicPr>
        <p:blipFill>
          <a:blip r:embed="rId3"/>
          <a:stretch>
            <a:fillRect/>
          </a:stretch>
        </p:blipFill>
        <p:spPr>
          <a:xfrm>
            <a:off x="502920" y="1426464"/>
            <a:ext cx="347472" cy="347472"/>
          </a:xfrm>
          <a:prstGeom prst="rect">
            <a:avLst/>
          </a:prstGeom>
        </p:spPr>
      </p:pic>
      <p:sp>
        <p:nvSpPr>
          <p:cNvPr id="6" name="Text 3"/>
          <p:cNvSpPr/>
          <p:nvPr/>
        </p:nvSpPr>
        <p:spPr>
          <a:xfrm>
            <a:off x="932688" y="1353312"/>
            <a:ext cx="192024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cs typeface="Calibri" pitchFamily="34" charset="-120"/>
              </a:rPr>
              <a:t>Frontend Component Testing</a:t>
            </a:r>
            <a:endParaRPr lang="en-US" sz="1400" dirty="0"/>
          </a:p>
        </p:txBody>
      </p:sp>
      <p:sp>
        <p:nvSpPr>
          <p:cNvPr id="7" name="Shape 4"/>
          <p:cNvSpPr/>
          <p:nvPr/>
        </p:nvSpPr>
        <p:spPr>
          <a:xfrm>
            <a:off x="365760" y="1920240"/>
            <a:ext cx="2606040" cy="137160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8" name="Text 5"/>
          <p:cNvSpPr/>
          <p:nvPr/>
        </p:nvSpPr>
        <p:spPr>
          <a:xfrm>
            <a:off x="502920" y="2011680"/>
            <a:ext cx="2331720" cy="256032"/>
          </a:xfrm>
          <a:prstGeom prst="rect">
            <a:avLst/>
          </a:prstGeom>
          <a:noFill/>
          <a:ln/>
        </p:spPr>
        <p:txBody>
          <a:bodyPr wrap="square" lIns="0" tIns="0" rIns="0" bIns="0"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Tool: Jest + React</a:t>
            </a:r>
            <a:endParaRPr lang="en-US" sz="1000" dirty="0"/>
          </a:p>
        </p:txBody>
      </p:sp>
      <p:sp>
        <p:nvSpPr>
          <p:cNvPr id="9" name="Text 6"/>
          <p:cNvSpPr/>
          <p:nvPr/>
        </p:nvSpPr>
        <p:spPr>
          <a:xfrm>
            <a:off x="502920" y="2304288"/>
            <a:ext cx="2331720" cy="91440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626 Automated test passed</a:t>
            </a:r>
          </a:p>
          <a:p>
            <a:pPr marL="0" indent="0">
              <a:buNone/>
            </a:pPr>
            <a:r>
              <a:rPr lang="en-US" sz="1000" dirty="0">
                <a:solidFill>
                  <a:srgbClr val="374151"/>
                </a:solidFill>
                <a:latin typeface="Calibri" pitchFamily="34" charset="0"/>
                <a:cs typeface="Calibri" pitchFamily="34" charset="-120"/>
              </a:rPr>
              <a:t>54 Test Suites passing</a:t>
            </a:r>
          </a:p>
          <a:p>
            <a:pPr marL="0" indent="0">
              <a:buNone/>
            </a:pPr>
            <a:r>
              <a:rPr lang="en-US" sz="1000" dirty="0">
                <a:solidFill>
                  <a:srgbClr val="374151"/>
                </a:solidFill>
                <a:latin typeface="Calibri" pitchFamily="34" charset="0"/>
                <a:cs typeface="Calibri" pitchFamily="34" charset="-120"/>
              </a:rPr>
              <a:t>90%+ Test Coverage</a:t>
            </a:r>
          </a:p>
          <a:p>
            <a:pPr marL="0" indent="0">
              <a:buNone/>
            </a:pPr>
            <a:r>
              <a:rPr lang="en-US" sz="1000" dirty="0">
                <a:solidFill>
                  <a:srgbClr val="374151"/>
                </a:solidFill>
                <a:latin typeface="Calibri" pitchFamily="34" charset="0"/>
                <a:cs typeface="Calibri" pitchFamily="34" charset="-120"/>
              </a:rPr>
              <a:t>UI, Routing, Validation, Admin pages tested</a:t>
            </a:r>
            <a:endParaRPr lang="en-US" sz="1000" dirty="0"/>
          </a:p>
        </p:txBody>
      </p:sp>
      <p:sp>
        <p:nvSpPr>
          <p:cNvPr id="10" name="Shape 7"/>
          <p:cNvSpPr/>
          <p:nvPr/>
        </p:nvSpPr>
        <p:spPr>
          <a:xfrm>
            <a:off x="3200400" y="1353312"/>
            <a:ext cx="2606040" cy="502920"/>
          </a:xfrm>
          <a:prstGeom prst="rect">
            <a:avLst/>
          </a:prstGeom>
          <a:solidFill>
            <a:srgbClr val="1B2B5E"/>
          </a:solidFill>
          <a:ln w="12700">
            <a:solidFill>
              <a:srgbClr val="1B2B5E"/>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337560" y="1426464"/>
            <a:ext cx="347472" cy="347472"/>
          </a:xfrm>
          <a:prstGeom prst="rect">
            <a:avLst/>
          </a:prstGeom>
        </p:spPr>
      </p:pic>
      <p:sp>
        <p:nvSpPr>
          <p:cNvPr id="12" name="Text 8"/>
          <p:cNvSpPr/>
          <p:nvPr/>
        </p:nvSpPr>
        <p:spPr>
          <a:xfrm>
            <a:off x="3767328" y="1353312"/>
            <a:ext cx="192024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Backend/API Testing</a:t>
            </a:r>
            <a:endParaRPr lang="en-US" sz="1400" dirty="0"/>
          </a:p>
        </p:txBody>
      </p:sp>
      <p:sp>
        <p:nvSpPr>
          <p:cNvPr id="13" name="Shape 9"/>
          <p:cNvSpPr/>
          <p:nvPr/>
        </p:nvSpPr>
        <p:spPr>
          <a:xfrm>
            <a:off x="3200400" y="1920240"/>
            <a:ext cx="2606040" cy="137160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14" name="Text 10"/>
          <p:cNvSpPr/>
          <p:nvPr/>
        </p:nvSpPr>
        <p:spPr>
          <a:xfrm>
            <a:off x="3337560" y="2011680"/>
            <a:ext cx="2331720" cy="256032"/>
          </a:xfrm>
          <a:prstGeom prst="rect">
            <a:avLst/>
          </a:prstGeom>
          <a:noFill/>
          <a:ln/>
        </p:spPr>
        <p:txBody>
          <a:bodyPr wrap="square" lIns="0" tIns="0" rIns="0" bIns="0" rtlCol="0" anchor="ctr"/>
          <a:lstStyle/>
          <a:p>
            <a:pPr marL="0" indent="0">
              <a:buNone/>
            </a:pPr>
            <a:r>
              <a:rPr lang="en-US" sz="1000" b="1" dirty="0">
                <a:solidFill>
                  <a:srgbClr val="1B2B5E"/>
                </a:solidFill>
                <a:latin typeface="Calibri" pitchFamily="34" charset="0"/>
                <a:ea typeface="Calibri" pitchFamily="34" charset="-122"/>
                <a:cs typeface="Calibri" pitchFamily="34" charset="-120"/>
              </a:rPr>
              <a:t>Tool: PyTest + DRF</a:t>
            </a:r>
            <a:endParaRPr lang="en-US" sz="1000" dirty="0"/>
          </a:p>
        </p:txBody>
      </p:sp>
      <p:sp>
        <p:nvSpPr>
          <p:cNvPr id="15" name="Text 11"/>
          <p:cNvSpPr/>
          <p:nvPr/>
        </p:nvSpPr>
        <p:spPr>
          <a:xfrm>
            <a:off x="3337560" y="2304288"/>
            <a:ext cx="2331720" cy="91440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301 Automated tests passed</a:t>
            </a:r>
            <a:endParaRPr lang="en-US" sz="1000" dirty="0"/>
          </a:p>
          <a:p>
            <a:pPr marL="0" indent="0">
              <a:buNone/>
            </a:pPr>
            <a:r>
              <a:rPr lang="en-US" sz="1000" dirty="0">
                <a:solidFill>
                  <a:srgbClr val="374151"/>
                </a:solidFill>
                <a:latin typeface="Calibri" pitchFamily="34" charset="0"/>
                <a:cs typeface="Calibri" pitchFamily="34" charset="-120"/>
              </a:rPr>
              <a:t>90%+ Backend Test Coverage</a:t>
            </a:r>
          </a:p>
          <a:p>
            <a:pPr marL="0" indent="0">
              <a:buNone/>
            </a:pPr>
            <a:r>
              <a:rPr lang="en-US" sz="1000" dirty="0">
                <a:solidFill>
                  <a:srgbClr val="374151"/>
                </a:solidFill>
                <a:latin typeface="Calibri" pitchFamily="34" charset="0"/>
                <a:cs typeface="Calibri" pitchFamily="34" charset="-120"/>
              </a:rPr>
              <a:t>API Validation, RBAC, Inventory tested</a:t>
            </a:r>
          </a:p>
          <a:p>
            <a:pPr marL="0" indent="0">
              <a:buNone/>
            </a:pPr>
            <a:r>
              <a:rPr lang="en-US" sz="1000" dirty="0">
                <a:solidFill>
                  <a:srgbClr val="374151"/>
                </a:solidFill>
                <a:latin typeface="Calibri" pitchFamily="34" charset="0"/>
                <a:cs typeface="Calibri" pitchFamily="34" charset="-120"/>
              </a:rPr>
              <a:t>Contract and Edge-Case coverage</a:t>
            </a:r>
            <a:endParaRPr lang="en-US" sz="1000" dirty="0"/>
          </a:p>
        </p:txBody>
      </p:sp>
      <p:sp>
        <p:nvSpPr>
          <p:cNvPr id="16" name="Shape 12"/>
          <p:cNvSpPr/>
          <p:nvPr/>
        </p:nvSpPr>
        <p:spPr>
          <a:xfrm>
            <a:off x="6035040" y="1353312"/>
            <a:ext cx="2606040" cy="502920"/>
          </a:xfrm>
          <a:prstGeom prst="rect">
            <a:avLst/>
          </a:prstGeom>
          <a:solidFill>
            <a:srgbClr val="10B981"/>
          </a:solidFill>
          <a:ln w="12700">
            <a:solidFill>
              <a:srgbClr val="10B981"/>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172200" y="1426464"/>
            <a:ext cx="347472" cy="347472"/>
          </a:xfrm>
          <a:prstGeom prst="rect">
            <a:avLst/>
          </a:prstGeom>
        </p:spPr>
      </p:pic>
      <p:sp>
        <p:nvSpPr>
          <p:cNvPr id="18" name="Text 13"/>
          <p:cNvSpPr/>
          <p:nvPr/>
        </p:nvSpPr>
        <p:spPr>
          <a:xfrm>
            <a:off x="6601968" y="1353312"/>
            <a:ext cx="1920240" cy="5029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End-to-End Testing</a:t>
            </a:r>
            <a:endParaRPr lang="en-US" sz="1400" dirty="0"/>
          </a:p>
        </p:txBody>
      </p:sp>
      <p:sp>
        <p:nvSpPr>
          <p:cNvPr id="19" name="Shape 14"/>
          <p:cNvSpPr/>
          <p:nvPr/>
        </p:nvSpPr>
        <p:spPr>
          <a:xfrm>
            <a:off x="6035040" y="1920240"/>
            <a:ext cx="2606040" cy="1371600"/>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20" name="Text 15"/>
          <p:cNvSpPr/>
          <p:nvPr/>
        </p:nvSpPr>
        <p:spPr>
          <a:xfrm>
            <a:off x="6172200" y="2011680"/>
            <a:ext cx="2331720" cy="256032"/>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Tool: Robot Framework</a:t>
            </a:r>
            <a:endParaRPr lang="en-US" sz="1000" dirty="0"/>
          </a:p>
        </p:txBody>
      </p:sp>
      <p:sp>
        <p:nvSpPr>
          <p:cNvPr id="21" name="Text 16"/>
          <p:cNvSpPr/>
          <p:nvPr/>
        </p:nvSpPr>
        <p:spPr>
          <a:xfrm>
            <a:off x="6172200" y="2304288"/>
            <a:ext cx="2331720" cy="91440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166 Automated Tests passed</a:t>
            </a:r>
          </a:p>
          <a:p>
            <a:pPr marL="0" indent="0">
              <a:buNone/>
            </a:pPr>
            <a:r>
              <a:rPr lang="en-US" sz="1000" dirty="0">
                <a:solidFill>
                  <a:srgbClr val="374151"/>
                </a:solidFill>
                <a:latin typeface="Calibri" pitchFamily="34" charset="0"/>
                <a:cs typeface="Calibri" pitchFamily="34" charset="-120"/>
              </a:rPr>
              <a:t>Critical Customer Workflows validated</a:t>
            </a:r>
          </a:p>
          <a:p>
            <a:pPr marL="0" indent="0">
              <a:buNone/>
            </a:pPr>
            <a:r>
              <a:rPr lang="en-US" sz="1000" dirty="0"/>
              <a:t>Admin Workflows and Regression coverage</a:t>
            </a:r>
          </a:p>
          <a:p>
            <a:pPr marL="0" indent="0">
              <a:buNone/>
            </a:pPr>
            <a:r>
              <a:rPr lang="en-US" sz="1000" dirty="0"/>
              <a:t>100% pass rate</a:t>
            </a:r>
          </a:p>
        </p:txBody>
      </p:sp>
      <p:sp>
        <p:nvSpPr>
          <p:cNvPr id="22" name="Shape 17"/>
          <p:cNvSpPr/>
          <p:nvPr/>
        </p:nvSpPr>
        <p:spPr>
          <a:xfrm>
            <a:off x="365760" y="3493008"/>
            <a:ext cx="8412480" cy="1325880"/>
          </a:xfrm>
          <a:prstGeom prst="rect">
            <a:avLst/>
          </a:prstGeom>
          <a:solidFill>
            <a:srgbClr val="ECFDF5"/>
          </a:solidFill>
          <a:ln w="12700">
            <a:solidFill>
              <a:srgbClr val="6EE7B7"/>
            </a:solidFill>
            <a:prstDash val="solid"/>
          </a:ln>
          <a:effectLst>
            <a:outerShdw blurRad="101600" dist="25400" dir="8100000" algn="bl" rotWithShape="0">
              <a:srgbClr val="000000">
                <a:alpha val="7000"/>
              </a:srgbClr>
            </a:outerShdw>
          </a:effectLst>
        </p:spPr>
        <p:txBody>
          <a:bodyPr/>
          <a:lstStyle/>
          <a:p>
            <a:endParaRPr lang="en-US"/>
          </a:p>
        </p:txBody>
      </p:sp>
      <p:pic>
        <p:nvPicPr>
          <p:cNvPr id="23" name="Image 3" descr="preencoded.png"/>
          <p:cNvPicPr>
            <a:picLocks noChangeAspect="1"/>
          </p:cNvPicPr>
          <p:nvPr/>
        </p:nvPicPr>
        <p:blipFill>
          <a:blip r:embed="rId6"/>
          <a:stretch>
            <a:fillRect/>
          </a:stretch>
        </p:blipFill>
        <p:spPr>
          <a:xfrm>
            <a:off x="548640" y="3703320"/>
            <a:ext cx="438912" cy="438912"/>
          </a:xfrm>
          <a:prstGeom prst="rect">
            <a:avLst/>
          </a:prstGeom>
        </p:spPr>
      </p:pic>
      <p:sp>
        <p:nvSpPr>
          <p:cNvPr id="24" name="Text 18"/>
          <p:cNvSpPr/>
          <p:nvPr/>
        </p:nvSpPr>
        <p:spPr>
          <a:xfrm>
            <a:off x="1115568" y="3611880"/>
            <a:ext cx="3657600" cy="221285"/>
          </a:xfrm>
          <a:prstGeom prst="rect">
            <a:avLst/>
          </a:prstGeom>
          <a:noFill/>
          <a:ln/>
        </p:spPr>
        <p:txBody>
          <a:bodyPr wrap="square" lIns="0" tIns="0" rIns="0" bIns="0" rtlCol="0" anchor="ctr"/>
          <a:lstStyle/>
          <a:p>
            <a:pPr marL="0" indent="0">
              <a:buNone/>
            </a:pPr>
            <a:r>
              <a:rPr lang="en-US" sz="1200" b="1" dirty="0">
                <a:solidFill>
                  <a:srgbClr val="1B2B5E"/>
                </a:solidFill>
                <a:latin typeface="Calibri" pitchFamily="34" charset="0"/>
                <a:ea typeface="Calibri" pitchFamily="34" charset="-122"/>
                <a:cs typeface="Calibri" pitchFamily="34" charset="-120"/>
              </a:rPr>
              <a:t>QA Lead: Kenny Bacdayan</a:t>
            </a:r>
            <a:endParaRPr lang="en-US" sz="1200" dirty="0"/>
          </a:p>
        </p:txBody>
      </p:sp>
      <p:sp>
        <p:nvSpPr>
          <p:cNvPr id="25" name="Text 19"/>
          <p:cNvSpPr/>
          <p:nvPr/>
        </p:nvSpPr>
        <p:spPr>
          <a:xfrm>
            <a:off x="1115568" y="3931920"/>
            <a:ext cx="7315200" cy="736092"/>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Lead  the quality assurance strategy and test suite across all five sprints. Authored test plans, test cases, acceptance coverage reports, automated test coverage, and CI regression validation. Owned end-to-end QA coordination and helped drive release readiness with no critical defects open. </a:t>
            </a:r>
          </a:p>
          <a:p>
            <a:pPr marL="0" indent="0">
              <a:buNone/>
            </a:pPr>
            <a:r>
              <a:rPr lang="en-US" sz="1000" dirty="0">
                <a:solidFill>
                  <a:srgbClr val="374151"/>
                </a:solidFill>
                <a:latin typeface="Calibri" pitchFamily="34" charset="0"/>
                <a:ea typeface="Calibri" pitchFamily="34" charset="-122"/>
                <a:cs typeface="Calibri" pitchFamily="34" charset="-120"/>
              </a:rPr>
              <a:t>Thorough and consistent throughout.</a:t>
            </a:r>
            <a:br>
              <a:rPr lang="en-US" sz="1000" dirty="0">
                <a:solidFill>
                  <a:srgbClr val="374151"/>
                </a:solidFill>
                <a:latin typeface="Calibri" pitchFamily="34" charset="0"/>
                <a:ea typeface="Calibri" pitchFamily="34" charset="-122"/>
                <a:cs typeface="Calibri" pitchFamily="34" charset="-120"/>
              </a:rPr>
            </a:br>
            <a:br>
              <a:rPr lang="en-US" sz="1000" dirty="0">
                <a:solidFill>
                  <a:srgbClr val="374151"/>
                </a:solidFill>
                <a:latin typeface="Calibri" pitchFamily="34" charset="0"/>
                <a:ea typeface="Calibri" pitchFamily="34" charset="-122"/>
                <a:cs typeface="Calibri" pitchFamily="34" charset="-120"/>
              </a:rPr>
            </a:br>
            <a:r>
              <a:rPr lang="en-US" sz="1000" b="1" dirty="0">
                <a:solidFill>
                  <a:srgbClr val="374151"/>
                </a:solidFill>
                <a:latin typeface="Calibri" pitchFamily="34" charset="0"/>
                <a:ea typeface="Calibri" pitchFamily="34" charset="-122"/>
                <a:cs typeface="Calibri" pitchFamily="34" charset="-120"/>
              </a:rPr>
              <a:t>Results: </a:t>
            </a:r>
            <a:r>
              <a:rPr lang="en-US" sz="1000" b="1" dirty="0">
                <a:solidFill>
                  <a:schemeClr val="accent6"/>
                </a:solidFill>
                <a:latin typeface="Calibri" pitchFamily="34" charset="0"/>
                <a:ea typeface="Calibri" pitchFamily="34" charset="-122"/>
                <a:cs typeface="Calibri" pitchFamily="34" charset="-120"/>
              </a:rPr>
              <a:t>90%</a:t>
            </a:r>
            <a:r>
              <a:rPr lang="en-US" sz="1000" dirty="0">
                <a:solidFill>
                  <a:srgbClr val="374151"/>
                </a:solidFill>
                <a:latin typeface="Calibri" pitchFamily="34" charset="0"/>
                <a:ea typeface="Calibri" pitchFamily="34" charset="-122"/>
                <a:cs typeface="Calibri" pitchFamily="34" charset="-120"/>
              </a:rPr>
              <a:t> test coverage achieved.</a:t>
            </a:r>
            <a:endParaRPr lang="en-US" sz="1000" dirty="0"/>
          </a:p>
        </p:txBody>
      </p:sp>
      <p:sp>
        <p:nvSpPr>
          <p:cNvPr id="26" name="Text 2">
            <a:extLst>
              <a:ext uri="{FF2B5EF4-FFF2-40B4-BE49-F238E27FC236}">
                <a16:creationId xmlns:a16="http://schemas.microsoft.com/office/drawing/2014/main" id="{1C7E3651-284E-1D36-B013-5B8020B37EF9}"/>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Kenny Bacdayan</a:t>
            </a:r>
            <a:endParaRPr lang="en-US" sz="800" dirty="0"/>
          </a:p>
        </p:txBody>
      </p:sp>
      <p:sp>
        <p:nvSpPr>
          <p:cNvPr id="27" name="Text 3">
            <a:extLst>
              <a:ext uri="{FF2B5EF4-FFF2-40B4-BE49-F238E27FC236}">
                <a16:creationId xmlns:a16="http://schemas.microsoft.com/office/drawing/2014/main" id="{C3BF64B5-6C68-0CA2-D527-EE038E4429D0}"/>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Quality Assurance &amp; Testing Lead</a:t>
            </a:r>
            <a:endParaRPr lang="en-US" sz="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1000"/>
                                        <p:tgtEl>
                                          <p:spTgt spid="3"/>
                                        </p:tgtEl>
                                      </p:cBhvr>
                                    </p:animEffect>
                                  </p:childTnLst>
                                </p:cTn>
                              </p:par>
                            </p:childTnLst>
                          </p:cTn>
                        </p:par>
                        <p:par>
                          <p:cTn id="8" fill="hold">
                            <p:stCondLst>
                              <p:cond delay="10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2"/>
                                        </p:tgtEl>
                                        <p:attrNameLst>
                                          <p:attrName>ppt_y</p:attrName>
                                        </p:attrNameLst>
                                      </p:cBhvr>
                                      <p:tavLst>
                                        <p:tav tm="0">
                                          <p:val>
                                            <p:strVal val="#ppt_y"/>
                                          </p:val>
                                        </p:tav>
                                        <p:tav tm="100000">
                                          <p:val>
                                            <p:strVal val="#ppt_y"/>
                                          </p:val>
                                        </p:tav>
                                      </p:tavLst>
                                    </p:anim>
                                    <p:anim calcmode="lin" valueType="num">
                                      <p:cBhvr>
                                        <p:cTn id="13"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2"/>
                                        </p:tgtEl>
                                      </p:cBhvr>
                                    </p:animEffect>
                                  </p:childTnLst>
                                </p:cTn>
                              </p:par>
                            </p:childTnLst>
                          </p:cTn>
                        </p:par>
                        <p:par>
                          <p:cTn id="16" fill="hold">
                            <p:stCondLst>
                              <p:cond delay="2650"/>
                            </p:stCondLst>
                            <p:childTnLst>
                              <p:par>
                                <p:cTn id="17" presetID="2" presetClass="entr" presetSubtype="4"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par>
                          <p:cTn id="21" fill="hold">
                            <p:stCondLst>
                              <p:cond delay="3150"/>
                            </p:stCondLst>
                            <p:childTnLst>
                              <p:par>
                                <p:cTn id="22" presetID="2" presetClass="entr" presetSubtype="4"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childTnLst>
                          </p:cTn>
                        </p:par>
                        <p:par>
                          <p:cTn id="26" fill="hold">
                            <p:stCondLst>
                              <p:cond delay="3650"/>
                            </p:stCondLst>
                            <p:childTnLst>
                              <p:par>
                                <p:cTn id="27" presetID="2" presetClass="entr" presetSubtype="4" fill="hold" grpId="0" nodeType="afterEffect">
                                  <p:stCondLst>
                                    <p:cond delay="150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par>
                          <p:cTn id="31" fill="hold">
                            <p:stCondLst>
                              <p:cond delay="5650"/>
                            </p:stCondLst>
                            <p:childTnLst>
                              <p:par>
                                <p:cTn id="32" presetID="2" presetClass="entr" presetSubtype="4"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fill="hold"/>
                                        <p:tgtEl>
                                          <p:spTgt spid="15"/>
                                        </p:tgtEl>
                                        <p:attrNameLst>
                                          <p:attrName>ppt_x</p:attrName>
                                        </p:attrNameLst>
                                      </p:cBhvr>
                                      <p:tavLst>
                                        <p:tav tm="0">
                                          <p:val>
                                            <p:strVal val="#ppt_x"/>
                                          </p:val>
                                        </p:tav>
                                        <p:tav tm="100000">
                                          <p:val>
                                            <p:strVal val="#ppt_x"/>
                                          </p:val>
                                        </p:tav>
                                      </p:tavLst>
                                    </p:anim>
                                    <p:anim calcmode="lin" valueType="num">
                                      <p:cBhvr additive="base">
                                        <p:cTn id="35" dur="500" fill="hold"/>
                                        <p:tgtEl>
                                          <p:spTgt spid="15"/>
                                        </p:tgtEl>
                                        <p:attrNameLst>
                                          <p:attrName>ppt_y</p:attrName>
                                        </p:attrNameLst>
                                      </p:cBhvr>
                                      <p:tavLst>
                                        <p:tav tm="0">
                                          <p:val>
                                            <p:strVal val="1+#ppt_h/2"/>
                                          </p:val>
                                        </p:tav>
                                        <p:tav tm="100000">
                                          <p:val>
                                            <p:strVal val="#ppt_y"/>
                                          </p:val>
                                        </p:tav>
                                      </p:tavLst>
                                    </p:anim>
                                  </p:childTnLst>
                                </p:cTn>
                              </p:par>
                            </p:childTnLst>
                          </p:cTn>
                        </p:par>
                        <p:par>
                          <p:cTn id="36" fill="hold">
                            <p:stCondLst>
                              <p:cond delay="6150"/>
                            </p:stCondLst>
                            <p:childTnLst>
                              <p:par>
                                <p:cTn id="37" presetID="37" presetClass="entr" presetSubtype="0" fill="hold" grpId="0" nodeType="afterEffect">
                                  <p:stCondLst>
                                    <p:cond delay="150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1000"/>
                                        <p:tgtEl>
                                          <p:spTgt spid="20"/>
                                        </p:tgtEl>
                                      </p:cBhvr>
                                    </p:animEffect>
                                    <p:anim calcmode="lin" valueType="num">
                                      <p:cBhvr>
                                        <p:cTn id="40" dur="1000" fill="hold"/>
                                        <p:tgtEl>
                                          <p:spTgt spid="20"/>
                                        </p:tgtEl>
                                        <p:attrNameLst>
                                          <p:attrName>ppt_x</p:attrName>
                                        </p:attrNameLst>
                                      </p:cBhvr>
                                      <p:tavLst>
                                        <p:tav tm="0">
                                          <p:val>
                                            <p:strVal val="#ppt_x"/>
                                          </p:val>
                                        </p:tav>
                                        <p:tav tm="100000">
                                          <p:val>
                                            <p:strVal val="#ppt_x"/>
                                          </p:val>
                                        </p:tav>
                                      </p:tavLst>
                                    </p:anim>
                                    <p:anim calcmode="lin" valueType="num">
                                      <p:cBhvr>
                                        <p:cTn id="41" dur="900" decel="100000" fill="hold"/>
                                        <p:tgtEl>
                                          <p:spTgt spid="20"/>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20"/>
                                        </p:tgtEl>
                                        <p:attrNameLst>
                                          <p:attrName>ppt_y</p:attrName>
                                        </p:attrNameLst>
                                      </p:cBhvr>
                                      <p:tavLst>
                                        <p:tav tm="0">
                                          <p:val>
                                            <p:strVal val="#ppt_y-.03"/>
                                          </p:val>
                                        </p:tav>
                                        <p:tav tm="100000">
                                          <p:val>
                                            <p:strVal val="#ppt_y"/>
                                          </p:val>
                                        </p:tav>
                                      </p:tavLst>
                                    </p:anim>
                                  </p:childTnLst>
                                </p:cTn>
                              </p:par>
                            </p:childTnLst>
                          </p:cTn>
                        </p:par>
                        <p:par>
                          <p:cTn id="43" fill="hold">
                            <p:stCondLst>
                              <p:cond delay="8650"/>
                            </p:stCondLst>
                            <p:childTnLst>
                              <p:par>
                                <p:cTn id="44" presetID="37" presetClass="entr" presetSubtype="0" fill="hold" grpId="0"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1000"/>
                                        <p:tgtEl>
                                          <p:spTgt spid="21"/>
                                        </p:tgtEl>
                                      </p:cBhvr>
                                    </p:animEffect>
                                    <p:anim calcmode="lin" valueType="num">
                                      <p:cBhvr>
                                        <p:cTn id="47" dur="1000" fill="hold"/>
                                        <p:tgtEl>
                                          <p:spTgt spid="21"/>
                                        </p:tgtEl>
                                        <p:attrNameLst>
                                          <p:attrName>ppt_x</p:attrName>
                                        </p:attrNameLst>
                                      </p:cBhvr>
                                      <p:tavLst>
                                        <p:tav tm="0">
                                          <p:val>
                                            <p:strVal val="#ppt_x"/>
                                          </p:val>
                                        </p:tav>
                                        <p:tav tm="100000">
                                          <p:val>
                                            <p:strVal val="#ppt_x"/>
                                          </p:val>
                                        </p:tav>
                                      </p:tavLst>
                                    </p:anim>
                                    <p:anim calcmode="lin" valueType="num">
                                      <p:cBhvr>
                                        <p:cTn id="48" dur="900" decel="100000" fill="hold"/>
                                        <p:tgtEl>
                                          <p:spTgt spid="21"/>
                                        </p:tgtEl>
                                        <p:attrNameLst>
                                          <p:attrName>ppt_y</p:attrName>
                                        </p:attrNameLst>
                                      </p:cBhvr>
                                      <p:tavLst>
                                        <p:tav tm="0">
                                          <p:val>
                                            <p:strVal val="#ppt_y+1"/>
                                          </p:val>
                                        </p:tav>
                                        <p:tav tm="100000">
                                          <p:val>
                                            <p:strVal val="#ppt_y-.03"/>
                                          </p:val>
                                        </p:tav>
                                      </p:tavLst>
                                    </p:anim>
                                    <p:anim calcmode="lin" valueType="num">
                                      <p:cBhvr>
                                        <p:cTn id="49"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P spid="9" grpId="0" animBg="1"/>
      <p:bldP spid="14" grpId="0" animBg="1"/>
      <p:bldP spid="15" grpId="0" animBg="1"/>
      <p:bldP spid="20"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Shape 3">
            <a:extLst>
              <a:ext uri="{FF2B5EF4-FFF2-40B4-BE49-F238E27FC236}">
                <a16:creationId xmlns:a16="http://schemas.microsoft.com/office/drawing/2014/main" id="{F49C1F25-058A-FA60-9447-591175FD1CAF}"/>
              </a:ext>
            </a:extLst>
          </p:cNvPr>
          <p:cNvSpPr/>
          <p:nvPr/>
        </p:nvSpPr>
        <p:spPr>
          <a:xfrm>
            <a:off x="457200" y="1188720"/>
            <a:ext cx="2606040" cy="224028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txBody>
          <a:bodyPr/>
          <a:lstStyle/>
          <a:p>
            <a:endParaRPr lang="en-US"/>
          </a:p>
        </p:txBody>
      </p:sp>
      <p:sp>
        <p:nvSpPr>
          <p:cNvPr id="3" name="Shape 4">
            <a:extLst>
              <a:ext uri="{FF2B5EF4-FFF2-40B4-BE49-F238E27FC236}">
                <a16:creationId xmlns:a16="http://schemas.microsoft.com/office/drawing/2014/main" id="{64B1D373-E15C-7AFC-6EBB-9BD2546B576E}"/>
              </a:ext>
            </a:extLst>
          </p:cNvPr>
          <p:cNvSpPr/>
          <p:nvPr/>
        </p:nvSpPr>
        <p:spPr>
          <a:xfrm>
            <a:off x="457200" y="1188720"/>
            <a:ext cx="2606040" cy="347472"/>
          </a:xfrm>
          <a:prstGeom prst="rect">
            <a:avLst/>
          </a:prstGeom>
          <a:solidFill>
            <a:srgbClr val="7C3AED"/>
          </a:solidFill>
          <a:ln w="12700">
            <a:solidFill>
              <a:srgbClr val="7C3AED"/>
            </a:solidFill>
            <a:prstDash val="solid"/>
          </a:ln>
        </p:spPr>
        <p:txBody>
          <a:bodyPr/>
          <a:lstStyle/>
          <a:p>
            <a:endParaRPr lang="en-US"/>
          </a:p>
        </p:txBody>
      </p:sp>
      <p:pic>
        <p:nvPicPr>
          <p:cNvPr id="4" name="Image 0" descr="preencoded.png">
            <a:extLst>
              <a:ext uri="{FF2B5EF4-FFF2-40B4-BE49-F238E27FC236}">
                <a16:creationId xmlns:a16="http://schemas.microsoft.com/office/drawing/2014/main" id="{598252FF-5FFC-8096-A8A6-69EA63847B8D}"/>
              </a:ext>
            </a:extLst>
          </p:cNvPr>
          <p:cNvPicPr>
            <a:picLocks noChangeAspect="1"/>
          </p:cNvPicPr>
          <p:nvPr/>
        </p:nvPicPr>
        <p:blipFill>
          <a:blip r:embed="rId3"/>
          <a:stretch>
            <a:fillRect/>
          </a:stretch>
        </p:blipFill>
        <p:spPr>
          <a:xfrm>
            <a:off x="594360" y="1252728"/>
            <a:ext cx="219456" cy="219456"/>
          </a:xfrm>
          <a:prstGeom prst="rect">
            <a:avLst/>
          </a:prstGeom>
        </p:spPr>
      </p:pic>
      <p:sp>
        <p:nvSpPr>
          <p:cNvPr id="28" name="Text 5">
            <a:extLst>
              <a:ext uri="{FF2B5EF4-FFF2-40B4-BE49-F238E27FC236}">
                <a16:creationId xmlns:a16="http://schemas.microsoft.com/office/drawing/2014/main" id="{9D4AE993-7C31-7A57-642C-9B1E6E83F744}"/>
              </a:ext>
            </a:extLst>
          </p:cNvPr>
          <p:cNvSpPr/>
          <p:nvPr/>
        </p:nvSpPr>
        <p:spPr>
          <a:xfrm>
            <a:off x="859536" y="1225296"/>
            <a:ext cx="21488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Issue Discovered</a:t>
            </a:r>
            <a:endParaRPr lang="en-US" sz="1100" dirty="0"/>
          </a:p>
        </p:txBody>
      </p:sp>
      <p:sp>
        <p:nvSpPr>
          <p:cNvPr id="29" name="Text 6">
            <a:extLst>
              <a:ext uri="{FF2B5EF4-FFF2-40B4-BE49-F238E27FC236}">
                <a16:creationId xmlns:a16="http://schemas.microsoft.com/office/drawing/2014/main" id="{9FB6D8C4-9FD3-6F27-81C3-1D4BFDCFBEC8}"/>
              </a:ext>
            </a:extLst>
          </p:cNvPr>
          <p:cNvSpPr/>
          <p:nvPr/>
        </p:nvSpPr>
        <p:spPr>
          <a:xfrm>
            <a:off x="594360" y="1627632"/>
            <a:ext cx="2331720" cy="1737360"/>
          </a:xfrm>
          <a:prstGeom prst="rect">
            <a:avLst/>
          </a:prstGeom>
          <a:noFill/>
          <a:ln/>
        </p:spPr>
        <p:txBody>
          <a:bodyPr wrap="square" rtlCol="0" anchor="t"/>
          <a:lstStyle/>
          <a:p>
            <a:pPr marL="0" indent="0">
              <a:buNone/>
            </a:pPr>
            <a:r>
              <a:rPr lang="en-US" sz="1000" b="1" dirty="0">
                <a:solidFill>
                  <a:srgbClr val="1A1A2E"/>
                </a:solidFill>
                <a:latin typeface="Calibri" pitchFamily="34" charset="0"/>
                <a:ea typeface="Calibri" pitchFamily="34" charset="-122"/>
                <a:cs typeface="Calibri" pitchFamily="34" charset="-120"/>
              </a:rPr>
              <a:t>Defect Summary</a:t>
            </a:r>
            <a:endParaRPr lang="en-US" sz="1000" dirty="0"/>
          </a:p>
          <a:p>
            <a:pPr marL="0" indent="0">
              <a:buNone/>
            </a:pPr>
            <a:endParaRPr lang="en-US" sz="1000" dirty="0">
              <a:solidFill>
                <a:srgbClr val="64748B"/>
              </a:solidFill>
              <a:latin typeface="Calibri" pitchFamily="34" charset="0"/>
              <a:ea typeface="Calibri" pitchFamily="34" charset="-122"/>
              <a:cs typeface="Calibri" pitchFamily="34" charset="-120"/>
            </a:endParaRPr>
          </a:p>
          <a:p>
            <a:pPr marL="0" indent="0">
              <a:buNone/>
            </a:pPr>
            <a:r>
              <a:rPr lang="en-US" sz="1000" dirty="0">
                <a:solidFill>
                  <a:srgbClr val="64748B"/>
                </a:solidFill>
                <a:latin typeface="Calibri" pitchFamily="34" charset="0"/>
                <a:ea typeface="Calibri" pitchFamily="34" charset="-122"/>
                <a:cs typeface="Calibri" pitchFamily="34" charset="-120"/>
              </a:rPr>
              <a:t>During Admin RBAC testing, QA found logged-out users could access /admin/products instead of being redirected to login.</a:t>
            </a:r>
          </a:p>
          <a:p>
            <a:pPr marL="0" indent="0">
              <a:buNone/>
            </a:pPr>
            <a:endParaRPr lang="en-US" sz="1000" dirty="0">
              <a:solidFill>
                <a:srgbClr val="64748B"/>
              </a:solidFill>
              <a:latin typeface="Calibri" pitchFamily="34" charset="0"/>
              <a:ea typeface="Calibri" pitchFamily="34" charset="-122"/>
              <a:cs typeface="Calibri" pitchFamily="34" charset="-120"/>
            </a:endParaRPr>
          </a:p>
          <a:p>
            <a:pPr marL="0" indent="0">
              <a:buNone/>
            </a:pPr>
            <a:r>
              <a:rPr lang="en-US" sz="1000" dirty="0">
                <a:solidFill>
                  <a:srgbClr val="64748B"/>
                </a:solidFill>
                <a:latin typeface="Calibri" pitchFamily="34" charset="0"/>
                <a:ea typeface="Calibri" pitchFamily="34" charset="-122"/>
                <a:cs typeface="Calibri" pitchFamily="34" charset="-120"/>
              </a:rPr>
              <a:t>A high-severity bug report was created with reproduction steps, expected vs actual behavior, and security impact.</a:t>
            </a:r>
          </a:p>
        </p:txBody>
      </p:sp>
      <p:sp>
        <p:nvSpPr>
          <p:cNvPr id="30" name="Shape 7">
            <a:extLst>
              <a:ext uri="{FF2B5EF4-FFF2-40B4-BE49-F238E27FC236}">
                <a16:creationId xmlns:a16="http://schemas.microsoft.com/office/drawing/2014/main" id="{1B270BB0-45AC-1B2A-2BD8-2AB04962D9D4}"/>
              </a:ext>
            </a:extLst>
          </p:cNvPr>
          <p:cNvSpPr/>
          <p:nvPr/>
        </p:nvSpPr>
        <p:spPr>
          <a:xfrm>
            <a:off x="3273552" y="1188720"/>
            <a:ext cx="2606040" cy="224028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txBody>
          <a:bodyPr/>
          <a:lstStyle/>
          <a:p>
            <a:endParaRPr lang="en-US"/>
          </a:p>
        </p:txBody>
      </p:sp>
      <p:sp>
        <p:nvSpPr>
          <p:cNvPr id="31" name="Shape 8">
            <a:extLst>
              <a:ext uri="{FF2B5EF4-FFF2-40B4-BE49-F238E27FC236}">
                <a16:creationId xmlns:a16="http://schemas.microsoft.com/office/drawing/2014/main" id="{F4DF9DEA-3D91-70D9-747D-235B9118308B}"/>
              </a:ext>
            </a:extLst>
          </p:cNvPr>
          <p:cNvSpPr/>
          <p:nvPr/>
        </p:nvSpPr>
        <p:spPr>
          <a:xfrm>
            <a:off x="3273552" y="1188720"/>
            <a:ext cx="2606040" cy="347472"/>
          </a:xfrm>
          <a:prstGeom prst="rect">
            <a:avLst/>
          </a:prstGeom>
          <a:solidFill>
            <a:srgbClr val="1E3A5F"/>
          </a:solidFill>
          <a:ln w="12700">
            <a:solidFill>
              <a:srgbClr val="1E3A5F"/>
            </a:solidFill>
            <a:prstDash val="solid"/>
          </a:ln>
        </p:spPr>
        <p:txBody>
          <a:bodyPr/>
          <a:lstStyle/>
          <a:p>
            <a:endParaRPr lang="en-US"/>
          </a:p>
        </p:txBody>
      </p:sp>
      <p:pic>
        <p:nvPicPr>
          <p:cNvPr id="32" name="Image 1" descr="preencoded.png">
            <a:extLst>
              <a:ext uri="{FF2B5EF4-FFF2-40B4-BE49-F238E27FC236}">
                <a16:creationId xmlns:a16="http://schemas.microsoft.com/office/drawing/2014/main" id="{9A042BE0-FDB7-72CC-4802-2D6903EF17B3}"/>
              </a:ext>
            </a:extLst>
          </p:cNvPr>
          <p:cNvPicPr>
            <a:picLocks noChangeAspect="1"/>
          </p:cNvPicPr>
          <p:nvPr/>
        </p:nvPicPr>
        <p:blipFill>
          <a:blip r:embed="rId4"/>
          <a:stretch>
            <a:fillRect/>
          </a:stretch>
        </p:blipFill>
        <p:spPr>
          <a:xfrm>
            <a:off x="3410712" y="1252728"/>
            <a:ext cx="219456" cy="219456"/>
          </a:xfrm>
          <a:prstGeom prst="rect">
            <a:avLst/>
          </a:prstGeom>
        </p:spPr>
      </p:pic>
      <p:sp>
        <p:nvSpPr>
          <p:cNvPr id="33" name="Text 9">
            <a:extLst>
              <a:ext uri="{FF2B5EF4-FFF2-40B4-BE49-F238E27FC236}">
                <a16:creationId xmlns:a16="http://schemas.microsoft.com/office/drawing/2014/main" id="{64185BED-4976-0511-4611-335713A4BAEB}"/>
              </a:ext>
            </a:extLst>
          </p:cNvPr>
          <p:cNvSpPr/>
          <p:nvPr/>
        </p:nvSpPr>
        <p:spPr>
          <a:xfrm>
            <a:off x="3675888" y="1225296"/>
            <a:ext cx="21488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Detection &amp; Validation</a:t>
            </a:r>
            <a:endParaRPr lang="en-US" sz="1100" dirty="0"/>
          </a:p>
        </p:txBody>
      </p:sp>
      <p:sp>
        <p:nvSpPr>
          <p:cNvPr id="34" name="Text 10">
            <a:extLst>
              <a:ext uri="{FF2B5EF4-FFF2-40B4-BE49-F238E27FC236}">
                <a16:creationId xmlns:a16="http://schemas.microsoft.com/office/drawing/2014/main" id="{D4782811-6061-26C2-C14A-DFC6578F4C33}"/>
              </a:ext>
            </a:extLst>
          </p:cNvPr>
          <p:cNvSpPr/>
          <p:nvPr/>
        </p:nvSpPr>
        <p:spPr>
          <a:xfrm>
            <a:off x="3410712" y="1627632"/>
            <a:ext cx="2331720" cy="1737360"/>
          </a:xfrm>
          <a:prstGeom prst="rect">
            <a:avLst/>
          </a:prstGeom>
          <a:noFill/>
          <a:ln/>
        </p:spPr>
        <p:txBody>
          <a:bodyPr wrap="square" rtlCol="0" anchor="t"/>
          <a:lstStyle/>
          <a:p>
            <a:pPr marL="0" indent="0">
              <a:buNone/>
            </a:pPr>
            <a:r>
              <a:rPr lang="en-US" sz="1000" b="1" dirty="0">
                <a:solidFill>
                  <a:srgbClr val="1A1A2E"/>
                </a:solidFill>
                <a:latin typeface="Calibri" pitchFamily="34" charset="0"/>
                <a:ea typeface="Calibri" pitchFamily="34" charset="-122"/>
                <a:cs typeface="Calibri" pitchFamily="34" charset="-120"/>
              </a:rPr>
              <a:t>Validation Approach
</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The issue was traced to route protection and access control logic.</a:t>
            </a:r>
          </a:p>
          <a:p>
            <a:pPr marL="0" indent="0">
              <a:buNone/>
            </a:pPr>
            <a:endParaRPr lang="en-US" sz="1000" dirty="0">
              <a:solidFill>
                <a:srgbClr val="64748B"/>
              </a:solidFill>
              <a:latin typeface="Calibri" pitchFamily="34" charset="0"/>
              <a:ea typeface="Calibri" pitchFamily="34" charset="-122"/>
              <a:cs typeface="Calibri" pitchFamily="34" charset="-120"/>
            </a:endParaRPr>
          </a:p>
          <a:p>
            <a:pPr marL="0" indent="0">
              <a:buNone/>
            </a:pPr>
            <a:r>
              <a:rPr lang="en-US" sz="1000" dirty="0">
                <a:solidFill>
                  <a:srgbClr val="64748B"/>
                </a:solidFill>
                <a:latin typeface="Calibri" pitchFamily="34" charset="0"/>
                <a:ea typeface="Calibri" pitchFamily="34" charset="-122"/>
                <a:cs typeface="Calibri" pitchFamily="34" charset="-120"/>
              </a:rPr>
              <a:t>After the fix was implemented, it was validated through manual retesting and automated regression testing across unauthorized access scenarios.</a:t>
            </a:r>
            <a:endParaRPr lang="en-US" sz="1000" dirty="0"/>
          </a:p>
        </p:txBody>
      </p:sp>
      <p:sp>
        <p:nvSpPr>
          <p:cNvPr id="35" name="Shape 11">
            <a:extLst>
              <a:ext uri="{FF2B5EF4-FFF2-40B4-BE49-F238E27FC236}">
                <a16:creationId xmlns:a16="http://schemas.microsoft.com/office/drawing/2014/main" id="{513445BB-F97E-28E1-58BD-A1BB25BCD55E}"/>
              </a:ext>
            </a:extLst>
          </p:cNvPr>
          <p:cNvSpPr/>
          <p:nvPr/>
        </p:nvSpPr>
        <p:spPr>
          <a:xfrm>
            <a:off x="6089904" y="1188720"/>
            <a:ext cx="2606040" cy="2240280"/>
          </a:xfrm>
          <a:prstGeom prst="rect">
            <a:avLst/>
          </a:prstGeom>
          <a:solidFill>
            <a:srgbClr val="FFFFFF"/>
          </a:solidFill>
          <a:ln w="12700">
            <a:solidFill>
              <a:srgbClr val="FFFFFF"/>
            </a:solidFill>
            <a:prstDash val="solid"/>
          </a:ln>
          <a:effectLst>
            <a:outerShdw blurRad="101600" dist="38100" dir="8100000" algn="bl" rotWithShape="0">
              <a:srgbClr val="000000">
                <a:alpha val="18000"/>
              </a:srgbClr>
            </a:outerShdw>
          </a:effectLst>
        </p:spPr>
        <p:txBody>
          <a:bodyPr/>
          <a:lstStyle/>
          <a:p>
            <a:endParaRPr lang="en-US"/>
          </a:p>
        </p:txBody>
      </p:sp>
      <p:sp>
        <p:nvSpPr>
          <p:cNvPr id="36" name="Shape 12">
            <a:extLst>
              <a:ext uri="{FF2B5EF4-FFF2-40B4-BE49-F238E27FC236}">
                <a16:creationId xmlns:a16="http://schemas.microsoft.com/office/drawing/2014/main" id="{576FF371-7533-3EFA-9146-2F9C09E10D47}"/>
              </a:ext>
            </a:extLst>
          </p:cNvPr>
          <p:cNvSpPr/>
          <p:nvPr/>
        </p:nvSpPr>
        <p:spPr>
          <a:xfrm>
            <a:off x="6089904" y="1188720"/>
            <a:ext cx="2606040" cy="347472"/>
          </a:xfrm>
          <a:prstGeom prst="rect">
            <a:avLst/>
          </a:prstGeom>
          <a:solidFill>
            <a:srgbClr val="009F6B"/>
          </a:solidFill>
          <a:ln w="12700">
            <a:solidFill>
              <a:srgbClr val="009F6B"/>
            </a:solidFill>
            <a:prstDash val="solid"/>
          </a:ln>
        </p:spPr>
        <p:txBody>
          <a:bodyPr/>
          <a:lstStyle/>
          <a:p>
            <a:endParaRPr lang="en-US" dirty="0"/>
          </a:p>
        </p:txBody>
      </p:sp>
      <p:pic>
        <p:nvPicPr>
          <p:cNvPr id="37" name="Image 2" descr="preencoded.png">
            <a:extLst>
              <a:ext uri="{FF2B5EF4-FFF2-40B4-BE49-F238E27FC236}">
                <a16:creationId xmlns:a16="http://schemas.microsoft.com/office/drawing/2014/main" id="{03DD63C0-768C-3BDE-D2FF-B43E0505E9F9}"/>
              </a:ext>
            </a:extLst>
          </p:cNvPr>
          <p:cNvPicPr>
            <a:picLocks noChangeAspect="1"/>
          </p:cNvPicPr>
          <p:nvPr/>
        </p:nvPicPr>
        <p:blipFill>
          <a:blip r:embed="rId5"/>
          <a:stretch>
            <a:fillRect/>
          </a:stretch>
        </p:blipFill>
        <p:spPr>
          <a:xfrm>
            <a:off x="6227064" y="1252728"/>
            <a:ext cx="219456" cy="219456"/>
          </a:xfrm>
          <a:prstGeom prst="rect">
            <a:avLst/>
          </a:prstGeom>
        </p:spPr>
      </p:pic>
      <p:sp>
        <p:nvSpPr>
          <p:cNvPr id="38" name="Text 13">
            <a:extLst>
              <a:ext uri="{FF2B5EF4-FFF2-40B4-BE49-F238E27FC236}">
                <a16:creationId xmlns:a16="http://schemas.microsoft.com/office/drawing/2014/main" id="{F516D6C4-73F6-8776-FE15-C18B6C19FDEA}"/>
              </a:ext>
            </a:extLst>
          </p:cNvPr>
          <p:cNvSpPr/>
          <p:nvPr/>
        </p:nvSpPr>
        <p:spPr>
          <a:xfrm>
            <a:off x="6492240" y="1225296"/>
            <a:ext cx="21488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Resolution &amp; Impact</a:t>
            </a:r>
            <a:endParaRPr lang="en-US" sz="1100" dirty="0"/>
          </a:p>
        </p:txBody>
      </p:sp>
      <p:sp>
        <p:nvSpPr>
          <p:cNvPr id="39" name="Text 14">
            <a:extLst>
              <a:ext uri="{FF2B5EF4-FFF2-40B4-BE49-F238E27FC236}">
                <a16:creationId xmlns:a16="http://schemas.microsoft.com/office/drawing/2014/main" id="{9893E8BF-D703-D8D6-2F2C-3D7C4D3A0B65}"/>
              </a:ext>
            </a:extLst>
          </p:cNvPr>
          <p:cNvSpPr/>
          <p:nvPr/>
        </p:nvSpPr>
        <p:spPr>
          <a:xfrm>
            <a:off x="6227064" y="1627632"/>
            <a:ext cx="2331720" cy="1737360"/>
          </a:xfrm>
          <a:prstGeom prst="rect">
            <a:avLst/>
          </a:prstGeom>
          <a:noFill/>
          <a:ln/>
        </p:spPr>
        <p:txBody>
          <a:bodyPr wrap="square" rtlCol="0" anchor="t"/>
          <a:lstStyle/>
          <a:p>
            <a:pPr marL="0" indent="0">
              <a:buNone/>
            </a:pPr>
            <a:r>
              <a:rPr lang="en-US" sz="1000" b="1" dirty="0">
                <a:solidFill>
                  <a:srgbClr val="1A1A2E"/>
                </a:solidFill>
                <a:latin typeface="Calibri" pitchFamily="34" charset="0"/>
                <a:ea typeface="Calibri" pitchFamily="34" charset="-122"/>
                <a:cs typeface="Calibri" pitchFamily="34" charset="-120"/>
              </a:rPr>
              <a:t>Outcome &amp; Coverage
</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Unauthorized access was blocked and RBAC behavior was corrected.</a:t>
            </a:r>
          </a:p>
          <a:p>
            <a:pPr marL="0" indent="0">
              <a:buNone/>
            </a:pPr>
            <a:endParaRPr lang="en-US" sz="1000" dirty="0">
              <a:solidFill>
                <a:srgbClr val="64748B"/>
              </a:solidFill>
              <a:latin typeface="Calibri" pitchFamily="34" charset="0"/>
              <a:ea typeface="Calibri" pitchFamily="34" charset="-122"/>
              <a:cs typeface="Calibri" pitchFamily="34" charset="-120"/>
            </a:endParaRPr>
          </a:p>
          <a:p>
            <a:pPr marL="0" indent="0">
              <a:buNone/>
            </a:pPr>
            <a:r>
              <a:rPr lang="en-US" sz="1000" dirty="0">
                <a:solidFill>
                  <a:srgbClr val="64748B"/>
                </a:solidFill>
                <a:latin typeface="Calibri" pitchFamily="34" charset="0"/>
                <a:ea typeface="Calibri" pitchFamily="34" charset="-122"/>
                <a:cs typeface="Calibri" pitchFamily="34" charset="-120"/>
              </a:rPr>
              <a:t>Regression coverage and related test cases were added to prevent recurrence and strengthen admin security validation.</a:t>
            </a:r>
            <a:endParaRPr lang="en-US" sz="1000" dirty="0"/>
          </a:p>
        </p:txBody>
      </p:sp>
      <p:sp>
        <p:nvSpPr>
          <p:cNvPr id="40" name="Shape 15">
            <a:extLst>
              <a:ext uri="{FF2B5EF4-FFF2-40B4-BE49-F238E27FC236}">
                <a16:creationId xmlns:a16="http://schemas.microsoft.com/office/drawing/2014/main" id="{5EACD248-E07A-DA59-CDD8-617291950ADF}"/>
              </a:ext>
            </a:extLst>
          </p:cNvPr>
          <p:cNvSpPr/>
          <p:nvPr/>
        </p:nvSpPr>
        <p:spPr>
          <a:xfrm>
            <a:off x="457200" y="3602736"/>
            <a:ext cx="8321040" cy="1325880"/>
          </a:xfrm>
          <a:prstGeom prst="rect">
            <a:avLst/>
          </a:prstGeom>
          <a:solidFill>
            <a:srgbClr val="0D2137"/>
          </a:solidFill>
          <a:ln w="12700">
            <a:solidFill>
              <a:srgbClr val="0D2137"/>
            </a:solidFill>
            <a:prstDash val="solid"/>
          </a:ln>
        </p:spPr>
        <p:txBody>
          <a:bodyPr/>
          <a:lstStyle/>
          <a:p>
            <a:endParaRPr lang="en-US"/>
          </a:p>
        </p:txBody>
      </p:sp>
      <p:sp>
        <p:nvSpPr>
          <p:cNvPr id="41" name="Shape 16">
            <a:extLst>
              <a:ext uri="{FF2B5EF4-FFF2-40B4-BE49-F238E27FC236}">
                <a16:creationId xmlns:a16="http://schemas.microsoft.com/office/drawing/2014/main" id="{06077A62-C240-C626-EB9A-85D6D7FB7359}"/>
              </a:ext>
            </a:extLst>
          </p:cNvPr>
          <p:cNvSpPr/>
          <p:nvPr/>
        </p:nvSpPr>
        <p:spPr>
          <a:xfrm>
            <a:off x="457200" y="3602736"/>
            <a:ext cx="64008" cy="1325880"/>
          </a:xfrm>
          <a:prstGeom prst="rect">
            <a:avLst/>
          </a:prstGeom>
          <a:solidFill>
            <a:srgbClr val="00C896"/>
          </a:solidFill>
          <a:ln w="12700">
            <a:solidFill>
              <a:srgbClr val="00C896"/>
            </a:solidFill>
            <a:prstDash val="solid"/>
          </a:ln>
        </p:spPr>
        <p:txBody>
          <a:bodyPr/>
          <a:lstStyle/>
          <a:p>
            <a:endParaRPr lang="en-US"/>
          </a:p>
        </p:txBody>
      </p:sp>
      <p:pic>
        <p:nvPicPr>
          <p:cNvPr id="42" name="Image 3" descr="preencoded.png">
            <a:extLst>
              <a:ext uri="{FF2B5EF4-FFF2-40B4-BE49-F238E27FC236}">
                <a16:creationId xmlns:a16="http://schemas.microsoft.com/office/drawing/2014/main" id="{9641A18C-4DE2-E9C3-FC54-11B47AC046F3}"/>
              </a:ext>
            </a:extLst>
          </p:cNvPr>
          <p:cNvPicPr>
            <a:picLocks noChangeAspect="1"/>
          </p:cNvPicPr>
          <p:nvPr/>
        </p:nvPicPr>
        <p:blipFill>
          <a:blip r:embed="rId6"/>
          <a:stretch>
            <a:fillRect/>
          </a:stretch>
        </p:blipFill>
        <p:spPr>
          <a:xfrm>
            <a:off x="612648" y="4014216"/>
            <a:ext cx="320040" cy="320040"/>
          </a:xfrm>
          <a:prstGeom prst="rect">
            <a:avLst/>
          </a:prstGeom>
        </p:spPr>
      </p:pic>
      <p:sp>
        <p:nvSpPr>
          <p:cNvPr id="43" name="Text 17">
            <a:extLst>
              <a:ext uri="{FF2B5EF4-FFF2-40B4-BE49-F238E27FC236}">
                <a16:creationId xmlns:a16="http://schemas.microsoft.com/office/drawing/2014/main" id="{6298B990-AD46-E759-765E-76B87E03ED5A}"/>
              </a:ext>
            </a:extLst>
          </p:cNvPr>
          <p:cNvSpPr/>
          <p:nvPr/>
        </p:nvSpPr>
        <p:spPr>
          <a:xfrm>
            <a:off x="1051560" y="3739896"/>
            <a:ext cx="7498080" cy="1097280"/>
          </a:xfrm>
          <a:prstGeom prst="rect">
            <a:avLst/>
          </a:prstGeom>
          <a:noFill/>
          <a:ln/>
        </p:spPr>
        <p:txBody>
          <a:bodyPr wrap="square"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Key QA Highlight: Security and Regression Validation</a:t>
            </a:r>
          </a:p>
          <a:p>
            <a:pPr marL="0" indent="0">
              <a:buNone/>
            </a:pPr>
            <a:endParaRPr lang="en-US" sz="1100" b="1" i="1" dirty="0">
              <a:solidFill>
                <a:srgbClr val="FFFFFF"/>
              </a:solidFill>
              <a:latin typeface="Calibri" pitchFamily="34" charset="0"/>
              <a:ea typeface="Calibri" pitchFamily="34" charset="-122"/>
              <a:cs typeface="Calibri" pitchFamily="34" charset="-120"/>
            </a:endParaRPr>
          </a:p>
          <a:p>
            <a:pPr marL="0" indent="0">
              <a:buNone/>
            </a:pPr>
            <a:r>
              <a:rPr lang="en-US" sz="950" i="1" dirty="0">
                <a:solidFill>
                  <a:srgbClr val="B0C4D8"/>
                </a:solidFill>
                <a:latin typeface="Calibri" pitchFamily="34" charset="0"/>
                <a:ea typeface="Calibri" pitchFamily="34" charset="-122"/>
                <a:cs typeface="Calibri" pitchFamily="34" charset="-120"/>
              </a:rPr>
              <a:t>“Quality assurance is not just about testing expected behavior — it’s also about validating failure paths and catching risks before users do.”</a:t>
            </a:r>
          </a:p>
          <a:p>
            <a:pPr marL="0" indent="0">
              <a:buNone/>
            </a:pPr>
            <a:endParaRPr lang="en-US" sz="950" i="1" dirty="0">
              <a:solidFill>
                <a:srgbClr val="B0C4D8"/>
              </a:solidFill>
              <a:latin typeface="Calibri" pitchFamily="34" charset="0"/>
              <a:ea typeface="Calibri" pitchFamily="34" charset="-122"/>
              <a:cs typeface="Calibri" pitchFamily="34" charset="-120"/>
            </a:endParaRPr>
          </a:p>
          <a:p>
            <a:pPr marL="0" indent="0">
              <a:buNone/>
            </a:pPr>
            <a:r>
              <a:rPr lang="en-US" sz="950" b="1" i="1" dirty="0">
                <a:solidFill>
                  <a:srgbClr val="B0C4D8"/>
                </a:solidFill>
                <a:latin typeface="Calibri" pitchFamily="34" charset="0"/>
                <a:ea typeface="Calibri" pitchFamily="34" charset="-122"/>
                <a:cs typeface="Calibri" pitchFamily="34" charset="-120"/>
              </a:rPr>
              <a:t>Discover</a:t>
            </a:r>
            <a:r>
              <a:rPr lang="en-US" sz="950" i="1" dirty="0">
                <a:solidFill>
                  <a:srgbClr val="B0C4D8"/>
                </a:solidFill>
                <a:latin typeface="Calibri" pitchFamily="34" charset="0"/>
                <a:ea typeface="Calibri" pitchFamily="34" charset="-122"/>
                <a:cs typeface="Calibri" pitchFamily="34" charset="-120"/>
              </a:rPr>
              <a:t> → </a:t>
            </a:r>
            <a:r>
              <a:rPr lang="en-US" sz="950" b="1" i="1" dirty="0">
                <a:solidFill>
                  <a:srgbClr val="B0C4D8"/>
                </a:solidFill>
                <a:latin typeface="Calibri" pitchFamily="34" charset="0"/>
                <a:ea typeface="Calibri" pitchFamily="34" charset="-122"/>
                <a:cs typeface="Calibri" pitchFamily="34" charset="-120"/>
              </a:rPr>
              <a:t>Report</a:t>
            </a:r>
            <a:r>
              <a:rPr lang="en-US" sz="950" i="1" dirty="0">
                <a:solidFill>
                  <a:srgbClr val="B0C4D8"/>
                </a:solidFill>
                <a:latin typeface="Calibri" pitchFamily="34" charset="0"/>
                <a:ea typeface="Calibri" pitchFamily="34" charset="-122"/>
                <a:cs typeface="Calibri" pitchFamily="34" charset="-120"/>
              </a:rPr>
              <a:t> → Fix → </a:t>
            </a:r>
            <a:r>
              <a:rPr lang="en-US" sz="950" b="1" i="1" dirty="0">
                <a:solidFill>
                  <a:srgbClr val="B0C4D8"/>
                </a:solidFill>
                <a:latin typeface="Calibri" pitchFamily="34" charset="0"/>
                <a:ea typeface="Calibri" pitchFamily="34" charset="-122"/>
                <a:cs typeface="Calibri" pitchFamily="34" charset="-120"/>
              </a:rPr>
              <a:t>Retest</a:t>
            </a:r>
            <a:r>
              <a:rPr lang="en-US" sz="950" i="1" dirty="0">
                <a:solidFill>
                  <a:srgbClr val="B0C4D8"/>
                </a:solidFill>
                <a:latin typeface="Calibri" pitchFamily="34" charset="0"/>
                <a:ea typeface="Calibri" pitchFamily="34" charset="-122"/>
                <a:cs typeface="Calibri" pitchFamily="34" charset="-120"/>
              </a:rPr>
              <a:t> → </a:t>
            </a:r>
            <a:r>
              <a:rPr lang="en-US" sz="950" b="1" i="1" dirty="0">
                <a:solidFill>
                  <a:srgbClr val="B0C4D8"/>
                </a:solidFill>
                <a:latin typeface="Calibri" pitchFamily="34" charset="0"/>
                <a:ea typeface="Calibri" pitchFamily="34" charset="-122"/>
                <a:cs typeface="Calibri" pitchFamily="34" charset="-120"/>
              </a:rPr>
              <a:t>Document</a:t>
            </a:r>
            <a:r>
              <a:rPr lang="en-US" sz="950" i="1" dirty="0">
                <a:solidFill>
                  <a:srgbClr val="B0C4D8"/>
                </a:solidFill>
                <a:latin typeface="Calibri" pitchFamily="34" charset="0"/>
                <a:ea typeface="Calibri" pitchFamily="34" charset="-122"/>
                <a:cs typeface="Calibri" pitchFamily="34" charset="-120"/>
              </a:rPr>
              <a:t> &amp; </a:t>
            </a:r>
            <a:r>
              <a:rPr lang="en-US" sz="950" b="1" i="1" dirty="0">
                <a:solidFill>
                  <a:srgbClr val="B0C4D8"/>
                </a:solidFill>
                <a:latin typeface="Calibri" pitchFamily="34" charset="0"/>
                <a:ea typeface="Calibri" pitchFamily="34" charset="-122"/>
                <a:cs typeface="Calibri" pitchFamily="34" charset="-120"/>
              </a:rPr>
              <a:t>Expand</a:t>
            </a:r>
            <a:r>
              <a:rPr lang="en-US" sz="950" i="1" dirty="0">
                <a:solidFill>
                  <a:srgbClr val="B0C4D8"/>
                </a:solidFill>
                <a:latin typeface="Calibri" pitchFamily="34" charset="0"/>
                <a:ea typeface="Calibri" pitchFamily="34" charset="-122"/>
                <a:cs typeface="Calibri" pitchFamily="34" charset="-120"/>
              </a:rPr>
              <a:t> Test Coverage</a:t>
            </a:r>
          </a:p>
        </p:txBody>
      </p:sp>
      <p:sp>
        <p:nvSpPr>
          <p:cNvPr id="44" name="Text 0">
            <a:extLst>
              <a:ext uri="{FF2B5EF4-FFF2-40B4-BE49-F238E27FC236}">
                <a16:creationId xmlns:a16="http://schemas.microsoft.com/office/drawing/2014/main" id="{C5C0EFD2-6E84-EEAA-2C5D-E7D613F3D090}"/>
              </a:ext>
            </a:extLst>
          </p:cNvPr>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TESTING &amp; QUALITY ASSURANCE</a:t>
            </a:r>
            <a:endParaRPr lang="en-US" sz="900" dirty="0"/>
          </a:p>
        </p:txBody>
      </p:sp>
      <p:sp>
        <p:nvSpPr>
          <p:cNvPr id="45" name="Text 1">
            <a:extLst>
              <a:ext uri="{FF2B5EF4-FFF2-40B4-BE49-F238E27FC236}">
                <a16:creationId xmlns:a16="http://schemas.microsoft.com/office/drawing/2014/main" id="{81365837-215A-0122-3E38-059B611400F7}"/>
              </a:ext>
            </a:extLst>
          </p:cNvPr>
          <p:cNvSpPr/>
          <p:nvPr/>
        </p:nvSpPr>
        <p:spPr>
          <a:xfrm>
            <a:off x="457200" y="475488"/>
            <a:ext cx="8229600" cy="658368"/>
          </a:xfrm>
          <a:prstGeom prst="rect">
            <a:avLst/>
          </a:prstGeom>
          <a:noFill/>
          <a:ln/>
        </p:spPr>
        <p:txBody>
          <a:bodyPr wrap="square" lIns="0" tIns="0" rIns="0" bIns="0" rtlCol="0" anchor="ctr"/>
          <a:lstStyle/>
          <a:p>
            <a:pPr marL="0" indent="0" algn="l">
              <a:buNone/>
            </a:pPr>
            <a:r>
              <a:rPr lang="en-US" sz="3200" b="1" dirty="0">
                <a:solidFill>
                  <a:schemeClr val="bg1"/>
                </a:solidFill>
                <a:latin typeface="Calibri" pitchFamily="34" charset="0"/>
                <a:cs typeface="Calibri" pitchFamily="34" charset="-120"/>
              </a:rPr>
              <a:t>QA in Practice</a:t>
            </a:r>
            <a:endParaRPr lang="en-US" sz="3200" dirty="0">
              <a:solidFill>
                <a:schemeClr val="bg1"/>
              </a:solidFill>
            </a:endParaRPr>
          </a:p>
        </p:txBody>
      </p:sp>
      <p:sp>
        <p:nvSpPr>
          <p:cNvPr id="46" name="Text 2">
            <a:extLst>
              <a:ext uri="{FF2B5EF4-FFF2-40B4-BE49-F238E27FC236}">
                <a16:creationId xmlns:a16="http://schemas.microsoft.com/office/drawing/2014/main" id="{4E3427C6-F076-33E2-8ADF-F1D0224A0826}"/>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Kenny Bacdayan</a:t>
            </a:r>
            <a:endParaRPr lang="en-US" sz="800" dirty="0"/>
          </a:p>
        </p:txBody>
      </p:sp>
      <p:sp>
        <p:nvSpPr>
          <p:cNvPr id="47" name="Text 3">
            <a:extLst>
              <a:ext uri="{FF2B5EF4-FFF2-40B4-BE49-F238E27FC236}">
                <a16:creationId xmlns:a16="http://schemas.microsoft.com/office/drawing/2014/main" id="{5C03824C-743E-5358-0AD7-FCF0A780E37E}"/>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Quality Assurance &amp; Testing Lead</a:t>
            </a:r>
            <a:endParaRPr lang="en-US" sz="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Scale>
                                      <p:cBhvr>
                                        <p:cTn id="7" dur="1000" decel="50000" fill="hold">
                                          <p:stCondLst>
                                            <p:cond delay="0"/>
                                          </p:stCondLst>
                                        </p:cTn>
                                        <p:tgtEl>
                                          <p:spTgt spid="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5"/>
                                        </p:tgtEl>
                                        <p:attrNameLst>
                                          <p:attrName>ppt_x</p:attrName>
                                          <p:attrName>ppt_y</p:attrName>
                                        </p:attrNameLst>
                                      </p:cBhvr>
                                    </p:animMotion>
                                    <p:animEffect transition="in" filter="fade">
                                      <p:cBhvr>
                                        <p:cTn id="9" dur="1000"/>
                                        <p:tgtEl>
                                          <p:spTgt spid="45"/>
                                        </p:tgtEl>
                                      </p:cBhvr>
                                    </p:animEffect>
                                  </p:childTnLst>
                                </p:cTn>
                              </p:par>
                            </p:childTnLst>
                          </p:cTn>
                        </p:par>
                        <p:par>
                          <p:cTn id="10" fill="hold">
                            <p:stCondLst>
                              <p:cond delay="1000"/>
                            </p:stCondLst>
                            <p:childTnLst>
                              <p:par>
                                <p:cTn id="11" presetID="9" presetClass="entr" presetSubtype="0" fill="hold" grpId="0" nodeType="after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dissolve">
                                      <p:cBhvr>
                                        <p:cTn id="13" dur="1000"/>
                                        <p:tgtEl>
                                          <p:spTgt spid="28"/>
                                        </p:tgtEl>
                                      </p:cBhvr>
                                    </p:animEffect>
                                  </p:childTnLst>
                                </p:cTn>
                              </p:par>
                            </p:childTnLst>
                          </p:cTn>
                        </p:par>
                        <p:par>
                          <p:cTn id="14" fill="hold">
                            <p:stCondLst>
                              <p:cond delay="2000"/>
                            </p:stCondLst>
                            <p:childTnLst>
                              <p:par>
                                <p:cTn id="15" presetID="9" presetClass="entr" presetSubtype="0" fill="hold" nodeType="afterEffect">
                                  <p:stCondLst>
                                    <p:cond delay="150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dissolve">
                                      <p:cBhvr>
                                        <p:cTn id="17" dur="1000"/>
                                        <p:tgtEl>
                                          <p:spTgt spid="33">
                                            <p:txEl>
                                              <p:pRg st="0" end="0"/>
                                            </p:txEl>
                                          </p:spTgt>
                                        </p:tgtEl>
                                      </p:cBhvr>
                                    </p:animEffect>
                                  </p:childTnLst>
                                </p:cTn>
                              </p:par>
                            </p:childTnLst>
                          </p:cTn>
                        </p:par>
                        <p:par>
                          <p:cTn id="18" fill="hold">
                            <p:stCondLst>
                              <p:cond delay="4500"/>
                            </p:stCondLst>
                            <p:childTnLst>
                              <p:par>
                                <p:cTn id="19" presetID="9" presetClass="entr" presetSubtype="0"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dissolve">
                                      <p:cBhvr>
                                        <p:cTn id="21" dur="1000"/>
                                        <p:tgtEl>
                                          <p:spTgt spid="38"/>
                                        </p:tgtEl>
                                      </p:cBhvr>
                                    </p:animEffect>
                                  </p:childTnLst>
                                </p:cTn>
                              </p:par>
                            </p:childTnLst>
                          </p:cTn>
                        </p:par>
                        <p:par>
                          <p:cTn id="22" fill="hold">
                            <p:stCondLst>
                              <p:cond delay="5500"/>
                            </p:stCondLst>
                            <p:childTnLst>
                              <p:par>
                                <p:cTn id="23" presetID="37" presetClass="entr" presetSubtype="0" fill="hold" grpId="0" nodeType="afterEffect">
                                  <p:stCondLst>
                                    <p:cond delay="700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1000"/>
                                        <p:tgtEl>
                                          <p:spTgt spid="40"/>
                                        </p:tgtEl>
                                      </p:cBhvr>
                                    </p:animEffect>
                                    <p:anim calcmode="lin" valueType="num">
                                      <p:cBhvr>
                                        <p:cTn id="26" dur="1000" fill="hold"/>
                                        <p:tgtEl>
                                          <p:spTgt spid="40"/>
                                        </p:tgtEl>
                                        <p:attrNameLst>
                                          <p:attrName>ppt_x</p:attrName>
                                        </p:attrNameLst>
                                      </p:cBhvr>
                                      <p:tavLst>
                                        <p:tav tm="0">
                                          <p:val>
                                            <p:strVal val="#ppt_x"/>
                                          </p:val>
                                        </p:tav>
                                        <p:tav tm="100000">
                                          <p:val>
                                            <p:strVal val="#ppt_x"/>
                                          </p:val>
                                        </p:tav>
                                      </p:tavLst>
                                    </p:anim>
                                    <p:anim calcmode="lin" valueType="num">
                                      <p:cBhvr>
                                        <p:cTn id="27" dur="900" decel="100000" fill="hold"/>
                                        <p:tgtEl>
                                          <p:spTgt spid="40"/>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40"/>
                                        </p:tgtEl>
                                        <p:attrNameLst>
                                          <p:attrName>ppt_y</p:attrName>
                                        </p:attrNameLst>
                                      </p:cBhvr>
                                      <p:tavLst>
                                        <p:tav tm="0">
                                          <p:val>
                                            <p:strVal val="#ppt_y-.03"/>
                                          </p:val>
                                        </p:tav>
                                        <p:tav tm="100000">
                                          <p:val>
                                            <p:strVal val="#ppt_y"/>
                                          </p:val>
                                        </p:tav>
                                      </p:tavLst>
                                    </p:anim>
                                  </p:childTnLst>
                                </p:cTn>
                              </p:par>
                            </p:childTnLst>
                          </p:cTn>
                        </p:par>
                        <p:par>
                          <p:cTn id="29" fill="hold">
                            <p:stCondLst>
                              <p:cond delay="13500"/>
                            </p:stCondLst>
                            <p:childTnLst>
                              <p:par>
                                <p:cTn id="30" presetID="37" presetClass="entr" presetSubtype="0" fill="hold" grpId="0" nodeType="after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1000"/>
                                        <p:tgtEl>
                                          <p:spTgt spid="41"/>
                                        </p:tgtEl>
                                      </p:cBhvr>
                                    </p:animEffect>
                                    <p:anim calcmode="lin" valueType="num">
                                      <p:cBhvr>
                                        <p:cTn id="33" dur="1000" fill="hold"/>
                                        <p:tgtEl>
                                          <p:spTgt spid="41"/>
                                        </p:tgtEl>
                                        <p:attrNameLst>
                                          <p:attrName>ppt_x</p:attrName>
                                        </p:attrNameLst>
                                      </p:cBhvr>
                                      <p:tavLst>
                                        <p:tav tm="0">
                                          <p:val>
                                            <p:strVal val="#ppt_x"/>
                                          </p:val>
                                        </p:tav>
                                        <p:tav tm="100000">
                                          <p:val>
                                            <p:strVal val="#ppt_x"/>
                                          </p:val>
                                        </p:tav>
                                      </p:tavLst>
                                    </p:anim>
                                    <p:anim calcmode="lin" valueType="num">
                                      <p:cBhvr>
                                        <p:cTn id="34" dur="900" decel="100000" fill="hold"/>
                                        <p:tgtEl>
                                          <p:spTgt spid="41"/>
                                        </p:tgtEl>
                                        <p:attrNameLst>
                                          <p:attrName>ppt_y</p:attrName>
                                        </p:attrNameLst>
                                      </p:cBhvr>
                                      <p:tavLst>
                                        <p:tav tm="0">
                                          <p:val>
                                            <p:strVal val="#ppt_y+1"/>
                                          </p:val>
                                        </p:tav>
                                        <p:tav tm="100000">
                                          <p:val>
                                            <p:strVal val="#ppt_y-.03"/>
                                          </p:val>
                                        </p:tav>
                                      </p:tavLst>
                                    </p:anim>
                                    <p:anim calcmode="lin" valueType="num">
                                      <p:cBhvr>
                                        <p:cTn id="35" dur="100" accel="100000" fill="hold">
                                          <p:stCondLst>
                                            <p:cond delay="900"/>
                                          </p:stCondLst>
                                        </p:cTn>
                                        <p:tgtEl>
                                          <p:spTgt spid="41"/>
                                        </p:tgtEl>
                                        <p:attrNameLst>
                                          <p:attrName>ppt_y</p:attrName>
                                        </p:attrNameLst>
                                      </p:cBhvr>
                                      <p:tavLst>
                                        <p:tav tm="0">
                                          <p:val>
                                            <p:strVal val="#ppt_y-.03"/>
                                          </p:val>
                                        </p:tav>
                                        <p:tav tm="100000">
                                          <p:val>
                                            <p:strVal val="#ppt_y"/>
                                          </p:val>
                                        </p:tav>
                                      </p:tavLst>
                                    </p:anim>
                                  </p:childTnLst>
                                </p:cTn>
                              </p:par>
                            </p:childTnLst>
                          </p:cTn>
                        </p:par>
                        <p:par>
                          <p:cTn id="36" fill="hold">
                            <p:stCondLst>
                              <p:cond delay="14500"/>
                            </p:stCondLst>
                            <p:childTnLst>
                              <p:par>
                                <p:cTn id="37" presetID="37" presetClass="entr" presetSubtype="0" fill="hold" nodeType="after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fade">
                                      <p:cBhvr>
                                        <p:cTn id="39" dur="1000"/>
                                        <p:tgtEl>
                                          <p:spTgt spid="42"/>
                                        </p:tgtEl>
                                      </p:cBhvr>
                                    </p:animEffect>
                                    <p:anim calcmode="lin" valueType="num">
                                      <p:cBhvr>
                                        <p:cTn id="40" dur="1000" fill="hold"/>
                                        <p:tgtEl>
                                          <p:spTgt spid="42"/>
                                        </p:tgtEl>
                                        <p:attrNameLst>
                                          <p:attrName>ppt_x</p:attrName>
                                        </p:attrNameLst>
                                      </p:cBhvr>
                                      <p:tavLst>
                                        <p:tav tm="0">
                                          <p:val>
                                            <p:strVal val="#ppt_x"/>
                                          </p:val>
                                        </p:tav>
                                        <p:tav tm="100000">
                                          <p:val>
                                            <p:strVal val="#ppt_x"/>
                                          </p:val>
                                        </p:tav>
                                      </p:tavLst>
                                    </p:anim>
                                    <p:anim calcmode="lin" valueType="num">
                                      <p:cBhvr>
                                        <p:cTn id="41" dur="900" decel="100000" fill="hold"/>
                                        <p:tgtEl>
                                          <p:spTgt spid="42"/>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42"/>
                                        </p:tgtEl>
                                        <p:attrNameLst>
                                          <p:attrName>ppt_y</p:attrName>
                                        </p:attrNameLst>
                                      </p:cBhvr>
                                      <p:tavLst>
                                        <p:tav tm="0">
                                          <p:val>
                                            <p:strVal val="#ppt_y-.03"/>
                                          </p:val>
                                        </p:tav>
                                        <p:tav tm="100000">
                                          <p:val>
                                            <p:strVal val="#ppt_y"/>
                                          </p:val>
                                        </p:tav>
                                      </p:tavLst>
                                    </p:anim>
                                  </p:childTnLst>
                                </p:cTn>
                              </p:par>
                            </p:childTnLst>
                          </p:cTn>
                        </p:par>
                        <p:par>
                          <p:cTn id="43" fill="hold">
                            <p:stCondLst>
                              <p:cond delay="15500"/>
                            </p:stCondLst>
                            <p:childTnLst>
                              <p:par>
                                <p:cTn id="44" presetID="37" presetClass="entr" presetSubtype="0" fill="hold" grpId="0" nodeType="after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fade">
                                      <p:cBhvr>
                                        <p:cTn id="46" dur="1000"/>
                                        <p:tgtEl>
                                          <p:spTgt spid="43"/>
                                        </p:tgtEl>
                                      </p:cBhvr>
                                    </p:animEffect>
                                    <p:anim calcmode="lin" valueType="num">
                                      <p:cBhvr>
                                        <p:cTn id="47" dur="1000" fill="hold"/>
                                        <p:tgtEl>
                                          <p:spTgt spid="43"/>
                                        </p:tgtEl>
                                        <p:attrNameLst>
                                          <p:attrName>ppt_x</p:attrName>
                                        </p:attrNameLst>
                                      </p:cBhvr>
                                      <p:tavLst>
                                        <p:tav tm="0">
                                          <p:val>
                                            <p:strVal val="#ppt_x"/>
                                          </p:val>
                                        </p:tav>
                                        <p:tav tm="100000">
                                          <p:val>
                                            <p:strVal val="#ppt_x"/>
                                          </p:val>
                                        </p:tav>
                                      </p:tavLst>
                                    </p:anim>
                                    <p:anim calcmode="lin" valueType="num">
                                      <p:cBhvr>
                                        <p:cTn id="48" dur="900" decel="100000" fill="hold"/>
                                        <p:tgtEl>
                                          <p:spTgt spid="43"/>
                                        </p:tgtEl>
                                        <p:attrNameLst>
                                          <p:attrName>ppt_y</p:attrName>
                                        </p:attrNameLst>
                                      </p:cBhvr>
                                      <p:tavLst>
                                        <p:tav tm="0">
                                          <p:val>
                                            <p:strVal val="#ppt_y+1"/>
                                          </p:val>
                                        </p:tav>
                                        <p:tav tm="100000">
                                          <p:val>
                                            <p:strVal val="#ppt_y-.03"/>
                                          </p:val>
                                        </p:tav>
                                      </p:tavLst>
                                    </p:anim>
                                    <p:anim calcmode="lin" valueType="num">
                                      <p:cBhvr>
                                        <p:cTn id="49" dur="100" accel="100000" fill="hold">
                                          <p:stCondLst>
                                            <p:cond delay="900"/>
                                          </p:stCondLst>
                                        </p:cTn>
                                        <p:tgtEl>
                                          <p:spTgt spid="4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8" grpId="0" animBg="1"/>
      <p:bldP spid="40" grpId="0" animBg="1"/>
      <p:bldP spid="41" grpId="0" animBg="1"/>
      <p:bldP spid="43" grpId="0" animBg="1"/>
      <p:bldP spid="4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USER FEEDBACK</a:t>
            </a:r>
            <a:endParaRPr lang="en-US" sz="90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marL="0" indent="0" algn="l">
              <a:buNone/>
            </a:pPr>
            <a:r>
              <a:rPr lang="en-US" sz="3200" b="1" dirty="0">
                <a:solidFill>
                  <a:srgbClr val="1B2B5E"/>
                </a:solidFill>
                <a:latin typeface="Calibri" pitchFamily="34" charset="0"/>
                <a:ea typeface="Calibri" pitchFamily="34" charset="-122"/>
                <a:cs typeface="Calibri" pitchFamily="34" charset="-120"/>
              </a:rPr>
              <a:t>How Feedback Shaped the Product</a:t>
            </a:r>
            <a:endParaRPr lang="en-US" sz="3200" dirty="0"/>
          </a:p>
        </p:txBody>
      </p:sp>
      <p:sp>
        <p:nvSpPr>
          <p:cNvPr id="4" name="Shape 2"/>
          <p:cNvSpPr/>
          <p:nvPr/>
        </p:nvSpPr>
        <p:spPr>
          <a:xfrm>
            <a:off x="365760" y="1353312"/>
            <a:ext cx="4114800" cy="107899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5" name="Shape 3"/>
          <p:cNvSpPr/>
          <p:nvPr/>
        </p:nvSpPr>
        <p:spPr>
          <a:xfrm>
            <a:off x="365760" y="1353312"/>
            <a:ext cx="109728" cy="1078992"/>
          </a:xfrm>
          <a:prstGeom prst="rect">
            <a:avLst/>
          </a:prstGeom>
          <a:solidFill>
            <a:srgbClr val="10B981"/>
          </a:solidFill>
          <a:ln w="12700">
            <a:solidFill>
              <a:srgbClr val="10B981"/>
            </a:solidFill>
            <a:prstDash val="solid"/>
          </a:ln>
        </p:spPr>
        <p:txBody>
          <a:bodyPr/>
          <a:lstStyle/>
          <a:p>
            <a:endParaRPr lang="en-US"/>
          </a:p>
        </p:txBody>
      </p:sp>
      <p:sp>
        <p:nvSpPr>
          <p:cNvPr id="6" name="Text 4"/>
          <p:cNvSpPr/>
          <p:nvPr/>
        </p:nvSpPr>
        <p:spPr>
          <a:xfrm>
            <a:off x="566928" y="1444752"/>
            <a:ext cx="3200400" cy="256032"/>
          </a:xfrm>
          <a:prstGeom prst="rect">
            <a:avLst/>
          </a:prstGeom>
          <a:noFill/>
          <a:ln/>
        </p:spPr>
        <p:txBody>
          <a:bodyPr wrap="square" lIns="0" tIns="0" rIns="0" bIns="0" rtlCol="0" anchor="ctr"/>
          <a:lstStyle/>
          <a:p>
            <a:r>
              <a:rPr lang="en-US" sz="1000" b="1" dirty="0">
                <a:solidFill>
                  <a:srgbClr val="10B981"/>
                </a:solidFill>
                <a:latin typeface="Calibri" pitchFamily="34" charset="0"/>
                <a:ea typeface="Calibri" pitchFamily="34" charset="-122"/>
                <a:cs typeface="Calibri" pitchFamily="34" charset="-120"/>
              </a:rPr>
              <a:t>Sprint 3 Review</a:t>
            </a:r>
            <a:endParaRPr lang="en-US" sz="1000" dirty="0"/>
          </a:p>
        </p:txBody>
      </p:sp>
      <p:sp>
        <p:nvSpPr>
          <p:cNvPr id="7" name="Text 5"/>
          <p:cNvSpPr/>
          <p:nvPr/>
        </p:nvSpPr>
        <p:spPr>
          <a:xfrm>
            <a:off x="566928" y="1719072"/>
            <a:ext cx="3794760" cy="594360"/>
          </a:xfrm>
          <a:prstGeom prst="rect">
            <a:avLst/>
          </a:prstGeom>
          <a:noFill/>
          <a:ln/>
        </p:spPr>
        <p:txBody>
          <a:bodyPr wrap="square" lIns="0" tIns="0" rIns="0" bIns="0" rtlCol="0" anchor="ctr"/>
          <a:lstStyle/>
          <a:p>
            <a:r>
              <a:rPr lang="en-US" sz="1000" dirty="0">
                <a:solidFill>
                  <a:srgbClr val="4A5568"/>
                </a:solidFill>
              </a:rPr>
              <a:t>Customer ordering flow — testers completed orders without instruction. UX approach confirmed on track.</a:t>
            </a:r>
            <a:endParaRPr lang="en-US" sz="1000" dirty="0"/>
          </a:p>
        </p:txBody>
      </p:sp>
      <p:sp>
        <p:nvSpPr>
          <p:cNvPr id="8" name="Shape 6"/>
          <p:cNvSpPr/>
          <p:nvPr/>
        </p:nvSpPr>
        <p:spPr>
          <a:xfrm>
            <a:off x="4709160" y="2587752"/>
            <a:ext cx="4114800" cy="107899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9" name="Shape 7"/>
          <p:cNvSpPr/>
          <p:nvPr/>
        </p:nvSpPr>
        <p:spPr>
          <a:xfrm>
            <a:off x="4709160" y="2587752"/>
            <a:ext cx="109728" cy="1078992"/>
          </a:xfrm>
          <a:prstGeom prst="rect">
            <a:avLst/>
          </a:prstGeom>
          <a:solidFill>
            <a:srgbClr val="F59E0B"/>
          </a:solidFill>
          <a:ln w="12700">
            <a:solidFill>
              <a:srgbClr val="F59E0B"/>
            </a:solidFill>
            <a:prstDash val="solid"/>
          </a:ln>
        </p:spPr>
        <p:txBody>
          <a:bodyPr/>
          <a:lstStyle/>
          <a:p>
            <a:endParaRPr lang="en-US"/>
          </a:p>
        </p:txBody>
      </p:sp>
      <p:sp>
        <p:nvSpPr>
          <p:cNvPr id="10" name="Text 8"/>
          <p:cNvSpPr/>
          <p:nvPr/>
        </p:nvSpPr>
        <p:spPr>
          <a:xfrm>
            <a:off x="4910328" y="2679192"/>
            <a:ext cx="3200400" cy="256032"/>
          </a:xfrm>
          <a:prstGeom prst="rect">
            <a:avLst/>
          </a:prstGeom>
          <a:noFill/>
          <a:ln/>
        </p:spPr>
        <p:txBody>
          <a:bodyPr wrap="square" lIns="0" tIns="0" rIns="0" bIns="0" rtlCol="0" anchor="ctr"/>
          <a:lstStyle/>
          <a:p>
            <a:r>
              <a:rPr lang="en-US" sz="1000" b="1" dirty="0">
                <a:solidFill>
                  <a:srgbClr val="F59E0B"/>
                </a:solidFill>
                <a:latin typeface="Calibri" pitchFamily="34" charset="0"/>
                <a:ea typeface="Calibri" pitchFamily="34" charset="-122"/>
                <a:cs typeface="Calibri" pitchFamily="34" charset="-120"/>
              </a:rPr>
              <a:t>Sprint 4 Review → Sprint 5 Action</a:t>
            </a:r>
            <a:endParaRPr lang="en-US" sz="1000" dirty="0"/>
          </a:p>
        </p:txBody>
      </p:sp>
      <p:sp>
        <p:nvSpPr>
          <p:cNvPr id="11" name="Text 9"/>
          <p:cNvSpPr/>
          <p:nvPr/>
        </p:nvSpPr>
        <p:spPr>
          <a:xfrm>
            <a:off x="4910328" y="2953512"/>
            <a:ext cx="3794760" cy="594360"/>
          </a:xfrm>
          <a:prstGeom prst="rect">
            <a:avLst/>
          </a:prstGeom>
          <a:noFill/>
          <a:ln/>
        </p:spPr>
        <p:txBody>
          <a:bodyPr wrap="square" lIns="0" tIns="0" rIns="0" bIns="0" rtlCol="0" anchor="ctr"/>
          <a:lstStyle/>
          <a:p>
            <a:r>
              <a:rPr lang="en-US" sz="800" dirty="0">
                <a:solidFill>
                  <a:srgbClr val="4A5568"/>
                </a:solidFill>
              </a:rPr>
              <a:t>Admin dashboard navigation needed clearer labeling. Rachel flagged visibility gaps; Tristin suggested Trello labels for bug-found-in-review states.</a:t>
            </a:r>
          </a:p>
          <a:p>
            <a:endParaRPr lang="en-US" sz="800" dirty="0">
              <a:solidFill>
                <a:srgbClr val="4A5568"/>
              </a:solidFill>
            </a:endParaRPr>
          </a:p>
          <a:p>
            <a:endParaRPr lang="en-US" sz="800" dirty="0">
              <a:solidFill>
                <a:srgbClr val="4A5568"/>
              </a:solidFill>
            </a:endParaRPr>
          </a:p>
          <a:p>
            <a:endParaRPr lang="en-US" sz="800" dirty="0">
              <a:solidFill>
                <a:srgbClr val="4A5568"/>
              </a:solidFill>
            </a:endParaRPr>
          </a:p>
        </p:txBody>
      </p:sp>
      <p:sp>
        <p:nvSpPr>
          <p:cNvPr id="12" name="Shape 10"/>
          <p:cNvSpPr/>
          <p:nvPr/>
        </p:nvSpPr>
        <p:spPr>
          <a:xfrm>
            <a:off x="365760" y="2587752"/>
            <a:ext cx="4114800" cy="107899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13" name="Shape 11"/>
          <p:cNvSpPr/>
          <p:nvPr/>
        </p:nvSpPr>
        <p:spPr>
          <a:xfrm>
            <a:off x="365760" y="2587752"/>
            <a:ext cx="109728" cy="1078992"/>
          </a:xfrm>
          <a:prstGeom prst="rect">
            <a:avLst/>
          </a:prstGeom>
          <a:solidFill>
            <a:srgbClr val="10B981"/>
          </a:solidFill>
          <a:ln w="12700">
            <a:solidFill>
              <a:srgbClr val="10B981"/>
            </a:solidFill>
            <a:prstDash val="solid"/>
          </a:ln>
        </p:spPr>
        <p:txBody>
          <a:bodyPr/>
          <a:lstStyle/>
          <a:p>
            <a:endParaRPr lang="en-US"/>
          </a:p>
        </p:txBody>
      </p:sp>
      <p:sp>
        <p:nvSpPr>
          <p:cNvPr id="14" name="Text 12"/>
          <p:cNvSpPr/>
          <p:nvPr/>
        </p:nvSpPr>
        <p:spPr>
          <a:xfrm>
            <a:off x="566928" y="2679192"/>
            <a:ext cx="3200400" cy="256032"/>
          </a:xfrm>
          <a:prstGeom prst="rect">
            <a:avLst/>
          </a:prstGeom>
          <a:noFill/>
          <a:ln/>
        </p:spPr>
        <p:txBody>
          <a:bodyPr wrap="square" lIns="0" tIns="0" rIns="0" bIns="0" rtlCol="0" anchor="ctr"/>
          <a:lstStyle/>
          <a:p>
            <a:r>
              <a:rPr lang="en-US" sz="1000" b="1" dirty="0">
                <a:solidFill>
                  <a:srgbClr val="10B981"/>
                </a:solidFill>
                <a:latin typeface="Calibri" pitchFamily="34" charset="0"/>
                <a:ea typeface="Calibri" pitchFamily="34" charset="-122"/>
                <a:cs typeface="Calibri" pitchFamily="34" charset="-120"/>
              </a:rPr>
              <a:t>Sprint 4 Review</a:t>
            </a:r>
            <a:endParaRPr lang="en-US" sz="1000" dirty="0"/>
          </a:p>
        </p:txBody>
      </p:sp>
      <p:sp>
        <p:nvSpPr>
          <p:cNvPr id="15" name="Text 13"/>
          <p:cNvSpPr/>
          <p:nvPr/>
        </p:nvSpPr>
        <p:spPr>
          <a:xfrm>
            <a:off x="566928" y="2953512"/>
            <a:ext cx="3794760" cy="594360"/>
          </a:xfrm>
          <a:prstGeom prst="rect">
            <a:avLst/>
          </a:prstGeom>
          <a:noFill/>
          <a:ln/>
        </p:spPr>
        <p:txBody>
          <a:bodyPr wrap="square" lIns="0" tIns="0" rIns="0" bIns="0" rtlCol="0" anchor="ctr"/>
          <a:lstStyle/>
          <a:p>
            <a:r>
              <a:rPr lang="en-US" sz="1000" dirty="0">
                <a:solidFill>
                  <a:srgbClr val="4A5568"/>
                </a:solidFill>
              </a:rPr>
              <a:t>Product CRUD performed consistently across create, edit, and delete. Confirmed production-ready with no iteration needed.</a:t>
            </a:r>
            <a:endParaRPr lang="en-US" sz="1000" dirty="0"/>
          </a:p>
        </p:txBody>
      </p:sp>
      <p:sp>
        <p:nvSpPr>
          <p:cNvPr id="20" name="Shape 18"/>
          <p:cNvSpPr/>
          <p:nvPr/>
        </p:nvSpPr>
        <p:spPr>
          <a:xfrm>
            <a:off x="365760" y="3822192"/>
            <a:ext cx="4114800" cy="107899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21" name="Shape 19"/>
          <p:cNvSpPr/>
          <p:nvPr/>
        </p:nvSpPr>
        <p:spPr>
          <a:xfrm>
            <a:off x="365760" y="3822192"/>
            <a:ext cx="109728" cy="1078992"/>
          </a:xfrm>
          <a:prstGeom prst="rect">
            <a:avLst/>
          </a:prstGeom>
          <a:solidFill>
            <a:srgbClr val="10B981"/>
          </a:solidFill>
          <a:ln w="12700">
            <a:solidFill>
              <a:srgbClr val="10B981"/>
            </a:solidFill>
            <a:prstDash val="solid"/>
          </a:ln>
        </p:spPr>
        <p:txBody>
          <a:bodyPr/>
          <a:lstStyle/>
          <a:p>
            <a:endParaRPr lang="en-US"/>
          </a:p>
        </p:txBody>
      </p:sp>
      <p:sp>
        <p:nvSpPr>
          <p:cNvPr id="22" name="Text 20"/>
          <p:cNvSpPr/>
          <p:nvPr/>
        </p:nvSpPr>
        <p:spPr>
          <a:xfrm>
            <a:off x="566928" y="3913632"/>
            <a:ext cx="3200400" cy="256032"/>
          </a:xfrm>
          <a:prstGeom prst="rect">
            <a:avLst/>
          </a:prstGeom>
          <a:noFill/>
          <a:ln/>
        </p:spPr>
        <p:txBody>
          <a:bodyPr wrap="square" lIns="0" tIns="0" rIns="0" bIns="0" rtlCol="0" anchor="ctr"/>
          <a:lstStyle/>
          <a:p>
            <a:r>
              <a:rPr lang="en-US" sz="1000" b="1" dirty="0">
                <a:solidFill>
                  <a:srgbClr val="10B981"/>
                </a:solidFill>
                <a:latin typeface="Calibri" pitchFamily="34" charset="0"/>
                <a:ea typeface="Calibri" pitchFamily="34" charset="-122"/>
                <a:cs typeface="Calibri" pitchFamily="34" charset="-120"/>
              </a:rPr>
              <a:t>Sprint 5 Review</a:t>
            </a:r>
            <a:endParaRPr lang="en-US" sz="1000" dirty="0"/>
          </a:p>
        </p:txBody>
      </p:sp>
      <p:sp>
        <p:nvSpPr>
          <p:cNvPr id="23" name="Text 21"/>
          <p:cNvSpPr/>
          <p:nvPr/>
        </p:nvSpPr>
        <p:spPr>
          <a:xfrm>
            <a:off x="566928" y="4187952"/>
            <a:ext cx="3794760" cy="594360"/>
          </a:xfrm>
          <a:prstGeom prst="rect">
            <a:avLst/>
          </a:prstGeom>
          <a:noFill/>
          <a:ln/>
        </p:spPr>
        <p:txBody>
          <a:bodyPr wrap="square" lIns="0" tIns="0" rIns="0" bIns="0" rtlCol="0" anchor="ctr"/>
          <a:lstStyle/>
          <a:p>
            <a:r>
              <a:rPr lang="en-US" sz="1000" dirty="0">
                <a:solidFill>
                  <a:srgbClr val="374151"/>
                </a:solidFill>
                <a:latin typeface="Calibri" pitchFamily="34" charset="0"/>
                <a:ea typeface="Calibri" pitchFamily="34" charset="-122"/>
                <a:cs typeface="Calibri" pitchFamily="34" charset="-120"/>
              </a:rPr>
              <a:t>Sales dashboard charts and date filtering were praised as genuinely practical for non-technical business owners. No changes requested.</a:t>
            </a:r>
            <a:endParaRPr lang="en-US" sz="1000" dirty="0"/>
          </a:p>
        </p:txBody>
      </p:sp>
      <p:sp>
        <p:nvSpPr>
          <p:cNvPr id="24" name="Shape 22"/>
          <p:cNvSpPr/>
          <p:nvPr/>
        </p:nvSpPr>
        <p:spPr>
          <a:xfrm>
            <a:off x="4709160" y="3822192"/>
            <a:ext cx="4114800" cy="107899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25" name="Shape 23"/>
          <p:cNvSpPr/>
          <p:nvPr/>
        </p:nvSpPr>
        <p:spPr>
          <a:xfrm>
            <a:off x="4709160" y="3822192"/>
            <a:ext cx="109728" cy="1078992"/>
          </a:xfrm>
          <a:prstGeom prst="rect">
            <a:avLst/>
          </a:prstGeom>
          <a:solidFill>
            <a:srgbClr val="1B2B5E"/>
          </a:solidFill>
          <a:ln w="12700">
            <a:solidFill>
              <a:srgbClr val="1B2B5E"/>
            </a:solidFill>
            <a:prstDash val="solid"/>
          </a:ln>
        </p:spPr>
        <p:txBody>
          <a:bodyPr/>
          <a:lstStyle/>
          <a:p>
            <a:endParaRPr lang="en-US"/>
          </a:p>
        </p:txBody>
      </p:sp>
      <p:sp>
        <p:nvSpPr>
          <p:cNvPr id="26" name="Text 24"/>
          <p:cNvSpPr/>
          <p:nvPr/>
        </p:nvSpPr>
        <p:spPr>
          <a:xfrm>
            <a:off x="4910328" y="3913632"/>
            <a:ext cx="3200400" cy="256032"/>
          </a:xfrm>
          <a:prstGeom prst="rect">
            <a:avLst/>
          </a:prstGeom>
          <a:noFill/>
          <a:ln/>
        </p:spPr>
        <p:txBody>
          <a:bodyPr wrap="square" lIns="0" tIns="0" rIns="0" bIns="0" rtlCol="0" anchor="ctr"/>
          <a:lstStyle/>
          <a:p>
            <a:r>
              <a:rPr lang="en-US" sz="1000" b="1" dirty="0">
                <a:solidFill>
                  <a:srgbClr val="1B2B5E"/>
                </a:solidFill>
                <a:latin typeface="Calibri" pitchFamily="34" charset="0"/>
                <a:ea typeface="Calibri" pitchFamily="34" charset="-122"/>
                <a:cs typeface="Calibri" pitchFamily="34" charset="-120"/>
              </a:rPr>
              <a:t>Code Review Process</a:t>
            </a:r>
            <a:endParaRPr lang="en-US" sz="1000" dirty="0"/>
          </a:p>
        </p:txBody>
      </p:sp>
      <p:sp>
        <p:nvSpPr>
          <p:cNvPr id="27" name="Text 25"/>
          <p:cNvSpPr/>
          <p:nvPr/>
        </p:nvSpPr>
        <p:spPr>
          <a:xfrm>
            <a:off x="4910328" y="4187952"/>
            <a:ext cx="3794760" cy="594360"/>
          </a:xfrm>
          <a:prstGeom prst="rect">
            <a:avLst/>
          </a:prstGeom>
          <a:noFill/>
          <a:ln/>
        </p:spPr>
        <p:txBody>
          <a:bodyPr wrap="square" lIns="0" tIns="0" rIns="0" bIns="0" rtlCol="0" anchor="ctr"/>
          <a:lstStyle/>
          <a:p>
            <a:r>
              <a:rPr lang="en-US" sz="800" dirty="0">
                <a:solidFill>
                  <a:srgbClr val="4A5568"/>
                </a:solidFill>
              </a:rPr>
              <a:t>24-hour review turn around with structured GitHub PR feedback — approve or request changes — enforced from Sprint 1. No code merged to main without a completed review.</a:t>
            </a:r>
            <a:endParaRPr lang="en-US" sz="800" dirty="0"/>
          </a:p>
          <a:p>
            <a:endParaRPr lang="en-US" sz="1000" dirty="0"/>
          </a:p>
        </p:txBody>
      </p:sp>
      <p:sp>
        <p:nvSpPr>
          <p:cNvPr id="28" name="Text 2">
            <a:extLst>
              <a:ext uri="{FF2B5EF4-FFF2-40B4-BE49-F238E27FC236}">
                <a16:creationId xmlns:a16="http://schemas.microsoft.com/office/drawing/2014/main" id="{4EEDEEB6-EEC4-DD58-2A79-B3EA681D70E8}"/>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Caleb Fowlkes</a:t>
            </a:r>
            <a:endParaRPr lang="en-US" sz="800" dirty="0"/>
          </a:p>
        </p:txBody>
      </p:sp>
      <p:sp>
        <p:nvSpPr>
          <p:cNvPr id="29" name="Text 3">
            <a:extLst>
              <a:ext uri="{FF2B5EF4-FFF2-40B4-BE49-F238E27FC236}">
                <a16:creationId xmlns:a16="http://schemas.microsoft.com/office/drawing/2014/main" id="{9FFFA49E-A104-E658-05CE-1111F8A13E1C}"/>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Code Review Lead &amp; Database Specialist</a:t>
            </a:r>
            <a:endParaRPr lang="en-US" sz="700" dirty="0"/>
          </a:p>
        </p:txBody>
      </p:sp>
      <p:sp>
        <p:nvSpPr>
          <p:cNvPr id="30" name="Text 4">
            <a:extLst>
              <a:ext uri="{FF2B5EF4-FFF2-40B4-BE49-F238E27FC236}">
                <a16:creationId xmlns:a16="http://schemas.microsoft.com/office/drawing/2014/main" id="{BF99FFB6-411B-6977-1725-E710AE1E6F97}"/>
              </a:ext>
            </a:extLst>
          </p:cNvPr>
          <p:cNvSpPr/>
          <p:nvPr/>
        </p:nvSpPr>
        <p:spPr>
          <a:xfrm>
            <a:off x="502920" y="996696"/>
            <a:ext cx="7772400" cy="201168"/>
          </a:xfrm>
          <a:prstGeom prst="rect">
            <a:avLst/>
          </a:prstGeom>
          <a:noFill/>
          <a:ln/>
        </p:spPr>
        <p:txBody>
          <a:bodyPr wrap="square" lIns="0" tIns="0" rIns="0" bIns="0" rtlCol="0" anchor="ctr"/>
          <a:lstStyle/>
          <a:p>
            <a:pPr marL="0" indent="0">
              <a:buNone/>
            </a:pPr>
            <a:r>
              <a:rPr lang="en-US" sz="1050" i="1" dirty="0">
                <a:solidFill>
                  <a:srgbClr val="4A5568"/>
                </a:solidFill>
              </a:rPr>
              <a:t>Our feedback loops came from within: sprint reviews, retrospectives, code reviews, and Trello.</a:t>
            </a:r>
            <a:endParaRPr lang="en-US" sz="1050" dirty="0"/>
          </a:p>
        </p:txBody>
      </p:sp>
      <p:sp>
        <p:nvSpPr>
          <p:cNvPr id="32" name="Shape 25">
            <a:extLst>
              <a:ext uri="{FF2B5EF4-FFF2-40B4-BE49-F238E27FC236}">
                <a16:creationId xmlns:a16="http://schemas.microsoft.com/office/drawing/2014/main" id="{980A22CD-34A5-D1F8-911E-EBA3B84511F7}"/>
              </a:ext>
            </a:extLst>
          </p:cNvPr>
          <p:cNvSpPr/>
          <p:nvPr/>
        </p:nvSpPr>
        <p:spPr>
          <a:xfrm>
            <a:off x="4910328" y="3328416"/>
            <a:ext cx="3730752" cy="6401"/>
          </a:xfrm>
          <a:prstGeom prst="rect">
            <a:avLst/>
          </a:prstGeom>
          <a:solidFill>
            <a:srgbClr val="E2E8F0"/>
          </a:solidFill>
          <a:ln w="12700">
            <a:solidFill>
              <a:srgbClr val="E2E8F0"/>
            </a:solidFill>
            <a:prstDash val="solid"/>
          </a:ln>
        </p:spPr>
        <p:txBody>
          <a:bodyPr/>
          <a:lstStyle/>
          <a:p>
            <a:endParaRPr lang="en-US"/>
          </a:p>
        </p:txBody>
      </p:sp>
      <p:sp>
        <p:nvSpPr>
          <p:cNvPr id="33" name="Shape 26">
            <a:extLst>
              <a:ext uri="{FF2B5EF4-FFF2-40B4-BE49-F238E27FC236}">
                <a16:creationId xmlns:a16="http://schemas.microsoft.com/office/drawing/2014/main" id="{D1396D5C-B676-982A-8C54-A6AF19462F26}"/>
              </a:ext>
            </a:extLst>
          </p:cNvPr>
          <p:cNvSpPr/>
          <p:nvPr/>
        </p:nvSpPr>
        <p:spPr>
          <a:xfrm>
            <a:off x="4910328" y="3383280"/>
            <a:ext cx="658368" cy="146304"/>
          </a:xfrm>
          <a:prstGeom prst="rect">
            <a:avLst/>
          </a:prstGeom>
          <a:solidFill>
            <a:srgbClr val="1D9E75"/>
          </a:solidFill>
          <a:ln w="12700">
            <a:solidFill>
              <a:srgbClr val="1D9E75"/>
            </a:solidFill>
            <a:prstDash val="solid"/>
          </a:ln>
        </p:spPr>
        <p:txBody>
          <a:bodyPr/>
          <a:lstStyle/>
          <a:p>
            <a:endParaRPr lang="en-US"/>
          </a:p>
        </p:txBody>
      </p:sp>
      <p:sp>
        <p:nvSpPr>
          <p:cNvPr id="34" name="Text 27">
            <a:extLst>
              <a:ext uri="{FF2B5EF4-FFF2-40B4-BE49-F238E27FC236}">
                <a16:creationId xmlns:a16="http://schemas.microsoft.com/office/drawing/2014/main" id="{8314ADC9-845F-6256-5256-4A7731660C6C}"/>
              </a:ext>
            </a:extLst>
          </p:cNvPr>
          <p:cNvSpPr/>
          <p:nvPr/>
        </p:nvSpPr>
        <p:spPr>
          <a:xfrm>
            <a:off x="4910328" y="3383280"/>
            <a:ext cx="658368" cy="146304"/>
          </a:xfrm>
          <a:prstGeom prst="rect">
            <a:avLst/>
          </a:prstGeom>
          <a:noFill/>
          <a:ln/>
        </p:spPr>
        <p:txBody>
          <a:bodyPr wrap="square" lIns="0" tIns="0" rIns="0" bIns="0" rtlCol="0" anchor="ctr"/>
          <a:lstStyle/>
          <a:p>
            <a:pPr marL="0" indent="0" algn="ctr">
              <a:buNone/>
            </a:pPr>
            <a:r>
              <a:rPr lang="en-US" sz="650" b="1" dirty="0">
                <a:solidFill>
                  <a:srgbClr val="FFFFFF"/>
                </a:solidFill>
              </a:rPr>
              <a:t>Sprint 5 Action</a:t>
            </a:r>
            <a:endParaRPr lang="en-US" sz="650" dirty="0"/>
          </a:p>
        </p:txBody>
      </p:sp>
      <p:sp>
        <p:nvSpPr>
          <p:cNvPr id="35" name="Text 28">
            <a:extLst>
              <a:ext uri="{FF2B5EF4-FFF2-40B4-BE49-F238E27FC236}">
                <a16:creationId xmlns:a16="http://schemas.microsoft.com/office/drawing/2014/main" id="{ACF7EE63-969F-A0D6-785C-E7B3A6DADBF5}"/>
              </a:ext>
            </a:extLst>
          </p:cNvPr>
          <p:cNvSpPr/>
          <p:nvPr/>
        </p:nvSpPr>
        <p:spPr>
          <a:xfrm>
            <a:off x="5628132" y="3401325"/>
            <a:ext cx="3017520" cy="256032"/>
          </a:xfrm>
          <a:prstGeom prst="rect">
            <a:avLst/>
          </a:prstGeom>
          <a:noFill/>
          <a:ln/>
        </p:spPr>
        <p:txBody>
          <a:bodyPr wrap="square" lIns="0" tIns="0" rIns="0" bIns="0" rtlCol="0" anchor="t"/>
          <a:lstStyle/>
          <a:p>
            <a:pPr marL="0" indent="0">
              <a:buNone/>
            </a:pPr>
            <a:r>
              <a:rPr lang="en-US" sz="700" dirty="0">
                <a:solidFill>
                  <a:srgbClr val="0D1B3E"/>
                </a:solidFill>
              </a:rPr>
              <a:t>Feedback logged as Sprint 5 UX cards (UX5.1). Resolved before code freeze.</a:t>
            </a:r>
            <a:endParaRPr lang="en-US" sz="700" dirty="0"/>
          </a:p>
        </p:txBody>
      </p:sp>
      <p:sp>
        <p:nvSpPr>
          <p:cNvPr id="37" name="Shape 2">
            <a:extLst>
              <a:ext uri="{FF2B5EF4-FFF2-40B4-BE49-F238E27FC236}">
                <a16:creationId xmlns:a16="http://schemas.microsoft.com/office/drawing/2014/main" id="{47636F82-9F28-2768-9AE3-938CA53D45D3}"/>
              </a:ext>
            </a:extLst>
          </p:cNvPr>
          <p:cNvSpPr/>
          <p:nvPr/>
        </p:nvSpPr>
        <p:spPr>
          <a:xfrm>
            <a:off x="4706732" y="1358609"/>
            <a:ext cx="4114800" cy="1078992"/>
          </a:xfrm>
          <a:prstGeom prst="rect">
            <a:avLst/>
          </a:prstGeom>
          <a:solidFill>
            <a:srgbClr val="FFFFFF"/>
          </a:solidFill>
          <a:ln w="12700">
            <a:solidFill>
              <a:srgbClr val="E5E7EB"/>
            </a:solidFill>
            <a:prstDash val="solid"/>
          </a:ln>
          <a:effectLst>
            <a:outerShdw blurRad="101600" dist="25400" dir="8100000" algn="bl" rotWithShape="0">
              <a:srgbClr val="000000">
                <a:alpha val="7000"/>
              </a:srgbClr>
            </a:outerShdw>
          </a:effectLst>
        </p:spPr>
        <p:txBody>
          <a:bodyPr/>
          <a:lstStyle/>
          <a:p>
            <a:endParaRPr lang="en-US"/>
          </a:p>
        </p:txBody>
      </p:sp>
      <p:sp>
        <p:nvSpPr>
          <p:cNvPr id="38" name="Shape 3">
            <a:extLst>
              <a:ext uri="{FF2B5EF4-FFF2-40B4-BE49-F238E27FC236}">
                <a16:creationId xmlns:a16="http://schemas.microsoft.com/office/drawing/2014/main" id="{2A48B2D2-2B50-6C29-787D-CEF0E63E5F25}"/>
              </a:ext>
            </a:extLst>
          </p:cNvPr>
          <p:cNvSpPr/>
          <p:nvPr/>
        </p:nvSpPr>
        <p:spPr>
          <a:xfrm>
            <a:off x="4706732" y="1358609"/>
            <a:ext cx="109728" cy="1078992"/>
          </a:xfrm>
          <a:prstGeom prst="rect">
            <a:avLst/>
          </a:prstGeom>
          <a:solidFill>
            <a:srgbClr val="10B981"/>
          </a:solidFill>
          <a:ln w="12700">
            <a:solidFill>
              <a:srgbClr val="10B981"/>
            </a:solidFill>
            <a:prstDash val="solid"/>
          </a:ln>
        </p:spPr>
        <p:txBody>
          <a:bodyPr/>
          <a:lstStyle/>
          <a:p>
            <a:endParaRPr lang="en-US"/>
          </a:p>
        </p:txBody>
      </p:sp>
      <p:sp>
        <p:nvSpPr>
          <p:cNvPr id="39" name="Text 4">
            <a:extLst>
              <a:ext uri="{FF2B5EF4-FFF2-40B4-BE49-F238E27FC236}">
                <a16:creationId xmlns:a16="http://schemas.microsoft.com/office/drawing/2014/main" id="{ABD5C1E4-E752-C240-AA3B-50B0D9FC3350}"/>
              </a:ext>
            </a:extLst>
          </p:cNvPr>
          <p:cNvSpPr/>
          <p:nvPr/>
        </p:nvSpPr>
        <p:spPr>
          <a:xfrm>
            <a:off x="4907900" y="1450049"/>
            <a:ext cx="3200400" cy="256032"/>
          </a:xfrm>
          <a:prstGeom prst="rect">
            <a:avLst/>
          </a:prstGeom>
          <a:noFill/>
          <a:ln/>
        </p:spPr>
        <p:txBody>
          <a:bodyPr wrap="square" lIns="0" tIns="0" rIns="0" bIns="0" rtlCol="0" anchor="ctr"/>
          <a:lstStyle/>
          <a:p>
            <a:r>
              <a:rPr lang="en-US" sz="1000" b="1" dirty="0">
                <a:solidFill>
                  <a:srgbClr val="10B981"/>
                </a:solidFill>
                <a:latin typeface="Calibri" pitchFamily="34" charset="0"/>
                <a:ea typeface="Calibri" pitchFamily="34" charset="-122"/>
                <a:cs typeface="Calibri" pitchFamily="34" charset="-120"/>
              </a:rPr>
              <a:t>Sprint 3 Retrospective</a:t>
            </a:r>
            <a:endParaRPr lang="en-US" sz="1000" dirty="0"/>
          </a:p>
        </p:txBody>
      </p:sp>
      <p:sp>
        <p:nvSpPr>
          <p:cNvPr id="40" name="Text 5">
            <a:extLst>
              <a:ext uri="{FF2B5EF4-FFF2-40B4-BE49-F238E27FC236}">
                <a16:creationId xmlns:a16="http://schemas.microsoft.com/office/drawing/2014/main" id="{D3603508-8F78-7CDE-7237-8DC609E5321A}"/>
              </a:ext>
            </a:extLst>
          </p:cNvPr>
          <p:cNvSpPr/>
          <p:nvPr/>
        </p:nvSpPr>
        <p:spPr>
          <a:xfrm>
            <a:off x="4907900" y="1724369"/>
            <a:ext cx="3794760" cy="594360"/>
          </a:xfrm>
          <a:prstGeom prst="rect">
            <a:avLst/>
          </a:prstGeom>
          <a:noFill/>
          <a:ln/>
        </p:spPr>
        <p:txBody>
          <a:bodyPr wrap="square" lIns="0" tIns="0" rIns="0" bIns="0" rtlCol="0" anchor="ctr"/>
          <a:lstStyle/>
          <a:p>
            <a:r>
              <a:rPr lang="en-US" sz="800" dirty="0">
                <a:solidFill>
                  <a:srgbClr val="4A5568"/>
                </a:solidFill>
              </a:rPr>
              <a:t>Cards mixing frontend and backend tasks caused confusion. Kenny flagged that features arriving late created a QA crunch.</a:t>
            </a:r>
          </a:p>
          <a:p>
            <a:endParaRPr lang="en-US" sz="800" dirty="0">
              <a:solidFill>
                <a:srgbClr val="4A5568"/>
              </a:solidFill>
            </a:endParaRPr>
          </a:p>
          <a:p>
            <a:endParaRPr lang="en-US" sz="800" dirty="0">
              <a:solidFill>
                <a:srgbClr val="4A5568"/>
              </a:solidFill>
            </a:endParaRPr>
          </a:p>
          <a:p>
            <a:endParaRPr lang="en-US" sz="800" dirty="0"/>
          </a:p>
        </p:txBody>
      </p:sp>
      <p:sp>
        <p:nvSpPr>
          <p:cNvPr id="41" name="Shape 13">
            <a:extLst>
              <a:ext uri="{FF2B5EF4-FFF2-40B4-BE49-F238E27FC236}">
                <a16:creationId xmlns:a16="http://schemas.microsoft.com/office/drawing/2014/main" id="{958B9CD0-DFA5-00F8-ED84-0A0371F5E20C}"/>
              </a:ext>
            </a:extLst>
          </p:cNvPr>
          <p:cNvSpPr/>
          <p:nvPr/>
        </p:nvSpPr>
        <p:spPr>
          <a:xfrm>
            <a:off x="4914900" y="2071841"/>
            <a:ext cx="3730752" cy="6401"/>
          </a:xfrm>
          <a:prstGeom prst="rect">
            <a:avLst/>
          </a:prstGeom>
          <a:solidFill>
            <a:srgbClr val="E2E8F0"/>
          </a:solidFill>
          <a:ln w="12700">
            <a:solidFill>
              <a:srgbClr val="E2E8F0"/>
            </a:solidFill>
            <a:prstDash val="solid"/>
          </a:ln>
        </p:spPr>
        <p:txBody>
          <a:bodyPr/>
          <a:lstStyle/>
          <a:p>
            <a:endParaRPr lang="en-US"/>
          </a:p>
        </p:txBody>
      </p:sp>
      <p:sp>
        <p:nvSpPr>
          <p:cNvPr id="42" name="Shape 14">
            <a:extLst>
              <a:ext uri="{FF2B5EF4-FFF2-40B4-BE49-F238E27FC236}">
                <a16:creationId xmlns:a16="http://schemas.microsoft.com/office/drawing/2014/main" id="{9330EADE-321C-BA36-DC81-7940CD2879DA}"/>
              </a:ext>
            </a:extLst>
          </p:cNvPr>
          <p:cNvSpPr/>
          <p:nvPr/>
        </p:nvSpPr>
        <p:spPr>
          <a:xfrm>
            <a:off x="4914900" y="2126705"/>
            <a:ext cx="658368" cy="146304"/>
          </a:xfrm>
          <a:prstGeom prst="rect">
            <a:avLst/>
          </a:prstGeom>
          <a:solidFill>
            <a:srgbClr val="1D9E75"/>
          </a:solidFill>
          <a:ln w="12700">
            <a:solidFill>
              <a:srgbClr val="1D9E75"/>
            </a:solidFill>
            <a:prstDash val="solid"/>
          </a:ln>
        </p:spPr>
        <p:txBody>
          <a:bodyPr/>
          <a:lstStyle/>
          <a:p>
            <a:endParaRPr lang="en-US"/>
          </a:p>
        </p:txBody>
      </p:sp>
      <p:sp>
        <p:nvSpPr>
          <p:cNvPr id="43" name="Text 15">
            <a:extLst>
              <a:ext uri="{FF2B5EF4-FFF2-40B4-BE49-F238E27FC236}">
                <a16:creationId xmlns:a16="http://schemas.microsoft.com/office/drawing/2014/main" id="{AD29FAC7-3A39-85C2-7B66-05EC9E70EFA0}"/>
              </a:ext>
            </a:extLst>
          </p:cNvPr>
          <p:cNvSpPr/>
          <p:nvPr/>
        </p:nvSpPr>
        <p:spPr>
          <a:xfrm>
            <a:off x="4914900" y="2126705"/>
            <a:ext cx="658368" cy="146304"/>
          </a:xfrm>
          <a:prstGeom prst="rect">
            <a:avLst/>
          </a:prstGeom>
          <a:noFill/>
          <a:ln/>
        </p:spPr>
        <p:txBody>
          <a:bodyPr wrap="square" lIns="0" tIns="0" rIns="0" bIns="0" rtlCol="0" anchor="ctr"/>
          <a:lstStyle/>
          <a:p>
            <a:pPr marL="0" indent="0" algn="ctr">
              <a:buNone/>
            </a:pPr>
            <a:r>
              <a:rPr lang="en-US" sz="650" b="1" dirty="0">
                <a:solidFill>
                  <a:srgbClr val="FFFFFF"/>
                </a:solidFill>
              </a:rPr>
              <a:t>Process Change</a:t>
            </a:r>
            <a:endParaRPr lang="en-US" sz="650" dirty="0"/>
          </a:p>
        </p:txBody>
      </p:sp>
      <p:sp>
        <p:nvSpPr>
          <p:cNvPr id="44" name="Text 16">
            <a:extLst>
              <a:ext uri="{FF2B5EF4-FFF2-40B4-BE49-F238E27FC236}">
                <a16:creationId xmlns:a16="http://schemas.microsoft.com/office/drawing/2014/main" id="{5ED944CA-C9DF-D067-9943-F131DDF84E8C}"/>
              </a:ext>
            </a:extLst>
          </p:cNvPr>
          <p:cNvSpPr/>
          <p:nvPr/>
        </p:nvSpPr>
        <p:spPr>
          <a:xfrm>
            <a:off x="5628132" y="2126705"/>
            <a:ext cx="3017520" cy="292608"/>
          </a:xfrm>
          <a:prstGeom prst="rect">
            <a:avLst/>
          </a:prstGeom>
          <a:noFill/>
          <a:ln/>
        </p:spPr>
        <p:txBody>
          <a:bodyPr wrap="square" lIns="0" tIns="0" rIns="0" bIns="0" rtlCol="0" anchor="t"/>
          <a:lstStyle/>
          <a:p>
            <a:pPr marL="0" indent="0">
              <a:buNone/>
            </a:pPr>
            <a:r>
              <a:rPr lang="en-US" sz="700" dirty="0">
                <a:solidFill>
                  <a:srgbClr val="0D1B3E"/>
                </a:solidFill>
              </a:rPr>
              <a:t>Cards split into explicit Frontend/Backend tracks from Sprint 4. Wave deadlines enforced to protect QA time.</a:t>
            </a:r>
            <a:endParaRPr lang="en-US" sz="700" dirty="0"/>
          </a:p>
        </p:txBody>
      </p:sp>
      <p:sp>
        <p:nvSpPr>
          <p:cNvPr id="45" name="Shape 37">
            <a:extLst>
              <a:ext uri="{FF2B5EF4-FFF2-40B4-BE49-F238E27FC236}">
                <a16:creationId xmlns:a16="http://schemas.microsoft.com/office/drawing/2014/main" id="{576DFE7B-28AA-F672-1DA7-08921F46272A}"/>
              </a:ext>
            </a:extLst>
          </p:cNvPr>
          <p:cNvSpPr/>
          <p:nvPr/>
        </p:nvSpPr>
        <p:spPr>
          <a:xfrm>
            <a:off x="4914900" y="4588459"/>
            <a:ext cx="3730752" cy="6401"/>
          </a:xfrm>
          <a:prstGeom prst="rect">
            <a:avLst/>
          </a:prstGeom>
          <a:solidFill>
            <a:srgbClr val="E2E8F0"/>
          </a:solidFill>
          <a:ln w="12700">
            <a:solidFill>
              <a:srgbClr val="E2E8F0"/>
            </a:solidFill>
            <a:prstDash val="solid"/>
          </a:ln>
        </p:spPr>
        <p:txBody>
          <a:bodyPr/>
          <a:lstStyle/>
          <a:p>
            <a:endParaRPr lang="en-US"/>
          </a:p>
        </p:txBody>
      </p:sp>
      <p:sp>
        <p:nvSpPr>
          <p:cNvPr id="46" name="Shape 38">
            <a:extLst>
              <a:ext uri="{FF2B5EF4-FFF2-40B4-BE49-F238E27FC236}">
                <a16:creationId xmlns:a16="http://schemas.microsoft.com/office/drawing/2014/main" id="{E30D4028-83AA-9EAE-51AF-7455FB49C3E9}"/>
              </a:ext>
            </a:extLst>
          </p:cNvPr>
          <p:cNvSpPr/>
          <p:nvPr/>
        </p:nvSpPr>
        <p:spPr>
          <a:xfrm>
            <a:off x="4914900" y="4643323"/>
            <a:ext cx="658368" cy="146304"/>
          </a:xfrm>
          <a:prstGeom prst="rect">
            <a:avLst/>
          </a:prstGeom>
          <a:solidFill>
            <a:srgbClr val="1D9E75"/>
          </a:solidFill>
          <a:ln w="12700">
            <a:solidFill>
              <a:srgbClr val="1D9E75"/>
            </a:solidFill>
            <a:prstDash val="solid"/>
          </a:ln>
        </p:spPr>
        <p:txBody>
          <a:bodyPr/>
          <a:lstStyle/>
          <a:p>
            <a:endParaRPr lang="en-US"/>
          </a:p>
        </p:txBody>
      </p:sp>
      <p:sp>
        <p:nvSpPr>
          <p:cNvPr id="47" name="Text 39">
            <a:extLst>
              <a:ext uri="{FF2B5EF4-FFF2-40B4-BE49-F238E27FC236}">
                <a16:creationId xmlns:a16="http://schemas.microsoft.com/office/drawing/2014/main" id="{24D17AEA-10AB-F03C-8E71-79E9F7C936B5}"/>
              </a:ext>
            </a:extLst>
          </p:cNvPr>
          <p:cNvSpPr/>
          <p:nvPr/>
        </p:nvSpPr>
        <p:spPr>
          <a:xfrm>
            <a:off x="4914900" y="4643323"/>
            <a:ext cx="658368" cy="146304"/>
          </a:xfrm>
          <a:prstGeom prst="rect">
            <a:avLst/>
          </a:prstGeom>
          <a:noFill/>
          <a:ln/>
        </p:spPr>
        <p:txBody>
          <a:bodyPr wrap="square" lIns="0" tIns="0" rIns="0" bIns="0" rtlCol="0" anchor="ctr"/>
          <a:lstStyle/>
          <a:p>
            <a:pPr marL="0" indent="0" algn="ctr">
              <a:buNone/>
            </a:pPr>
            <a:r>
              <a:rPr lang="en-US" sz="650" b="1" dirty="0">
                <a:solidFill>
                  <a:srgbClr val="FFFFFF"/>
                </a:solidFill>
              </a:rPr>
              <a:t>Consistent Result</a:t>
            </a:r>
            <a:endParaRPr lang="en-US" sz="650" dirty="0"/>
          </a:p>
        </p:txBody>
      </p:sp>
      <p:sp>
        <p:nvSpPr>
          <p:cNvPr id="48" name="Text 40">
            <a:extLst>
              <a:ext uri="{FF2B5EF4-FFF2-40B4-BE49-F238E27FC236}">
                <a16:creationId xmlns:a16="http://schemas.microsoft.com/office/drawing/2014/main" id="{FAE72B30-2127-BAA8-613E-A8BFC9CE5C1F}"/>
              </a:ext>
            </a:extLst>
          </p:cNvPr>
          <p:cNvSpPr/>
          <p:nvPr/>
        </p:nvSpPr>
        <p:spPr>
          <a:xfrm>
            <a:off x="5628132" y="4643323"/>
            <a:ext cx="3017520" cy="257861"/>
          </a:xfrm>
          <a:prstGeom prst="rect">
            <a:avLst/>
          </a:prstGeom>
          <a:noFill/>
          <a:ln/>
        </p:spPr>
        <p:txBody>
          <a:bodyPr wrap="square" lIns="0" tIns="0" rIns="0" bIns="0" rtlCol="0" anchor="t"/>
          <a:lstStyle/>
          <a:p>
            <a:pPr marL="0" indent="0">
              <a:buNone/>
            </a:pPr>
            <a:r>
              <a:rPr lang="en-US" sz="700" dirty="0">
                <a:solidFill>
                  <a:srgbClr val="0D1B3E"/>
                </a:solidFill>
              </a:rPr>
              <a:t>Every sprint closed with full PR coverage. Sprint 5: 16 PRs reviewed, 0 unreviewed merges.</a:t>
            </a:r>
            <a:endParaRPr lang="en-US" sz="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2">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
                                            <p:txEl>
                                              <p:pRg st="0" end="0"/>
                                            </p:txEl>
                                          </p:spTgt>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30" presetClass="entr" presetSubtype="0" fill="hold" grpId="0" nodeType="after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800" decel="100000"/>
                                        <p:tgtEl>
                                          <p:spTgt spid="30"/>
                                        </p:tgtEl>
                                      </p:cBhvr>
                                    </p:animEffect>
                                    <p:anim calcmode="lin" valueType="num">
                                      <p:cBhvr>
                                        <p:cTn id="15" dur="800" decel="100000" fill="hold"/>
                                        <p:tgtEl>
                                          <p:spTgt spid="30"/>
                                        </p:tgtEl>
                                        <p:attrNameLst>
                                          <p:attrName>style.rotation</p:attrName>
                                        </p:attrNameLst>
                                      </p:cBhvr>
                                      <p:tavLst>
                                        <p:tav tm="0">
                                          <p:val>
                                            <p:fltVal val="-90"/>
                                          </p:val>
                                        </p:tav>
                                        <p:tav tm="100000">
                                          <p:val>
                                            <p:fltVal val="0"/>
                                          </p:val>
                                        </p:tav>
                                      </p:tavLst>
                                    </p:anim>
                                    <p:anim calcmode="lin" valueType="num">
                                      <p:cBhvr>
                                        <p:cTn id="16" dur="800" decel="100000" fill="hold"/>
                                        <p:tgtEl>
                                          <p:spTgt spid="30"/>
                                        </p:tgtEl>
                                        <p:attrNameLst>
                                          <p:attrName>ppt_x</p:attrName>
                                        </p:attrNameLst>
                                      </p:cBhvr>
                                      <p:tavLst>
                                        <p:tav tm="0">
                                          <p:val>
                                            <p:strVal val="#ppt_x+0.4"/>
                                          </p:val>
                                        </p:tav>
                                        <p:tav tm="100000">
                                          <p:val>
                                            <p:strVal val="#ppt_x-0.05"/>
                                          </p:val>
                                        </p:tav>
                                      </p:tavLst>
                                    </p:anim>
                                    <p:anim calcmode="lin" valueType="num">
                                      <p:cBhvr>
                                        <p:cTn id="17" dur="800" decel="100000" fill="hold"/>
                                        <p:tgtEl>
                                          <p:spTgt spid="30"/>
                                        </p:tgtEl>
                                        <p:attrNameLst>
                                          <p:attrName>ppt_y</p:attrName>
                                        </p:attrNameLst>
                                      </p:cBhvr>
                                      <p:tavLst>
                                        <p:tav tm="0">
                                          <p:val>
                                            <p:strVal val="#ppt_y-0.4"/>
                                          </p:val>
                                        </p:tav>
                                        <p:tav tm="100000">
                                          <p:val>
                                            <p:strVal val="#ppt_y+0.1"/>
                                          </p:val>
                                        </p:tav>
                                      </p:tavLst>
                                    </p:anim>
                                    <p:anim calcmode="lin" valueType="num">
                                      <p:cBhvr>
                                        <p:cTn id="18" dur="200" accel="100000" fill="hold">
                                          <p:stCondLst>
                                            <p:cond delay="800"/>
                                          </p:stCondLst>
                                        </p:cTn>
                                        <p:tgtEl>
                                          <p:spTgt spid="30"/>
                                        </p:tgtEl>
                                        <p:attrNameLst>
                                          <p:attrName>ppt_x</p:attrName>
                                        </p:attrNameLst>
                                      </p:cBhvr>
                                      <p:tavLst>
                                        <p:tav tm="0">
                                          <p:val>
                                            <p:strVal val="#ppt_x-0.05"/>
                                          </p:val>
                                        </p:tav>
                                        <p:tav tm="100000">
                                          <p:val>
                                            <p:strVal val="#ppt_x"/>
                                          </p:val>
                                        </p:tav>
                                      </p:tavLst>
                                    </p:anim>
                                    <p:anim calcmode="lin" valueType="num">
                                      <p:cBhvr>
                                        <p:cTn id="19" dur="200" accel="100000" fill="hold">
                                          <p:stCondLst>
                                            <p:cond delay="800"/>
                                          </p:stCondLst>
                                        </p:cTn>
                                        <p:tgtEl>
                                          <p:spTgt spid="30"/>
                                        </p:tgtEl>
                                        <p:attrNameLst>
                                          <p:attrName>ppt_y</p:attrName>
                                        </p:attrNameLst>
                                      </p:cBhvr>
                                      <p:tavLst>
                                        <p:tav tm="0">
                                          <p:val>
                                            <p:strVal val="#ppt_y+0.1"/>
                                          </p:val>
                                        </p:tav>
                                        <p:tav tm="100000">
                                          <p:val>
                                            <p:strVal val="#ppt_y"/>
                                          </p:val>
                                        </p:tav>
                                      </p:tavLst>
                                    </p:anim>
                                  </p:childTnLst>
                                </p:cTn>
                              </p:par>
                            </p:childTnLst>
                          </p:cTn>
                        </p:par>
                        <p:par>
                          <p:cTn id="20" fill="hold">
                            <p:stCondLst>
                              <p:cond delay="2000"/>
                            </p:stCondLst>
                            <p:childTnLst>
                              <p:par>
                                <p:cTn id="21" presetID="9" presetClass="entr" presetSubtype="0" fill="hold" grpId="0" nodeType="afterEffect">
                                  <p:stCondLst>
                                    <p:cond delay="500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1000"/>
                                        <p:tgtEl>
                                          <p:spTgt spid="8"/>
                                        </p:tgtEl>
                                      </p:cBhvr>
                                    </p:animEffect>
                                  </p:childTnLst>
                                </p:cTn>
                              </p:par>
                              <p:par>
                                <p:cTn id="24" presetID="9" presetClass="entr" presetSubtype="0" fill="hold" grpId="0" nodeType="withEffect">
                                  <p:stCondLst>
                                    <p:cond delay="5000"/>
                                  </p:stCondLst>
                                  <p:childTnLst>
                                    <p:set>
                                      <p:cBhvr>
                                        <p:cTn id="25" dur="1" fill="hold">
                                          <p:stCondLst>
                                            <p:cond delay="0"/>
                                          </p:stCondLst>
                                        </p:cTn>
                                        <p:tgtEl>
                                          <p:spTgt spid="9"/>
                                        </p:tgtEl>
                                        <p:attrNameLst>
                                          <p:attrName>style.visibility</p:attrName>
                                        </p:attrNameLst>
                                      </p:cBhvr>
                                      <p:to>
                                        <p:strVal val="visible"/>
                                      </p:to>
                                    </p:set>
                                    <p:animEffect transition="in" filter="dissolve">
                                      <p:cBhvr>
                                        <p:cTn id="26" dur="1000"/>
                                        <p:tgtEl>
                                          <p:spTgt spid="9"/>
                                        </p:tgtEl>
                                      </p:cBhvr>
                                    </p:animEffect>
                                  </p:childTnLst>
                                </p:cTn>
                              </p:par>
                              <p:par>
                                <p:cTn id="27" presetID="9" presetClass="entr" presetSubtype="0" fill="hold" grpId="0" nodeType="withEffect">
                                  <p:stCondLst>
                                    <p:cond delay="500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1000"/>
                                        <p:tgtEl>
                                          <p:spTgt spid="10"/>
                                        </p:tgtEl>
                                      </p:cBhvr>
                                    </p:animEffect>
                                  </p:childTnLst>
                                </p:cTn>
                              </p:par>
                              <p:par>
                                <p:cTn id="30" presetID="9" presetClass="entr" presetSubtype="0" fill="hold" grpId="0" nodeType="withEffect">
                                  <p:stCondLst>
                                    <p:cond delay="5000"/>
                                  </p:stCondLst>
                                  <p:childTnLst>
                                    <p:set>
                                      <p:cBhvr>
                                        <p:cTn id="31" dur="1" fill="hold">
                                          <p:stCondLst>
                                            <p:cond delay="0"/>
                                          </p:stCondLst>
                                        </p:cTn>
                                        <p:tgtEl>
                                          <p:spTgt spid="11"/>
                                        </p:tgtEl>
                                        <p:attrNameLst>
                                          <p:attrName>style.visibility</p:attrName>
                                        </p:attrNameLst>
                                      </p:cBhvr>
                                      <p:to>
                                        <p:strVal val="visible"/>
                                      </p:to>
                                    </p:set>
                                    <p:animEffect transition="in" filter="dissolve">
                                      <p:cBhvr>
                                        <p:cTn id="32" dur="1000"/>
                                        <p:tgtEl>
                                          <p:spTgt spid="11"/>
                                        </p:tgtEl>
                                      </p:cBhvr>
                                    </p:animEffect>
                                  </p:childTnLst>
                                </p:cTn>
                              </p:par>
                              <p:par>
                                <p:cTn id="33" presetID="9" presetClass="entr" presetSubtype="0" fill="hold" grpId="0" nodeType="withEffect">
                                  <p:stCondLst>
                                    <p:cond delay="5000"/>
                                  </p:stCondLst>
                                  <p:childTnLst>
                                    <p:set>
                                      <p:cBhvr>
                                        <p:cTn id="34" dur="1" fill="hold">
                                          <p:stCondLst>
                                            <p:cond delay="0"/>
                                          </p:stCondLst>
                                        </p:cTn>
                                        <p:tgtEl>
                                          <p:spTgt spid="24"/>
                                        </p:tgtEl>
                                        <p:attrNameLst>
                                          <p:attrName>style.visibility</p:attrName>
                                        </p:attrNameLst>
                                      </p:cBhvr>
                                      <p:to>
                                        <p:strVal val="visible"/>
                                      </p:to>
                                    </p:set>
                                    <p:animEffect transition="in" filter="dissolve">
                                      <p:cBhvr>
                                        <p:cTn id="35" dur="1000"/>
                                        <p:tgtEl>
                                          <p:spTgt spid="24"/>
                                        </p:tgtEl>
                                      </p:cBhvr>
                                    </p:animEffect>
                                  </p:childTnLst>
                                </p:cTn>
                              </p:par>
                              <p:par>
                                <p:cTn id="36" presetID="9" presetClass="entr" presetSubtype="0" fill="hold" grpId="0" nodeType="withEffect">
                                  <p:stCondLst>
                                    <p:cond delay="5000"/>
                                  </p:stCondLst>
                                  <p:childTnLst>
                                    <p:set>
                                      <p:cBhvr>
                                        <p:cTn id="37" dur="1" fill="hold">
                                          <p:stCondLst>
                                            <p:cond delay="0"/>
                                          </p:stCondLst>
                                        </p:cTn>
                                        <p:tgtEl>
                                          <p:spTgt spid="25"/>
                                        </p:tgtEl>
                                        <p:attrNameLst>
                                          <p:attrName>style.visibility</p:attrName>
                                        </p:attrNameLst>
                                      </p:cBhvr>
                                      <p:to>
                                        <p:strVal val="visible"/>
                                      </p:to>
                                    </p:set>
                                    <p:animEffect transition="in" filter="dissolve">
                                      <p:cBhvr>
                                        <p:cTn id="38" dur="1000"/>
                                        <p:tgtEl>
                                          <p:spTgt spid="25"/>
                                        </p:tgtEl>
                                      </p:cBhvr>
                                    </p:animEffect>
                                  </p:childTnLst>
                                </p:cTn>
                              </p:par>
                              <p:par>
                                <p:cTn id="39" presetID="9" presetClass="entr" presetSubtype="0" fill="hold" grpId="0" nodeType="withEffect">
                                  <p:stCondLst>
                                    <p:cond delay="5000"/>
                                  </p:stCondLst>
                                  <p:childTnLst>
                                    <p:set>
                                      <p:cBhvr>
                                        <p:cTn id="40" dur="1" fill="hold">
                                          <p:stCondLst>
                                            <p:cond delay="0"/>
                                          </p:stCondLst>
                                        </p:cTn>
                                        <p:tgtEl>
                                          <p:spTgt spid="26"/>
                                        </p:tgtEl>
                                        <p:attrNameLst>
                                          <p:attrName>style.visibility</p:attrName>
                                        </p:attrNameLst>
                                      </p:cBhvr>
                                      <p:to>
                                        <p:strVal val="visible"/>
                                      </p:to>
                                    </p:set>
                                    <p:animEffect transition="in" filter="dissolve">
                                      <p:cBhvr>
                                        <p:cTn id="41" dur="1000"/>
                                        <p:tgtEl>
                                          <p:spTgt spid="26"/>
                                        </p:tgtEl>
                                      </p:cBhvr>
                                    </p:animEffect>
                                  </p:childTnLst>
                                </p:cTn>
                              </p:par>
                              <p:par>
                                <p:cTn id="42" presetID="9" presetClass="entr" presetSubtype="0" fill="hold" grpId="0" nodeType="withEffect">
                                  <p:stCondLst>
                                    <p:cond delay="5000"/>
                                  </p:stCondLst>
                                  <p:childTnLst>
                                    <p:set>
                                      <p:cBhvr>
                                        <p:cTn id="43" dur="1" fill="hold">
                                          <p:stCondLst>
                                            <p:cond delay="0"/>
                                          </p:stCondLst>
                                        </p:cTn>
                                        <p:tgtEl>
                                          <p:spTgt spid="27"/>
                                        </p:tgtEl>
                                        <p:attrNameLst>
                                          <p:attrName>style.visibility</p:attrName>
                                        </p:attrNameLst>
                                      </p:cBhvr>
                                      <p:to>
                                        <p:strVal val="visible"/>
                                      </p:to>
                                    </p:set>
                                    <p:animEffect transition="in" filter="dissolve">
                                      <p:cBhvr>
                                        <p:cTn id="44" dur="1000"/>
                                        <p:tgtEl>
                                          <p:spTgt spid="27"/>
                                        </p:tgtEl>
                                      </p:cBhvr>
                                    </p:animEffect>
                                  </p:childTnLst>
                                </p:cTn>
                              </p:par>
                              <p:par>
                                <p:cTn id="45" presetID="9" presetClass="entr" presetSubtype="0" fill="hold" grpId="0" nodeType="withEffect">
                                  <p:stCondLst>
                                    <p:cond delay="5000"/>
                                  </p:stCondLst>
                                  <p:childTnLst>
                                    <p:set>
                                      <p:cBhvr>
                                        <p:cTn id="46" dur="1" fill="hold">
                                          <p:stCondLst>
                                            <p:cond delay="0"/>
                                          </p:stCondLst>
                                        </p:cTn>
                                        <p:tgtEl>
                                          <p:spTgt spid="32"/>
                                        </p:tgtEl>
                                        <p:attrNameLst>
                                          <p:attrName>style.visibility</p:attrName>
                                        </p:attrNameLst>
                                      </p:cBhvr>
                                      <p:to>
                                        <p:strVal val="visible"/>
                                      </p:to>
                                    </p:set>
                                    <p:animEffect transition="in" filter="dissolve">
                                      <p:cBhvr>
                                        <p:cTn id="47" dur="1000"/>
                                        <p:tgtEl>
                                          <p:spTgt spid="32"/>
                                        </p:tgtEl>
                                      </p:cBhvr>
                                    </p:animEffect>
                                  </p:childTnLst>
                                </p:cTn>
                              </p:par>
                              <p:par>
                                <p:cTn id="48" presetID="9" presetClass="entr" presetSubtype="0" fill="hold" grpId="0" nodeType="withEffect">
                                  <p:stCondLst>
                                    <p:cond delay="5000"/>
                                  </p:stCondLst>
                                  <p:childTnLst>
                                    <p:set>
                                      <p:cBhvr>
                                        <p:cTn id="49" dur="1" fill="hold">
                                          <p:stCondLst>
                                            <p:cond delay="0"/>
                                          </p:stCondLst>
                                        </p:cTn>
                                        <p:tgtEl>
                                          <p:spTgt spid="33"/>
                                        </p:tgtEl>
                                        <p:attrNameLst>
                                          <p:attrName>style.visibility</p:attrName>
                                        </p:attrNameLst>
                                      </p:cBhvr>
                                      <p:to>
                                        <p:strVal val="visible"/>
                                      </p:to>
                                    </p:set>
                                    <p:animEffect transition="in" filter="dissolve">
                                      <p:cBhvr>
                                        <p:cTn id="50" dur="1000"/>
                                        <p:tgtEl>
                                          <p:spTgt spid="33"/>
                                        </p:tgtEl>
                                      </p:cBhvr>
                                    </p:animEffect>
                                  </p:childTnLst>
                                </p:cTn>
                              </p:par>
                              <p:par>
                                <p:cTn id="51" presetID="9" presetClass="entr" presetSubtype="0" fill="hold" grpId="0" nodeType="withEffect">
                                  <p:stCondLst>
                                    <p:cond delay="5000"/>
                                  </p:stCondLst>
                                  <p:childTnLst>
                                    <p:set>
                                      <p:cBhvr>
                                        <p:cTn id="52" dur="1" fill="hold">
                                          <p:stCondLst>
                                            <p:cond delay="0"/>
                                          </p:stCondLst>
                                        </p:cTn>
                                        <p:tgtEl>
                                          <p:spTgt spid="34"/>
                                        </p:tgtEl>
                                        <p:attrNameLst>
                                          <p:attrName>style.visibility</p:attrName>
                                        </p:attrNameLst>
                                      </p:cBhvr>
                                      <p:to>
                                        <p:strVal val="visible"/>
                                      </p:to>
                                    </p:set>
                                    <p:animEffect transition="in" filter="dissolve">
                                      <p:cBhvr>
                                        <p:cTn id="53" dur="1000"/>
                                        <p:tgtEl>
                                          <p:spTgt spid="34"/>
                                        </p:tgtEl>
                                      </p:cBhvr>
                                    </p:animEffect>
                                  </p:childTnLst>
                                </p:cTn>
                              </p:par>
                              <p:par>
                                <p:cTn id="54" presetID="9" presetClass="entr" presetSubtype="0" fill="hold" grpId="0" nodeType="withEffect">
                                  <p:stCondLst>
                                    <p:cond delay="5000"/>
                                  </p:stCondLst>
                                  <p:childTnLst>
                                    <p:set>
                                      <p:cBhvr>
                                        <p:cTn id="55" dur="1" fill="hold">
                                          <p:stCondLst>
                                            <p:cond delay="0"/>
                                          </p:stCondLst>
                                        </p:cTn>
                                        <p:tgtEl>
                                          <p:spTgt spid="35"/>
                                        </p:tgtEl>
                                        <p:attrNameLst>
                                          <p:attrName>style.visibility</p:attrName>
                                        </p:attrNameLst>
                                      </p:cBhvr>
                                      <p:to>
                                        <p:strVal val="visible"/>
                                      </p:to>
                                    </p:set>
                                    <p:animEffect transition="in" filter="dissolve">
                                      <p:cBhvr>
                                        <p:cTn id="56" dur="1000"/>
                                        <p:tgtEl>
                                          <p:spTgt spid="35"/>
                                        </p:tgtEl>
                                      </p:cBhvr>
                                    </p:animEffect>
                                  </p:childTnLst>
                                </p:cTn>
                              </p:par>
                              <p:par>
                                <p:cTn id="57" presetID="9" presetClass="entr" presetSubtype="0" fill="hold" grpId="0" nodeType="withEffect">
                                  <p:stCondLst>
                                    <p:cond delay="5000"/>
                                  </p:stCondLst>
                                  <p:childTnLst>
                                    <p:set>
                                      <p:cBhvr>
                                        <p:cTn id="58" dur="1" fill="hold">
                                          <p:stCondLst>
                                            <p:cond delay="0"/>
                                          </p:stCondLst>
                                        </p:cTn>
                                        <p:tgtEl>
                                          <p:spTgt spid="37"/>
                                        </p:tgtEl>
                                        <p:attrNameLst>
                                          <p:attrName>style.visibility</p:attrName>
                                        </p:attrNameLst>
                                      </p:cBhvr>
                                      <p:to>
                                        <p:strVal val="visible"/>
                                      </p:to>
                                    </p:set>
                                    <p:animEffect transition="in" filter="dissolve">
                                      <p:cBhvr>
                                        <p:cTn id="59" dur="1000"/>
                                        <p:tgtEl>
                                          <p:spTgt spid="37"/>
                                        </p:tgtEl>
                                      </p:cBhvr>
                                    </p:animEffect>
                                  </p:childTnLst>
                                </p:cTn>
                              </p:par>
                              <p:par>
                                <p:cTn id="60" presetID="9" presetClass="entr" presetSubtype="0" fill="hold" grpId="0" nodeType="withEffect">
                                  <p:stCondLst>
                                    <p:cond delay="5000"/>
                                  </p:stCondLst>
                                  <p:childTnLst>
                                    <p:set>
                                      <p:cBhvr>
                                        <p:cTn id="61" dur="1" fill="hold">
                                          <p:stCondLst>
                                            <p:cond delay="0"/>
                                          </p:stCondLst>
                                        </p:cTn>
                                        <p:tgtEl>
                                          <p:spTgt spid="38"/>
                                        </p:tgtEl>
                                        <p:attrNameLst>
                                          <p:attrName>style.visibility</p:attrName>
                                        </p:attrNameLst>
                                      </p:cBhvr>
                                      <p:to>
                                        <p:strVal val="visible"/>
                                      </p:to>
                                    </p:set>
                                    <p:animEffect transition="in" filter="dissolve">
                                      <p:cBhvr>
                                        <p:cTn id="62" dur="1000"/>
                                        <p:tgtEl>
                                          <p:spTgt spid="38"/>
                                        </p:tgtEl>
                                      </p:cBhvr>
                                    </p:animEffect>
                                  </p:childTnLst>
                                </p:cTn>
                              </p:par>
                              <p:par>
                                <p:cTn id="63" presetID="9" presetClass="entr" presetSubtype="0" fill="hold" grpId="0" nodeType="withEffect">
                                  <p:stCondLst>
                                    <p:cond delay="5000"/>
                                  </p:stCondLst>
                                  <p:childTnLst>
                                    <p:set>
                                      <p:cBhvr>
                                        <p:cTn id="64" dur="1" fill="hold">
                                          <p:stCondLst>
                                            <p:cond delay="0"/>
                                          </p:stCondLst>
                                        </p:cTn>
                                        <p:tgtEl>
                                          <p:spTgt spid="39"/>
                                        </p:tgtEl>
                                        <p:attrNameLst>
                                          <p:attrName>style.visibility</p:attrName>
                                        </p:attrNameLst>
                                      </p:cBhvr>
                                      <p:to>
                                        <p:strVal val="visible"/>
                                      </p:to>
                                    </p:set>
                                    <p:animEffect transition="in" filter="dissolve">
                                      <p:cBhvr>
                                        <p:cTn id="65" dur="1000"/>
                                        <p:tgtEl>
                                          <p:spTgt spid="39"/>
                                        </p:tgtEl>
                                      </p:cBhvr>
                                    </p:animEffect>
                                  </p:childTnLst>
                                </p:cTn>
                              </p:par>
                              <p:par>
                                <p:cTn id="66" presetID="9" presetClass="entr" presetSubtype="0" fill="hold" grpId="0" nodeType="withEffect">
                                  <p:stCondLst>
                                    <p:cond delay="5000"/>
                                  </p:stCondLst>
                                  <p:childTnLst>
                                    <p:set>
                                      <p:cBhvr>
                                        <p:cTn id="67" dur="1" fill="hold">
                                          <p:stCondLst>
                                            <p:cond delay="0"/>
                                          </p:stCondLst>
                                        </p:cTn>
                                        <p:tgtEl>
                                          <p:spTgt spid="40"/>
                                        </p:tgtEl>
                                        <p:attrNameLst>
                                          <p:attrName>style.visibility</p:attrName>
                                        </p:attrNameLst>
                                      </p:cBhvr>
                                      <p:to>
                                        <p:strVal val="visible"/>
                                      </p:to>
                                    </p:set>
                                    <p:animEffect transition="in" filter="dissolve">
                                      <p:cBhvr>
                                        <p:cTn id="68" dur="1000"/>
                                        <p:tgtEl>
                                          <p:spTgt spid="40"/>
                                        </p:tgtEl>
                                      </p:cBhvr>
                                    </p:animEffect>
                                  </p:childTnLst>
                                </p:cTn>
                              </p:par>
                              <p:par>
                                <p:cTn id="69" presetID="9" presetClass="entr" presetSubtype="0" fill="hold" grpId="0" nodeType="withEffect">
                                  <p:stCondLst>
                                    <p:cond delay="5000"/>
                                  </p:stCondLst>
                                  <p:childTnLst>
                                    <p:set>
                                      <p:cBhvr>
                                        <p:cTn id="70" dur="1" fill="hold">
                                          <p:stCondLst>
                                            <p:cond delay="0"/>
                                          </p:stCondLst>
                                        </p:cTn>
                                        <p:tgtEl>
                                          <p:spTgt spid="41"/>
                                        </p:tgtEl>
                                        <p:attrNameLst>
                                          <p:attrName>style.visibility</p:attrName>
                                        </p:attrNameLst>
                                      </p:cBhvr>
                                      <p:to>
                                        <p:strVal val="visible"/>
                                      </p:to>
                                    </p:set>
                                    <p:animEffect transition="in" filter="dissolve">
                                      <p:cBhvr>
                                        <p:cTn id="71" dur="1000"/>
                                        <p:tgtEl>
                                          <p:spTgt spid="41"/>
                                        </p:tgtEl>
                                      </p:cBhvr>
                                    </p:animEffect>
                                  </p:childTnLst>
                                </p:cTn>
                              </p:par>
                              <p:par>
                                <p:cTn id="72" presetID="9" presetClass="entr" presetSubtype="0" fill="hold" grpId="0" nodeType="withEffect">
                                  <p:stCondLst>
                                    <p:cond delay="5000"/>
                                  </p:stCondLst>
                                  <p:childTnLst>
                                    <p:set>
                                      <p:cBhvr>
                                        <p:cTn id="73" dur="1" fill="hold">
                                          <p:stCondLst>
                                            <p:cond delay="0"/>
                                          </p:stCondLst>
                                        </p:cTn>
                                        <p:tgtEl>
                                          <p:spTgt spid="42"/>
                                        </p:tgtEl>
                                        <p:attrNameLst>
                                          <p:attrName>style.visibility</p:attrName>
                                        </p:attrNameLst>
                                      </p:cBhvr>
                                      <p:to>
                                        <p:strVal val="visible"/>
                                      </p:to>
                                    </p:set>
                                    <p:animEffect transition="in" filter="dissolve">
                                      <p:cBhvr>
                                        <p:cTn id="74" dur="1000"/>
                                        <p:tgtEl>
                                          <p:spTgt spid="42"/>
                                        </p:tgtEl>
                                      </p:cBhvr>
                                    </p:animEffect>
                                  </p:childTnLst>
                                </p:cTn>
                              </p:par>
                              <p:par>
                                <p:cTn id="75" presetID="9" presetClass="entr" presetSubtype="0" fill="hold" grpId="0" nodeType="withEffect">
                                  <p:stCondLst>
                                    <p:cond delay="5000"/>
                                  </p:stCondLst>
                                  <p:childTnLst>
                                    <p:set>
                                      <p:cBhvr>
                                        <p:cTn id="76" dur="1" fill="hold">
                                          <p:stCondLst>
                                            <p:cond delay="0"/>
                                          </p:stCondLst>
                                        </p:cTn>
                                        <p:tgtEl>
                                          <p:spTgt spid="43"/>
                                        </p:tgtEl>
                                        <p:attrNameLst>
                                          <p:attrName>style.visibility</p:attrName>
                                        </p:attrNameLst>
                                      </p:cBhvr>
                                      <p:to>
                                        <p:strVal val="visible"/>
                                      </p:to>
                                    </p:set>
                                    <p:animEffect transition="in" filter="dissolve">
                                      <p:cBhvr>
                                        <p:cTn id="77" dur="1000"/>
                                        <p:tgtEl>
                                          <p:spTgt spid="43"/>
                                        </p:tgtEl>
                                      </p:cBhvr>
                                    </p:animEffect>
                                  </p:childTnLst>
                                </p:cTn>
                              </p:par>
                              <p:par>
                                <p:cTn id="78" presetID="9" presetClass="entr" presetSubtype="0" fill="hold" grpId="0" nodeType="withEffect">
                                  <p:stCondLst>
                                    <p:cond delay="5000"/>
                                  </p:stCondLst>
                                  <p:childTnLst>
                                    <p:set>
                                      <p:cBhvr>
                                        <p:cTn id="79" dur="1" fill="hold">
                                          <p:stCondLst>
                                            <p:cond delay="0"/>
                                          </p:stCondLst>
                                        </p:cTn>
                                        <p:tgtEl>
                                          <p:spTgt spid="44"/>
                                        </p:tgtEl>
                                        <p:attrNameLst>
                                          <p:attrName>style.visibility</p:attrName>
                                        </p:attrNameLst>
                                      </p:cBhvr>
                                      <p:to>
                                        <p:strVal val="visible"/>
                                      </p:to>
                                    </p:set>
                                    <p:animEffect transition="in" filter="dissolve">
                                      <p:cBhvr>
                                        <p:cTn id="80" dur="1000"/>
                                        <p:tgtEl>
                                          <p:spTgt spid="44"/>
                                        </p:tgtEl>
                                      </p:cBhvr>
                                    </p:animEffect>
                                  </p:childTnLst>
                                </p:cTn>
                              </p:par>
                              <p:par>
                                <p:cTn id="81" presetID="9" presetClass="entr" presetSubtype="0" fill="hold" grpId="0" nodeType="withEffect">
                                  <p:stCondLst>
                                    <p:cond delay="5000"/>
                                  </p:stCondLst>
                                  <p:childTnLst>
                                    <p:set>
                                      <p:cBhvr>
                                        <p:cTn id="82" dur="1" fill="hold">
                                          <p:stCondLst>
                                            <p:cond delay="0"/>
                                          </p:stCondLst>
                                        </p:cTn>
                                        <p:tgtEl>
                                          <p:spTgt spid="45"/>
                                        </p:tgtEl>
                                        <p:attrNameLst>
                                          <p:attrName>style.visibility</p:attrName>
                                        </p:attrNameLst>
                                      </p:cBhvr>
                                      <p:to>
                                        <p:strVal val="visible"/>
                                      </p:to>
                                    </p:set>
                                    <p:animEffect transition="in" filter="dissolve">
                                      <p:cBhvr>
                                        <p:cTn id="83" dur="1000"/>
                                        <p:tgtEl>
                                          <p:spTgt spid="45"/>
                                        </p:tgtEl>
                                      </p:cBhvr>
                                    </p:animEffect>
                                  </p:childTnLst>
                                </p:cTn>
                              </p:par>
                              <p:par>
                                <p:cTn id="84" presetID="9" presetClass="entr" presetSubtype="0" fill="hold" grpId="0" nodeType="withEffect">
                                  <p:stCondLst>
                                    <p:cond delay="5000"/>
                                  </p:stCondLst>
                                  <p:childTnLst>
                                    <p:set>
                                      <p:cBhvr>
                                        <p:cTn id="85" dur="1" fill="hold">
                                          <p:stCondLst>
                                            <p:cond delay="0"/>
                                          </p:stCondLst>
                                        </p:cTn>
                                        <p:tgtEl>
                                          <p:spTgt spid="46"/>
                                        </p:tgtEl>
                                        <p:attrNameLst>
                                          <p:attrName>style.visibility</p:attrName>
                                        </p:attrNameLst>
                                      </p:cBhvr>
                                      <p:to>
                                        <p:strVal val="visible"/>
                                      </p:to>
                                    </p:set>
                                    <p:animEffect transition="in" filter="dissolve">
                                      <p:cBhvr>
                                        <p:cTn id="86" dur="1000"/>
                                        <p:tgtEl>
                                          <p:spTgt spid="46"/>
                                        </p:tgtEl>
                                      </p:cBhvr>
                                    </p:animEffect>
                                  </p:childTnLst>
                                </p:cTn>
                              </p:par>
                              <p:par>
                                <p:cTn id="87" presetID="9" presetClass="entr" presetSubtype="0" fill="hold" grpId="0" nodeType="withEffect">
                                  <p:stCondLst>
                                    <p:cond delay="5000"/>
                                  </p:stCondLst>
                                  <p:childTnLst>
                                    <p:set>
                                      <p:cBhvr>
                                        <p:cTn id="88" dur="1" fill="hold">
                                          <p:stCondLst>
                                            <p:cond delay="0"/>
                                          </p:stCondLst>
                                        </p:cTn>
                                        <p:tgtEl>
                                          <p:spTgt spid="47"/>
                                        </p:tgtEl>
                                        <p:attrNameLst>
                                          <p:attrName>style.visibility</p:attrName>
                                        </p:attrNameLst>
                                      </p:cBhvr>
                                      <p:to>
                                        <p:strVal val="visible"/>
                                      </p:to>
                                    </p:set>
                                    <p:animEffect transition="in" filter="dissolve">
                                      <p:cBhvr>
                                        <p:cTn id="89" dur="1000"/>
                                        <p:tgtEl>
                                          <p:spTgt spid="47"/>
                                        </p:tgtEl>
                                      </p:cBhvr>
                                    </p:animEffect>
                                  </p:childTnLst>
                                </p:cTn>
                              </p:par>
                              <p:par>
                                <p:cTn id="90" presetID="9" presetClass="entr" presetSubtype="0" fill="hold" grpId="0" nodeType="withEffect">
                                  <p:stCondLst>
                                    <p:cond delay="5000"/>
                                  </p:stCondLst>
                                  <p:childTnLst>
                                    <p:set>
                                      <p:cBhvr>
                                        <p:cTn id="91" dur="1" fill="hold">
                                          <p:stCondLst>
                                            <p:cond delay="0"/>
                                          </p:stCondLst>
                                        </p:cTn>
                                        <p:tgtEl>
                                          <p:spTgt spid="48"/>
                                        </p:tgtEl>
                                        <p:attrNameLst>
                                          <p:attrName>style.visibility</p:attrName>
                                        </p:attrNameLst>
                                      </p:cBhvr>
                                      <p:to>
                                        <p:strVal val="visible"/>
                                      </p:to>
                                    </p:set>
                                    <p:animEffect transition="in" filter="dissolve">
                                      <p:cBhvr>
                                        <p:cTn id="92" dur="1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24" grpId="0" animBg="1"/>
      <p:bldP spid="25" grpId="0" animBg="1"/>
      <p:bldP spid="26" grpId="0" animBg="1"/>
      <p:bldP spid="27" grpId="0" animBg="1"/>
      <p:bldP spid="30" grpId="0" animBg="1"/>
      <p:bldP spid="32" grpId="0" animBg="1"/>
      <p:bldP spid="33" grpId="0" animBg="1"/>
      <p:bldP spid="34" grpId="0" animBg="1"/>
      <p:bldP spid="35"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lgn="l">
              <a:buNone/>
            </a:pPr>
            <a:r>
              <a:rPr lang="en-US" sz="900" b="1" kern="0" spc="300" dirty="0">
                <a:solidFill>
                  <a:srgbClr val="3BB77E"/>
                </a:solidFill>
                <a:latin typeface="Calibri" pitchFamily="34" charset="0"/>
                <a:ea typeface="Calibri" pitchFamily="34" charset="-122"/>
                <a:cs typeface="Calibri" pitchFamily="34" charset="-120"/>
              </a:rPr>
              <a:t>FUTURE PLANS</a:t>
            </a:r>
            <a:endParaRPr lang="en-US" sz="90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marL="0" indent="0" algn="l">
              <a:buNone/>
            </a:pPr>
            <a:r>
              <a:rPr lang="en-US" sz="3200" b="1" dirty="0">
                <a:solidFill>
                  <a:srgbClr val="1B2B5E"/>
                </a:solidFill>
                <a:latin typeface="Calibri" pitchFamily="34" charset="0"/>
                <a:ea typeface="Calibri" pitchFamily="34" charset="-122"/>
                <a:cs typeface="Calibri" pitchFamily="34" charset="-120"/>
              </a:rPr>
              <a:t>What’s Next: Orderly v1.1 </a:t>
            </a:r>
            <a:endParaRPr lang="en-US" sz="3200" dirty="0"/>
          </a:p>
        </p:txBody>
      </p:sp>
      <p:sp>
        <p:nvSpPr>
          <p:cNvPr id="28" name="Text 2">
            <a:extLst>
              <a:ext uri="{FF2B5EF4-FFF2-40B4-BE49-F238E27FC236}">
                <a16:creationId xmlns:a16="http://schemas.microsoft.com/office/drawing/2014/main" id="{93B97204-BE0B-678D-673D-BC9575231D22}"/>
              </a:ext>
            </a:extLst>
          </p:cNvPr>
          <p:cNvSpPr/>
          <p:nvPr/>
        </p:nvSpPr>
        <p:spPr>
          <a:xfrm>
            <a:off x="7132320" y="493776"/>
            <a:ext cx="1554480" cy="182880"/>
          </a:xfrm>
          <a:prstGeom prst="rect">
            <a:avLst/>
          </a:prstGeom>
          <a:noFill/>
          <a:ln/>
        </p:spPr>
        <p:txBody>
          <a:bodyPr wrap="square" lIns="0" tIns="0" rIns="0" bIns="0" rtlCol="0" anchor="ctr"/>
          <a:lstStyle/>
          <a:p>
            <a:pPr marL="0" indent="0" algn="r">
              <a:buNone/>
            </a:pPr>
            <a:r>
              <a:rPr lang="en-US" sz="800" dirty="0">
                <a:solidFill>
                  <a:srgbClr val="94A3B8"/>
                </a:solidFill>
              </a:rPr>
              <a:t>Caleb Fowlkes</a:t>
            </a:r>
            <a:endParaRPr lang="en-US" sz="800" dirty="0"/>
          </a:p>
        </p:txBody>
      </p:sp>
      <p:sp>
        <p:nvSpPr>
          <p:cNvPr id="29" name="Text 3">
            <a:extLst>
              <a:ext uri="{FF2B5EF4-FFF2-40B4-BE49-F238E27FC236}">
                <a16:creationId xmlns:a16="http://schemas.microsoft.com/office/drawing/2014/main" id="{86DC4E17-F0A0-AFA9-5DB8-F5085D3A5151}"/>
              </a:ext>
            </a:extLst>
          </p:cNvPr>
          <p:cNvSpPr/>
          <p:nvPr/>
        </p:nvSpPr>
        <p:spPr>
          <a:xfrm>
            <a:off x="7132320" y="658368"/>
            <a:ext cx="1554480" cy="146304"/>
          </a:xfrm>
          <a:prstGeom prst="rect">
            <a:avLst/>
          </a:prstGeom>
          <a:noFill/>
          <a:ln/>
        </p:spPr>
        <p:txBody>
          <a:bodyPr wrap="square" lIns="0" tIns="0" rIns="0" bIns="0" rtlCol="0" anchor="ctr"/>
          <a:lstStyle/>
          <a:p>
            <a:pPr marL="0" indent="0" algn="r">
              <a:buNone/>
            </a:pPr>
            <a:r>
              <a:rPr lang="en-US" sz="700" b="1" dirty="0">
                <a:solidFill>
                  <a:srgbClr val="1D9E75"/>
                </a:solidFill>
              </a:rPr>
              <a:t>Code Review Lead &amp; Database Specialist</a:t>
            </a:r>
            <a:endParaRPr lang="en-US" sz="700" dirty="0"/>
          </a:p>
        </p:txBody>
      </p:sp>
      <p:sp>
        <p:nvSpPr>
          <p:cNvPr id="30" name="Text 4">
            <a:extLst>
              <a:ext uri="{FF2B5EF4-FFF2-40B4-BE49-F238E27FC236}">
                <a16:creationId xmlns:a16="http://schemas.microsoft.com/office/drawing/2014/main" id="{CC32F1F1-C0AD-2119-7D01-28E1D0EECA93}"/>
              </a:ext>
            </a:extLst>
          </p:cNvPr>
          <p:cNvSpPr/>
          <p:nvPr/>
        </p:nvSpPr>
        <p:spPr>
          <a:xfrm>
            <a:off x="502920" y="996696"/>
            <a:ext cx="7772400" cy="201168"/>
          </a:xfrm>
          <a:prstGeom prst="rect">
            <a:avLst/>
          </a:prstGeom>
          <a:noFill/>
          <a:ln/>
        </p:spPr>
        <p:txBody>
          <a:bodyPr wrap="square" lIns="0" tIns="0" rIns="0" bIns="0" rtlCol="0" anchor="ctr"/>
          <a:lstStyle/>
          <a:p>
            <a:pPr marL="0" indent="0">
              <a:buNone/>
            </a:pPr>
            <a:r>
              <a:rPr lang="en-US" sz="1050" i="1" dirty="0">
                <a:solidFill>
                  <a:srgbClr val="4A5568"/>
                </a:solidFill>
              </a:rPr>
              <a:t>Deferred scope, known gaps, and natural next steps identified during development</a:t>
            </a:r>
            <a:endParaRPr lang="en-US" sz="1050" dirty="0"/>
          </a:p>
        </p:txBody>
      </p:sp>
      <p:sp>
        <p:nvSpPr>
          <p:cNvPr id="31" name="Shape 5">
            <a:extLst>
              <a:ext uri="{FF2B5EF4-FFF2-40B4-BE49-F238E27FC236}">
                <a16:creationId xmlns:a16="http://schemas.microsoft.com/office/drawing/2014/main" id="{A42247F5-4859-6ED6-521F-EEA49294F24E}"/>
              </a:ext>
            </a:extLst>
          </p:cNvPr>
          <p:cNvSpPr/>
          <p:nvPr/>
        </p:nvSpPr>
        <p:spPr>
          <a:xfrm>
            <a:off x="502920" y="1450860"/>
            <a:ext cx="2633472" cy="395192"/>
          </a:xfrm>
          <a:prstGeom prst="rect">
            <a:avLst/>
          </a:prstGeom>
          <a:solidFill>
            <a:srgbClr val="0D7A60"/>
          </a:solidFill>
          <a:ln w="12700">
            <a:solidFill>
              <a:srgbClr val="0D7A60"/>
            </a:solidFill>
            <a:prstDash val="solid"/>
          </a:ln>
        </p:spPr>
        <p:txBody>
          <a:bodyPr/>
          <a:lstStyle/>
          <a:p>
            <a:endParaRPr lang="en-US"/>
          </a:p>
        </p:txBody>
      </p:sp>
      <p:sp>
        <p:nvSpPr>
          <p:cNvPr id="32" name="Text 6">
            <a:extLst>
              <a:ext uri="{FF2B5EF4-FFF2-40B4-BE49-F238E27FC236}">
                <a16:creationId xmlns:a16="http://schemas.microsoft.com/office/drawing/2014/main" id="{E6CBA33B-8F58-2E05-1678-7880A44DF6D7}"/>
              </a:ext>
            </a:extLst>
          </p:cNvPr>
          <p:cNvSpPr/>
          <p:nvPr/>
        </p:nvSpPr>
        <p:spPr>
          <a:xfrm>
            <a:off x="594360" y="1511797"/>
            <a:ext cx="2450592" cy="126516"/>
          </a:xfrm>
          <a:prstGeom prst="rect">
            <a:avLst/>
          </a:prstGeom>
          <a:noFill/>
          <a:ln/>
        </p:spPr>
        <p:txBody>
          <a:bodyPr wrap="square" lIns="0" tIns="0" rIns="0" bIns="0" rtlCol="0" anchor="ctr"/>
          <a:lstStyle/>
          <a:p>
            <a:pPr marL="0" indent="0">
              <a:buNone/>
            </a:pPr>
            <a:r>
              <a:rPr lang="en-US" sz="1000" b="1" dirty="0">
                <a:solidFill>
                  <a:srgbClr val="FFFFFF"/>
                </a:solidFill>
              </a:rPr>
              <a:t>📋  Deferred Features</a:t>
            </a:r>
            <a:endParaRPr lang="en-US" sz="1000" dirty="0"/>
          </a:p>
        </p:txBody>
      </p:sp>
      <p:sp>
        <p:nvSpPr>
          <p:cNvPr id="33" name="Text 7">
            <a:extLst>
              <a:ext uri="{FF2B5EF4-FFF2-40B4-BE49-F238E27FC236}">
                <a16:creationId xmlns:a16="http://schemas.microsoft.com/office/drawing/2014/main" id="{636744EC-7C85-8265-BD13-FCA641E98C8E}"/>
              </a:ext>
            </a:extLst>
          </p:cNvPr>
          <p:cNvSpPr/>
          <p:nvPr/>
        </p:nvSpPr>
        <p:spPr>
          <a:xfrm>
            <a:off x="594360" y="1697748"/>
            <a:ext cx="2450592" cy="92012"/>
          </a:xfrm>
          <a:prstGeom prst="rect">
            <a:avLst/>
          </a:prstGeom>
          <a:noFill/>
          <a:ln/>
        </p:spPr>
        <p:txBody>
          <a:bodyPr wrap="square" lIns="0" tIns="0" rIns="0" bIns="0" rtlCol="0" anchor="ctr"/>
          <a:lstStyle/>
          <a:p>
            <a:pPr marL="0" indent="0">
              <a:buNone/>
            </a:pPr>
            <a:r>
              <a:rPr lang="en-US" sz="700" dirty="0">
                <a:solidFill>
                  <a:srgbClr val="CADCFC"/>
                </a:solidFill>
              </a:rPr>
              <a:t>Cut to protect delivery</a:t>
            </a:r>
            <a:endParaRPr lang="en-US" sz="700" dirty="0"/>
          </a:p>
        </p:txBody>
      </p:sp>
      <p:sp>
        <p:nvSpPr>
          <p:cNvPr id="34" name="Shape 8">
            <a:extLst>
              <a:ext uri="{FF2B5EF4-FFF2-40B4-BE49-F238E27FC236}">
                <a16:creationId xmlns:a16="http://schemas.microsoft.com/office/drawing/2014/main" id="{38F09B5A-2014-6C9C-52A1-DD0A70A029B3}"/>
              </a:ext>
            </a:extLst>
          </p:cNvPr>
          <p:cNvSpPr/>
          <p:nvPr/>
        </p:nvSpPr>
        <p:spPr>
          <a:xfrm>
            <a:off x="502920" y="1926348"/>
            <a:ext cx="2633472" cy="736092"/>
          </a:xfrm>
          <a:prstGeom prst="rect">
            <a:avLst/>
          </a:prstGeom>
          <a:solidFill>
            <a:srgbClr val="FFFFFF"/>
          </a:solidFill>
          <a:ln w="6350">
            <a:solidFill>
              <a:srgbClr val="E2E8F0"/>
            </a:solidFill>
            <a:prstDash val="solid"/>
          </a:ln>
          <a:effectLst>
            <a:outerShdw blurRad="101600" dist="25400" dir="16200000" algn="bl" rotWithShape="0">
              <a:srgbClr val="000000">
                <a:alpha val="7000"/>
              </a:srgbClr>
            </a:outerShdw>
          </a:effectLst>
        </p:spPr>
        <p:txBody>
          <a:bodyPr/>
          <a:lstStyle/>
          <a:p>
            <a:endParaRPr lang="en-US"/>
          </a:p>
        </p:txBody>
      </p:sp>
      <p:sp>
        <p:nvSpPr>
          <p:cNvPr id="35" name="Shape 9">
            <a:extLst>
              <a:ext uri="{FF2B5EF4-FFF2-40B4-BE49-F238E27FC236}">
                <a16:creationId xmlns:a16="http://schemas.microsoft.com/office/drawing/2014/main" id="{08BA47F3-C78E-68B8-46C1-7050757A4557}"/>
              </a:ext>
            </a:extLst>
          </p:cNvPr>
          <p:cNvSpPr/>
          <p:nvPr/>
        </p:nvSpPr>
        <p:spPr>
          <a:xfrm>
            <a:off x="502920" y="1926348"/>
            <a:ext cx="36576" cy="736092"/>
          </a:xfrm>
          <a:prstGeom prst="rect">
            <a:avLst/>
          </a:prstGeom>
          <a:solidFill>
            <a:srgbClr val="0D7A60"/>
          </a:solidFill>
          <a:ln w="12700">
            <a:solidFill>
              <a:srgbClr val="0D7A60"/>
            </a:solidFill>
            <a:prstDash val="solid"/>
          </a:ln>
        </p:spPr>
        <p:txBody>
          <a:bodyPr/>
          <a:lstStyle/>
          <a:p>
            <a:endParaRPr lang="en-US"/>
          </a:p>
        </p:txBody>
      </p:sp>
      <p:sp>
        <p:nvSpPr>
          <p:cNvPr id="36" name="Text 10">
            <a:extLst>
              <a:ext uri="{FF2B5EF4-FFF2-40B4-BE49-F238E27FC236}">
                <a16:creationId xmlns:a16="http://schemas.microsoft.com/office/drawing/2014/main" id="{04068B2A-8F44-25C8-E685-96B26EC8B52D}"/>
              </a:ext>
            </a:extLst>
          </p:cNvPr>
          <p:cNvSpPr/>
          <p:nvPr/>
        </p:nvSpPr>
        <p:spPr>
          <a:xfrm>
            <a:off x="612648" y="2054364"/>
            <a:ext cx="2450592" cy="138017"/>
          </a:xfrm>
          <a:prstGeom prst="rect">
            <a:avLst/>
          </a:prstGeom>
          <a:noFill/>
          <a:ln/>
        </p:spPr>
        <p:txBody>
          <a:bodyPr wrap="square" lIns="0" tIns="0" rIns="0" bIns="0" rtlCol="0" anchor="ctr"/>
          <a:lstStyle/>
          <a:p>
            <a:pPr marL="0" indent="0">
              <a:buNone/>
            </a:pPr>
            <a:r>
              <a:rPr lang="en-US" sz="950" b="1" dirty="0">
                <a:solidFill>
                  <a:srgbClr val="0D1B3E"/>
                </a:solidFill>
              </a:rPr>
              <a:t>Modifier Management</a:t>
            </a:r>
            <a:endParaRPr lang="en-US" sz="950" dirty="0"/>
          </a:p>
        </p:txBody>
      </p:sp>
      <p:sp>
        <p:nvSpPr>
          <p:cNvPr id="37" name="Text 11">
            <a:extLst>
              <a:ext uri="{FF2B5EF4-FFF2-40B4-BE49-F238E27FC236}">
                <a16:creationId xmlns:a16="http://schemas.microsoft.com/office/drawing/2014/main" id="{F62E55F8-98DD-1424-E012-FEEFA35B90B5}"/>
              </a:ext>
            </a:extLst>
          </p:cNvPr>
          <p:cNvSpPr/>
          <p:nvPr/>
        </p:nvSpPr>
        <p:spPr>
          <a:xfrm>
            <a:off x="612648" y="2191026"/>
            <a:ext cx="2450592" cy="414052"/>
          </a:xfrm>
          <a:prstGeom prst="rect">
            <a:avLst/>
          </a:prstGeom>
          <a:noFill/>
          <a:ln/>
        </p:spPr>
        <p:txBody>
          <a:bodyPr wrap="square" lIns="0" tIns="0" rIns="0" bIns="0" rtlCol="0" anchor="t"/>
          <a:lstStyle/>
          <a:p>
            <a:pPr marL="0" indent="0">
              <a:buNone/>
            </a:pPr>
            <a:r>
              <a:rPr lang="en-US" sz="800" dirty="0">
                <a:solidFill>
                  <a:srgbClr val="4A5568"/>
                </a:solidFill>
              </a:rPr>
              <a:t>Admin UI for creating and editing product modifiers — data model is ready, UI was deferred.</a:t>
            </a:r>
            <a:endParaRPr lang="en-US" sz="800" dirty="0"/>
          </a:p>
        </p:txBody>
      </p:sp>
      <p:sp>
        <p:nvSpPr>
          <p:cNvPr id="38" name="Shape 12">
            <a:extLst>
              <a:ext uri="{FF2B5EF4-FFF2-40B4-BE49-F238E27FC236}">
                <a16:creationId xmlns:a16="http://schemas.microsoft.com/office/drawing/2014/main" id="{E0845B4A-F5C2-811A-3568-EA9EDFF21C8B}"/>
              </a:ext>
            </a:extLst>
          </p:cNvPr>
          <p:cNvSpPr/>
          <p:nvPr/>
        </p:nvSpPr>
        <p:spPr>
          <a:xfrm>
            <a:off x="502920" y="2757955"/>
            <a:ext cx="2633472" cy="736092"/>
          </a:xfrm>
          <a:prstGeom prst="rect">
            <a:avLst/>
          </a:prstGeom>
          <a:solidFill>
            <a:srgbClr val="FFFFFF"/>
          </a:solidFill>
          <a:ln w="6350">
            <a:solidFill>
              <a:srgbClr val="E2E8F0"/>
            </a:solidFill>
            <a:prstDash val="solid"/>
          </a:ln>
          <a:effectLst>
            <a:outerShdw blurRad="101600" dist="25400" dir="16200000" algn="bl" rotWithShape="0">
              <a:srgbClr val="000000">
                <a:alpha val="7000"/>
              </a:srgbClr>
            </a:outerShdw>
          </a:effectLst>
        </p:spPr>
        <p:txBody>
          <a:bodyPr/>
          <a:lstStyle/>
          <a:p>
            <a:endParaRPr lang="en-US"/>
          </a:p>
        </p:txBody>
      </p:sp>
      <p:sp>
        <p:nvSpPr>
          <p:cNvPr id="39" name="Shape 13">
            <a:extLst>
              <a:ext uri="{FF2B5EF4-FFF2-40B4-BE49-F238E27FC236}">
                <a16:creationId xmlns:a16="http://schemas.microsoft.com/office/drawing/2014/main" id="{30D7265B-7DC0-145A-C0B5-FB301278D7A8}"/>
              </a:ext>
            </a:extLst>
          </p:cNvPr>
          <p:cNvSpPr/>
          <p:nvPr/>
        </p:nvSpPr>
        <p:spPr>
          <a:xfrm>
            <a:off x="502920" y="2757955"/>
            <a:ext cx="36576" cy="736092"/>
          </a:xfrm>
          <a:prstGeom prst="rect">
            <a:avLst/>
          </a:prstGeom>
          <a:solidFill>
            <a:srgbClr val="0D7A60"/>
          </a:solidFill>
          <a:ln w="12700">
            <a:solidFill>
              <a:srgbClr val="0D7A60"/>
            </a:solidFill>
            <a:prstDash val="solid"/>
          </a:ln>
        </p:spPr>
        <p:txBody>
          <a:bodyPr/>
          <a:lstStyle/>
          <a:p>
            <a:endParaRPr lang="en-US"/>
          </a:p>
        </p:txBody>
      </p:sp>
      <p:sp>
        <p:nvSpPr>
          <p:cNvPr id="40" name="Text 14">
            <a:extLst>
              <a:ext uri="{FF2B5EF4-FFF2-40B4-BE49-F238E27FC236}">
                <a16:creationId xmlns:a16="http://schemas.microsoft.com/office/drawing/2014/main" id="{11974F06-E513-215B-D23B-A6B7F9110C2F}"/>
              </a:ext>
            </a:extLst>
          </p:cNvPr>
          <p:cNvSpPr/>
          <p:nvPr/>
        </p:nvSpPr>
        <p:spPr>
          <a:xfrm>
            <a:off x="612648" y="2885971"/>
            <a:ext cx="2450592" cy="138017"/>
          </a:xfrm>
          <a:prstGeom prst="rect">
            <a:avLst/>
          </a:prstGeom>
          <a:noFill/>
          <a:ln/>
        </p:spPr>
        <p:txBody>
          <a:bodyPr wrap="square" lIns="0" tIns="0" rIns="0" bIns="0" rtlCol="0" anchor="ctr"/>
          <a:lstStyle/>
          <a:p>
            <a:pPr marL="0" indent="0">
              <a:buNone/>
            </a:pPr>
            <a:r>
              <a:rPr lang="en-US" sz="950" b="1" dirty="0">
                <a:solidFill>
                  <a:srgbClr val="0D1B3E"/>
                </a:solidFill>
              </a:rPr>
              <a:t>Supplier Management</a:t>
            </a:r>
            <a:endParaRPr lang="en-US" sz="950" dirty="0"/>
          </a:p>
        </p:txBody>
      </p:sp>
      <p:sp>
        <p:nvSpPr>
          <p:cNvPr id="41" name="Text 15">
            <a:extLst>
              <a:ext uri="{FF2B5EF4-FFF2-40B4-BE49-F238E27FC236}">
                <a16:creationId xmlns:a16="http://schemas.microsoft.com/office/drawing/2014/main" id="{15E306FB-380C-5F9E-E29D-628EB6D7C561}"/>
              </a:ext>
            </a:extLst>
          </p:cNvPr>
          <p:cNvSpPr/>
          <p:nvPr/>
        </p:nvSpPr>
        <p:spPr>
          <a:xfrm>
            <a:off x="612648" y="3160291"/>
            <a:ext cx="2450592" cy="414052"/>
          </a:xfrm>
          <a:prstGeom prst="rect">
            <a:avLst/>
          </a:prstGeom>
          <a:noFill/>
          <a:ln/>
        </p:spPr>
        <p:txBody>
          <a:bodyPr wrap="square" lIns="0" tIns="0" rIns="0" bIns="0" rtlCol="0" anchor="t"/>
          <a:lstStyle/>
          <a:p>
            <a:pPr marL="0" indent="0">
              <a:buNone/>
            </a:pPr>
            <a:r>
              <a:rPr lang="en-US" sz="800" dirty="0">
                <a:solidFill>
                  <a:srgbClr val="4A5568"/>
                </a:solidFill>
              </a:rPr>
              <a:t>Full supplier CRUD was out of scope for v1.0. Backend model exists and is integration-ready.</a:t>
            </a:r>
            <a:endParaRPr lang="en-US" sz="800" dirty="0"/>
          </a:p>
        </p:txBody>
      </p:sp>
      <p:sp>
        <p:nvSpPr>
          <p:cNvPr id="42" name="Shape 16">
            <a:extLst>
              <a:ext uri="{FF2B5EF4-FFF2-40B4-BE49-F238E27FC236}">
                <a16:creationId xmlns:a16="http://schemas.microsoft.com/office/drawing/2014/main" id="{918D5C5F-301D-27E5-984F-645B8E588825}"/>
              </a:ext>
            </a:extLst>
          </p:cNvPr>
          <p:cNvSpPr/>
          <p:nvPr/>
        </p:nvSpPr>
        <p:spPr>
          <a:xfrm>
            <a:off x="502920" y="3574343"/>
            <a:ext cx="2633472" cy="736092"/>
          </a:xfrm>
          <a:prstGeom prst="rect">
            <a:avLst/>
          </a:prstGeom>
          <a:solidFill>
            <a:srgbClr val="FFFFFF"/>
          </a:solidFill>
          <a:ln w="6350">
            <a:solidFill>
              <a:srgbClr val="E2E8F0"/>
            </a:solidFill>
            <a:prstDash val="solid"/>
          </a:ln>
          <a:effectLst>
            <a:outerShdw blurRad="101600" dist="25400" dir="16200000" algn="bl" rotWithShape="0">
              <a:srgbClr val="000000">
                <a:alpha val="7000"/>
              </a:srgbClr>
            </a:outerShdw>
          </a:effectLst>
        </p:spPr>
        <p:txBody>
          <a:bodyPr/>
          <a:lstStyle/>
          <a:p>
            <a:endParaRPr lang="en-US"/>
          </a:p>
        </p:txBody>
      </p:sp>
      <p:sp>
        <p:nvSpPr>
          <p:cNvPr id="43" name="Shape 17">
            <a:extLst>
              <a:ext uri="{FF2B5EF4-FFF2-40B4-BE49-F238E27FC236}">
                <a16:creationId xmlns:a16="http://schemas.microsoft.com/office/drawing/2014/main" id="{569239B9-F50F-0DE8-BDBB-F81C472A077F}"/>
              </a:ext>
            </a:extLst>
          </p:cNvPr>
          <p:cNvSpPr/>
          <p:nvPr/>
        </p:nvSpPr>
        <p:spPr>
          <a:xfrm>
            <a:off x="502920" y="3574343"/>
            <a:ext cx="36576" cy="736092"/>
          </a:xfrm>
          <a:prstGeom prst="rect">
            <a:avLst/>
          </a:prstGeom>
          <a:solidFill>
            <a:srgbClr val="0D7A60"/>
          </a:solidFill>
          <a:ln w="12700">
            <a:solidFill>
              <a:srgbClr val="0D7A60"/>
            </a:solidFill>
            <a:prstDash val="solid"/>
          </a:ln>
        </p:spPr>
        <p:txBody>
          <a:bodyPr/>
          <a:lstStyle/>
          <a:p>
            <a:endParaRPr lang="en-US"/>
          </a:p>
        </p:txBody>
      </p:sp>
      <p:sp>
        <p:nvSpPr>
          <p:cNvPr id="44" name="Text 18">
            <a:extLst>
              <a:ext uri="{FF2B5EF4-FFF2-40B4-BE49-F238E27FC236}">
                <a16:creationId xmlns:a16="http://schemas.microsoft.com/office/drawing/2014/main" id="{B1CE4135-C263-64E7-1C18-823DD690269D}"/>
              </a:ext>
            </a:extLst>
          </p:cNvPr>
          <p:cNvSpPr/>
          <p:nvPr/>
        </p:nvSpPr>
        <p:spPr>
          <a:xfrm>
            <a:off x="612648" y="3702359"/>
            <a:ext cx="2450592" cy="138017"/>
          </a:xfrm>
          <a:prstGeom prst="rect">
            <a:avLst/>
          </a:prstGeom>
          <a:noFill/>
          <a:ln/>
        </p:spPr>
        <p:txBody>
          <a:bodyPr wrap="square" lIns="0" tIns="0" rIns="0" bIns="0" rtlCol="0" anchor="ctr"/>
          <a:lstStyle/>
          <a:p>
            <a:pPr marL="0" indent="0">
              <a:buNone/>
            </a:pPr>
            <a:r>
              <a:rPr lang="en-US" sz="950" b="1" dirty="0">
                <a:solidFill>
                  <a:srgbClr val="0D1B3E"/>
                </a:solidFill>
              </a:rPr>
              <a:t>Email Notifications</a:t>
            </a:r>
            <a:endParaRPr lang="en-US" sz="950" dirty="0"/>
          </a:p>
        </p:txBody>
      </p:sp>
      <p:sp>
        <p:nvSpPr>
          <p:cNvPr id="45" name="Text 19">
            <a:extLst>
              <a:ext uri="{FF2B5EF4-FFF2-40B4-BE49-F238E27FC236}">
                <a16:creationId xmlns:a16="http://schemas.microsoft.com/office/drawing/2014/main" id="{454D52D1-8723-4316-CD5B-4D136CBFB56C}"/>
              </a:ext>
            </a:extLst>
          </p:cNvPr>
          <p:cNvSpPr/>
          <p:nvPr/>
        </p:nvSpPr>
        <p:spPr>
          <a:xfrm>
            <a:off x="612648" y="3976679"/>
            <a:ext cx="2450592" cy="414052"/>
          </a:xfrm>
          <a:prstGeom prst="rect">
            <a:avLst/>
          </a:prstGeom>
          <a:noFill/>
          <a:ln/>
        </p:spPr>
        <p:txBody>
          <a:bodyPr wrap="square" lIns="0" tIns="0" rIns="0" bIns="0" rtlCol="0" anchor="t"/>
          <a:lstStyle/>
          <a:p>
            <a:pPr marL="0" indent="0">
              <a:buNone/>
            </a:pPr>
            <a:r>
              <a:rPr lang="en-US" sz="800" dirty="0">
                <a:solidFill>
                  <a:srgbClr val="4A5568"/>
                </a:solidFill>
              </a:rPr>
              <a:t>Order confirmation and status emails — backend hooks are in place; delivery layer is next.</a:t>
            </a:r>
            <a:endParaRPr lang="en-US" sz="800" dirty="0"/>
          </a:p>
        </p:txBody>
      </p:sp>
      <p:sp>
        <p:nvSpPr>
          <p:cNvPr id="46" name="Shape 20">
            <a:extLst>
              <a:ext uri="{FF2B5EF4-FFF2-40B4-BE49-F238E27FC236}">
                <a16:creationId xmlns:a16="http://schemas.microsoft.com/office/drawing/2014/main" id="{B7EFC990-3D7B-B8A6-1D64-5659EEAEA8CE}"/>
              </a:ext>
            </a:extLst>
          </p:cNvPr>
          <p:cNvSpPr/>
          <p:nvPr/>
        </p:nvSpPr>
        <p:spPr>
          <a:xfrm>
            <a:off x="3227832" y="1450860"/>
            <a:ext cx="2633472" cy="395192"/>
          </a:xfrm>
          <a:prstGeom prst="rect">
            <a:avLst/>
          </a:prstGeom>
          <a:solidFill>
            <a:srgbClr val="1D9E75"/>
          </a:solidFill>
          <a:ln w="12700">
            <a:solidFill>
              <a:srgbClr val="1D9E75"/>
            </a:solidFill>
            <a:prstDash val="solid"/>
          </a:ln>
        </p:spPr>
        <p:txBody>
          <a:bodyPr/>
          <a:lstStyle/>
          <a:p>
            <a:endParaRPr lang="en-US"/>
          </a:p>
        </p:txBody>
      </p:sp>
      <p:sp>
        <p:nvSpPr>
          <p:cNvPr id="47" name="Text 21">
            <a:extLst>
              <a:ext uri="{FF2B5EF4-FFF2-40B4-BE49-F238E27FC236}">
                <a16:creationId xmlns:a16="http://schemas.microsoft.com/office/drawing/2014/main" id="{CD438650-B3A1-F26F-77C9-306988B52ACA}"/>
              </a:ext>
            </a:extLst>
          </p:cNvPr>
          <p:cNvSpPr/>
          <p:nvPr/>
        </p:nvSpPr>
        <p:spPr>
          <a:xfrm>
            <a:off x="3319272" y="1517904"/>
            <a:ext cx="2450592" cy="126516"/>
          </a:xfrm>
          <a:prstGeom prst="rect">
            <a:avLst/>
          </a:prstGeom>
          <a:noFill/>
          <a:ln/>
        </p:spPr>
        <p:txBody>
          <a:bodyPr wrap="square" lIns="0" tIns="0" rIns="0" bIns="0" rtlCol="0" anchor="ctr"/>
          <a:lstStyle/>
          <a:p>
            <a:pPr marL="0" indent="0">
              <a:buNone/>
            </a:pPr>
            <a:r>
              <a:rPr lang="en-US" sz="1000" b="1" dirty="0">
                <a:solidFill>
                  <a:srgbClr val="FFFFFF"/>
                </a:solidFill>
              </a:rPr>
              <a:t>🔧  Quality &amp; Stability</a:t>
            </a:r>
            <a:endParaRPr lang="en-US" sz="1000" dirty="0"/>
          </a:p>
        </p:txBody>
      </p:sp>
      <p:sp>
        <p:nvSpPr>
          <p:cNvPr id="48" name="Text 22">
            <a:extLst>
              <a:ext uri="{FF2B5EF4-FFF2-40B4-BE49-F238E27FC236}">
                <a16:creationId xmlns:a16="http://schemas.microsoft.com/office/drawing/2014/main" id="{094F9A77-F080-5079-E384-3FE131072C45}"/>
              </a:ext>
            </a:extLst>
          </p:cNvPr>
          <p:cNvSpPr/>
          <p:nvPr/>
        </p:nvSpPr>
        <p:spPr>
          <a:xfrm>
            <a:off x="3319272" y="1697748"/>
            <a:ext cx="2450592" cy="92012"/>
          </a:xfrm>
          <a:prstGeom prst="rect">
            <a:avLst/>
          </a:prstGeom>
          <a:noFill/>
          <a:ln/>
        </p:spPr>
        <p:txBody>
          <a:bodyPr wrap="square" lIns="0" tIns="0" rIns="0" bIns="0" rtlCol="0" anchor="ctr"/>
          <a:lstStyle/>
          <a:p>
            <a:pPr marL="0" indent="0">
              <a:buNone/>
            </a:pPr>
            <a:r>
              <a:rPr lang="en-US" sz="700" dirty="0">
                <a:solidFill>
                  <a:srgbClr val="CADCFC"/>
                </a:solidFill>
              </a:rPr>
              <a:t>Gaps identified during testing &amp; review</a:t>
            </a:r>
            <a:endParaRPr lang="en-US" sz="700" dirty="0"/>
          </a:p>
        </p:txBody>
      </p:sp>
      <p:sp>
        <p:nvSpPr>
          <p:cNvPr id="49" name="Shape 23">
            <a:extLst>
              <a:ext uri="{FF2B5EF4-FFF2-40B4-BE49-F238E27FC236}">
                <a16:creationId xmlns:a16="http://schemas.microsoft.com/office/drawing/2014/main" id="{4EA6DAF2-13D4-FCE7-C84D-C50CB91D2C34}"/>
              </a:ext>
            </a:extLst>
          </p:cNvPr>
          <p:cNvSpPr/>
          <p:nvPr/>
        </p:nvSpPr>
        <p:spPr>
          <a:xfrm>
            <a:off x="3227832" y="1926348"/>
            <a:ext cx="2633472" cy="736092"/>
          </a:xfrm>
          <a:prstGeom prst="rect">
            <a:avLst/>
          </a:prstGeom>
          <a:solidFill>
            <a:srgbClr val="FFFFFF"/>
          </a:solidFill>
          <a:ln w="6350">
            <a:solidFill>
              <a:srgbClr val="E2E8F0"/>
            </a:solidFill>
            <a:prstDash val="solid"/>
          </a:ln>
          <a:effectLst>
            <a:outerShdw blurRad="101600" dist="25400" dir="16200000" algn="bl" rotWithShape="0">
              <a:srgbClr val="000000">
                <a:alpha val="7000"/>
              </a:srgbClr>
            </a:outerShdw>
          </a:effectLst>
        </p:spPr>
        <p:txBody>
          <a:bodyPr/>
          <a:lstStyle/>
          <a:p>
            <a:endParaRPr lang="en-US"/>
          </a:p>
        </p:txBody>
      </p:sp>
      <p:sp>
        <p:nvSpPr>
          <p:cNvPr id="50" name="Shape 24">
            <a:extLst>
              <a:ext uri="{FF2B5EF4-FFF2-40B4-BE49-F238E27FC236}">
                <a16:creationId xmlns:a16="http://schemas.microsoft.com/office/drawing/2014/main" id="{35A7D1D7-D142-B6AC-7650-BB7FA473C2F9}"/>
              </a:ext>
            </a:extLst>
          </p:cNvPr>
          <p:cNvSpPr/>
          <p:nvPr/>
        </p:nvSpPr>
        <p:spPr>
          <a:xfrm>
            <a:off x="3227832" y="1926348"/>
            <a:ext cx="36576" cy="736092"/>
          </a:xfrm>
          <a:prstGeom prst="rect">
            <a:avLst/>
          </a:prstGeom>
          <a:solidFill>
            <a:srgbClr val="1D9E75"/>
          </a:solidFill>
          <a:ln w="12700">
            <a:solidFill>
              <a:srgbClr val="1D9E75"/>
            </a:solidFill>
            <a:prstDash val="solid"/>
          </a:ln>
        </p:spPr>
        <p:txBody>
          <a:bodyPr/>
          <a:lstStyle/>
          <a:p>
            <a:endParaRPr lang="en-US"/>
          </a:p>
        </p:txBody>
      </p:sp>
      <p:sp>
        <p:nvSpPr>
          <p:cNvPr id="51" name="Text 25">
            <a:extLst>
              <a:ext uri="{FF2B5EF4-FFF2-40B4-BE49-F238E27FC236}">
                <a16:creationId xmlns:a16="http://schemas.microsoft.com/office/drawing/2014/main" id="{B621DC0E-DCE8-55A5-40A8-01F03C1A1CF1}"/>
              </a:ext>
            </a:extLst>
          </p:cNvPr>
          <p:cNvSpPr/>
          <p:nvPr/>
        </p:nvSpPr>
        <p:spPr>
          <a:xfrm>
            <a:off x="3337560" y="2054364"/>
            <a:ext cx="2450592" cy="138017"/>
          </a:xfrm>
          <a:prstGeom prst="rect">
            <a:avLst/>
          </a:prstGeom>
          <a:noFill/>
          <a:ln/>
        </p:spPr>
        <p:txBody>
          <a:bodyPr wrap="square" lIns="0" tIns="0" rIns="0" bIns="0" rtlCol="0" anchor="ctr"/>
          <a:lstStyle/>
          <a:p>
            <a:pPr marL="0" indent="0">
              <a:buNone/>
            </a:pPr>
            <a:r>
              <a:rPr lang="en-US" sz="950" b="1" dirty="0">
                <a:solidFill>
                  <a:srgbClr val="0D1B3E"/>
                </a:solidFill>
              </a:rPr>
              <a:t>Payment Integration</a:t>
            </a:r>
            <a:endParaRPr lang="en-US" sz="950" dirty="0"/>
          </a:p>
        </p:txBody>
      </p:sp>
      <p:sp>
        <p:nvSpPr>
          <p:cNvPr id="52" name="Text 26">
            <a:extLst>
              <a:ext uri="{FF2B5EF4-FFF2-40B4-BE49-F238E27FC236}">
                <a16:creationId xmlns:a16="http://schemas.microsoft.com/office/drawing/2014/main" id="{C87B554A-4718-624A-4E50-5D2E46938003}"/>
              </a:ext>
            </a:extLst>
          </p:cNvPr>
          <p:cNvSpPr/>
          <p:nvPr/>
        </p:nvSpPr>
        <p:spPr>
          <a:xfrm>
            <a:off x="3337560" y="2191026"/>
            <a:ext cx="2450592" cy="414052"/>
          </a:xfrm>
          <a:prstGeom prst="rect">
            <a:avLst/>
          </a:prstGeom>
          <a:noFill/>
          <a:ln/>
        </p:spPr>
        <p:txBody>
          <a:bodyPr wrap="square" lIns="0" tIns="0" rIns="0" bIns="0" rtlCol="0" anchor="t"/>
          <a:lstStyle/>
          <a:p>
            <a:pPr marL="0" indent="0">
              <a:buNone/>
            </a:pPr>
            <a:r>
              <a:rPr lang="en-US" sz="800" dirty="0">
                <a:solidFill>
                  <a:srgbClr val="4A5568"/>
                </a:solidFill>
              </a:rPr>
              <a:t>Replace the payment simulation with a real processor — Stripe or equivalent.</a:t>
            </a:r>
            <a:endParaRPr lang="en-US" sz="800" dirty="0"/>
          </a:p>
        </p:txBody>
      </p:sp>
      <p:sp>
        <p:nvSpPr>
          <p:cNvPr id="53" name="Shape 27">
            <a:extLst>
              <a:ext uri="{FF2B5EF4-FFF2-40B4-BE49-F238E27FC236}">
                <a16:creationId xmlns:a16="http://schemas.microsoft.com/office/drawing/2014/main" id="{AAA7A21F-89EF-12E8-3DAE-54778DD1C663}"/>
              </a:ext>
            </a:extLst>
          </p:cNvPr>
          <p:cNvSpPr/>
          <p:nvPr/>
        </p:nvSpPr>
        <p:spPr>
          <a:xfrm>
            <a:off x="3227832" y="2757955"/>
            <a:ext cx="2633472" cy="736092"/>
          </a:xfrm>
          <a:prstGeom prst="rect">
            <a:avLst/>
          </a:prstGeom>
          <a:solidFill>
            <a:srgbClr val="FFFFFF"/>
          </a:solidFill>
          <a:ln w="6350">
            <a:solidFill>
              <a:srgbClr val="E2E8F0"/>
            </a:solidFill>
            <a:prstDash val="solid"/>
          </a:ln>
          <a:effectLst>
            <a:outerShdw blurRad="101600" dist="25400" dir="16200000" algn="bl" rotWithShape="0">
              <a:srgbClr val="000000">
                <a:alpha val="7000"/>
              </a:srgbClr>
            </a:outerShdw>
          </a:effectLst>
        </p:spPr>
        <p:txBody>
          <a:bodyPr/>
          <a:lstStyle/>
          <a:p>
            <a:endParaRPr lang="en-US"/>
          </a:p>
        </p:txBody>
      </p:sp>
      <p:sp>
        <p:nvSpPr>
          <p:cNvPr id="54" name="Shape 28">
            <a:extLst>
              <a:ext uri="{FF2B5EF4-FFF2-40B4-BE49-F238E27FC236}">
                <a16:creationId xmlns:a16="http://schemas.microsoft.com/office/drawing/2014/main" id="{3655DD66-CA72-E616-1A08-D99AAB419B2A}"/>
              </a:ext>
            </a:extLst>
          </p:cNvPr>
          <p:cNvSpPr/>
          <p:nvPr/>
        </p:nvSpPr>
        <p:spPr>
          <a:xfrm>
            <a:off x="3227832" y="2757955"/>
            <a:ext cx="36576" cy="736092"/>
          </a:xfrm>
          <a:prstGeom prst="rect">
            <a:avLst/>
          </a:prstGeom>
          <a:solidFill>
            <a:srgbClr val="1D9E75"/>
          </a:solidFill>
          <a:ln w="12700">
            <a:solidFill>
              <a:srgbClr val="1D9E75"/>
            </a:solidFill>
            <a:prstDash val="solid"/>
          </a:ln>
        </p:spPr>
        <p:txBody>
          <a:bodyPr/>
          <a:lstStyle/>
          <a:p>
            <a:endParaRPr lang="en-US"/>
          </a:p>
        </p:txBody>
      </p:sp>
      <p:sp>
        <p:nvSpPr>
          <p:cNvPr id="55" name="Text 29">
            <a:extLst>
              <a:ext uri="{FF2B5EF4-FFF2-40B4-BE49-F238E27FC236}">
                <a16:creationId xmlns:a16="http://schemas.microsoft.com/office/drawing/2014/main" id="{5EA05F3D-4975-CA68-C0BE-8E6DAA7C569D}"/>
              </a:ext>
            </a:extLst>
          </p:cNvPr>
          <p:cNvSpPr/>
          <p:nvPr/>
        </p:nvSpPr>
        <p:spPr>
          <a:xfrm>
            <a:off x="3337560" y="2885971"/>
            <a:ext cx="2450592" cy="138017"/>
          </a:xfrm>
          <a:prstGeom prst="rect">
            <a:avLst/>
          </a:prstGeom>
          <a:noFill/>
          <a:ln/>
        </p:spPr>
        <p:txBody>
          <a:bodyPr wrap="square" lIns="0" tIns="0" rIns="0" bIns="0" rtlCol="0" anchor="ctr"/>
          <a:lstStyle/>
          <a:p>
            <a:pPr marL="0" indent="0">
              <a:buNone/>
            </a:pPr>
            <a:r>
              <a:rPr lang="en-US" sz="950" b="1" dirty="0">
                <a:solidFill>
                  <a:srgbClr val="0D1B3E"/>
                </a:solidFill>
              </a:rPr>
              <a:t>GitHub Issues for Bugs</a:t>
            </a:r>
            <a:endParaRPr lang="en-US" sz="950" dirty="0"/>
          </a:p>
        </p:txBody>
      </p:sp>
      <p:sp>
        <p:nvSpPr>
          <p:cNvPr id="56" name="Text 30">
            <a:extLst>
              <a:ext uri="{FF2B5EF4-FFF2-40B4-BE49-F238E27FC236}">
                <a16:creationId xmlns:a16="http://schemas.microsoft.com/office/drawing/2014/main" id="{29995F9B-615C-C1C9-AE1E-99568984AC05}"/>
              </a:ext>
            </a:extLst>
          </p:cNvPr>
          <p:cNvSpPr/>
          <p:nvPr/>
        </p:nvSpPr>
        <p:spPr>
          <a:xfrm>
            <a:off x="3337560" y="3160291"/>
            <a:ext cx="2450592" cy="414052"/>
          </a:xfrm>
          <a:prstGeom prst="rect">
            <a:avLst/>
          </a:prstGeom>
          <a:noFill/>
          <a:ln/>
        </p:spPr>
        <p:txBody>
          <a:bodyPr wrap="square" lIns="0" tIns="0" rIns="0" bIns="0" rtlCol="0" anchor="t"/>
          <a:lstStyle/>
          <a:p>
            <a:pPr marL="0" indent="0">
              <a:buNone/>
            </a:pPr>
            <a:r>
              <a:rPr lang="en-US" sz="800" dirty="0">
                <a:solidFill>
                  <a:srgbClr val="4A5568"/>
                </a:solidFill>
              </a:rPr>
              <a:t>Formal defect tracking was missing — link bug reports directly to PRs and branches.</a:t>
            </a:r>
            <a:endParaRPr lang="en-US" sz="800" dirty="0"/>
          </a:p>
        </p:txBody>
      </p:sp>
      <p:sp>
        <p:nvSpPr>
          <p:cNvPr id="57" name="Shape 31">
            <a:extLst>
              <a:ext uri="{FF2B5EF4-FFF2-40B4-BE49-F238E27FC236}">
                <a16:creationId xmlns:a16="http://schemas.microsoft.com/office/drawing/2014/main" id="{647351EC-AC17-D6B4-E981-F559525F810E}"/>
              </a:ext>
            </a:extLst>
          </p:cNvPr>
          <p:cNvSpPr/>
          <p:nvPr/>
        </p:nvSpPr>
        <p:spPr>
          <a:xfrm>
            <a:off x="3227832" y="3574343"/>
            <a:ext cx="2633472" cy="736092"/>
          </a:xfrm>
          <a:prstGeom prst="rect">
            <a:avLst/>
          </a:prstGeom>
          <a:solidFill>
            <a:srgbClr val="FFFFFF"/>
          </a:solidFill>
          <a:ln w="6350">
            <a:solidFill>
              <a:srgbClr val="E2E8F0"/>
            </a:solidFill>
            <a:prstDash val="solid"/>
          </a:ln>
          <a:effectLst>
            <a:outerShdw blurRad="101600" dist="25400" dir="16200000" algn="bl" rotWithShape="0">
              <a:srgbClr val="000000">
                <a:alpha val="7000"/>
              </a:srgbClr>
            </a:outerShdw>
          </a:effectLst>
        </p:spPr>
        <p:txBody>
          <a:bodyPr/>
          <a:lstStyle/>
          <a:p>
            <a:endParaRPr lang="en-US"/>
          </a:p>
        </p:txBody>
      </p:sp>
      <p:sp>
        <p:nvSpPr>
          <p:cNvPr id="58" name="Shape 32">
            <a:extLst>
              <a:ext uri="{FF2B5EF4-FFF2-40B4-BE49-F238E27FC236}">
                <a16:creationId xmlns:a16="http://schemas.microsoft.com/office/drawing/2014/main" id="{2768C760-EA1D-0CCB-D802-1DAA350FE977}"/>
              </a:ext>
            </a:extLst>
          </p:cNvPr>
          <p:cNvSpPr/>
          <p:nvPr/>
        </p:nvSpPr>
        <p:spPr>
          <a:xfrm>
            <a:off x="3227832" y="3574343"/>
            <a:ext cx="36576" cy="736092"/>
          </a:xfrm>
          <a:prstGeom prst="rect">
            <a:avLst/>
          </a:prstGeom>
          <a:solidFill>
            <a:srgbClr val="1D9E75"/>
          </a:solidFill>
          <a:ln w="12700">
            <a:solidFill>
              <a:srgbClr val="1D9E75"/>
            </a:solidFill>
            <a:prstDash val="solid"/>
          </a:ln>
        </p:spPr>
        <p:txBody>
          <a:bodyPr/>
          <a:lstStyle/>
          <a:p>
            <a:endParaRPr lang="en-US"/>
          </a:p>
        </p:txBody>
      </p:sp>
      <p:sp>
        <p:nvSpPr>
          <p:cNvPr id="59" name="Text 33">
            <a:extLst>
              <a:ext uri="{FF2B5EF4-FFF2-40B4-BE49-F238E27FC236}">
                <a16:creationId xmlns:a16="http://schemas.microsoft.com/office/drawing/2014/main" id="{482FC96C-6696-5884-C094-93B125DE5E26}"/>
              </a:ext>
            </a:extLst>
          </p:cNvPr>
          <p:cNvSpPr/>
          <p:nvPr/>
        </p:nvSpPr>
        <p:spPr>
          <a:xfrm>
            <a:off x="3337560" y="3702359"/>
            <a:ext cx="2450592" cy="138017"/>
          </a:xfrm>
          <a:prstGeom prst="rect">
            <a:avLst/>
          </a:prstGeom>
          <a:noFill/>
          <a:ln/>
        </p:spPr>
        <p:txBody>
          <a:bodyPr wrap="square" lIns="0" tIns="0" rIns="0" bIns="0" rtlCol="0" anchor="ctr"/>
          <a:lstStyle/>
          <a:p>
            <a:pPr marL="0" indent="0">
              <a:buNone/>
            </a:pPr>
            <a:r>
              <a:rPr lang="en-US" sz="950" b="1" dirty="0">
                <a:solidFill>
                  <a:srgbClr val="0D1B3E"/>
                </a:solidFill>
              </a:rPr>
              <a:t>Integration Docs</a:t>
            </a:r>
            <a:endParaRPr lang="en-US" sz="950" dirty="0"/>
          </a:p>
        </p:txBody>
      </p:sp>
      <p:sp>
        <p:nvSpPr>
          <p:cNvPr id="60" name="Text 34">
            <a:extLst>
              <a:ext uri="{FF2B5EF4-FFF2-40B4-BE49-F238E27FC236}">
                <a16:creationId xmlns:a16="http://schemas.microsoft.com/office/drawing/2014/main" id="{5D7E06C2-5F97-4771-A436-13B16F8D3D2F}"/>
              </a:ext>
            </a:extLst>
          </p:cNvPr>
          <p:cNvSpPr/>
          <p:nvPr/>
        </p:nvSpPr>
        <p:spPr>
          <a:xfrm>
            <a:off x="3337560" y="3976679"/>
            <a:ext cx="2450592" cy="414052"/>
          </a:xfrm>
          <a:prstGeom prst="rect">
            <a:avLst/>
          </a:prstGeom>
          <a:noFill/>
          <a:ln/>
        </p:spPr>
        <p:txBody>
          <a:bodyPr wrap="square" lIns="0" tIns="0" rIns="0" bIns="0" rtlCol="0" anchor="t"/>
          <a:lstStyle/>
          <a:p>
            <a:pPr marL="0" indent="0">
              <a:buNone/>
            </a:pPr>
            <a:r>
              <a:rPr lang="en-US" sz="800" dirty="0">
                <a:solidFill>
                  <a:srgbClr val="4A5568"/>
                </a:solidFill>
              </a:rPr>
              <a:t>A frontend/backend architecture walkthrough would accelerate onboarding for any new contributor.</a:t>
            </a:r>
            <a:endParaRPr lang="en-US" sz="800" dirty="0"/>
          </a:p>
        </p:txBody>
      </p:sp>
      <p:sp>
        <p:nvSpPr>
          <p:cNvPr id="61" name="Shape 35">
            <a:extLst>
              <a:ext uri="{FF2B5EF4-FFF2-40B4-BE49-F238E27FC236}">
                <a16:creationId xmlns:a16="http://schemas.microsoft.com/office/drawing/2014/main" id="{F7713062-3CD7-FC4C-D80E-E327E992A90D}"/>
              </a:ext>
            </a:extLst>
          </p:cNvPr>
          <p:cNvSpPr/>
          <p:nvPr/>
        </p:nvSpPr>
        <p:spPr>
          <a:xfrm>
            <a:off x="5952744" y="1450860"/>
            <a:ext cx="2633472" cy="395192"/>
          </a:xfrm>
          <a:prstGeom prst="rect">
            <a:avLst/>
          </a:prstGeom>
          <a:solidFill>
            <a:srgbClr val="0B6A52"/>
          </a:solidFill>
          <a:ln w="12700">
            <a:solidFill>
              <a:srgbClr val="0B6A52"/>
            </a:solidFill>
            <a:prstDash val="solid"/>
          </a:ln>
        </p:spPr>
        <p:txBody>
          <a:bodyPr/>
          <a:lstStyle/>
          <a:p>
            <a:endParaRPr lang="en-US"/>
          </a:p>
        </p:txBody>
      </p:sp>
      <p:sp>
        <p:nvSpPr>
          <p:cNvPr id="62" name="Text 36">
            <a:extLst>
              <a:ext uri="{FF2B5EF4-FFF2-40B4-BE49-F238E27FC236}">
                <a16:creationId xmlns:a16="http://schemas.microsoft.com/office/drawing/2014/main" id="{B49818AE-C516-0E03-AF37-A6500B6F3858}"/>
              </a:ext>
            </a:extLst>
          </p:cNvPr>
          <p:cNvSpPr/>
          <p:nvPr/>
        </p:nvSpPr>
        <p:spPr>
          <a:xfrm>
            <a:off x="6044184" y="1517904"/>
            <a:ext cx="2450592" cy="126516"/>
          </a:xfrm>
          <a:prstGeom prst="rect">
            <a:avLst/>
          </a:prstGeom>
          <a:noFill/>
          <a:ln/>
        </p:spPr>
        <p:txBody>
          <a:bodyPr wrap="square" lIns="0" tIns="0" rIns="0" bIns="0" rtlCol="0" anchor="ctr"/>
          <a:lstStyle/>
          <a:p>
            <a:pPr marL="0" indent="0">
              <a:buNone/>
            </a:pPr>
            <a:r>
              <a:rPr lang="en-US" sz="1000" b="1" dirty="0">
                <a:solidFill>
                  <a:srgbClr val="FFFFFF"/>
                </a:solidFill>
              </a:rPr>
              <a:t>🚀  Longer-Term Vision</a:t>
            </a:r>
            <a:endParaRPr lang="en-US" sz="1000" dirty="0"/>
          </a:p>
        </p:txBody>
      </p:sp>
      <p:sp>
        <p:nvSpPr>
          <p:cNvPr id="63" name="Text 37">
            <a:extLst>
              <a:ext uri="{FF2B5EF4-FFF2-40B4-BE49-F238E27FC236}">
                <a16:creationId xmlns:a16="http://schemas.microsoft.com/office/drawing/2014/main" id="{5F2CE197-C316-FE6B-B1F0-85D9F61345A3}"/>
              </a:ext>
            </a:extLst>
          </p:cNvPr>
          <p:cNvSpPr/>
          <p:nvPr/>
        </p:nvSpPr>
        <p:spPr>
          <a:xfrm>
            <a:off x="6044184" y="1697748"/>
            <a:ext cx="2450592" cy="92012"/>
          </a:xfrm>
          <a:prstGeom prst="rect">
            <a:avLst/>
          </a:prstGeom>
          <a:noFill/>
          <a:ln/>
        </p:spPr>
        <p:txBody>
          <a:bodyPr wrap="square" lIns="0" tIns="0" rIns="0" bIns="0" rtlCol="0" anchor="ctr"/>
          <a:lstStyle/>
          <a:p>
            <a:pPr marL="0" indent="0">
              <a:buNone/>
            </a:pPr>
            <a:r>
              <a:rPr lang="en-US" sz="700" dirty="0">
                <a:solidFill>
                  <a:srgbClr val="CADCFC"/>
                </a:solidFill>
              </a:rPr>
              <a:t>Natural growth from the current foundation</a:t>
            </a:r>
            <a:endParaRPr lang="en-US" sz="700" dirty="0"/>
          </a:p>
        </p:txBody>
      </p:sp>
      <p:sp>
        <p:nvSpPr>
          <p:cNvPr id="64" name="Shape 38">
            <a:extLst>
              <a:ext uri="{FF2B5EF4-FFF2-40B4-BE49-F238E27FC236}">
                <a16:creationId xmlns:a16="http://schemas.microsoft.com/office/drawing/2014/main" id="{99119F10-6FD1-30B1-91AF-E72261CB8CBA}"/>
              </a:ext>
            </a:extLst>
          </p:cNvPr>
          <p:cNvSpPr/>
          <p:nvPr/>
        </p:nvSpPr>
        <p:spPr>
          <a:xfrm>
            <a:off x="5952744" y="1926348"/>
            <a:ext cx="2633472" cy="736092"/>
          </a:xfrm>
          <a:prstGeom prst="rect">
            <a:avLst/>
          </a:prstGeom>
          <a:solidFill>
            <a:srgbClr val="FFFFFF"/>
          </a:solidFill>
          <a:ln w="6350">
            <a:solidFill>
              <a:srgbClr val="E2E8F0"/>
            </a:solidFill>
            <a:prstDash val="solid"/>
          </a:ln>
          <a:effectLst>
            <a:outerShdw blurRad="101600" dist="25400" dir="16200000" algn="bl" rotWithShape="0">
              <a:srgbClr val="000000">
                <a:alpha val="7000"/>
              </a:srgbClr>
            </a:outerShdw>
          </a:effectLst>
        </p:spPr>
        <p:txBody>
          <a:bodyPr/>
          <a:lstStyle/>
          <a:p>
            <a:endParaRPr lang="en-US"/>
          </a:p>
        </p:txBody>
      </p:sp>
      <p:sp>
        <p:nvSpPr>
          <p:cNvPr id="65" name="Shape 39">
            <a:extLst>
              <a:ext uri="{FF2B5EF4-FFF2-40B4-BE49-F238E27FC236}">
                <a16:creationId xmlns:a16="http://schemas.microsoft.com/office/drawing/2014/main" id="{50350878-C255-9BA3-D448-B506561ABFBD}"/>
              </a:ext>
            </a:extLst>
          </p:cNvPr>
          <p:cNvSpPr/>
          <p:nvPr/>
        </p:nvSpPr>
        <p:spPr>
          <a:xfrm>
            <a:off x="5952744" y="1926348"/>
            <a:ext cx="36576" cy="736092"/>
          </a:xfrm>
          <a:prstGeom prst="rect">
            <a:avLst/>
          </a:prstGeom>
          <a:solidFill>
            <a:srgbClr val="0B6A52"/>
          </a:solidFill>
          <a:ln w="12700">
            <a:solidFill>
              <a:srgbClr val="0B6A52"/>
            </a:solidFill>
            <a:prstDash val="solid"/>
          </a:ln>
        </p:spPr>
        <p:txBody>
          <a:bodyPr/>
          <a:lstStyle/>
          <a:p>
            <a:endParaRPr lang="en-US"/>
          </a:p>
        </p:txBody>
      </p:sp>
      <p:sp>
        <p:nvSpPr>
          <p:cNvPr id="66" name="Text 40">
            <a:extLst>
              <a:ext uri="{FF2B5EF4-FFF2-40B4-BE49-F238E27FC236}">
                <a16:creationId xmlns:a16="http://schemas.microsoft.com/office/drawing/2014/main" id="{605DF732-601F-6081-5A75-ADB3D7D4482C}"/>
              </a:ext>
            </a:extLst>
          </p:cNvPr>
          <p:cNvSpPr/>
          <p:nvPr/>
        </p:nvSpPr>
        <p:spPr>
          <a:xfrm>
            <a:off x="6062472" y="2054364"/>
            <a:ext cx="2450592" cy="138017"/>
          </a:xfrm>
          <a:prstGeom prst="rect">
            <a:avLst/>
          </a:prstGeom>
          <a:noFill/>
          <a:ln/>
        </p:spPr>
        <p:txBody>
          <a:bodyPr wrap="square" lIns="0" tIns="0" rIns="0" bIns="0" rtlCol="0" anchor="ctr"/>
          <a:lstStyle/>
          <a:p>
            <a:pPr marL="0" indent="0">
              <a:buNone/>
            </a:pPr>
            <a:r>
              <a:rPr lang="en-US" sz="950" b="1" dirty="0">
                <a:solidFill>
                  <a:srgbClr val="0D1B3E"/>
                </a:solidFill>
              </a:rPr>
              <a:t>AWS Production Deployment</a:t>
            </a:r>
            <a:endParaRPr lang="en-US" sz="950" dirty="0"/>
          </a:p>
        </p:txBody>
      </p:sp>
      <p:sp>
        <p:nvSpPr>
          <p:cNvPr id="67" name="Text 41">
            <a:extLst>
              <a:ext uri="{FF2B5EF4-FFF2-40B4-BE49-F238E27FC236}">
                <a16:creationId xmlns:a16="http://schemas.microsoft.com/office/drawing/2014/main" id="{A9A7FFB8-68F0-FCE9-017E-2408D021405B}"/>
              </a:ext>
            </a:extLst>
          </p:cNvPr>
          <p:cNvSpPr/>
          <p:nvPr/>
        </p:nvSpPr>
        <p:spPr>
          <a:xfrm>
            <a:off x="6062472" y="2191026"/>
            <a:ext cx="2450592" cy="414052"/>
          </a:xfrm>
          <a:prstGeom prst="rect">
            <a:avLst/>
          </a:prstGeom>
          <a:noFill/>
          <a:ln/>
        </p:spPr>
        <p:txBody>
          <a:bodyPr wrap="square" lIns="0" tIns="0" rIns="0" bIns="0" rtlCol="0" anchor="t"/>
          <a:lstStyle/>
          <a:p>
            <a:pPr marL="0" indent="0">
              <a:buNone/>
            </a:pPr>
            <a:r>
              <a:rPr lang="en-US" sz="800" dirty="0">
                <a:solidFill>
                  <a:srgbClr val="4A5568"/>
                </a:solidFill>
              </a:rPr>
              <a:t>Docker images and ECR pipeline are built — EC2 + RDS deployment is fully documented.</a:t>
            </a:r>
            <a:endParaRPr lang="en-US" sz="800" dirty="0"/>
          </a:p>
        </p:txBody>
      </p:sp>
      <p:sp>
        <p:nvSpPr>
          <p:cNvPr id="68" name="Shape 42">
            <a:extLst>
              <a:ext uri="{FF2B5EF4-FFF2-40B4-BE49-F238E27FC236}">
                <a16:creationId xmlns:a16="http://schemas.microsoft.com/office/drawing/2014/main" id="{2CD605BD-F53E-F632-971F-B17EBB047312}"/>
              </a:ext>
            </a:extLst>
          </p:cNvPr>
          <p:cNvSpPr/>
          <p:nvPr/>
        </p:nvSpPr>
        <p:spPr>
          <a:xfrm>
            <a:off x="5952744" y="2757955"/>
            <a:ext cx="2633472" cy="736092"/>
          </a:xfrm>
          <a:prstGeom prst="rect">
            <a:avLst/>
          </a:prstGeom>
          <a:solidFill>
            <a:srgbClr val="FFFFFF"/>
          </a:solidFill>
          <a:ln w="6350">
            <a:solidFill>
              <a:srgbClr val="E2E8F0"/>
            </a:solidFill>
            <a:prstDash val="solid"/>
          </a:ln>
          <a:effectLst>
            <a:outerShdw blurRad="101600" dist="25400" dir="16200000" algn="bl" rotWithShape="0">
              <a:srgbClr val="000000">
                <a:alpha val="7000"/>
              </a:srgbClr>
            </a:outerShdw>
          </a:effectLst>
        </p:spPr>
        <p:txBody>
          <a:bodyPr/>
          <a:lstStyle/>
          <a:p>
            <a:endParaRPr lang="en-US"/>
          </a:p>
        </p:txBody>
      </p:sp>
      <p:sp>
        <p:nvSpPr>
          <p:cNvPr id="69" name="Shape 43">
            <a:extLst>
              <a:ext uri="{FF2B5EF4-FFF2-40B4-BE49-F238E27FC236}">
                <a16:creationId xmlns:a16="http://schemas.microsoft.com/office/drawing/2014/main" id="{7A27465C-AB82-0071-7548-3A89E5FA4D26}"/>
              </a:ext>
            </a:extLst>
          </p:cNvPr>
          <p:cNvSpPr/>
          <p:nvPr/>
        </p:nvSpPr>
        <p:spPr>
          <a:xfrm>
            <a:off x="5952744" y="2757955"/>
            <a:ext cx="36576" cy="736092"/>
          </a:xfrm>
          <a:prstGeom prst="rect">
            <a:avLst/>
          </a:prstGeom>
          <a:solidFill>
            <a:srgbClr val="0B6A52"/>
          </a:solidFill>
          <a:ln w="12700">
            <a:solidFill>
              <a:srgbClr val="0B6A52"/>
            </a:solidFill>
            <a:prstDash val="solid"/>
          </a:ln>
        </p:spPr>
        <p:txBody>
          <a:bodyPr/>
          <a:lstStyle/>
          <a:p>
            <a:endParaRPr lang="en-US"/>
          </a:p>
        </p:txBody>
      </p:sp>
      <p:sp>
        <p:nvSpPr>
          <p:cNvPr id="70" name="Text 44">
            <a:extLst>
              <a:ext uri="{FF2B5EF4-FFF2-40B4-BE49-F238E27FC236}">
                <a16:creationId xmlns:a16="http://schemas.microsoft.com/office/drawing/2014/main" id="{F1A2F25A-3C3C-23C8-0383-64534151D9C6}"/>
              </a:ext>
            </a:extLst>
          </p:cNvPr>
          <p:cNvSpPr/>
          <p:nvPr/>
        </p:nvSpPr>
        <p:spPr>
          <a:xfrm>
            <a:off x="6062472" y="2885971"/>
            <a:ext cx="2450592" cy="138017"/>
          </a:xfrm>
          <a:prstGeom prst="rect">
            <a:avLst/>
          </a:prstGeom>
          <a:noFill/>
          <a:ln/>
        </p:spPr>
        <p:txBody>
          <a:bodyPr wrap="square" lIns="0" tIns="0" rIns="0" bIns="0" rtlCol="0" anchor="ctr"/>
          <a:lstStyle/>
          <a:p>
            <a:pPr marL="0" indent="0">
              <a:buNone/>
            </a:pPr>
            <a:r>
              <a:rPr lang="en-US" sz="950" b="1" dirty="0">
                <a:solidFill>
                  <a:srgbClr val="0D1B3E"/>
                </a:solidFill>
              </a:rPr>
              <a:t>Mobile App</a:t>
            </a:r>
            <a:endParaRPr lang="en-US" sz="950" dirty="0"/>
          </a:p>
        </p:txBody>
      </p:sp>
      <p:sp>
        <p:nvSpPr>
          <p:cNvPr id="71" name="Text 45">
            <a:extLst>
              <a:ext uri="{FF2B5EF4-FFF2-40B4-BE49-F238E27FC236}">
                <a16:creationId xmlns:a16="http://schemas.microsoft.com/office/drawing/2014/main" id="{F3AFADFC-7869-0101-D56D-7F28497AEF89}"/>
              </a:ext>
            </a:extLst>
          </p:cNvPr>
          <p:cNvSpPr/>
          <p:nvPr/>
        </p:nvSpPr>
        <p:spPr>
          <a:xfrm>
            <a:off x="6062472" y="3160291"/>
            <a:ext cx="2450592" cy="414052"/>
          </a:xfrm>
          <a:prstGeom prst="rect">
            <a:avLst/>
          </a:prstGeom>
          <a:noFill/>
          <a:ln/>
        </p:spPr>
        <p:txBody>
          <a:bodyPr wrap="square" lIns="0" tIns="0" rIns="0" bIns="0" rtlCol="0" anchor="t"/>
          <a:lstStyle/>
          <a:p>
            <a:pPr marL="0" indent="0">
              <a:buNone/>
            </a:pPr>
            <a:r>
              <a:rPr lang="en-US" sz="800" dirty="0">
                <a:solidFill>
                  <a:srgbClr val="4A5568"/>
                </a:solidFill>
              </a:rPr>
              <a:t>The SRS scoped a mobile-first design — the modular API makes a React Native frontend straightforward.</a:t>
            </a:r>
            <a:endParaRPr lang="en-US" sz="800" dirty="0"/>
          </a:p>
        </p:txBody>
      </p:sp>
      <p:sp>
        <p:nvSpPr>
          <p:cNvPr id="72" name="Shape 46">
            <a:extLst>
              <a:ext uri="{FF2B5EF4-FFF2-40B4-BE49-F238E27FC236}">
                <a16:creationId xmlns:a16="http://schemas.microsoft.com/office/drawing/2014/main" id="{8402DF2D-8426-1454-F54B-8052193317E4}"/>
              </a:ext>
            </a:extLst>
          </p:cNvPr>
          <p:cNvSpPr/>
          <p:nvPr/>
        </p:nvSpPr>
        <p:spPr>
          <a:xfrm>
            <a:off x="5952744" y="3574343"/>
            <a:ext cx="2633472" cy="736092"/>
          </a:xfrm>
          <a:prstGeom prst="rect">
            <a:avLst/>
          </a:prstGeom>
          <a:solidFill>
            <a:srgbClr val="FFFFFF"/>
          </a:solidFill>
          <a:ln w="6350">
            <a:solidFill>
              <a:srgbClr val="E2E8F0"/>
            </a:solidFill>
            <a:prstDash val="solid"/>
          </a:ln>
          <a:effectLst>
            <a:outerShdw blurRad="101600" dist="25400" dir="16200000" algn="bl" rotWithShape="0">
              <a:srgbClr val="000000">
                <a:alpha val="7000"/>
              </a:srgbClr>
            </a:outerShdw>
          </a:effectLst>
        </p:spPr>
        <p:txBody>
          <a:bodyPr/>
          <a:lstStyle/>
          <a:p>
            <a:endParaRPr lang="en-US"/>
          </a:p>
        </p:txBody>
      </p:sp>
      <p:sp>
        <p:nvSpPr>
          <p:cNvPr id="73" name="Shape 47">
            <a:extLst>
              <a:ext uri="{FF2B5EF4-FFF2-40B4-BE49-F238E27FC236}">
                <a16:creationId xmlns:a16="http://schemas.microsoft.com/office/drawing/2014/main" id="{2F95E261-5036-8FA6-36D1-B699318986D9}"/>
              </a:ext>
            </a:extLst>
          </p:cNvPr>
          <p:cNvSpPr/>
          <p:nvPr/>
        </p:nvSpPr>
        <p:spPr>
          <a:xfrm>
            <a:off x="5952744" y="3574343"/>
            <a:ext cx="36576" cy="736092"/>
          </a:xfrm>
          <a:prstGeom prst="rect">
            <a:avLst/>
          </a:prstGeom>
          <a:solidFill>
            <a:srgbClr val="0B6A52"/>
          </a:solidFill>
          <a:ln w="12700">
            <a:solidFill>
              <a:srgbClr val="0B6A52"/>
            </a:solidFill>
            <a:prstDash val="solid"/>
          </a:ln>
        </p:spPr>
        <p:txBody>
          <a:bodyPr/>
          <a:lstStyle/>
          <a:p>
            <a:endParaRPr lang="en-US"/>
          </a:p>
        </p:txBody>
      </p:sp>
      <p:sp>
        <p:nvSpPr>
          <p:cNvPr id="74" name="Text 48">
            <a:extLst>
              <a:ext uri="{FF2B5EF4-FFF2-40B4-BE49-F238E27FC236}">
                <a16:creationId xmlns:a16="http://schemas.microsoft.com/office/drawing/2014/main" id="{23B4FCE0-2C22-ACE6-5AA6-7C8596362140}"/>
              </a:ext>
            </a:extLst>
          </p:cNvPr>
          <p:cNvSpPr/>
          <p:nvPr/>
        </p:nvSpPr>
        <p:spPr>
          <a:xfrm>
            <a:off x="6062472" y="3702359"/>
            <a:ext cx="2450592" cy="138017"/>
          </a:xfrm>
          <a:prstGeom prst="rect">
            <a:avLst/>
          </a:prstGeom>
          <a:noFill/>
          <a:ln/>
        </p:spPr>
        <p:txBody>
          <a:bodyPr wrap="square" lIns="0" tIns="0" rIns="0" bIns="0" rtlCol="0" anchor="ctr"/>
          <a:lstStyle/>
          <a:p>
            <a:pPr marL="0" indent="0">
              <a:buNone/>
            </a:pPr>
            <a:r>
              <a:rPr lang="en-US" sz="950" b="1" dirty="0">
                <a:solidFill>
                  <a:srgbClr val="0D1B3E"/>
                </a:solidFill>
              </a:rPr>
              <a:t>Multi-Business Support</a:t>
            </a:r>
            <a:endParaRPr lang="en-US" sz="950" dirty="0"/>
          </a:p>
        </p:txBody>
      </p:sp>
      <p:sp>
        <p:nvSpPr>
          <p:cNvPr id="75" name="Text 49">
            <a:extLst>
              <a:ext uri="{FF2B5EF4-FFF2-40B4-BE49-F238E27FC236}">
                <a16:creationId xmlns:a16="http://schemas.microsoft.com/office/drawing/2014/main" id="{2A3414D3-5443-2878-1B7C-AEC21F0453A0}"/>
              </a:ext>
            </a:extLst>
          </p:cNvPr>
          <p:cNvSpPr/>
          <p:nvPr/>
        </p:nvSpPr>
        <p:spPr>
          <a:xfrm>
            <a:off x="6062472" y="3976679"/>
            <a:ext cx="2450592" cy="414052"/>
          </a:xfrm>
          <a:prstGeom prst="rect">
            <a:avLst/>
          </a:prstGeom>
          <a:noFill/>
          <a:ln/>
        </p:spPr>
        <p:txBody>
          <a:bodyPr wrap="square" lIns="0" tIns="0" rIns="0" bIns="0" rtlCol="0" anchor="t"/>
          <a:lstStyle/>
          <a:p>
            <a:pPr marL="0" indent="0">
              <a:buNone/>
            </a:pPr>
            <a:r>
              <a:rPr lang="en-US" sz="800" dirty="0">
                <a:solidFill>
                  <a:srgbClr val="4A5568"/>
                </a:solidFill>
              </a:rPr>
              <a:t>A tenant model would let Orderly serve multiple businesses from a single deployment.</a:t>
            </a:r>
            <a:endParaRPr lang="en-US" sz="800" dirty="0"/>
          </a:p>
        </p:txBody>
      </p:sp>
      <p:sp>
        <p:nvSpPr>
          <p:cNvPr id="4" name="Shape 25">
            <a:extLst>
              <a:ext uri="{FF2B5EF4-FFF2-40B4-BE49-F238E27FC236}">
                <a16:creationId xmlns:a16="http://schemas.microsoft.com/office/drawing/2014/main" id="{E07E6156-A9E1-AE60-C24F-52C501F161F8}"/>
              </a:ext>
            </a:extLst>
          </p:cNvPr>
          <p:cNvSpPr/>
          <p:nvPr/>
        </p:nvSpPr>
        <p:spPr>
          <a:xfrm>
            <a:off x="6062472" y="2437811"/>
            <a:ext cx="2377440" cy="6401"/>
          </a:xfrm>
          <a:prstGeom prst="rect">
            <a:avLst/>
          </a:prstGeom>
          <a:solidFill>
            <a:srgbClr val="E2E8F0"/>
          </a:solidFill>
          <a:ln w="12700">
            <a:solidFill>
              <a:srgbClr val="E2E8F0"/>
            </a:solidFill>
            <a:prstDash val="solid"/>
          </a:ln>
        </p:spPr>
        <p:txBody>
          <a:bodyPr/>
          <a:lstStyle/>
          <a:p>
            <a:endParaRPr lang="en-US"/>
          </a:p>
        </p:txBody>
      </p:sp>
      <p:sp>
        <p:nvSpPr>
          <p:cNvPr id="5" name="Shape 26">
            <a:extLst>
              <a:ext uri="{FF2B5EF4-FFF2-40B4-BE49-F238E27FC236}">
                <a16:creationId xmlns:a16="http://schemas.microsoft.com/office/drawing/2014/main" id="{D676D69A-290F-90AD-5C15-D40AC5CB6639}"/>
              </a:ext>
            </a:extLst>
          </p:cNvPr>
          <p:cNvSpPr/>
          <p:nvPr/>
        </p:nvSpPr>
        <p:spPr>
          <a:xfrm>
            <a:off x="6062472" y="2495154"/>
            <a:ext cx="444470" cy="111226"/>
          </a:xfrm>
          <a:prstGeom prst="rect">
            <a:avLst/>
          </a:prstGeom>
          <a:solidFill>
            <a:schemeClr val="accent6"/>
          </a:solidFill>
          <a:ln w="12700">
            <a:solidFill>
              <a:srgbClr val="1D9E75"/>
            </a:solidFill>
            <a:prstDash val="solid"/>
          </a:ln>
        </p:spPr>
        <p:txBody>
          <a:bodyPr/>
          <a:lstStyle/>
          <a:p>
            <a:endParaRPr lang="en-US"/>
          </a:p>
        </p:txBody>
      </p:sp>
      <p:sp>
        <p:nvSpPr>
          <p:cNvPr id="6" name="Text 27">
            <a:extLst>
              <a:ext uri="{FF2B5EF4-FFF2-40B4-BE49-F238E27FC236}">
                <a16:creationId xmlns:a16="http://schemas.microsoft.com/office/drawing/2014/main" id="{72175B81-B914-00A4-4E4E-38C1B6673292}"/>
              </a:ext>
            </a:extLst>
          </p:cNvPr>
          <p:cNvSpPr/>
          <p:nvPr/>
        </p:nvSpPr>
        <p:spPr>
          <a:xfrm>
            <a:off x="6062472" y="2495154"/>
            <a:ext cx="444470" cy="102461"/>
          </a:xfrm>
          <a:prstGeom prst="rect">
            <a:avLst/>
          </a:prstGeom>
          <a:noFill/>
          <a:ln/>
        </p:spPr>
        <p:txBody>
          <a:bodyPr wrap="square" lIns="0" tIns="0" rIns="0" bIns="0" rtlCol="0" anchor="ctr"/>
          <a:lstStyle/>
          <a:p>
            <a:pPr marL="0" indent="0" algn="ctr">
              <a:buNone/>
            </a:pPr>
            <a:r>
              <a:rPr lang="en-US" sz="650" b="1" dirty="0">
                <a:solidFill>
                  <a:srgbClr val="FFFFFF"/>
                </a:solidFill>
              </a:rPr>
              <a:t>Update!</a:t>
            </a:r>
            <a:endParaRPr lang="en-US" sz="650" dirty="0"/>
          </a:p>
        </p:txBody>
      </p:sp>
      <p:sp>
        <p:nvSpPr>
          <p:cNvPr id="7" name="Text 28">
            <a:extLst>
              <a:ext uri="{FF2B5EF4-FFF2-40B4-BE49-F238E27FC236}">
                <a16:creationId xmlns:a16="http://schemas.microsoft.com/office/drawing/2014/main" id="{9B17FE1C-0A8E-03DC-039C-525D7FAF4B75}"/>
              </a:ext>
            </a:extLst>
          </p:cNvPr>
          <p:cNvSpPr/>
          <p:nvPr/>
        </p:nvSpPr>
        <p:spPr>
          <a:xfrm>
            <a:off x="6580094" y="2497847"/>
            <a:ext cx="1859818" cy="135789"/>
          </a:xfrm>
          <a:prstGeom prst="rect">
            <a:avLst/>
          </a:prstGeom>
          <a:noFill/>
          <a:ln/>
        </p:spPr>
        <p:txBody>
          <a:bodyPr wrap="square" lIns="0" tIns="0" rIns="0" bIns="0" rtlCol="0" anchor="t"/>
          <a:lstStyle/>
          <a:p>
            <a:pPr marL="0" indent="0">
              <a:buNone/>
            </a:pPr>
            <a:r>
              <a:rPr lang="en-US" sz="700" dirty="0">
                <a:solidFill>
                  <a:schemeClr val="accent3">
                    <a:lumMod val="50000"/>
                  </a:schemeClr>
                </a:solidFill>
              </a:rPr>
              <a:t>Deployment is </a:t>
            </a:r>
            <a:r>
              <a:rPr lang="en-US" sz="700" b="1" dirty="0">
                <a:solidFill>
                  <a:schemeClr val="accent3">
                    <a:lumMod val="50000"/>
                  </a:schemeClr>
                </a:solidFill>
              </a:rPr>
              <a:t>LIVE</a:t>
            </a:r>
            <a:r>
              <a:rPr lang="en-US" sz="700" dirty="0">
                <a:solidFill>
                  <a:schemeClr val="accent3">
                    <a:lumMod val="50000"/>
                  </a:schemeClr>
                </a:solidFill>
              </a:rPr>
              <a:t>. Requires minor image support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by="(-#ppt_w*2)" calcmode="lin" valueType="num">
                                      <p:cBhvr rctx="PPT">
                                        <p:cTn id="7" dur="250" autoRev="1" fill="hold">
                                          <p:stCondLst>
                                            <p:cond delay="0"/>
                                          </p:stCondLst>
                                        </p:cTn>
                                        <p:tgtEl>
                                          <p:spTgt spid="2"/>
                                        </p:tgtEl>
                                        <p:attrNameLst>
                                          <p:attrName>ppt_w</p:attrName>
                                        </p:attrNameLst>
                                      </p:cBhvr>
                                    </p:anim>
                                    <p:anim by="(#ppt_w*0.50)" calcmode="lin" valueType="num">
                                      <p:cBhvr>
                                        <p:cTn id="8" dur="250" decel="50000" autoRev="1" fill="hold">
                                          <p:stCondLst>
                                            <p:cond delay="0"/>
                                          </p:stCondLst>
                                        </p:cTn>
                                        <p:tgtEl>
                                          <p:spTgt spid="2"/>
                                        </p:tgtEl>
                                        <p:attrNameLst>
                                          <p:attrName>ppt_x</p:attrName>
                                        </p:attrNameLst>
                                      </p:cBhvr>
                                    </p:anim>
                                    <p:anim from="(-#ppt_h/2)" to="(#ppt_y)" calcmode="lin" valueType="num">
                                      <p:cBhvr>
                                        <p:cTn id="9" dur="500" fill="hold">
                                          <p:stCondLst>
                                            <p:cond delay="0"/>
                                          </p:stCondLst>
                                        </p:cTn>
                                        <p:tgtEl>
                                          <p:spTgt spid="2"/>
                                        </p:tgtEl>
                                        <p:attrNameLst>
                                          <p:attrName>ppt_y</p:attrName>
                                        </p:attrNameLst>
                                      </p:cBhvr>
                                    </p:anim>
                                    <p:animRot by="21600000">
                                      <p:cBhvr>
                                        <p:cTn id="10" dur="500" fill="hold">
                                          <p:stCondLst>
                                            <p:cond delay="0"/>
                                          </p:stCondLst>
                                        </p:cTn>
                                        <p:tgtEl>
                                          <p:spTgt spid="2"/>
                                        </p:tgtEl>
                                        <p:attrNameLst>
                                          <p:attrName>r</p:attrName>
                                        </p:attrNameLst>
                                      </p:cBhvr>
                                    </p:animRot>
                                  </p:childTnLst>
                                </p:cTn>
                              </p:par>
                            </p:childTnLst>
                          </p:cTn>
                        </p:par>
                        <p:par>
                          <p:cTn id="11" fill="hold">
                            <p:stCondLst>
                              <p:cond delay="1000"/>
                            </p:stCondLst>
                            <p:childTnLst>
                              <p:par>
                                <p:cTn id="12" presetID="37" presetClass="entr" presetSubtype="0" fill="hold" grpId="0"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900" decel="100000" fill="hold"/>
                                        <p:tgtEl>
                                          <p:spTgt spid="3"/>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par>
                          <p:cTn id="18" fill="hold">
                            <p:stCondLst>
                              <p:cond delay="2000"/>
                            </p:stCondLst>
                            <p:childTnLst>
                              <p:par>
                                <p:cTn id="19" presetID="9" presetClass="entr" presetSubtype="0" fill="hold" grpId="0" nodeType="afterEffect">
                                  <p:stCondLst>
                                    <p:cond delay="12000"/>
                                  </p:stCondLst>
                                  <p:childTnLst>
                                    <p:set>
                                      <p:cBhvr>
                                        <p:cTn id="20" dur="1" fill="hold">
                                          <p:stCondLst>
                                            <p:cond delay="0"/>
                                          </p:stCondLst>
                                        </p:cTn>
                                        <p:tgtEl>
                                          <p:spTgt spid="64"/>
                                        </p:tgtEl>
                                        <p:attrNameLst>
                                          <p:attrName>style.visibility</p:attrName>
                                        </p:attrNameLst>
                                      </p:cBhvr>
                                      <p:to>
                                        <p:strVal val="visible"/>
                                      </p:to>
                                    </p:set>
                                    <p:animEffect transition="in" filter="dissolve">
                                      <p:cBhvr>
                                        <p:cTn id="21" dur="500"/>
                                        <p:tgtEl>
                                          <p:spTgt spid="64"/>
                                        </p:tgtEl>
                                      </p:cBhvr>
                                    </p:animEffect>
                                  </p:childTnLst>
                                </p:cTn>
                              </p:par>
                              <p:par>
                                <p:cTn id="22" presetID="9" presetClass="entr" presetSubtype="0" fill="hold" grpId="0" nodeType="withEffect">
                                  <p:stCondLst>
                                    <p:cond delay="12000"/>
                                  </p:stCondLst>
                                  <p:childTnLst>
                                    <p:set>
                                      <p:cBhvr>
                                        <p:cTn id="23" dur="1" fill="hold">
                                          <p:stCondLst>
                                            <p:cond delay="0"/>
                                          </p:stCondLst>
                                        </p:cTn>
                                        <p:tgtEl>
                                          <p:spTgt spid="65"/>
                                        </p:tgtEl>
                                        <p:attrNameLst>
                                          <p:attrName>style.visibility</p:attrName>
                                        </p:attrNameLst>
                                      </p:cBhvr>
                                      <p:to>
                                        <p:strVal val="visible"/>
                                      </p:to>
                                    </p:set>
                                    <p:animEffect transition="in" filter="dissolve">
                                      <p:cBhvr>
                                        <p:cTn id="24" dur="500"/>
                                        <p:tgtEl>
                                          <p:spTgt spid="65"/>
                                        </p:tgtEl>
                                      </p:cBhvr>
                                    </p:animEffect>
                                  </p:childTnLst>
                                </p:cTn>
                              </p:par>
                              <p:par>
                                <p:cTn id="25" presetID="9" presetClass="entr" presetSubtype="0" fill="hold" grpId="0" nodeType="withEffect">
                                  <p:stCondLst>
                                    <p:cond delay="12000"/>
                                  </p:stCondLst>
                                  <p:childTnLst>
                                    <p:set>
                                      <p:cBhvr>
                                        <p:cTn id="26" dur="1" fill="hold">
                                          <p:stCondLst>
                                            <p:cond delay="0"/>
                                          </p:stCondLst>
                                        </p:cTn>
                                        <p:tgtEl>
                                          <p:spTgt spid="66"/>
                                        </p:tgtEl>
                                        <p:attrNameLst>
                                          <p:attrName>style.visibility</p:attrName>
                                        </p:attrNameLst>
                                      </p:cBhvr>
                                      <p:to>
                                        <p:strVal val="visible"/>
                                      </p:to>
                                    </p:set>
                                    <p:animEffect transition="in" filter="dissolve">
                                      <p:cBhvr>
                                        <p:cTn id="27" dur="500"/>
                                        <p:tgtEl>
                                          <p:spTgt spid="66"/>
                                        </p:tgtEl>
                                      </p:cBhvr>
                                    </p:animEffect>
                                  </p:childTnLst>
                                </p:cTn>
                              </p:par>
                              <p:par>
                                <p:cTn id="28" presetID="9" presetClass="entr" presetSubtype="0" fill="hold" grpId="0" nodeType="withEffect">
                                  <p:stCondLst>
                                    <p:cond delay="12000"/>
                                  </p:stCondLst>
                                  <p:childTnLst>
                                    <p:set>
                                      <p:cBhvr>
                                        <p:cTn id="29" dur="1" fill="hold">
                                          <p:stCondLst>
                                            <p:cond delay="0"/>
                                          </p:stCondLst>
                                        </p:cTn>
                                        <p:tgtEl>
                                          <p:spTgt spid="67"/>
                                        </p:tgtEl>
                                        <p:attrNameLst>
                                          <p:attrName>style.visibility</p:attrName>
                                        </p:attrNameLst>
                                      </p:cBhvr>
                                      <p:to>
                                        <p:strVal val="visible"/>
                                      </p:to>
                                    </p:set>
                                    <p:animEffect transition="in" filter="dissolve">
                                      <p:cBhvr>
                                        <p:cTn id="30" dur="500"/>
                                        <p:tgtEl>
                                          <p:spTgt spid="67"/>
                                        </p:tgtEl>
                                      </p:cBhvr>
                                    </p:animEffect>
                                  </p:childTnLst>
                                </p:cTn>
                              </p:par>
                              <p:par>
                                <p:cTn id="31" presetID="9" presetClass="entr" presetSubtype="0" fill="hold" grpId="0" nodeType="withEffect">
                                  <p:stCondLst>
                                    <p:cond delay="12000"/>
                                  </p:stCondLst>
                                  <p:childTnLst>
                                    <p:set>
                                      <p:cBhvr>
                                        <p:cTn id="32" dur="1" fill="hold">
                                          <p:stCondLst>
                                            <p:cond delay="0"/>
                                          </p:stCondLst>
                                        </p:cTn>
                                        <p:tgtEl>
                                          <p:spTgt spid="4"/>
                                        </p:tgtEl>
                                        <p:attrNameLst>
                                          <p:attrName>style.visibility</p:attrName>
                                        </p:attrNameLst>
                                      </p:cBhvr>
                                      <p:to>
                                        <p:strVal val="visible"/>
                                      </p:to>
                                    </p:set>
                                    <p:animEffect transition="in" filter="dissolve">
                                      <p:cBhvr>
                                        <p:cTn id="33" dur="500"/>
                                        <p:tgtEl>
                                          <p:spTgt spid="4"/>
                                        </p:tgtEl>
                                      </p:cBhvr>
                                    </p:animEffect>
                                  </p:childTnLst>
                                </p:cTn>
                              </p:par>
                              <p:par>
                                <p:cTn id="34" presetID="9" presetClass="entr" presetSubtype="0" fill="hold" grpId="0" nodeType="withEffect">
                                  <p:stCondLst>
                                    <p:cond delay="12000"/>
                                  </p:stCondLst>
                                  <p:childTnLst>
                                    <p:set>
                                      <p:cBhvr>
                                        <p:cTn id="35" dur="1" fill="hold">
                                          <p:stCondLst>
                                            <p:cond delay="0"/>
                                          </p:stCondLst>
                                        </p:cTn>
                                        <p:tgtEl>
                                          <p:spTgt spid="5"/>
                                        </p:tgtEl>
                                        <p:attrNameLst>
                                          <p:attrName>style.visibility</p:attrName>
                                        </p:attrNameLst>
                                      </p:cBhvr>
                                      <p:to>
                                        <p:strVal val="visible"/>
                                      </p:to>
                                    </p:set>
                                    <p:animEffect transition="in" filter="dissolve">
                                      <p:cBhvr>
                                        <p:cTn id="36" dur="500"/>
                                        <p:tgtEl>
                                          <p:spTgt spid="5"/>
                                        </p:tgtEl>
                                      </p:cBhvr>
                                    </p:animEffect>
                                  </p:childTnLst>
                                </p:cTn>
                              </p:par>
                              <p:par>
                                <p:cTn id="37" presetID="9" presetClass="entr" presetSubtype="0" fill="hold" grpId="0" nodeType="withEffect">
                                  <p:stCondLst>
                                    <p:cond delay="1200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childTnLst>
                          </p:cTn>
                        </p:par>
                        <p:par>
                          <p:cTn id="40" fill="hold">
                            <p:stCondLst>
                              <p:cond delay="14500"/>
                            </p:stCondLst>
                            <p:childTnLst>
                              <p:par>
                                <p:cTn id="41" presetID="37" presetClass="entr" presetSubtype="0" fill="hold" grpId="0" nodeType="afterEffect">
                                  <p:stCondLst>
                                    <p:cond delay="150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1000"/>
                                        <p:tgtEl>
                                          <p:spTgt spid="7"/>
                                        </p:tgtEl>
                                      </p:cBhvr>
                                    </p:animEffect>
                                    <p:anim calcmode="lin" valueType="num">
                                      <p:cBhvr>
                                        <p:cTn id="44" dur="1000" fill="hold"/>
                                        <p:tgtEl>
                                          <p:spTgt spid="7"/>
                                        </p:tgtEl>
                                        <p:attrNameLst>
                                          <p:attrName>ppt_x</p:attrName>
                                        </p:attrNameLst>
                                      </p:cBhvr>
                                      <p:tavLst>
                                        <p:tav tm="0">
                                          <p:val>
                                            <p:strVal val="#ppt_x"/>
                                          </p:val>
                                        </p:tav>
                                        <p:tav tm="100000">
                                          <p:val>
                                            <p:strVal val="#ppt_x"/>
                                          </p:val>
                                        </p:tav>
                                      </p:tavLst>
                                    </p:anim>
                                    <p:anim calcmode="lin" valueType="num">
                                      <p:cBhvr>
                                        <p:cTn id="45" dur="900" decel="100000" fill="hold"/>
                                        <p:tgtEl>
                                          <p:spTgt spid="7"/>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4" grpId="0" animBg="1"/>
      <p:bldP spid="65" grpId="0" animBg="1"/>
      <p:bldP spid="66" grpId="0" animBg="1"/>
      <p:bldP spid="67" grpId="0" animBg="1"/>
      <p:bldP spid="4" grpId="0" animBg="1"/>
      <p:bldP spid="5"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1B2B5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BB77E"/>
          </a:solidFill>
          <a:ln w="12700">
            <a:solidFill>
              <a:srgbClr val="3BB77E"/>
            </a:solidFill>
            <a:prstDash val="solid"/>
          </a:ln>
        </p:spPr>
        <p:txBody>
          <a:bodyPr/>
          <a:lstStyle/>
          <a:p>
            <a:endParaRPr lang="en-US"/>
          </a:p>
        </p:txBody>
      </p:sp>
      <p:sp>
        <p:nvSpPr>
          <p:cNvPr id="3" name="Text 1"/>
          <p:cNvSpPr/>
          <p:nvPr/>
        </p:nvSpPr>
        <p:spPr>
          <a:xfrm>
            <a:off x="457200" y="411480"/>
            <a:ext cx="8229600" cy="347472"/>
          </a:xfrm>
          <a:prstGeom prst="rect">
            <a:avLst/>
          </a:prstGeom>
          <a:noFill/>
          <a:ln/>
        </p:spPr>
        <p:txBody>
          <a:bodyPr wrap="square" lIns="0" tIns="0" rIns="0" bIns="0" rtlCol="0" anchor="ctr"/>
          <a:lstStyle/>
          <a:p>
            <a:pPr marL="0" indent="0" algn="l">
              <a:buNone/>
            </a:pPr>
            <a:r>
              <a:rPr lang="en-US" sz="1100" b="1" kern="0" spc="300" dirty="0">
                <a:solidFill>
                  <a:srgbClr val="3BB77E"/>
                </a:solidFill>
                <a:latin typeface="Calibri" pitchFamily="34" charset="0"/>
                <a:ea typeface="Calibri" pitchFamily="34" charset="-122"/>
                <a:cs typeface="Calibri" pitchFamily="34" charset="-120"/>
              </a:rPr>
              <a:t>Conclusion</a:t>
            </a:r>
            <a:endParaRPr lang="en-US" sz="1100" dirty="0"/>
          </a:p>
        </p:txBody>
      </p:sp>
      <p:sp>
        <p:nvSpPr>
          <p:cNvPr id="4" name="Text 2"/>
          <p:cNvSpPr/>
          <p:nvPr/>
        </p:nvSpPr>
        <p:spPr>
          <a:xfrm>
            <a:off x="457200" y="822960"/>
            <a:ext cx="8412480" cy="731520"/>
          </a:xfrm>
          <a:prstGeom prst="rect">
            <a:avLst/>
          </a:prstGeom>
          <a:noFill/>
          <a:ln/>
        </p:spPr>
        <p:txBody>
          <a:bodyPr wrap="square" lIns="0" tIns="0" rIns="0" bIns="0"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What We Built. What We Learned.</a:t>
            </a:r>
            <a:endParaRPr lang="en-US" sz="3800" dirty="0"/>
          </a:p>
        </p:txBody>
      </p:sp>
      <p:sp>
        <p:nvSpPr>
          <p:cNvPr id="14" name="Text 12"/>
          <p:cNvSpPr/>
          <p:nvPr/>
        </p:nvSpPr>
        <p:spPr>
          <a:xfrm>
            <a:off x="457200" y="4465671"/>
            <a:ext cx="7772400" cy="411480"/>
          </a:xfrm>
          <a:prstGeom prst="rect">
            <a:avLst/>
          </a:prstGeom>
          <a:noFill/>
          <a:ln/>
        </p:spPr>
        <p:txBody>
          <a:bodyPr wrap="square" lIns="0" tIns="0" rIns="0" bIns="0" rtlCol="0" anchor="ctr"/>
          <a:lstStyle/>
          <a:p>
            <a:r>
              <a:rPr lang="en-US" dirty="0">
                <a:solidFill>
                  <a:srgbClr val="CADCFC"/>
                </a:solidFill>
                <a:latin typeface="Calibri" pitchFamily="34" charset="0"/>
                <a:ea typeface="Calibri" pitchFamily="34" charset="-122"/>
                <a:cs typeface="Calibri" pitchFamily="34" charset="-120"/>
              </a:rPr>
              <a:t>Thank you for your time and attention. We welcome any questions.</a:t>
            </a:r>
            <a:endParaRPr lang="en-US" dirty="0"/>
          </a:p>
        </p:txBody>
      </p:sp>
      <p:sp>
        <p:nvSpPr>
          <p:cNvPr id="15" name="Text 13"/>
          <p:cNvSpPr/>
          <p:nvPr/>
        </p:nvSpPr>
        <p:spPr>
          <a:xfrm>
            <a:off x="457200" y="4773168"/>
            <a:ext cx="8412480" cy="256032"/>
          </a:xfrm>
          <a:prstGeom prst="rect">
            <a:avLst/>
          </a:prstGeom>
          <a:noFill/>
          <a:ln/>
        </p:spPr>
        <p:txBody>
          <a:bodyPr wrap="square" lIns="0" tIns="0" rIns="0" bIns="0"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Team 7  ·  CSC 289.001  ·  WTCC  ·  April 30, 2026</a:t>
            </a:r>
            <a:endParaRPr lang="en-US" sz="900" dirty="0"/>
          </a:p>
        </p:txBody>
      </p:sp>
      <p:sp>
        <p:nvSpPr>
          <p:cNvPr id="17" name="Shape 3">
            <a:extLst>
              <a:ext uri="{FF2B5EF4-FFF2-40B4-BE49-F238E27FC236}">
                <a16:creationId xmlns:a16="http://schemas.microsoft.com/office/drawing/2014/main" id="{21D79CD5-B29D-4AC1-5687-D0DC47BD1BDB}"/>
              </a:ext>
            </a:extLst>
          </p:cNvPr>
          <p:cNvSpPr/>
          <p:nvPr/>
        </p:nvSpPr>
        <p:spPr>
          <a:xfrm>
            <a:off x="365760" y="1482623"/>
            <a:ext cx="8321040" cy="10973"/>
          </a:xfrm>
          <a:prstGeom prst="rect">
            <a:avLst/>
          </a:prstGeom>
          <a:solidFill>
            <a:srgbClr val="2D4A6E"/>
          </a:solidFill>
          <a:ln w="12700">
            <a:solidFill>
              <a:srgbClr val="2D4A6E"/>
            </a:solidFill>
            <a:prstDash val="solid"/>
          </a:ln>
        </p:spPr>
        <p:txBody>
          <a:bodyPr/>
          <a:lstStyle/>
          <a:p>
            <a:endParaRPr lang="en-US"/>
          </a:p>
        </p:txBody>
      </p:sp>
      <p:sp>
        <p:nvSpPr>
          <p:cNvPr id="18" name="Text 4">
            <a:extLst>
              <a:ext uri="{FF2B5EF4-FFF2-40B4-BE49-F238E27FC236}">
                <a16:creationId xmlns:a16="http://schemas.microsoft.com/office/drawing/2014/main" id="{7263472B-1F35-CA35-9AC3-BEF3CB79312A}"/>
              </a:ext>
            </a:extLst>
          </p:cNvPr>
          <p:cNvSpPr/>
          <p:nvPr/>
        </p:nvSpPr>
        <p:spPr>
          <a:xfrm>
            <a:off x="365760" y="1592351"/>
            <a:ext cx="3840480" cy="256032"/>
          </a:xfrm>
          <a:prstGeom prst="rect">
            <a:avLst/>
          </a:prstGeom>
          <a:noFill/>
          <a:ln/>
        </p:spPr>
        <p:txBody>
          <a:bodyPr wrap="square" lIns="0" tIns="0" rIns="0" bIns="0" rtlCol="0" anchor="ctr"/>
          <a:lstStyle/>
          <a:p>
            <a:pPr marL="0" indent="0">
              <a:buNone/>
            </a:pPr>
            <a:r>
              <a:rPr lang="en-US" sz="1300" b="1" dirty="0">
                <a:solidFill>
                  <a:srgbClr val="1D9E75"/>
                </a:solidFill>
              </a:rPr>
              <a:t>What We Built</a:t>
            </a:r>
            <a:endParaRPr lang="en-US" sz="1300" dirty="0"/>
          </a:p>
        </p:txBody>
      </p:sp>
      <p:sp>
        <p:nvSpPr>
          <p:cNvPr id="19" name="Shape 5">
            <a:extLst>
              <a:ext uri="{FF2B5EF4-FFF2-40B4-BE49-F238E27FC236}">
                <a16:creationId xmlns:a16="http://schemas.microsoft.com/office/drawing/2014/main" id="{2CEB9BCB-C4C5-8B38-FD1B-F01993129868}"/>
              </a:ext>
            </a:extLst>
          </p:cNvPr>
          <p:cNvSpPr/>
          <p:nvPr/>
        </p:nvSpPr>
        <p:spPr>
          <a:xfrm>
            <a:off x="365760" y="1994687"/>
            <a:ext cx="109728" cy="109728"/>
          </a:xfrm>
          <a:prstGeom prst="ellipse">
            <a:avLst/>
          </a:prstGeom>
          <a:solidFill>
            <a:srgbClr val="1D9E75"/>
          </a:solidFill>
          <a:ln w="12700">
            <a:solidFill>
              <a:srgbClr val="1D9E75"/>
            </a:solidFill>
            <a:prstDash val="solid"/>
          </a:ln>
        </p:spPr>
        <p:txBody>
          <a:bodyPr/>
          <a:lstStyle/>
          <a:p>
            <a:endParaRPr lang="en-US"/>
          </a:p>
        </p:txBody>
      </p:sp>
      <p:sp>
        <p:nvSpPr>
          <p:cNvPr id="20" name="Text 6">
            <a:extLst>
              <a:ext uri="{FF2B5EF4-FFF2-40B4-BE49-F238E27FC236}">
                <a16:creationId xmlns:a16="http://schemas.microsoft.com/office/drawing/2014/main" id="{34C9209D-BDD5-7FE5-084C-DAAD6D4413C2}"/>
              </a:ext>
            </a:extLst>
          </p:cNvPr>
          <p:cNvSpPr/>
          <p:nvPr/>
        </p:nvSpPr>
        <p:spPr>
          <a:xfrm>
            <a:off x="548640" y="1903247"/>
            <a:ext cx="3566160" cy="457200"/>
          </a:xfrm>
          <a:prstGeom prst="rect">
            <a:avLst/>
          </a:prstGeom>
          <a:noFill/>
          <a:ln/>
        </p:spPr>
        <p:txBody>
          <a:bodyPr wrap="square" lIns="0" tIns="0" rIns="0" bIns="0" rtlCol="0" anchor="ctr"/>
          <a:lstStyle/>
          <a:p>
            <a:pPr marL="0" indent="0">
              <a:buNone/>
            </a:pPr>
            <a:r>
              <a:rPr lang="en-US" sz="900" dirty="0">
                <a:solidFill>
                  <a:srgbClr val="CBD5E1"/>
                </a:solidFill>
              </a:rPr>
              <a:t>A full-stack ordering platform — React SPA, Django/DRF backend, MySQL 8.0, deployed on AWS via Docker</a:t>
            </a:r>
            <a:endParaRPr lang="en-US" sz="900" dirty="0"/>
          </a:p>
        </p:txBody>
      </p:sp>
      <p:sp>
        <p:nvSpPr>
          <p:cNvPr id="21" name="Shape 7">
            <a:extLst>
              <a:ext uri="{FF2B5EF4-FFF2-40B4-BE49-F238E27FC236}">
                <a16:creationId xmlns:a16="http://schemas.microsoft.com/office/drawing/2014/main" id="{EB206762-E2D8-3A8D-ECD2-ED26C9777CB0}"/>
              </a:ext>
            </a:extLst>
          </p:cNvPr>
          <p:cNvSpPr/>
          <p:nvPr/>
        </p:nvSpPr>
        <p:spPr>
          <a:xfrm>
            <a:off x="365760" y="2525039"/>
            <a:ext cx="109728" cy="109728"/>
          </a:xfrm>
          <a:prstGeom prst="ellipse">
            <a:avLst/>
          </a:prstGeom>
          <a:solidFill>
            <a:srgbClr val="1D9E75"/>
          </a:solidFill>
          <a:ln w="12700">
            <a:solidFill>
              <a:srgbClr val="1D9E75"/>
            </a:solidFill>
            <a:prstDash val="solid"/>
          </a:ln>
        </p:spPr>
        <p:txBody>
          <a:bodyPr/>
          <a:lstStyle/>
          <a:p>
            <a:endParaRPr lang="en-US"/>
          </a:p>
        </p:txBody>
      </p:sp>
      <p:sp>
        <p:nvSpPr>
          <p:cNvPr id="22" name="Text 8">
            <a:extLst>
              <a:ext uri="{FF2B5EF4-FFF2-40B4-BE49-F238E27FC236}">
                <a16:creationId xmlns:a16="http://schemas.microsoft.com/office/drawing/2014/main" id="{86AE76E2-94CA-8B14-B700-DFC99634BE84}"/>
              </a:ext>
            </a:extLst>
          </p:cNvPr>
          <p:cNvSpPr/>
          <p:nvPr/>
        </p:nvSpPr>
        <p:spPr>
          <a:xfrm>
            <a:off x="548640" y="2433599"/>
            <a:ext cx="3566160" cy="457200"/>
          </a:xfrm>
          <a:prstGeom prst="rect">
            <a:avLst/>
          </a:prstGeom>
          <a:noFill/>
          <a:ln/>
        </p:spPr>
        <p:txBody>
          <a:bodyPr wrap="square" lIns="0" tIns="0" rIns="0" bIns="0" rtlCol="0" anchor="ctr"/>
          <a:lstStyle/>
          <a:p>
            <a:pPr marL="0" indent="0">
              <a:buNone/>
            </a:pPr>
            <a:r>
              <a:rPr lang="en-US" sz="900" dirty="0">
                <a:solidFill>
                  <a:srgbClr val="CBD5E1"/>
                </a:solidFill>
              </a:rPr>
              <a:t>Two distinct user experiences: a customer storefront and a role-restricted business admin portal</a:t>
            </a:r>
            <a:endParaRPr lang="en-US" sz="900" dirty="0"/>
          </a:p>
        </p:txBody>
      </p:sp>
      <p:sp>
        <p:nvSpPr>
          <p:cNvPr id="23" name="Shape 9">
            <a:extLst>
              <a:ext uri="{FF2B5EF4-FFF2-40B4-BE49-F238E27FC236}">
                <a16:creationId xmlns:a16="http://schemas.microsoft.com/office/drawing/2014/main" id="{618608CA-9F60-11BC-C91A-4EE00A7FEA15}"/>
              </a:ext>
            </a:extLst>
          </p:cNvPr>
          <p:cNvSpPr/>
          <p:nvPr/>
        </p:nvSpPr>
        <p:spPr>
          <a:xfrm>
            <a:off x="365760" y="3055391"/>
            <a:ext cx="109728" cy="109728"/>
          </a:xfrm>
          <a:prstGeom prst="ellipse">
            <a:avLst/>
          </a:prstGeom>
          <a:solidFill>
            <a:srgbClr val="1D9E75"/>
          </a:solidFill>
          <a:ln w="12700">
            <a:solidFill>
              <a:srgbClr val="1D9E75"/>
            </a:solidFill>
            <a:prstDash val="solid"/>
          </a:ln>
        </p:spPr>
        <p:txBody>
          <a:bodyPr/>
          <a:lstStyle/>
          <a:p>
            <a:endParaRPr lang="en-US"/>
          </a:p>
        </p:txBody>
      </p:sp>
      <p:sp>
        <p:nvSpPr>
          <p:cNvPr id="24" name="Text 10">
            <a:extLst>
              <a:ext uri="{FF2B5EF4-FFF2-40B4-BE49-F238E27FC236}">
                <a16:creationId xmlns:a16="http://schemas.microsoft.com/office/drawing/2014/main" id="{A9C00572-A032-BF18-6C78-AE20B84FA1D7}"/>
              </a:ext>
            </a:extLst>
          </p:cNvPr>
          <p:cNvSpPr/>
          <p:nvPr/>
        </p:nvSpPr>
        <p:spPr>
          <a:xfrm>
            <a:off x="548640" y="2963951"/>
            <a:ext cx="3566160" cy="457200"/>
          </a:xfrm>
          <a:prstGeom prst="rect">
            <a:avLst/>
          </a:prstGeom>
          <a:noFill/>
          <a:ln/>
        </p:spPr>
        <p:txBody>
          <a:bodyPr wrap="square" lIns="0" tIns="0" rIns="0" bIns="0" rtlCol="0" anchor="ctr"/>
          <a:lstStyle/>
          <a:p>
            <a:pPr marL="0" indent="0">
              <a:buNone/>
            </a:pPr>
            <a:r>
              <a:rPr lang="en-US" sz="900" dirty="0">
                <a:solidFill>
                  <a:srgbClr val="CBD5E1"/>
                </a:solidFill>
              </a:rPr>
              <a:t>50+ REST API endpoints at /api/v1/, JWT-secured, with a living API contract maintained across all 5 sprints</a:t>
            </a:r>
            <a:endParaRPr lang="en-US" sz="900" dirty="0"/>
          </a:p>
        </p:txBody>
      </p:sp>
      <p:sp>
        <p:nvSpPr>
          <p:cNvPr id="25" name="Shape 11">
            <a:extLst>
              <a:ext uri="{FF2B5EF4-FFF2-40B4-BE49-F238E27FC236}">
                <a16:creationId xmlns:a16="http://schemas.microsoft.com/office/drawing/2014/main" id="{DA3DFABF-76FA-FFDA-9E28-4326A0EAA1EF}"/>
              </a:ext>
            </a:extLst>
          </p:cNvPr>
          <p:cNvSpPr/>
          <p:nvPr/>
        </p:nvSpPr>
        <p:spPr>
          <a:xfrm>
            <a:off x="365760" y="3585743"/>
            <a:ext cx="109728" cy="109728"/>
          </a:xfrm>
          <a:prstGeom prst="ellipse">
            <a:avLst/>
          </a:prstGeom>
          <a:solidFill>
            <a:srgbClr val="1D9E75"/>
          </a:solidFill>
          <a:ln w="12700">
            <a:solidFill>
              <a:srgbClr val="1D9E75"/>
            </a:solidFill>
            <a:prstDash val="solid"/>
          </a:ln>
        </p:spPr>
        <p:txBody>
          <a:bodyPr/>
          <a:lstStyle/>
          <a:p>
            <a:endParaRPr lang="en-US"/>
          </a:p>
        </p:txBody>
      </p:sp>
      <p:sp>
        <p:nvSpPr>
          <p:cNvPr id="26" name="Text 12">
            <a:extLst>
              <a:ext uri="{FF2B5EF4-FFF2-40B4-BE49-F238E27FC236}">
                <a16:creationId xmlns:a16="http://schemas.microsoft.com/office/drawing/2014/main" id="{C45EF2AA-787D-D388-D2EC-262A1933F726}"/>
              </a:ext>
            </a:extLst>
          </p:cNvPr>
          <p:cNvSpPr/>
          <p:nvPr/>
        </p:nvSpPr>
        <p:spPr>
          <a:xfrm>
            <a:off x="548640" y="3494303"/>
            <a:ext cx="3566160" cy="457200"/>
          </a:xfrm>
          <a:prstGeom prst="rect">
            <a:avLst/>
          </a:prstGeom>
          <a:noFill/>
          <a:ln/>
        </p:spPr>
        <p:txBody>
          <a:bodyPr wrap="square" lIns="0" tIns="0" rIns="0" bIns="0" rtlCol="0" anchor="ctr"/>
          <a:lstStyle/>
          <a:p>
            <a:pPr marL="0" indent="0">
              <a:buNone/>
            </a:pPr>
            <a:r>
              <a:rPr lang="en-US" sz="900" dirty="0">
                <a:solidFill>
                  <a:srgbClr val="CBD5E1"/>
                </a:solidFill>
              </a:rPr>
              <a:t>1,000+ automated tests: 301 backend (Pytest), 626 frontend (Jest), 166 end-to-end (Robot Framework) — 90%+ coverage</a:t>
            </a:r>
            <a:endParaRPr lang="en-US" sz="900" dirty="0"/>
          </a:p>
        </p:txBody>
      </p:sp>
      <p:sp>
        <p:nvSpPr>
          <p:cNvPr id="27" name="Shape 13">
            <a:extLst>
              <a:ext uri="{FF2B5EF4-FFF2-40B4-BE49-F238E27FC236}">
                <a16:creationId xmlns:a16="http://schemas.microsoft.com/office/drawing/2014/main" id="{87CF412B-01CB-95AC-3931-8C7C5FDDBAC8}"/>
              </a:ext>
            </a:extLst>
          </p:cNvPr>
          <p:cNvSpPr/>
          <p:nvPr/>
        </p:nvSpPr>
        <p:spPr>
          <a:xfrm>
            <a:off x="365760" y="4116095"/>
            <a:ext cx="109728" cy="109728"/>
          </a:xfrm>
          <a:prstGeom prst="ellipse">
            <a:avLst/>
          </a:prstGeom>
          <a:solidFill>
            <a:srgbClr val="1D9E75"/>
          </a:solidFill>
          <a:ln w="12700">
            <a:solidFill>
              <a:srgbClr val="1D9E75"/>
            </a:solidFill>
            <a:prstDash val="solid"/>
          </a:ln>
        </p:spPr>
        <p:txBody>
          <a:bodyPr/>
          <a:lstStyle/>
          <a:p>
            <a:endParaRPr lang="en-US"/>
          </a:p>
        </p:txBody>
      </p:sp>
      <p:sp>
        <p:nvSpPr>
          <p:cNvPr id="28" name="Text 14">
            <a:extLst>
              <a:ext uri="{FF2B5EF4-FFF2-40B4-BE49-F238E27FC236}">
                <a16:creationId xmlns:a16="http://schemas.microsoft.com/office/drawing/2014/main" id="{E45A3EE2-E3EE-299E-3E93-790392C5B89C}"/>
              </a:ext>
            </a:extLst>
          </p:cNvPr>
          <p:cNvSpPr/>
          <p:nvPr/>
        </p:nvSpPr>
        <p:spPr>
          <a:xfrm>
            <a:off x="548640" y="3942926"/>
            <a:ext cx="3566160" cy="457200"/>
          </a:xfrm>
          <a:prstGeom prst="rect">
            <a:avLst/>
          </a:prstGeom>
          <a:noFill/>
          <a:ln/>
        </p:spPr>
        <p:txBody>
          <a:bodyPr wrap="square" lIns="0" tIns="0" rIns="0" bIns="0" rtlCol="0" anchor="ctr"/>
          <a:lstStyle/>
          <a:p>
            <a:pPr marL="0" indent="0">
              <a:buNone/>
            </a:pPr>
            <a:r>
              <a:rPr lang="en-US" sz="900" dirty="0">
                <a:solidFill>
                  <a:srgbClr val="CBD5E1"/>
                </a:solidFill>
              </a:rPr>
              <a:t>Orderly Version 1.0.0 — released April 25, 2026</a:t>
            </a:r>
            <a:endParaRPr lang="en-US" sz="900" dirty="0"/>
          </a:p>
        </p:txBody>
      </p:sp>
      <p:sp>
        <p:nvSpPr>
          <p:cNvPr id="29" name="Shape 15">
            <a:extLst>
              <a:ext uri="{FF2B5EF4-FFF2-40B4-BE49-F238E27FC236}">
                <a16:creationId xmlns:a16="http://schemas.microsoft.com/office/drawing/2014/main" id="{308A9CC6-E873-50A3-20E7-2F2D5CD955AA}"/>
              </a:ext>
            </a:extLst>
          </p:cNvPr>
          <p:cNvSpPr/>
          <p:nvPr/>
        </p:nvSpPr>
        <p:spPr>
          <a:xfrm>
            <a:off x="4370832" y="1537487"/>
            <a:ext cx="10973" cy="2834640"/>
          </a:xfrm>
          <a:prstGeom prst="rect">
            <a:avLst/>
          </a:prstGeom>
          <a:solidFill>
            <a:srgbClr val="2D4A6E"/>
          </a:solidFill>
          <a:ln w="12700">
            <a:solidFill>
              <a:srgbClr val="2D4A6E"/>
            </a:solidFill>
            <a:prstDash val="solid"/>
          </a:ln>
        </p:spPr>
        <p:txBody>
          <a:bodyPr/>
          <a:lstStyle/>
          <a:p>
            <a:endParaRPr lang="en-US" dirty="0"/>
          </a:p>
        </p:txBody>
      </p:sp>
      <p:sp>
        <p:nvSpPr>
          <p:cNvPr id="30" name="Text 16">
            <a:extLst>
              <a:ext uri="{FF2B5EF4-FFF2-40B4-BE49-F238E27FC236}">
                <a16:creationId xmlns:a16="http://schemas.microsoft.com/office/drawing/2014/main" id="{8E813E37-A150-59B9-8836-DDADA86F364E}"/>
              </a:ext>
            </a:extLst>
          </p:cNvPr>
          <p:cNvSpPr/>
          <p:nvPr/>
        </p:nvSpPr>
        <p:spPr>
          <a:xfrm>
            <a:off x="4553712" y="1592351"/>
            <a:ext cx="4114800" cy="256032"/>
          </a:xfrm>
          <a:prstGeom prst="rect">
            <a:avLst/>
          </a:prstGeom>
          <a:noFill/>
          <a:ln/>
        </p:spPr>
        <p:txBody>
          <a:bodyPr wrap="square" lIns="0" tIns="0" rIns="0" bIns="0" rtlCol="0" anchor="ctr"/>
          <a:lstStyle/>
          <a:p>
            <a:pPr marL="0" indent="0">
              <a:buNone/>
            </a:pPr>
            <a:r>
              <a:rPr lang="en-US" sz="1300" b="1" dirty="0">
                <a:solidFill>
                  <a:srgbClr val="1D9E75"/>
                </a:solidFill>
              </a:rPr>
              <a:t>What We Learned</a:t>
            </a:r>
            <a:endParaRPr lang="en-US" sz="1300" dirty="0"/>
          </a:p>
        </p:txBody>
      </p:sp>
      <p:sp>
        <p:nvSpPr>
          <p:cNvPr id="31" name="Shape 17">
            <a:extLst>
              <a:ext uri="{FF2B5EF4-FFF2-40B4-BE49-F238E27FC236}">
                <a16:creationId xmlns:a16="http://schemas.microsoft.com/office/drawing/2014/main" id="{5C4D0987-80FC-3708-5908-CFF5536BFEAC}"/>
              </a:ext>
            </a:extLst>
          </p:cNvPr>
          <p:cNvSpPr/>
          <p:nvPr/>
        </p:nvSpPr>
        <p:spPr>
          <a:xfrm>
            <a:off x="4553712" y="1994687"/>
            <a:ext cx="109728" cy="109728"/>
          </a:xfrm>
          <a:prstGeom prst="ellipse">
            <a:avLst/>
          </a:prstGeom>
          <a:solidFill>
            <a:srgbClr val="1D9E75"/>
          </a:solidFill>
          <a:ln w="12700">
            <a:solidFill>
              <a:srgbClr val="1D9E75"/>
            </a:solidFill>
            <a:prstDash val="solid"/>
          </a:ln>
        </p:spPr>
        <p:txBody>
          <a:bodyPr/>
          <a:lstStyle/>
          <a:p>
            <a:endParaRPr lang="en-US"/>
          </a:p>
        </p:txBody>
      </p:sp>
      <p:sp>
        <p:nvSpPr>
          <p:cNvPr id="32" name="Text 18">
            <a:extLst>
              <a:ext uri="{FF2B5EF4-FFF2-40B4-BE49-F238E27FC236}">
                <a16:creationId xmlns:a16="http://schemas.microsoft.com/office/drawing/2014/main" id="{64F8CFDA-0F09-B08C-3842-114A19082C8C}"/>
              </a:ext>
            </a:extLst>
          </p:cNvPr>
          <p:cNvSpPr/>
          <p:nvPr/>
        </p:nvSpPr>
        <p:spPr>
          <a:xfrm>
            <a:off x="4736592" y="1903247"/>
            <a:ext cx="3840480" cy="457200"/>
          </a:xfrm>
          <a:prstGeom prst="rect">
            <a:avLst/>
          </a:prstGeom>
          <a:noFill/>
          <a:ln/>
        </p:spPr>
        <p:txBody>
          <a:bodyPr wrap="square" lIns="0" tIns="0" rIns="0" bIns="0" rtlCol="0" anchor="ctr"/>
          <a:lstStyle/>
          <a:p>
            <a:pPr marL="0" indent="0">
              <a:buNone/>
            </a:pPr>
            <a:r>
              <a:rPr lang="en-US" sz="900" b="1" dirty="0">
                <a:solidFill>
                  <a:srgbClr val="CBD5E1"/>
                </a:solidFill>
              </a:rPr>
              <a:t>Dependency-first planning eliminates cascade failures </a:t>
            </a:r>
            <a:r>
              <a:rPr lang="en-US" sz="900" dirty="0">
                <a:solidFill>
                  <a:srgbClr val="CBD5E1"/>
                </a:solidFill>
              </a:rPr>
              <a:t>— wave-based delivery transformed our Sprint 4 and 5 execution</a:t>
            </a:r>
            <a:endParaRPr lang="en-US" sz="900" dirty="0"/>
          </a:p>
        </p:txBody>
      </p:sp>
      <p:sp>
        <p:nvSpPr>
          <p:cNvPr id="33" name="Shape 19">
            <a:extLst>
              <a:ext uri="{FF2B5EF4-FFF2-40B4-BE49-F238E27FC236}">
                <a16:creationId xmlns:a16="http://schemas.microsoft.com/office/drawing/2014/main" id="{63C3E38C-C349-8E63-F633-62DC3A0D3A61}"/>
              </a:ext>
            </a:extLst>
          </p:cNvPr>
          <p:cNvSpPr/>
          <p:nvPr/>
        </p:nvSpPr>
        <p:spPr>
          <a:xfrm>
            <a:off x="4553712" y="2525039"/>
            <a:ext cx="109728" cy="109728"/>
          </a:xfrm>
          <a:prstGeom prst="ellipse">
            <a:avLst/>
          </a:prstGeom>
          <a:solidFill>
            <a:srgbClr val="1D9E75"/>
          </a:solidFill>
          <a:ln w="12700">
            <a:solidFill>
              <a:srgbClr val="1D9E75"/>
            </a:solidFill>
            <a:prstDash val="solid"/>
          </a:ln>
        </p:spPr>
        <p:txBody>
          <a:bodyPr/>
          <a:lstStyle/>
          <a:p>
            <a:endParaRPr lang="en-US"/>
          </a:p>
        </p:txBody>
      </p:sp>
      <p:sp>
        <p:nvSpPr>
          <p:cNvPr id="34" name="Text 20">
            <a:extLst>
              <a:ext uri="{FF2B5EF4-FFF2-40B4-BE49-F238E27FC236}">
                <a16:creationId xmlns:a16="http://schemas.microsoft.com/office/drawing/2014/main" id="{09B33385-BC7B-469E-97B1-68CA69FA2978}"/>
              </a:ext>
            </a:extLst>
          </p:cNvPr>
          <p:cNvSpPr/>
          <p:nvPr/>
        </p:nvSpPr>
        <p:spPr>
          <a:xfrm>
            <a:off x="4736592" y="2433599"/>
            <a:ext cx="3840480" cy="457200"/>
          </a:xfrm>
          <a:prstGeom prst="rect">
            <a:avLst/>
          </a:prstGeom>
          <a:noFill/>
          <a:ln/>
        </p:spPr>
        <p:txBody>
          <a:bodyPr wrap="square" lIns="0" tIns="0" rIns="0" bIns="0" rtlCol="0" anchor="ctr"/>
          <a:lstStyle/>
          <a:p>
            <a:pPr marL="0" indent="0">
              <a:buNone/>
            </a:pPr>
            <a:r>
              <a:rPr lang="en-US" sz="900" b="1" dirty="0">
                <a:solidFill>
                  <a:srgbClr val="CBD5E1"/>
                </a:solidFill>
              </a:rPr>
              <a:t>Vocabulary matters</a:t>
            </a:r>
            <a:r>
              <a:rPr lang="en-US" sz="900" dirty="0">
                <a:solidFill>
                  <a:srgbClr val="CBD5E1"/>
                </a:solidFill>
              </a:rPr>
              <a:t>: understanding APIs, endpoints, and contracts earlier would have accelerated cross-functional work</a:t>
            </a:r>
            <a:endParaRPr lang="en-US" sz="900" dirty="0"/>
          </a:p>
        </p:txBody>
      </p:sp>
      <p:sp>
        <p:nvSpPr>
          <p:cNvPr id="35" name="Shape 21">
            <a:extLst>
              <a:ext uri="{FF2B5EF4-FFF2-40B4-BE49-F238E27FC236}">
                <a16:creationId xmlns:a16="http://schemas.microsoft.com/office/drawing/2014/main" id="{3C12ABFD-56F5-A431-DCA5-6D7755EC8AFE}"/>
              </a:ext>
            </a:extLst>
          </p:cNvPr>
          <p:cNvSpPr/>
          <p:nvPr/>
        </p:nvSpPr>
        <p:spPr>
          <a:xfrm>
            <a:off x="4553712" y="3055391"/>
            <a:ext cx="109728" cy="109728"/>
          </a:xfrm>
          <a:prstGeom prst="ellipse">
            <a:avLst/>
          </a:prstGeom>
          <a:solidFill>
            <a:srgbClr val="1D9E75"/>
          </a:solidFill>
          <a:ln w="12700">
            <a:solidFill>
              <a:srgbClr val="1D9E75"/>
            </a:solidFill>
            <a:prstDash val="solid"/>
          </a:ln>
        </p:spPr>
        <p:txBody>
          <a:bodyPr/>
          <a:lstStyle/>
          <a:p>
            <a:endParaRPr lang="en-US"/>
          </a:p>
        </p:txBody>
      </p:sp>
      <p:sp>
        <p:nvSpPr>
          <p:cNvPr id="36" name="Text 22">
            <a:extLst>
              <a:ext uri="{FF2B5EF4-FFF2-40B4-BE49-F238E27FC236}">
                <a16:creationId xmlns:a16="http://schemas.microsoft.com/office/drawing/2014/main" id="{D81E84C1-3A63-640C-81BB-53E932CFF89E}"/>
              </a:ext>
            </a:extLst>
          </p:cNvPr>
          <p:cNvSpPr/>
          <p:nvPr/>
        </p:nvSpPr>
        <p:spPr>
          <a:xfrm>
            <a:off x="4736592" y="2963951"/>
            <a:ext cx="3840480" cy="457200"/>
          </a:xfrm>
          <a:prstGeom prst="rect">
            <a:avLst/>
          </a:prstGeom>
          <a:noFill/>
          <a:ln/>
        </p:spPr>
        <p:txBody>
          <a:bodyPr wrap="square" lIns="0" tIns="0" rIns="0" bIns="0" rtlCol="0" anchor="ctr"/>
          <a:lstStyle/>
          <a:p>
            <a:pPr marL="0" indent="0">
              <a:buNone/>
            </a:pPr>
            <a:r>
              <a:rPr lang="en-US" sz="900" b="1" dirty="0">
                <a:solidFill>
                  <a:srgbClr val="CBD5E1"/>
                </a:solidFill>
              </a:rPr>
              <a:t>Collaborative development is a skill </a:t>
            </a:r>
            <a:r>
              <a:rPr lang="en-US" sz="900" dirty="0">
                <a:solidFill>
                  <a:srgbClr val="CBD5E1"/>
                </a:solidFill>
              </a:rPr>
              <a:t>— communication, PR habits, and daily check-ins improved meaningfully sprint over sprint</a:t>
            </a:r>
            <a:endParaRPr lang="en-US" sz="900" dirty="0"/>
          </a:p>
        </p:txBody>
      </p:sp>
      <p:sp>
        <p:nvSpPr>
          <p:cNvPr id="37" name="Shape 23">
            <a:extLst>
              <a:ext uri="{FF2B5EF4-FFF2-40B4-BE49-F238E27FC236}">
                <a16:creationId xmlns:a16="http://schemas.microsoft.com/office/drawing/2014/main" id="{6DAFCCA3-6B21-F402-615C-96C2285DCB96}"/>
              </a:ext>
            </a:extLst>
          </p:cNvPr>
          <p:cNvSpPr/>
          <p:nvPr/>
        </p:nvSpPr>
        <p:spPr>
          <a:xfrm>
            <a:off x="4553712" y="3585743"/>
            <a:ext cx="109728" cy="109728"/>
          </a:xfrm>
          <a:prstGeom prst="ellipse">
            <a:avLst/>
          </a:prstGeom>
          <a:solidFill>
            <a:srgbClr val="1D9E75"/>
          </a:solidFill>
          <a:ln w="12700">
            <a:solidFill>
              <a:srgbClr val="1D9E75"/>
            </a:solidFill>
            <a:prstDash val="solid"/>
          </a:ln>
        </p:spPr>
        <p:txBody>
          <a:bodyPr/>
          <a:lstStyle/>
          <a:p>
            <a:endParaRPr lang="en-US"/>
          </a:p>
        </p:txBody>
      </p:sp>
      <p:sp>
        <p:nvSpPr>
          <p:cNvPr id="38" name="Text 24">
            <a:extLst>
              <a:ext uri="{FF2B5EF4-FFF2-40B4-BE49-F238E27FC236}">
                <a16:creationId xmlns:a16="http://schemas.microsoft.com/office/drawing/2014/main" id="{91657B64-E05F-A14A-322D-7AAAB0F22305}"/>
              </a:ext>
            </a:extLst>
          </p:cNvPr>
          <p:cNvSpPr/>
          <p:nvPr/>
        </p:nvSpPr>
        <p:spPr>
          <a:xfrm>
            <a:off x="4736592" y="3494303"/>
            <a:ext cx="3840480" cy="457200"/>
          </a:xfrm>
          <a:prstGeom prst="rect">
            <a:avLst/>
          </a:prstGeom>
          <a:noFill/>
          <a:ln/>
        </p:spPr>
        <p:txBody>
          <a:bodyPr wrap="square" lIns="0" tIns="0" rIns="0" bIns="0" rtlCol="0" anchor="ctr"/>
          <a:lstStyle/>
          <a:p>
            <a:pPr marL="0" indent="0">
              <a:buNone/>
            </a:pPr>
            <a:r>
              <a:rPr lang="en-US" sz="900" b="1" dirty="0">
                <a:solidFill>
                  <a:srgbClr val="CBD5E1"/>
                </a:solidFill>
              </a:rPr>
              <a:t>Agile works when the team owns it </a:t>
            </a:r>
            <a:r>
              <a:rPr lang="en-US" sz="900" dirty="0">
                <a:solidFill>
                  <a:srgbClr val="CBD5E1"/>
                </a:solidFill>
              </a:rPr>
              <a:t>— retrospective actions were documented and acted on, not just noted</a:t>
            </a:r>
            <a:endParaRPr lang="en-US" sz="900" dirty="0"/>
          </a:p>
        </p:txBody>
      </p:sp>
      <p:sp>
        <p:nvSpPr>
          <p:cNvPr id="39" name="Shape 25">
            <a:extLst>
              <a:ext uri="{FF2B5EF4-FFF2-40B4-BE49-F238E27FC236}">
                <a16:creationId xmlns:a16="http://schemas.microsoft.com/office/drawing/2014/main" id="{75857F8D-D851-5707-D36C-A84461A7D57C}"/>
              </a:ext>
            </a:extLst>
          </p:cNvPr>
          <p:cNvSpPr/>
          <p:nvPr/>
        </p:nvSpPr>
        <p:spPr>
          <a:xfrm>
            <a:off x="4553712" y="4116095"/>
            <a:ext cx="109728" cy="109728"/>
          </a:xfrm>
          <a:prstGeom prst="ellipse">
            <a:avLst/>
          </a:prstGeom>
          <a:solidFill>
            <a:srgbClr val="1D9E75"/>
          </a:solidFill>
          <a:ln w="12700">
            <a:solidFill>
              <a:srgbClr val="1D9E75"/>
            </a:solidFill>
            <a:prstDash val="solid"/>
          </a:ln>
        </p:spPr>
        <p:txBody>
          <a:bodyPr/>
          <a:lstStyle/>
          <a:p>
            <a:endParaRPr lang="en-US"/>
          </a:p>
        </p:txBody>
      </p:sp>
      <p:sp>
        <p:nvSpPr>
          <p:cNvPr id="40" name="Text 26">
            <a:extLst>
              <a:ext uri="{FF2B5EF4-FFF2-40B4-BE49-F238E27FC236}">
                <a16:creationId xmlns:a16="http://schemas.microsoft.com/office/drawing/2014/main" id="{31E230FD-8A3F-001C-6FA1-1C5F62463D39}"/>
              </a:ext>
            </a:extLst>
          </p:cNvPr>
          <p:cNvSpPr/>
          <p:nvPr/>
        </p:nvSpPr>
        <p:spPr>
          <a:xfrm>
            <a:off x="4736592" y="3997223"/>
            <a:ext cx="3840480" cy="457200"/>
          </a:xfrm>
          <a:prstGeom prst="rect">
            <a:avLst/>
          </a:prstGeom>
          <a:noFill/>
          <a:ln/>
        </p:spPr>
        <p:txBody>
          <a:bodyPr wrap="square" lIns="0" tIns="0" rIns="0" bIns="0" rtlCol="0" anchor="ctr"/>
          <a:lstStyle/>
          <a:p>
            <a:pPr marL="0" indent="0">
              <a:buNone/>
            </a:pPr>
            <a:r>
              <a:rPr lang="en-US" sz="900" dirty="0">
                <a:solidFill>
                  <a:srgbClr val="CBD5E1"/>
                </a:solidFill>
              </a:rPr>
              <a:t>We built something real. A platform that looks, works, and ships like professional software.</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1"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par>
                          <p:cTn id="12" fill="hold">
                            <p:stCondLst>
                              <p:cond delay="950"/>
                            </p:stCondLst>
                            <p:childTnLst>
                              <p:par>
                                <p:cTn id="13" presetID="42"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par>
                          <p:cTn id="18" fill="hold">
                            <p:stCondLst>
                              <p:cond delay="1950"/>
                            </p:stCondLst>
                            <p:childTnLst>
                              <p:par>
                                <p:cTn id="19" presetID="53" presetClass="entr" presetSubtype="16" fill="hold" grpId="0" nodeType="afterEffect">
                                  <p:stCondLst>
                                    <p:cond delay="10000"/>
                                  </p:stCondLst>
                                  <p:childTnLst>
                                    <p:set>
                                      <p:cBhvr>
                                        <p:cTn id="20" dur="1" fill="hold">
                                          <p:stCondLst>
                                            <p:cond delay="0"/>
                                          </p:stCondLst>
                                        </p:cTn>
                                        <p:tgtEl>
                                          <p:spTgt spid="30"/>
                                        </p:tgtEl>
                                        <p:attrNameLst>
                                          <p:attrName>style.visibility</p:attrName>
                                        </p:attrNameLst>
                                      </p:cBhvr>
                                      <p:to>
                                        <p:strVal val="visible"/>
                                      </p:to>
                                    </p:set>
                                    <p:anim calcmode="lin" valueType="num">
                                      <p:cBhvr>
                                        <p:cTn id="21" dur="500" fill="hold"/>
                                        <p:tgtEl>
                                          <p:spTgt spid="30"/>
                                        </p:tgtEl>
                                        <p:attrNameLst>
                                          <p:attrName>ppt_w</p:attrName>
                                        </p:attrNameLst>
                                      </p:cBhvr>
                                      <p:tavLst>
                                        <p:tav tm="0">
                                          <p:val>
                                            <p:fltVal val="0"/>
                                          </p:val>
                                        </p:tav>
                                        <p:tav tm="100000">
                                          <p:val>
                                            <p:strVal val="#ppt_w"/>
                                          </p:val>
                                        </p:tav>
                                      </p:tavLst>
                                    </p:anim>
                                    <p:anim calcmode="lin" valueType="num">
                                      <p:cBhvr>
                                        <p:cTn id="22" dur="500" fill="hold"/>
                                        <p:tgtEl>
                                          <p:spTgt spid="30"/>
                                        </p:tgtEl>
                                        <p:attrNameLst>
                                          <p:attrName>ppt_h</p:attrName>
                                        </p:attrNameLst>
                                      </p:cBhvr>
                                      <p:tavLst>
                                        <p:tav tm="0">
                                          <p:val>
                                            <p:fltVal val="0"/>
                                          </p:val>
                                        </p:tav>
                                        <p:tav tm="100000">
                                          <p:val>
                                            <p:strVal val="#ppt_h"/>
                                          </p:val>
                                        </p:tav>
                                      </p:tavLst>
                                    </p:anim>
                                    <p:animEffect transition="in" filter="fade">
                                      <p:cBhvr>
                                        <p:cTn id="23" dur="500"/>
                                        <p:tgtEl>
                                          <p:spTgt spid="30"/>
                                        </p:tgtEl>
                                      </p:cBhvr>
                                    </p:animEffect>
                                  </p:childTnLst>
                                </p:cTn>
                              </p:par>
                            </p:childTnLst>
                          </p:cTn>
                        </p:par>
                        <p:par>
                          <p:cTn id="24" fill="hold">
                            <p:stCondLst>
                              <p:cond delay="12450"/>
                            </p:stCondLst>
                            <p:childTnLst>
                              <p:par>
                                <p:cTn id="25" presetID="37" presetClass="entr" presetSubtype="0" fill="hold" grpId="0" nodeType="afterEffect">
                                  <p:stCondLst>
                                    <p:cond delay="700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1000"/>
                                        <p:tgtEl>
                                          <p:spTgt spid="31"/>
                                        </p:tgtEl>
                                      </p:cBhvr>
                                    </p:animEffect>
                                    <p:anim calcmode="lin" valueType="num">
                                      <p:cBhvr>
                                        <p:cTn id="28" dur="1000" fill="hold"/>
                                        <p:tgtEl>
                                          <p:spTgt spid="31"/>
                                        </p:tgtEl>
                                        <p:attrNameLst>
                                          <p:attrName>ppt_x</p:attrName>
                                        </p:attrNameLst>
                                      </p:cBhvr>
                                      <p:tavLst>
                                        <p:tav tm="0">
                                          <p:val>
                                            <p:strVal val="#ppt_x"/>
                                          </p:val>
                                        </p:tav>
                                        <p:tav tm="100000">
                                          <p:val>
                                            <p:strVal val="#ppt_x"/>
                                          </p:val>
                                        </p:tav>
                                      </p:tavLst>
                                    </p:anim>
                                    <p:anim calcmode="lin" valueType="num">
                                      <p:cBhvr>
                                        <p:cTn id="29" dur="900" decel="100000" fill="hold"/>
                                        <p:tgtEl>
                                          <p:spTgt spid="31"/>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31"/>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200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1000"/>
                                        <p:tgtEl>
                                          <p:spTgt spid="32"/>
                                        </p:tgtEl>
                                      </p:cBhvr>
                                    </p:animEffect>
                                    <p:anim calcmode="lin" valueType="num">
                                      <p:cBhvr>
                                        <p:cTn id="34" dur="1000" fill="hold"/>
                                        <p:tgtEl>
                                          <p:spTgt spid="32"/>
                                        </p:tgtEl>
                                        <p:attrNameLst>
                                          <p:attrName>ppt_x</p:attrName>
                                        </p:attrNameLst>
                                      </p:cBhvr>
                                      <p:tavLst>
                                        <p:tav tm="0">
                                          <p:val>
                                            <p:strVal val="#ppt_x"/>
                                          </p:val>
                                        </p:tav>
                                        <p:tav tm="100000">
                                          <p:val>
                                            <p:strVal val="#ppt_x"/>
                                          </p:val>
                                        </p:tav>
                                      </p:tavLst>
                                    </p:anim>
                                    <p:anim calcmode="lin" valueType="num">
                                      <p:cBhvr>
                                        <p:cTn id="35" dur="900" decel="100000" fill="hold"/>
                                        <p:tgtEl>
                                          <p:spTgt spid="32"/>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32"/>
                                        </p:tgtEl>
                                        <p:attrNameLst>
                                          <p:attrName>ppt_y</p:attrName>
                                        </p:attrNameLst>
                                      </p:cBhvr>
                                      <p:tavLst>
                                        <p:tav tm="0">
                                          <p:val>
                                            <p:strVal val="#ppt_y-.03"/>
                                          </p:val>
                                        </p:tav>
                                        <p:tav tm="100000">
                                          <p:val>
                                            <p:strVal val="#ppt_y"/>
                                          </p:val>
                                        </p:tav>
                                      </p:tavLst>
                                    </p:anim>
                                  </p:childTnLst>
                                </p:cTn>
                              </p:par>
                            </p:childTnLst>
                          </p:cTn>
                        </p:par>
                        <p:par>
                          <p:cTn id="37" fill="hold">
                            <p:stCondLst>
                              <p:cond delay="20450"/>
                            </p:stCondLst>
                            <p:childTnLst>
                              <p:par>
                                <p:cTn id="38" presetID="9" presetClass="entr" presetSubtype="0" fill="hold" grpId="0" nodeType="afterEffect">
                                  <p:stCondLst>
                                    <p:cond delay="14000"/>
                                  </p:stCondLst>
                                  <p:childTnLst>
                                    <p:set>
                                      <p:cBhvr>
                                        <p:cTn id="39" dur="1" fill="hold">
                                          <p:stCondLst>
                                            <p:cond delay="0"/>
                                          </p:stCondLst>
                                        </p:cTn>
                                        <p:tgtEl>
                                          <p:spTgt spid="33"/>
                                        </p:tgtEl>
                                        <p:attrNameLst>
                                          <p:attrName>style.visibility</p:attrName>
                                        </p:attrNameLst>
                                      </p:cBhvr>
                                      <p:to>
                                        <p:strVal val="visible"/>
                                      </p:to>
                                    </p:set>
                                    <p:animEffect transition="in" filter="dissolve">
                                      <p:cBhvr>
                                        <p:cTn id="40" dur="2000"/>
                                        <p:tgtEl>
                                          <p:spTgt spid="33"/>
                                        </p:tgtEl>
                                      </p:cBhvr>
                                    </p:animEffect>
                                  </p:childTnLst>
                                </p:cTn>
                              </p:par>
                            </p:childTnLst>
                          </p:cTn>
                        </p:par>
                        <p:par>
                          <p:cTn id="41" fill="hold">
                            <p:stCondLst>
                              <p:cond delay="36450"/>
                            </p:stCondLst>
                            <p:childTnLst>
                              <p:par>
                                <p:cTn id="42" presetID="9" presetClass="entr" presetSubtype="0" fill="hold" grpId="0" nodeType="after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dissolve">
                                      <p:cBhvr>
                                        <p:cTn id="44" dur="2000"/>
                                        <p:tgtEl>
                                          <p:spTgt spid="34"/>
                                        </p:tgtEl>
                                      </p:cBhvr>
                                    </p:animEffect>
                                  </p:childTnLst>
                                </p:cTn>
                              </p:par>
                            </p:childTnLst>
                          </p:cTn>
                        </p:par>
                        <p:par>
                          <p:cTn id="45" fill="hold">
                            <p:stCondLst>
                              <p:cond delay="38450"/>
                            </p:stCondLst>
                            <p:childTnLst>
                              <p:par>
                                <p:cTn id="46" presetID="53" presetClass="entr" presetSubtype="16" fill="hold" grpId="0" nodeType="afterEffect">
                                  <p:stCondLst>
                                    <p:cond delay="13000"/>
                                  </p:stCondLst>
                                  <p:childTnLst>
                                    <p:set>
                                      <p:cBhvr>
                                        <p:cTn id="47" dur="1" fill="hold">
                                          <p:stCondLst>
                                            <p:cond delay="0"/>
                                          </p:stCondLst>
                                        </p:cTn>
                                        <p:tgtEl>
                                          <p:spTgt spid="35"/>
                                        </p:tgtEl>
                                        <p:attrNameLst>
                                          <p:attrName>style.visibility</p:attrName>
                                        </p:attrNameLst>
                                      </p:cBhvr>
                                      <p:to>
                                        <p:strVal val="visible"/>
                                      </p:to>
                                    </p:set>
                                    <p:anim calcmode="lin" valueType="num">
                                      <p:cBhvr>
                                        <p:cTn id="48" dur="2000" fill="hold"/>
                                        <p:tgtEl>
                                          <p:spTgt spid="35"/>
                                        </p:tgtEl>
                                        <p:attrNameLst>
                                          <p:attrName>ppt_w</p:attrName>
                                        </p:attrNameLst>
                                      </p:cBhvr>
                                      <p:tavLst>
                                        <p:tav tm="0">
                                          <p:val>
                                            <p:fltVal val="0"/>
                                          </p:val>
                                        </p:tav>
                                        <p:tav tm="100000">
                                          <p:val>
                                            <p:strVal val="#ppt_w"/>
                                          </p:val>
                                        </p:tav>
                                      </p:tavLst>
                                    </p:anim>
                                    <p:anim calcmode="lin" valueType="num">
                                      <p:cBhvr>
                                        <p:cTn id="49" dur="2000" fill="hold"/>
                                        <p:tgtEl>
                                          <p:spTgt spid="35"/>
                                        </p:tgtEl>
                                        <p:attrNameLst>
                                          <p:attrName>ppt_h</p:attrName>
                                        </p:attrNameLst>
                                      </p:cBhvr>
                                      <p:tavLst>
                                        <p:tav tm="0">
                                          <p:val>
                                            <p:fltVal val="0"/>
                                          </p:val>
                                        </p:tav>
                                        <p:tav tm="100000">
                                          <p:val>
                                            <p:strVal val="#ppt_h"/>
                                          </p:val>
                                        </p:tav>
                                      </p:tavLst>
                                    </p:anim>
                                    <p:animEffect transition="in" filter="fade">
                                      <p:cBhvr>
                                        <p:cTn id="50" dur="2000"/>
                                        <p:tgtEl>
                                          <p:spTgt spid="35"/>
                                        </p:tgtEl>
                                      </p:cBhvr>
                                    </p:animEffect>
                                  </p:childTnLst>
                                </p:cTn>
                              </p:par>
                            </p:childTnLst>
                          </p:cTn>
                        </p:par>
                        <p:par>
                          <p:cTn id="51" fill="hold">
                            <p:stCondLst>
                              <p:cond delay="53450"/>
                            </p:stCondLst>
                            <p:childTnLst>
                              <p:par>
                                <p:cTn id="52" presetID="53" presetClass="entr" presetSubtype="16" fill="hold" grpId="0" nodeType="afterEffect">
                                  <p:stCondLst>
                                    <p:cond delay="2000"/>
                                  </p:stCondLst>
                                  <p:childTnLst>
                                    <p:set>
                                      <p:cBhvr>
                                        <p:cTn id="53" dur="1" fill="hold">
                                          <p:stCondLst>
                                            <p:cond delay="0"/>
                                          </p:stCondLst>
                                        </p:cTn>
                                        <p:tgtEl>
                                          <p:spTgt spid="36"/>
                                        </p:tgtEl>
                                        <p:attrNameLst>
                                          <p:attrName>style.visibility</p:attrName>
                                        </p:attrNameLst>
                                      </p:cBhvr>
                                      <p:to>
                                        <p:strVal val="visible"/>
                                      </p:to>
                                    </p:set>
                                    <p:anim calcmode="lin" valueType="num">
                                      <p:cBhvr>
                                        <p:cTn id="54" dur="2000" fill="hold"/>
                                        <p:tgtEl>
                                          <p:spTgt spid="36"/>
                                        </p:tgtEl>
                                        <p:attrNameLst>
                                          <p:attrName>ppt_w</p:attrName>
                                        </p:attrNameLst>
                                      </p:cBhvr>
                                      <p:tavLst>
                                        <p:tav tm="0">
                                          <p:val>
                                            <p:fltVal val="0"/>
                                          </p:val>
                                        </p:tav>
                                        <p:tav tm="100000">
                                          <p:val>
                                            <p:strVal val="#ppt_w"/>
                                          </p:val>
                                        </p:tav>
                                      </p:tavLst>
                                    </p:anim>
                                    <p:anim calcmode="lin" valueType="num">
                                      <p:cBhvr>
                                        <p:cTn id="55" dur="2000" fill="hold"/>
                                        <p:tgtEl>
                                          <p:spTgt spid="36"/>
                                        </p:tgtEl>
                                        <p:attrNameLst>
                                          <p:attrName>ppt_h</p:attrName>
                                        </p:attrNameLst>
                                      </p:cBhvr>
                                      <p:tavLst>
                                        <p:tav tm="0">
                                          <p:val>
                                            <p:fltVal val="0"/>
                                          </p:val>
                                        </p:tav>
                                        <p:tav tm="100000">
                                          <p:val>
                                            <p:strVal val="#ppt_h"/>
                                          </p:val>
                                        </p:tav>
                                      </p:tavLst>
                                    </p:anim>
                                    <p:animEffect transition="in" filter="fade">
                                      <p:cBhvr>
                                        <p:cTn id="56" dur="2000"/>
                                        <p:tgtEl>
                                          <p:spTgt spid="36"/>
                                        </p:tgtEl>
                                      </p:cBhvr>
                                    </p:animEffect>
                                  </p:childTnLst>
                                </p:cTn>
                              </p:par>
                            </p:childTnLst>
                          </p:cTn>
                        </p:par>
                        <p:par>
                          <p:cTn id="57" fill="hold">
                            <p:stCondLst>
                              <p:cond delay="57450"/>
                            </p:stCondLst>
                            <p:childTnLst>
                              <p:par>
                                <p:cTn id="58" presetID="9" presetClass="entr" presetSubtype="0" fill="hold" grpId="0" nodeType="afterEffect">
                                  <p:stCondLst>
                                    <p:cond delay="12000"/>
                                  </p:stCondLst>
                                  <p:childTnLst>
                                    <p:set>
                                      <p:cBhvr>
                                        <p:cTn id="59" dur="1" fill="hold">
                                          <p:stCondLst>
                                            <p:cond delay="0"/>
                                          </p:stCondLst>
                                        </p:cTn>
                                        <p:tgtEl>
                                          <p:spTgt spid="37"/>
                                        </p:tgtEl>
                                        <p:attrNameLst>
                                          <p:attrName>style.visibility</p:attrName>
                                        </p:attrNameLst>
                                      </p:cBhvr>
                                      <p:to>
                                        <p:strVal val="visible"/>
                                      </p:to>
                                    </p:set>
                                    <p:animEffect transition="in" filter="dissolve">
                                      <p:cBhvr>
                                        <p:cTn id="60" dur="2000"/>
                                        <p:tgtEl>
                                          <p:spTgt spid="37"/>
                                        </p:tgtEl>
                                      </p:cBhvr>
                                    </p:animEffect>
                                  </p:childTnLst>
                                </p:cTn>
                              </p:par>
                            </p:childTnLst>
                          </p:cTn>
                        </p:par>
                        <p:par>
                          <p:cTn id="61" fill="hold">
                            <p:stCondLst>
                              <p:cond delay="71450"/>
                            </p:stCondLst>
                            <p:childTnLst>
                              <p:par>
                                <p:cTn id="62" presetID="9" presetClass="entr" presetSubtype="0" fill="hold" grpId="0" nodeType="afterEffect">
                                  <p:stCondLst>
                                    <p:cond delay="2000"/>
                                  </p:stCondLst>
                                  <p:childTnLst>
                                    <p:set>
                                      <p:cBhvr>
                                        <p:cTn id="63" dur="1" fill="hold">
                                          <p:stCondLst>
                                            <p:cond delay="0"/>
                                          </p:stCondLst>
                                        </p:cTn>
                                        <p:tgtEl>
                                          <p:spTgt spid="38"/>
                                        </p:tgtEl>
                                        <p:attrNameLst>
                                          <p:attrName>style.visibility</p:attrName>
                                        </p:attrNameLst>
                                      </p:cBhvr>
                                      <p:to>
                                        <p:strVal val="visible"/>
                                      </p:to>
                                    </p:set>
                                    <p:animEffect transition="in" filter="dissolve">
                                      <p:cBhvr>
                                        <p:cTn id="64" dur="2000"/>
                                        <p:tgtEl>
                                          <p:spTgt spid="38"/>
                                        </p:tgtEl>
                                      </p:cBhvr>
                                    </p:animEffect>
                                  </p:childTnLst>
                                </p:cTn>
                              </p:par>
                            </p:childTnLst>
                          </p:cTn>
                        </p:par>
                        <p:par>
                          <p:cTn id="65" fill="hold">
                            <p:stCondLst>
                              <p:cond delay="75450"/>
                            </p:stCondLst>
                            <p:childTnLst>
                              <p:par>
                                <p:cTn id="66" presetID="37" presetClass="entr" presetSubtype="0" fill="hold" grpId="0" nodeType="afterEffect">
                                  <p:stCondLst>
                                    <p:cond delay="4000"/>
                                  </p:stCondLst>
                                  <p:childTnLst>
                                    <p:set>
                                      <p:cBhvr>
                                        <p:cTn id="67" dur="1" fill="hold">
                                          <p:stCondLst>
                                            <p:cond delay="0"/>
                                          </p:stCondLst>
                                        </p:cTn>
                                        <p:tgtEl>
                                          <p:spTgt spid="40"/>
                                        </p:tgtEl>
                                        <p:attrNameLst>
                                          <p:attrName>style.visibility</p:attrName>
                                        </p:attrNameLst>
                                      </p:cBhvr>
                                      <p:to>
                                        <p:strVal val="visible"/>
                                      </p:to>
                                    </p:set>
                                    <p:animEffect transition="in" filter="fade">
                                      <p:cBhvr>
                                        <p:cTn id="68" dur="1000"/>
                                        <p:tgtEl>
                                          <p:spTgt spid="40"/>
                                        </p:tgtEl>
                                      </p:cBhvr>
                                    </p:animEffect>
                                    <p:anim calcmode="lin" valueType="num">
                                      <p:cBhvr>
                                        <p:cTn id="69" dur="1000" fill="hold"/>
                                        <p:tgtEl>
                                          <p:spTgt spid="40"/>
                                        </p:tgtEl>
                                        <p:attrNameLst>
                                          <p:attrName>ppt_x</p:attrName>
                                        </p:attrNameLst>
                                      </p:cBhvr>
                                      <p:tavLst>
                                        <p:tav tm="0">
                                          <p:val>
                                            <p:strVal val="#ppt_x"/>
                                          </p:val>
                                        </p:tav>
                                        <p:tav tm="100000">
                                          <p:val>
                                            <p:strVal val="#ppt_x"/>
                                          </p:val>
                                        </p:tav>
                                      </p:tavLst>
                                    </p:anim>
                                    <p:anim calcmode="lin" valueType="num">
                                      <p:cBhvr>
                                        <p:cTn id="70" dur="900" decel="100000" fill="hold"/>
                                        <p:tgtEl>
                                          <p:spTgt spid="40"/>
                                        </p:tgtEl>
                                        <p:attrNameLst>
                                          <p:attrName>ppt_y</p:attrName>
                                        </p:attrNameLst>
                                      </p:cBhvr>
                                      <p:tavLst>
                                        <p:tav tm="0">
                                          <p:val>
                                            <p:strVal val="#ppt_y+1"/>
                                          </p:val>
                                        </p:tav>
                                        <p:tav tm="100000">
                                          <p:val>
                                            <p:strVal val="#ppt_y-.03"/>
                                          </p:val>
                                        </p:tav>
                                      </p:tavLst>
                                    </p:anim>
                                    <p:anim calcmode="lin" valueType="num">
                                      <p:cBhvr>
                                        <p:cTn id="71" dur="100" accel="100000" fill="hold">
                                          <p:stCondLst>
                                            <p:cond delay="900"/>
                                          </p:stCondLst>
                                        </p:cTn>
                                        <p:tgtEl>
                                          <p:spTgt spid="40"/>
                                        </p:tgtEl>
                                        <p:attrNameLst>
                                          <p:attrName>ppt_y</p:attrName>
                                        </p:attrNameLst>
                                      </p:cBhvr>
                                      <p:tavLst>
                                        <p:tav tm="0">
                                          <p:val>
                                            <p:strVal val="#ppt_y-.03"/>
                                          </p:val>
                                        </p:tav>
                                        <p:tav tm="100000">
                                          <p:val>
                                            <p:strVal val="#ppt_y"/>
                                          </p:val>
                                        </p:tav>
                                      </p:tavLst>
                                    </p:anim>
                                  </p:childTnLst>
                                </p:cTn>
                              </p:par>
                              <p:par>
                                <p:cTn id="72" presetID="37"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fade">
                                      <p:cBhvr>
                                        <p:cTn id="74" dur="1000"/>
                                        <p:tgtEl>
                                          <p:spTgt spid="39"/>
                                        </p:tgtEl>
                                      </p:cBhvr>
                                    </p:animEffect>
                                    <p:anim calcmode="lin" valueType="num">
                                      <p:cBhvr>
                                        <p:cTn id="75" dur="1000" fill="hold"/>
                                        <p:tgtEl>
                                          <p:spTgt spid="39"/>
                                        </p:tgtEl>
                                        <p:attrNameLst>
                                          <p:attrName>ppt_x</p:attrName>
                                        </p:attrNameLst>
                                      </p:cBhvr>
                                      <p:tavLst>
                                        <p:tav tm="0">
                                          <p:val>
                                            <p:strVal val="#ppt_x"/>
                                          </p:val>
                                        </p:tav>
                                        <p:tav tm="100000">
                                          <p:val>
                                            <p:strVal val="#ppt_x"/>
                                          </p:val>
                                        </p:tav>
                                      </p:tavLst>
                                    </p:anim>
                                    <p:anim calcmode="lin" valueType="num">
                                      <p:cBhvr>
                                        <p:cTn id="76" dur="900" decel="100000" fill="hold"/>
                                        <p:tgtEl>
                                          <p:spTgt spid="39"/>
                                        </p:tgtEl>
                                        <p:attrNameLst>
                                          <p:attrName>ppt_y</p:attrName>
                                        </p:attrNameLst>
                                      </p:cBhvr>
                                      <p:tavLst>
                                        <p:tav tm="0">
                                          <p:val>
                                            <p:strVal val="#ppt_y+1"/>
                                          </p:val>
                                        </p:tav>
                                        <p:tav tm="100000">
                                          <p:val>
                                            <p:strVal val="#ppt_y-.03"/>
                                          </p:val>
                                        </p:tav>
                                      </p:tavLst>
                                    </p:anim>
                                    <p:anim calcmode="lin" valueType="num">
                                      <p:cBhvr>
                                        <p:cTn id="77" dur="100" accel="100000" fill="hold">
                                          <p:stCondLst>
                                            <p:cond delay="900"/>
                                          </p:stCondLst>
                                        </p:cTn>
                                        <p:tgtEl>
                                          <p:spTgt spid="39"/>
                                        </p:tgtEl>
                                        <p:attrNameLst>
                                          <p:attrName>ppt_y</p:attrName>
                                        </p:attrNameLst>
                                      </p:cBhvr>
                                      <p:tavLst>
                                        <p:tav tm="0">
                                          <p:val>
                                            <p:strVal val="#ppt_y-.03"/>
                                          </p:val>
                                        </p:tav>
                                        <p:tav tm="100000">
                                          <p:val>
                                            <p:strVal val="#ppt_y"/>
                                          </p:val>
                                        </p:tav>
                                      </p:tavLst>
                                    </p:anim>
                                  </p:childTnLst>
                                </p:cTn>
                              </p:par>
                            </p:childTnLst>
                          </p:cTn>
                        </p:par>
                        <p:par>
                          <p:cTn id="78" fill="hold">
                            <p:stCondLst>
                              <p:cond delay="80450"/>
                            </p:stCondLst>
                            <p:childTnLst>
                              <p:par>
                                <p:cTn id="79" presetID="12" presetClass="entr" presetSubtype="4" fill="hold" grpId="0" nodeType="afterEffect">
                                  <p:stCondLst>
                                    <p:cond delay="6000"/>
                                  </p:stCondLst>
                                  <p:childTnLst>
                                    <p:set>
                                      <p:cBhvr>
                                        <p:cTn id="80" dur="1" fill="hold">
                                          <p:stCondLst>
                                            <p:cond delay="0"/>
                                          </p:stCondLst>
                                        </p:cTn>
                                        <p:tgtEl>
                                          <p:spTgt spid="14"/>
                                        </p:tgtEl>
                                        <p:attrNameLst>
                                          <p:attrName>style.visibility</p:attrName>
                                        </p:attrNameLst>
                                      </p:cBhvr>
                                      <p:to>
                                        <p:strVal val="visible"/>
                                      </p:to>
                                    </p:set>
                                    <p:anim calcmode="lin" valueType="num">
                                      <p:cBhvr additive="base">
                                        <p:cTn id="81" dur="2000"/>
                                        <p:tgtEl>
                                          <p:spTgt spid="14"/>
                                        </p:tgtEl>
                                        <p:attrNameLst>
                                          <p:attrName>ppt_y</p:attrName>
                                        </p:attrNameLst>
                                      </p:cBhvr>
                                      <p:tavLst>
                                        <p:tav tm="0">
                                          <p:val>
                                            <p:strVal val="#ppt_y+#ppt_h*1.125000"/>
                                          </p:val>
                                        </p:tav>
                                        <p:tav tm="100000">
                                          <p:val>
                                            <p:strVal val="#ppt_y"/>
                                          </p:val>
                                        </p:tav>
                                      </p:tavLst>
                                    </p:anim>
                                    <p:animEffect transition="in" filter="wipe(up)">
                                      <p:cBhvr>
                                        <p:cTn id="82"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animBg="1"/>
      <p:bldP spid="4" grpId="0" animBg="1"/>
      <p:bldP spid="14"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B2B5E"/>
        </a:solidFill>
        <a:effectLst/>
      </p:bgPr>
    </p:bg>
    <p:spTree>
      <p:nvGrpSpPr>
        <p:cNvPr id="1" name=""/>
        <p:cNvGrpSpPr/>
        <p:nvPr/>
      </p:nvGrpSpPr>
      <p:grpSpPr>
        <a:xfrm>
          <a:off x="0" y="0"/>
          <a:ext cx="0" cy="0"/>
          <a:chOff x="0" y="0"/>
          <a:chExt cx="0" cy="0"/>
        </a:xfrm>
      </p:grpSpPr>
      <p:sp>
        <p:nvSpPr>
          <p:cNvPr id="2" name="Shape 0"/>
          <p:cNvSpPr/>
          <p:nvPr/>
        </p:nvSpPr>
        <p:spPr>
          <a:xfrm>
            <a:off x="0" y="250853"/>
            <a:ext cx="164592" cy="5143500"/>
          </a:xfrm>
          <a:prstGeom prst="rect">
            <a:avLst/>
          </a:prstGeom>
          <a:solidFill>
            <a:srgbClr val="3BB77E"/>
          </a:solidFill>
          <a:ln w="12700">
            <a:solidFill>
              <a:srgbClr val="3BB77E"/>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858000" y="914400"/>
            <a:ext cx="1645920" cy="1645920"/>
          </a:xfrm>
          <a:prstGeom prst="rect">
            <a:avLst/>
          </a:prstGeom>
        </p:spPr>
      </p:pic>
      <p:sp>
        <p:nvSpPr>
          <p:cNvPr id="4" name="Text 1"/>
          <p:cNvSpPr/>
          <p:nvPr/>
        </p:nvSpPr>
        <p:spPr>
          <a:xfrm>
            <a:off x="457200" y="1371600"/>
            <a:ext cx="6400800" cy="1005840"/>
          </a:xfrm>
          <a:prstGeom prst="rect">
            <a:avLst/>
          </a:prstGeom>
          <a:noFill/>
          <a:ln/>
        </p:spPr>
        <p:txBody>
          <a:bodyPr wrap="square" lIns="0" tIns="0" rIns="0" bIns="0" rtlCol="0" anchor="ctr"/>
          <a:lstStyle/>
          <a:p>
            <a:pPr marL="0" indent="0" algn="l">
              <a:buNone/>
            </a:pPr>
            <a:r>
              <a:rPr lang="en-US" sz="6800" b="1" dirty="0">
                <a:solidFill>
                  <a:srgbClr val="FFFFFF"/>
                </a:solidFill>
                <a:latin typeface="Calibri" pitchFamily="34" charset="0"/>
                <a:ea typeface="Calibri" pitchFamily="34" charset="-122"/>
                <a:cs typeface="Calibri" pitchFamily="34" charset="-120"/>
              </a:rPr>
              <a:t>Questions?</a:t>
            </a:r>
            <a:endParaRPr lang="en-US" sz="6800" dirty="0"/>
          </a:p>
        </p:txBody>
      </p:sp>
      <p:sp>
        <p:nvSpPr>
          <p:cNvPr id="5" name="Text 2"/>
          <p:cNvSpPr/>
          <p:nvPr/>
        </p:nvSpPr>
        <p:spPr>
          <a:xfrm>
            <a:off x="457200" y="2487168"/>
            <a:ext cx="7315200" cy="502920"/>
          </a:xfrm>
          <a:prstGeom prst="rect">
            <a:avLst/>
          </a:prstGeom>
          <a:noFill/>
          <a:ln/>
        </p:spPr>
        <p:txBody>
          <a:bodyPr wrap="square" lIns="0" tIns="0" rIns="0" bIns="0" rtlCol="0" anchor="ctr"/>
          <a:lstStyle/>
          <a:p>
            <a:pPr marL="0" indent="0" algn="l">
              <a:buNone/>
            </a:pPr>
            <a:r>
              <a:rPr lang="en-US" sz="1600" i="1" dirty="0">
                <a:solidFill>
                  <a:srgbClr val="CADCFC"/>
                </a:solidFill>
                <a:latin typeface="Calibri" pitchFamily="34" charset="0"/>
                <a:ea typeface="Calibri" pitchFamily="34" charset="-122"/>
                <a:cs typeface="Calibri" pitchFamily="34" charset="-120"/>
              </a:rPr>
              <a:t>We'd love to walk you through a demo or answer any questions.</a:t>
            </a:r>
            <a:endParaRPr lang="en-US" sz="1600" dirty="0"/>
          </a:p>
        </p:txBody>
      </p:sp>
      <p:sp>
        <p:nvSpPr>
          <p:cNvPr id="6" name="Shape 3"/>
          <p:cNvSpPr/>
          <p:nvPr/>
        </p:nvSpPr>
        <p:spPr>
          <a:xfrm>
            <a:off x="457200" y="3108960"/>
            <a:ext cx="4114800" cy="36576"/>
          </a:xfrm>
          <a:prstGeom prst="rect">
            <a:avLst/>
          </a:prstGeom>
          <a:solidFill>
            <a:srgbClr val="3BB77E"/>
          </a:solidFill>
          <a:ln w="12700">
            <a:solidFill>
              <a:srgbClr val="3BB77E"/>
            </a:solidFill>
            <a:prstDash val="solid"/>
          </a:ln>
        </p:spPr>
        <p:txBody>
          <a:bodyPr/>
          <a:lstStyle/>
          <a:p>
            <a:endParaRPr lang="en-US"/>
          </a:p>
        </p:txBody>
      </p:sp>
      <p:sp>
        <p:nvSpPr>
          <p:cNvPr id="7" name="Text 4"/>
          <p:cNvSpPr/>
          <p:nvPr/>
        </p:nvSpPr>
        <p:spPr>
          <a:xfrm>
            <a:off x="457200" y="3246120"/>
            <a:ext cx="7772400" cy="868680"/>
          </a:xfrm>
          <a:prstGeom prst="rect">
            <a:avLst/>
          </a:prstGeom>
          <a:noFill/>
          <a:ln/>
        </p:spPr>
        <p:txBody>
          <a:bodyPr wrap="square" lIns="0" tIns="0" rIns="0" bIns="0" rtlCol="0" anchor="ctr"/>
          <a:lstStyle/>
          <a:p>
            <a:pPr marL="0" indent="0" algn="l">
              <a:buNone/>
            </a:pPr>
            <a:r>
              <a:rPr lang="en-US" sz="1200" b="1" dirty="0">
                <a:solidFill>
                  <a:srgbClr val="CADCFC"/>
                </a:solidFill>
                <a:latin typeface="Calibri" pitchFamily="34" charset="0"/>
                <a:ea typeface="Calibri" pitchFamily="34" charset="-122"/>
                <a:cs typeface="Calibri" pitchFamily="34" charset="-120"/>
              </a:rPr>
              <a:t>Serina Rodriguez</a:t>
            </a:r>
            <a:endParaRPr lang="en-US" sz="1200" dirty="0"/>
          </a:p>
          <a:p>
            <a:pPr marL="0" indent="0" algn="l">
              <a:buNone/>
            </a:pPr>
            <a:r>
              <a:rPr lang="en-US" sz="1200" dirty="0">
                <a:solidFill>
                  <a:srgbClr val="CADCFC"/>
                </a:solidFill>
                <a:latin typeface="Calibri" pitchFamily="34" charset="0"/>
                <a:ea typeface="Calibri" pitchFamily="34" charset="-122"/>
                <a:cs typeface="Calibri" pitchFamily="34" charset="-120"/>
              </a:rPr>
              <a:t>Scrum Master / Project Manager — Team 7</a:t>
            </a:r>
            <a:endParaRPr lang="en-US" sz="1200" dirty="0"/>
          </a:p>
          <a:p>
            <a:pPr marL="0" indent="0" algn="l">
              <a:buNone/>
            </a:pPr>
            <a:r>
              <a:rPr lang="en-US" sz="1200" dirty="0">
                <a:solidFill>
                  <a:srgbClr val="CADCFC"/>
                </a:solidFill>
                <a:latin typeface="Calibri" pitchFamily="34" charset="0"/>
                <a:ea typeface="Calibri" pitchFamily="34" charset="-122"/>
                <a:cs typeface="Calibri" pitchFamily="34" charset="-120"/>
              </a:rPr>
              <a:t>CSC 289.0001 ·  Wake Technical Community College</a:t>
            </a:r>
            <a:endParaRPr lang="en-US" sz="1200" dirty="0"/>
          </a:p>
        </p:txBody>
      </p:sp>
      <p:sp>
        <p:nvSpPr>
          <p:cNvPr id="8" name="Text 4">
            <a:extLst>
              <a:ext uri="{FF2B5EF4-FFF2-40B4-BE49-F238E27FC236}">
                <a16:creationId xmlns:a16="http://schemas.microsoft.com/office/drawing/2014/main" id="{8C8A9A41-028E-D5AE-C4AB-598B98BADDAE}"/>
              </a:ext>
            </a:extLst>
          </p:cNvPr>
          <p:cNvSpPr/>
          <p:nvPr/>
        </p:nvSpPr>
        <p:spPr>
          <a:xfrm>
            <a:off x="457200" y="4370832"/>
            <a:ext cx="7772400" cy="612648"/>
          </a:xfrm>
          <a:prstGeom prst="rect">
            <a:avLst/>
          </a:prstGeom>
          <a:noFill/>
          <a:ln/>
        </p:spPr>
        <p:txBody>
          <a:bodyPr wrap="square" lIns="0" tIns="0" rIns="0" bIns="0" rtlCol="0" anchor="ctr"/>
          <a:lstStyle/>
          <a:p>
            <a:r>
              <a:rPr lang="en-US" sz="1200" dirty="0">
                <a:solidFill>
                  <a:srgbClr val="CADCFC"/>
                </a:solidFill>
                <a:latin typeface="Calibri" pitchFamily="34" charset="0"/>
                <a:ea typeface="Calibri" pitchFamily="34" charset="-122"/>
                <a:cs typeface="Calibri" pitchFamily="34" charset="-120"/>
              </a:rPr>
              <a:t>Orderly is proudly brought to you by </a:t>
            </a:r>
            <a:r>
              <a:rPr lang="en-US" sz="1200" b="1" dirty="0">
                <a:solidFill>
                  <a:srgbClr val="CADCFC"/>
                </a:solidFill>
                <a:latin typeface="Calibri" pitchFamily="34" charset="0"/>
                <a:ea typeface="Calibri" pitchFamily="34" charset="-122"/>
                <a:cs typeface="Calibri" pitchFamily="34" charset="-120"/>
              </a:rPr>
              <a:t>Team 7 </a:t>
            </a:r>
            <a:r>
              <a:rPr lang="en-US" sz="1200" dirty="0">
                <a:solidFill>
                  <a:srgbClr val="CADCFC"/>
                </a:solidFill>
                <a:latin typeface="Calibri" pitchFamily="34" charset="0"/>
                <a:ea typeface="Calibri" pitchFamily="34" charset="-122"/>
                <a:cs typeface="Calibri" pitchFamily="34" charset="-120"/>
              </a:rPr>
              <a:t>|</a:t>
            </a:r>
            <a:r>
              <a:rPr lang="en-US" sz="1200" dirty="0"/>
              <a:t> </a:t>
            </a:r>
            <a:r>
              <a:rPr lang="en-US" sz="1200" dirty="0">
                <a:solidFill>
                  <a:srgbClr val="CADCFC"/>
                </a:solidFill>
                <a:latin typeface="Calibri" pitchFamily="34" charset="0"/>
                <a:ea typeface="Calibri" pitchFamily="34" charset="-122"/>
                <a:cs typeface="Calibri" pitchFamily="34" charset="-120"/>
              </a:rPr>
              <a:t>Kim Mayo · Kenny Bacdayan · Rachel Mizer · Tristin Gatt · Caleb Fowlkes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7630</TotalTime>
  <Words>5824</Words>
  <Application>Microsoft Macintosh PowerPoint</Application>
  <PresentationFormat>On-screen Show (16:9)</PresentationFormat>
  <Paragraphs>793</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Consolas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Orderly — Presentation Template</dc:title>
  <dc:subject>PptxGenJS Presentation</dc:subject>
  <dc:creator>[Your Name]</dc:creator>
  <cp:lastModifiedBy>Serina Rodriguez</cp:lastModifiedBy>
  <cp:revision>31</cp:revision>
  <dcterms:created xsi:type="dcterms:W3CDTF">2026-04-23T04:42:28Z</dcterms:created>
  <dcterms:modified xsi:type="dcterms:W3CDTF">2026-04-30T14:31:09Z</dcterms:modified>
</cp:coreProperties>
</file>