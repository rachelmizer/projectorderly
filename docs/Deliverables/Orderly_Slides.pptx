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9" r:id="rId4"/>
    <p:sldId id="261" r:id="rId5"/>
    <p:sldId id="272" r:id="rId6"/>
    <p:sldId id="273" r:id="rId7"/>
    <p:sldId id="262" r:id="rId8"/>
    <p:sldId id="269" r:id="rId9"/>
    <p:sldId id="270" r:id="rId10"/>
    <p:sldId id="271" r:id="rId11"/>
    <p:sldId id="260" r:id="rId12"/>
    <p:sldId id="264" r:id="rId13"/>
    <p:sldId id="263" r:id="rId14"/>
    <p:sldId id="265" r:id="rId15"/>
    <p:sldId id="266" r:id="rId16"/>
    <p:sldId id="267" r:id="rId17"/>
    <p:sldId id="268"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07"/>
    <p:restoredTop sz="67724"/>
  </p:normalViewPr>
  <p:slideViewPr>
    <p:cSldViewPr snapToGrid="0" snapToObjects="1">
      <p:cViewPr varScale="1">
        <p:scale>
          <a:sx n="111" d="100"/>
          <a:sy n="111" d="100"/>
        </p:scale>
        <p:origin x="1112" y="184"/>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UP NEXT</a:t>
            </a:r>
            <a:r>
              <a:rPr lang="en-US" dirty="0"/>
              <a:t>: What is it? (Serina continues..)</a:t>
            </a:r>
            <a:br>
              <a:rPr lang="en-US" dirty="0"/>
            </a:br>
            <a:br>
              <a:rPr lang="en-US" dirty="0"/>
            </a:br>
            <a:r>
              <a:rPr lang="en-US" dirty="0"/>
              <a:t>Hello, and Welcome!</a:t>
            </a:r>
            <a:br>
              <a:rPr lang="en-US" dirty="0"/>
            </a:br>
            <a:endParaRPr lang="en-US" dirty="0"/>
          </a:p>
          <a:p>
            <a:r>
              <a:rPr lang="en-US" dirty="0"/>
              <a:t>Today marks a huge milestone for our Team and we are excited to both share and showcase our collective efforts brought together by a team dedicated to putting our best efforts forward towards developing our software, Orderly.</a:t>
            </a:r>
          </a:p>
          <a:p>
            <a:endParaRPr lang="en-US" dirty="0"/>
          </a:p>
          <a:p>
            <a:r>
              <a:rPr lang="en-US" dirty="0"/>
              <a:t>My name is Serina, and I am both the Project Manager and SCRUM Master for a team of 6 academic developers. </a:t>
            </a:r>
          </a:p>
          <a:p>
            <a:endParaRPr lang="en-US" dirty="0"/>
          </a:p>
          <a:p>
            <a:r>
              <a:rPr lang="en-US" dirty="0"/>
              <a:t>As the PM, I served as the Main facilitator for our software development process. My role was to keep us aligned, moving, and accountable – from our very first planning meeting to shipping version 1.0.0 this week. </a:t>
            </a:r>
            <a:br>
              <a:rPr lang="en-US" dirty="0"/>
            </a:br>
            <a:br>
              <a:rPr lang="en-US" dirty="0"/>
            </a:br>
            <a:r>
              <a:rPr lang="en-US" dirty="0"/>
              <a:t>But </a:t>
            </a:r>
            <a:r>
              <a:rPr lang="en-US" b="1" dirty="0"/>
              <a:t>before</a:t>
            </a:r>
            <a:r>
              <a:rPr lang="en-US" b="0" dirty="0"/>
              <a:t> I talk about </a:t>
            </a:r>
            <a:r>
              <a:rPr lang="en-US" b="0" i="1" dirty="0"/>
              <a:t>how</a:t>
            </a:r>
            <a:r>
              <a:rPr lang="en-US" b="0" i="0" dirty="0"/>
              <a:t> we built it – let me tell you </a:t>
            </a:r>
            <a:r>
              <a:rPr lang="en-US" b="0" i="1" dirty="0"/>
              <a:t>what </a:t>
            </a:r>
            <a:r>
              <a:rPr lang="en-US" b="0" i="0" dirty="0"/>
              <a:t>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 UP NEXT: </a:t>
            </a:r>
            <a:r>
              <a:rPr lang="en-US" sz="1200" b="0" i="0" kern="1200" dirty="0">
                <a:solidFill>
                  <a:schemeClr val="tx1"/>
                </a:solidFill>
                <a:effectLst/>
                <a:latin typeface="+mn-lt"/>
                <a:ea typeface="+mn-ea"/>
                <a:cs typeface="+mn-cs"/>
              </a:rPr>
              <a:t>How Agile brought forward our sprint structure (Serina)</a:t>
            </a:r>
          </a:p>
          <a:p>
            <a:endParaRPr lang="en-US" sz="1200" b="0" i="0" kern="1200" dirty="0">
              <a:solidFill>
                <a:schemeClr val="tx1"/>
              </a:solidFill>
              <a:effectLst/>
              <a:latin typeface="+mn-lt"/>
              <a:ea typeface="+mn-ea"/>
              <a:cs typeface="+mn-cs"/>
            </a:endParaRPr>
          </a:p>
          <a:p>
            <a:r>
              <a:rPr lang="en-US" dirty="0"/>
              <a:t>So, what is Orderly?</a:t>
            </a:r>
          </a:p>
          <a:p>
            <a:endParaRPr lang="en-US" dirty="0"/>
          </a:p>
          <a:p>
            <a:r>
              <a:rPr lang="en-US" dirty="0"/>
              <a:t>At its core, Orderly is a </a:t>
            </a:r>
            <a:r>
              <a:rPr lang="en-US" b="1" dirty="0"/>
              <a:t>centralized web application</a:t>
            </a:r>
            <a:r>
              <a:rPr lang="en-US" dirty="0"/>
              <a:t> built to streamline operations for small to mid-sized businesses. </a:t>
            </a:r>
          </a:p>
          <a:p>
            <a:r>
              <a:rPr lang="en-US" dirty="0"/>
              <a:t>And the reason we built it comes down to a very real problem.</a:t>
            </a:r>
          </a:p>
          <a:p>
            <a:endParaRPr lang="en-US" dirty="0"/>
          </a:p>
          <a:p>
            <a:r>
              <a:rPr lang="en-US" dirty="0"/>
              <a:t>Small business owners are managing orders on paper, tracking inventory in spreadsheets, and piecing together tools that were never meant to work together. The result is manual processes, missed orders, and zero real-time visibility into what's actually happening in their business.</a:t>
            </a:r>
          </a:p>
          <a:p>
            <a:endParaRPr lang="en-US" dirty="0"/>
          </a:p>
          <a:p>
            <a:r>
              <a:rPr lang="en-US" dirty="0"/>
              <a:t>So we asked ourselves — what would it look like if all of that lived in one place?</a:t>
            </a:r>
          </a:p>
          <a:p>
            <a:endParaRPr lang="en-US" dirty="0"/>
          </a:p>
          <a:p>
            <a:r>
              <a:rPr lang="en-US" dirty="0"/>
              <a:t>Orderly is the answer to that question. A flexible, self-service ordering and business management platform </a:t>
            </a:r>
          </a:p>
          <a:p>
            <a:r>
              <a:rPr lang="en-US" dirty="0"/>
              <a:t>— with a customer-facing storefront and a full business admin portal, built together from the ground up.</a:t>
            </a:r>
          </a:p>
          <a:p>
            <a:endParaRPr lang="en-US" dirty="0"/>
          </a:p>
          <a:p>
            <a:r>
              <a:rPr lang="en-US" dirty="0"/>
              <a:t>Five sprints. Six team members. Over fifteen user features delivered.</a:t>
            </a:r>
          </a:p>
          <a:p>
            <a:r>
              <a:rPr lang="en-US" dirty="0"/>
              <a:t>And speaking of sprints — let me walk you through exactly how we got here.</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"15 features delivered”</a:t>
            </a:r>
            <a:r>
              <a:rPr lang="en-US" sz="1200" b="0" i="0" kern="1200" dirty="0">
                <a:solidFill>
                  <a:schemeClr val="tx1"/>
                </a:solidFill>
                <a:effectLst/>
                <a:latin typeface="+mn-lt"/>
                <a:ea typeface="+mn-ea"/>
                <a:cs typeface="+mn-cs"/>
              </a:rPr>
              <a:t>: counting by user-facing feature area rather than individual Trello cards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(which split each feature into UX/Frontend/Backend). </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 Product Browsing</a:t>
            </a:r>
            <a:r>
              <a:rPr lang="en-US" sz="1200" b="0" i="0" kern="1200" dirty="0">
                <a:solidFill>
                  <a:schemeClr val="tx1"/>
                </a:solidFill>
                <a:effectLst/>
                <a:latin typeface="+mn-lt"/>
                <a:ea typeface="+mn-ea"/>
                <a:cs typeface="+mn-cs"/>
              </a:rPr>
              <a:t> — browse the menu catalog</a:t>
            </a:r>
          </a:p>
          <a:p>
            <a:r>
              <a:rPr lang="en-US" sz="1200" b="1" i="0" kern="1200" dirty="0">
                <a:solidFill>
                  <a:schemeClr val="tx1"/>
                </a:solidFill>
                <a:effectLst/>
                <a:latin typeface="+mn-lt"/>
                <a:ea typeface="+mn-ea"/>
                <a:cs typeface="+mn-cs"/>
              </a:rPr>
              <a:t>2. Shopping Cart</a:t>
            </a:r>
            <a:r>
              <a:rPr lang="en-US" sz="1200" b="0" i="0" kern="1200" dirty="0">
                <a:solidFill>
                  <a:schemeClr val="tx1"/>
                </a:solidFill>
                <a:effectLst/>
                <a:latin typeface="+mn-lt"/>
                <a:ea typeface="+mn-ea"/>
                <a:cs typeface="+mn-cs"/>
              </a:rPr>
              <a:t> — persistent cart with customization display</a:t>
            </a:r>
          </a:p>
          <a:p>
            <a:r>
              <a:rPr lang="en-US" sz="1200" b="1" i="0" kern="1200" dirty="0">
                <a:solidFill>
                  <a:schemeClr val="tx1"/>
                </a:solidFill>
                <a:effectLst/>
                <a:latin typeface="+mn-lt"/>
                <a:ea typeface="+mn-ea"/>
                <a:cs typeface="+mn-cs"/>
              </a:rPr>
              <a:t>3. Item Customization</a:t>
            </a:r>
            <a:r>
              <a:rPr lang="en-US" sz="1200" b="0" i="0" kern="1200" dirty="0">
                <a:solidFill>
                  <a:schemeClr val="tx1"/>
                </a:solidFill>
                <a:effectLst/>
                <a:latin typeface="+mn-lt"/>
                <a:ea typeface="+mn-ea"/>
                <a:cs typeface="+mn-cs"/>
              </a:rPr>
              <a:t> — modifier selection with live price updates</a:t>
            </a:r>
          </a:p>
          <a:p>
            <a:r>
              <a:rPr lang="en-US" sz="1200" b="1" i="0" kern="1200" dirty="0">
                <a:solidFill>
                  <a:schemeClr val="tx1"/>
                </a:solidFill>
                <a:effectLst/>
                <a:latin typeface="+mn-lt"/>
                <a:ea typeface="+mn-ea"/>
                <a:cs typeface="+mn-cs"/>
              </a:rPr>
              <a:t>4. Checkout</a:t>
            </a:r>
            <a:r>
              <a:rPr lang="en-US" sz="1200" b="0" i="0" kern="1200" dirty="0">
                <a:solidFill>
                  <a:schemeClr val="tx1"/>
                </a:solidFill>
                <a:effectLst/>
                <a:latin typeface="+mn-lt"/>
                <a:ea typeface="+mn-ea"/>
                <a:cs typeface="+mn-cs"/>
              </a:rPr>
              <a:t> — submit an order</a:t>
            </a:r>
          </a:p>
          <a:p>
            <a:r>
              <a:rPr lang="en-US" sz="1200" b="1" i="0" kern="1200" dirty="0">
                <a:solidFill>
                  <a:schemeClr val="tx1"/>
                </a:solidFill>
                <a:effectLst/>
                <a:latin typeface="+mn-lt"/>
                <a:ea typeface="+mn-ea"/>
                <a:cs typeface="+mn-cs"/>
              </a:rPr>
              <a:t>5. Order Confirmation</a:t>
            </a:r>
            <a:r>
              <a:rPr lang="en-US" sz="1200" b="0" i="0" kern="1200" dirty="0">
                <a:solidFill>
                  <a:schemeClr val="tx1"/>
                </a:solidFill>
                <a:effectLst/>
                <a:latin typeface="+mn-lt"/>
                <a:ea typeface="+mn-ea"/>
                <a:cs typeface="+mn-cs"/>
              </a:rPr>
              <a:t> — receipt after placing an order</a:t>
            </a:r>
          </a:p>
          <a:p>
            <a:r>
              <a:rPr lang="en-US" sz="1200" b="1" i="0" kern="1200" dirty="0">
                <a:solidFill>
                  <a:schemeClr val="tx1"/>
                </a:solidFill>
                <a:effectLst/>
                <a:latin typeface="+mn-lt"/>
                <a:ea typeface="+mn-ea"/>
                <a:cs typeface="+mn-cs"/>
              </a:rPr>
              <a:t>6. Order History</a:t>
            </a:r>
            <a:r>
              <a:rPr lang="en-US" sz="1200" b="0" i="0" kern="1200" dirty="0">
                <a:solidFill>
                  <a:schemeClr val="tx1"/>
                </a:solidFill>
                <a:effectLst/>
                <a:latin typeface="+mn-lt"/>
                <a:ea typeface="+mn-ea"/>
                <a:cs typeface="+mn-cs"/>
              </a:rPr>
              <a:t> — customer view of past orders</a:t>
            </a:r>
          </a:p>
          <a:p>
            <a:r>
              <a:rPr lang="en-US" sz="1200" b="1" i="0" kern="1200" dirty="0">
                <a:solidFill>
                  <a:schemeClr val="tx1"/>
                </a:solidFill>
                <a:effectLst/>
                <a:latin typeface="+mn-lt"/>
                <a:ea typeface="+mn-ea"/>
                <a:cs typeface="+mn-cs"/>
              </a:rPr>
              <a:t>7. Customer Order Cancellation</a:t>
            </a:r>
            <a:r>
              <a:rPr lang="en-US" sz="1200" b="0" i="0" kern="1200" dirty="0">
                <a:solidFill>
                  <a:schemeClr val="tx1"/>
                </a:solidFill>
                <a:effectLst/>
                <a:latin typeface="+mn-lt"/>
                <a:ea typeface="+mn-ea"/>
                <a:cs typeface="+mn-cs"/>
              </a:rPr>
              <a:t> — cancel a placed order</a:t>
            </a:r>
          </a:p>
          <a:p>
            <a:r>
              <a:rPr lang="en-US" sz="1200" b="1" i="0" kern="1200" dirty="0">
                <a:solidFill>
                  <a:schemeClr val="tx1"/>
                </a:solidFill>
                <a:effectLst/>
                <a:latin typeface="+mn-lt"/>
                <a:ea typeface="+mn-ea"/>
                <a:cs typeface="+mn-cs"/>
              </a:rPr>
              <a:t>8. Admin Dashboard Navigation</a:t>
            </a:r>
            <a:r>
              <a:rPr lang="en-US" sz="1200" b="0" i="0" kern="1200" dirty="0">
                <a:solidFill>
                  <a:schemeClr val="tx1"/>
                </a:solidFill>
                <a:effectLst/>
                <a:latin typeface="+mn-lt"/>
                <a:ea typeface="+mn-ea"/>
                <a:cs typeface="+mn-cs"/>
              </a:rPr>
              <a:t> — unified admin hub</a:t>
            </a:r>
          </a:p>
          <a:p>
            <a:r>
              <a:rPr lang="en-US" sz="1200" b="1" i="0" kern="1200" dirty="0">
                <a:solidFill>
                  <a:schemeClr val="tx1"/>
                </a:solidFill>
                <a:effectLst/>
                <a:latin typeface="+mn-lt"/>
                <a:ea typeface="+mn-ea"/>
                <a:cs typeface="+mn-cs"/>
              </a:rPr>
              <a:t>9. Product &amp; Variant Management</a:t>
            </a:r>
            <a:r>
              <a:rPr lang="en-US" sz="1200" b="0" i="0" kern="1200" dirty="0">
                <a:solidFill>
                  <a:schemeClr val="tx1"/>
                </a:solidFill>
                <a:effectLst/>
                <a:latin typeface="+mn-lt"/>
                <a:ea typeface="+mn-ea"/>
                <a:cs typeface="+mn-cs"/>
              </a:rPr>
              <a:t> — full CRUD for products</a:t>
            </a:r>
          </a:p>
          <a:p>
            <a:r>
              <a:rPr lang="en-US" sz="1200" b="1" i="0" kern="1200" dirty="0">
                <a:solidFill>
                  <a:schemeClr val="tx1"/>
                </a:solidFill>
                <a:effectLst/>
                <a:latin typeface="+mn-lt"/>
                <a:ea typeface="+mn-ea"/>
                <a:cs typeface="+mn-cs"/>
              </a:rPr>
              <a:t>10. Inventory Management</a:t>
            </a:r>
            <a:r>
              <a:rPr lang="en-US" sz="1200" b="0" i="0" kern="1200" dirty="0">
                <a:solidFill>
                  <a:schemeClr val="tx1"/>
                </a:solidFill>
                <a:effectLst/>
                <a:latin typeface="+mn-lt"/>
                <a:ea typeface="+mn-ea"/>
                <a:cs typeface="+mn-cs"/>
              </a:rPr>
              <a:t> — stock tracking and adjustments</a:t>
            </a:r>
          </a:p>
          <a:p>
            <a:r>
              <a:rPr lang="en-US" sz="1200" b="1" i="0" kern="1200" dirty="0">
                <a:solidFill>
                  <a:schemeClr val="tx1"/>
                </a:solidFill>
                <a:effectLst/>
                <a:latin typeface="+mn-lt"/>
                <a:ea typeface="+mn-ea"/>
                <a:cs typeface="+mn-cs"/>
              </a:rPr>
              <a:t>11. Sales Summary Dashboard</a:t>
            </a:r>
            <a:r>
              <a:rPr lang="en-US" sz="1200" b="0" i="0" kern="1200" dirty="0">
                <a:solidFill>
                  <a:schemeClr val="tx1"/>
                </a:solidFill>
                <a:effectLst/>
                <a:latin typeface="+mn-lt"/>
                <a:ea typeface="+mn-ea"/>
                <a:cs typeface="+mn-cs"/>
              </a:rPr>
              <a:t> — revenue trends and analytics</a:t>
            </a:r>
          </a:p>
          <a:p>
            <a:r>
              <a:rPr lang="en-US" sz="1200" b="1" i="0" kern="1200" dirty="0">
                <a:solidFill>
                  <a:schemeClr val="tx1"/>
                </a:solidFill>
                <a:effectLst/>
                <a:latin typeface="+mn-lt"/>
                <a:ea typeface="+mn-ea"/>
                <a:cs typeface="+mn-cs"/>
              </a:rPr>
              <a:t>12. Low Stock Indicators</a:t>
            </a:r>
            <a:r>
              <a:rPr lang="en-US" sz="1200" b="0" i="0" kern="1200" dirty="0">
                <a:solidFill>
                  <a:schemeClr val="tx1"/>
                </a:solidFill>
                <a:effectLst/>
                <a:latin typeface="+mn-lt"/>
                <a:ea typeface="+mn-ea"/>
                <a:cs typeface="+mn-cs"/>
              </a:rPr>
              <a:t> — real-time stock alerts</a:t>
            </a:r>
          </a:p>
          <a:p>
            <a:r>
              <a:rPr lang="en-US" sz="1200" b="1" i="0" kern="1200" dirty="0">
                <a:solidFill>
                  <a:schemeClr val="tx1"/>
                </a:solidFill>
                <a:effectLst/>
                <a:latin typeface="+mn-lt"/>
                <a:ea typeface="+mn-ea"/>
                <a:cs typeface="+mn-cs"/>
              </a:rPr>
              <a:t>13. Admin Orders Management</a:t>
            </a:r>
            <a:r>
              <a:rPr lang="en-US" sz="1200" b="0" i="0" kern="1200" dirty="0">
                <a:solidFill>
                  <a:schemeClr val="tx1"/>
                </a:solidFill>
                <a:effectLst/>
                <a:latin typeface="+mn-lt"/>
                <a:ea typeface="+mn-ea"/>
                <a:cs typeface="+mn-cs"/>
              </a:rPr>
              <a:t> — view and manage all orders</a:t>
            </a:r>
          </a:p>
          <a:p>
            <a:r>
              <a:rPr lang="en-US" sz="1200" b="1" i="0" kern="1200" dirty="0">
                <a:solidFill>
                  <a:schemeClr val="tx1"/>
                </a:solidFill>
                <a:effectLst/>
                <a:latin typeface="+mn-lt"/>
                <a:ea typeface="+mn-ea"/>
                <a:cs typeface="+mn-cs"/>
              </a:rPr>
              <a:t>14. Settings</a:t>
            </a:r>
            <a:r>
              <a:rPr lang="en-US" sz="1200" b="0" i="0" kern="1200" dirty="0">
                <a:solidFill>
                  <a:schemeClr val="tx1"/>
                </a:solidFill>
                <a:effectLst/>
                <a:latin typeface="+mn-lt"/>
                <a:ea typeface="+mn-ea"/>
                <a:cs typeface="+mn-cs"/>
              </a:rPr>
              <a:t> — business profile and preference config</a:t>
            </a:r>
          </a:p>
          <a:p>
            <a:r>
              <a:rPr lang="en-US" sz="1200" b="1" i="0" kern="1200" dirty="0">
                <a:solidFill>
                  <a:schemeClr val="tx1"/>
                </a:solidFill>
                <a:effectLst/>
                <a:latin typeface="+mn-lt"/>
                <a:ea typeface="+mn-ea"/>
                <a:cs typeface="+mn-cs"/>
              </a:rPr>
              <a:t>15. Profile Page</a:t>
            </a:r>
            <a:r>
              <a:rPr lang="en-US" sz="1200" b="0" i="0" kern="1200" dirty="0">
                <a:solidFill>
                  <a:schemeClr val="tx1"/>
                </a:solidFill>
                <a:effectLst/>
                <a:latin typeface="+mn-lt"/>
                <a:ea typeface="+mn-ea"/>
                <a:cs typeface="+mn-cs"/>
              </a:rPr>
              <a:t> — customer profile management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dirty="0"/>
              <a:t>KIM (following slide)</a:t>
            </a:r>
          </a:p>
          <a:p>
            <a:r>
              <a:rPr lang="en-US" dirty="0"/>
              <a:t>To share what our team development delivered and how we scoped it all out!</a:t>
            </a:r>
          </a:p>
          <a:p>
            <a:endParaRPr lang="en-US" dirty="0"/>
          </a:p>
          <a:p>
            <a:r>
              <a:rPr lang="en-US" b="1" u="sng" dirty="0"/>
              <a:t>Script</a:t>
            </a:r>
            <a:r>
              <a:rPr lang="en-US" dirty="0"/>
              <a:t>:</a:t>
            </a:r>
          </a:p>
          <a:p>
            <a:r>
              <a:rPr lang="en-US" dirty="0"/>
              <a:t>So let me walk you through how we actually built this.</a:t>
            </a:r>
          </a:p>
          <a:p>
            <a:endParaRPr lang="en-US" dirty="0"/>
          </a:p>
          <a:p>
            <a:r>
              <a:rPr lang="en-US" dirty="0"/>
              <a:t>We followed an Agile Scrum methodology across five two-week sprints, running from January through April. Each sprint had a clear focus — we started with Foundation, laying out our architecture, standards, and development environment. From there we built up our data layer, then our engineering backbone, then the full customer experience, and finally the business admin tools.</a:t>
            </a:r>
          </a:p>
          <a:p>
            <a:endParaRPr lang="en-US" dirty="0"/>
          </a:p>
          <a:p>
            <a:r>
              <a:rPr lang="en-US" dirty="0"/>
              <a:t>The timeline on this slide tells that story. </a:t>
            </a:r>
          </a:p>
          <a:p>
            <a:r>
              <a:rPr lang="en-US" dirty="0"/>
              <a:t>You can see the sprint milestones, our spring break, and then the final push — code freeze on April 24th, deployed on the 25th, and here we are today.</a:t>
            </a:r>
          </a:p>
          <a:p>
            <a:endParaRPr lang="en-US" dirty="0"/>
          </a:p>
          <a:p>
            <a:r>
              <a:rPr lang="en-US" dirty="0"/>
              <a:t>Built across </a:t>
            </a:r>
            <a:r>
              <a:rPr lang="en-US" b="1" dirty="0"/>
              <a:t>Fourteen weeks </a:t>
            </a:r>
            <a:r>
              <a:rPr lang="en-US" dirty="0"/>
              <a:t>through </a:t>
            </a:r>
            <a:r>
              <a:rPr lang="en-US" b="1" dirty="0"/>
              <a:t>Five sprint reviews</a:t>
            </a:r>
            <a:r>
              <a:rPr lang="en-US" dirty="0"/>
              <a:t> </a:t>
            </a:r>
            <a:r>
              <a:rPr lang="en-US" i="1" dirty="0"/>
              <a:t>and</a:t>
            </a:r>
            <a:r>
              <a:rPr lang="en-US" dirty="0"/>
              <a:t> </a:t>
            </a:r>
            <a:r>
              <a:rPr lang="en-US" b="1" dirty="0"/>
              <a:t>retrospectives</a:t>
            </a:r>
            <a:r>
              <a:rPr lang="en-US" dirty="0"/>
              <a:t>. </a:t>
            </a:r>
            <a:r>
              <a:rPr lang="en-US" b="1" dirty="0"/>
              <a:t>Facilitating over thirty </a:t>
            </a:r>
            <a:r>
              <a:rPr lang="en-US" dirty="0"/>
              <a:t>team meetings using </a:t>
            </a:r>
            <a:r>
              <a:rPr lang="en-US" b="1" dirty="0"/>
              <a:t>Two Kanban Trello boards </a:t>
            </a:r>
            <a:r>
              <a:rPr lang="en-US" b="0" dirty="0"/>
              <a:t>that served </a:t>
            </a:r>
            <a:r>
              <a:rPr lang="en-US" dirty="0"/>
              <a:t>as  our Team’s process organization. </a:t>
            </a:r>
            <a:br>
              <a:rPr lang="en-US" dirty="0"/>
            </a:br>
            <a:r>
              <a:rPr lang="en-US" dirty="0"/>
              <a:t>All under one </a:t>
            </a:r>
            <a:r>
              <a:rPr lang="en-US" b="1" dirty="0"/>
              <a:t>product development plan</a:t>
            </a:r>
            <a:r>
              <a:rPr lang="en-US" dirty="0"/>
              <a:t>… </a:t>
            </a:r>
            <a:r>
              <a:rPr lang="en-US" i="1" dirty="0"/>
              <a:t>Iteratively built</a:t>
            </a:r>
            <a:r>
              <a:rPr lang="en-US" dirty="0"/>
              <a:t>, from the ground up.</a:t>
            </a:r>
            <a:br>
              <a:rPr lang="en-US" dirty="0"/>
            </a:br>
            <a:endParaRPr lang="en-US" dirty="0"/>
          </a:p>
          <a:p>
            <a:r>
              <a:rPr lang="en-US" dirty="0"/>
              <a:t>I'll now hand it over to Kim, our Product Owner, to walk you through what we delivered.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Kim</a:t>
            </a:r>
          </a:p>
          <a:p>
            <a:r>
              <a:rPr lang="en-US" dirty="0"/>
              <a:t>Note: These are the key features! Highlight them and let them shine through. Then… </a:t>
            </a:r>
          </a:p>
          <a:p>
            <a:r>
              <a:rPr lang="en-US" dirty="0"/>
              <a:t>Transition into the next slide to talk about the Epics that brought them to life plus BONUS stats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r>
              <a:rPr lang="en-US" dirty="0"/>
              <a:t>🟡 KIM:</a:t>
            </a:r>
            <a:br>
              <a:rPr lang="en-US" dirty="0"/>
            </a:br>
            <a:r>
              <a:rPr lang="en-US" dirty="0"/>
              <a:t>The previous slide listed out the key features. </a:t>
            </a:r>
            <a:br>
              <a:rPr lang="en-US" dirty="0"/>
            </a:br>
            <a:r>
              <a:rPr lang="en-US" dirty="0"/>
              <a:t>Transition into this slide and focus on the Epics that were delivered + Bonus Stats ✨</a:t>
            </a:r>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r>
              <a:rPr lang="en-US" b="1" dirty="0"/>
              <a:t>🟡 Up Next: </a:t>
            </a:r>
            <a:r>
              <a:rPr lang="en-US" b="0" dirty="0"/>
              <a:t>What we are proud of (Kim continues..)</a:t>
            </a:r>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Frontend Development (Rachel!)</a:t>
            </a:r>
            <a:br>
              <a:rPr lang="en-US" b="0" dirty="0"/>
            </a:br>
            <a:r>
              <a:rPr lang="en-US" b="0" dirty="0"/>
              <a:t>Transition with ”A Product that Actually feels like one…” into User Experience</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Up Next: </a:t>
            </a:r>
            <a:r>
              <a:rPr lang="en-US" b="0" dirty="0"/>
              <a:t>See it all in Action – Customer Storefront + Admin Dashboard (Rachel Continues..)</a:t>
            </a:r>
            <a:endParaRPr lang="en-US" b="1" dirty="0"/>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Up Next: </a:t>
            </a:r>
            <a:r>
              <a:rPr lang="en-US" b="0" dirty="0"/>
              <a:t>See it all in Action PT II Customer Profile + Business Tools - (Rachel Continues..)</a:t>
            </a:r>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Up Next: </a:t>
            </a:r>
            <a:r>
              <a:rPr lang="en-US" b="0" dirty="0"/>
              <a:t>Backend Development (Tristin!)</a:t>
            </a:r>
            <a:br>
              <a:rPr lang="en-US" b="0" dirty="0"/>
            </a:br>
            <a:r>
              <a:rPr lang="en-US" b="0" dirty="0"/>
              <a:t>Transition with ”Frontend had to start somewhere, in the backend! Let’s find out how it all worked behind the scenes of UI” </a:t>
            </a:r>
            <a:r>
              <a:rPr lang="en-US" b="0" i="1" dirty="0"/>
              <a:t>or something similar</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Deployment (Tristin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⏭️Up Next: </a:t>
            </a:r>
            <a:r>
              <a:rPr lang="en-US" b="0" dirty="0"/>
              <a:t>QA Strategy (Kenny)</a:t>
            </a:r>
            <a:br>
              <a:rPr lang="en-US" b="0" dirty="0"/>
            </a:br>
            <a:r>
              <a:rPr lang="en-US" b="0" dirty="0"/>
              <a:t>Transition with ”We have had a ton of moving parts but the glue that kept it together was our strategic approach to testing and quality assurance..”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The Value of Feedback (Caleb)</a:t>
            </a:r>
            <a:br>
              <a:rPr lang="en-US" b="0" dirty="0"/>
            </a:br>
            <a:r>
              <a:rPr lang="en-US" b="0" dirty="0"/>
              <a:t>Transition with ”Test Results served as valuable feedback amongst other sources within our development, let’s hear more about how”… </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What does the future hold in upcoming development- (Caleb Continues..)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dirty="0"/>
              <a:t>Wrap UP (Serina)</a:t>
            </a:r>
            <a:br>
              <a:rPr lang="en-US" b="0" dirty="0"/>
            </a:br>
            <a:r>
              <a:rPr lang="en-US" b="0" dirty="0"/>
              <a:t>Transition with ”Now back to our PM as she guides us through our final messages ”… </a:t>
            </a:r>
            <a:r>
              <a:rPr lang="en-US" b="0" i="1" dirty="0"/>
              <a:t>or something similar</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Up Next: “</a:t>
            </a:r>
            <a:r>
              <a:rPr lang="en-US" b="0" i="1" dirty="0"/>
              <a:t>Before we present our demonstration, we have about ~_____ minutes for questions.” </a:t>
            </a:r>
            <a:r>
              <a:rPr lang="en-US" b="0" dirty="0"/>
              <a:t>(Next Slide, whole team ready on standby)</a:t>
            </a:r>
          </a:p>
          <a:p>
            <a:endParaRPr lang="en-US" b="0" dirty="0"/>
          </a:p>
          <a:p>
            <a:r>
              <a:rPr lang="en-US" dirty="0"/>
              <a:t>Before I open the floor for questions, I want to close with what this experience </a:t>
            </a:r>
            <a:r>
              <a:rPr lang="en-US" i="1" dirty="0"/>
              <a:t>actually</a:t>
            </a:r>
            <a:r>
              <a:rPr lang="en-US" dirty="0"/>
              <a:t> taught us.</a:t>
            </a:r>
          </a:p>
          <a:p>
            <a:endParaRPr lang="en-US" dirty="0"/>
          </a:p>
          <a:p>
            <a:r>
              <a:rPr lang="en-US" b="1" dirty="0"/>
              <a:t>Dependency-first planning </a:t>
            </a:r>
            <a:r>
              <a:rPr lang="en-US" dirty="0"/>
              <a:t>changed how we worked. </a:t>
            </a:r>
          </a:p>
          <a:p>
            <a:r>
              <a:rPr lang="en-US" dirty="0"/>
              <a:t>Early in the project, we learned the hard way that when one piece arrives late… everything downstream stalls. </a:t>
            </a:r>
          </a:p>
          <a:p>
            <a:endParaRPr lang="en-US" b="1" dirty="0"/>
          </a:p>
          <a:p>
            <a:r>
              <a:rPr lang="en-US" b="1" dirty="0"/>
              <a:t>.. Wave-based delivery </a:t>
            </a:r>
            <a:r>
              <a:rPr lang="en-US" dirty="0"/>
              <a:t>fixed that — and it's something I'll carry into every project I manage going forward</a:t>
            </a:r>
            <a:r>
              <a:rPr lang="en-US" b="1" dirty="0"/>
              <a:t>, </a:t>
            </a:r>
          </a:p>
          <a:p>
            <a:r>
              <a:rPr lang="en-US" b="1" dirty="0"/>
              <a:t>or at the very least…</a:t>
            </a:r>
            <a:r>
              <a:rPr lang="en-US" dirty="0"/>
              <a:t> having a contingency plan for dependencies.</a:t>
            </a:r>
            <a:br>
              <a:rPr lang="en-US" dirty="0"/>
            </a:br>
            <a:endParaRPr lang="en-US" dirty="0"/>
          </a:p>
          <a:p>
            <a:r>
              <a:rPr lang="en-US" b="1" dirty="0"/>
              <a:t>Vocabulary matters more than we expected</a:t>
            </a:r>
            <a:r>
              <a:rPr lang="en-US" dirty="0"/>
              <a:t>. Understanding the language of APIs, endpoints, and contracts earlier would have saved us real time across the team. </a:t>
            </a:r>
          </a:p>
          <a:p>
            <a:r>
              <a:rPr lang="en-US" dirty="0"/>
              <a:t>Communication only works when everyone is speaking the </a:t>
            </a:r>
            <a:r>
              <a:rPr lang="en-US" b="1" dirty="0"/>
              <a:t>same</a:t>
            </a:r>
            <a:r>
              <a:rPr lang="en-US" dirty="0"/>
              <a:t> language.</a:t>
            </a:r>
          </a:p>
          <a:p>
            <a:endParaRPr lang="en-US" dirty="0"/>
          </a:p>
          <a:p>
            <a:r>
              <a:rPr lang="en-US" dirty="0"/>
              <a:t>Importantly, </a:t>
            </a:r>
            <a:r>
              <a:rPr lang="en-US" i="1" dirty="0"/>
              <a:t>Collaborative development is a skill </a:t>
            </a:r>
            <a:r>
              <a:rPr lang="en-US" dirty="0"/>
              <a:t>— and it's one we built </a:t>
            </a:r>
            <a:r>
              <a:rPr lang="en-US" b="1" dirty="0"/>
              <a:t>sprint over sprint</a:t>
            </a:r>
            <a:r>
              <a:rPr lang="en-US" dirty="0"/>
              <a:t>. </a:t>
            </a:r>
          </a:p>
          <a:p>
            <a:r>
              <a:rPr lang="en-US" dirty="0"/>
              <a:t>Better PR habits, better check-ins, better handoffs. It didn't happen overnight, but </a:t>
            </a:r>
            <a:r>
              <a:rPr lang="en-US" b="1" i="1" dirty="0"/>
              <a:t>it</a:t>
            </a:r>
            <a:r>
              <a:rPr lang="en-US" dirty="0"/>
              <a:t> </a:t>
            </a:r>
            <a:r>
              <a:rPr lang="en-US" b="1" i="1" dirty="0"/>
              <a:t>happened</a:t>
            </a:r>
            <a:r>
              <a:rPr lang="en-US" dirty="0"/>
              <a:t>.</a:t>
            </a:r>
          </a:p>
          <a:p>
            <a:endParaRPr lang="en-US" dirty="0"/>
          </a:p>
          <a:p>
            <a:r>
              <a:rPr lang="en-US" dirty="0"/>
              <a:t>And lastly, Agile works when the team owns it. </a:t>
            </a:r>
          </a:p>
          <a:p>
            <a:r>
              <a:rPr lang="en-US" dirty="0"/>
              <a:t>We didn't just note our retrospective actions. We </a:t>
            </a:r>
            <a:r>
              <a:rPr lang="en-US" b="1" dirty="0"/>
              <a:t>acted on </a:t>
            </a:r>
            <a:r>
              <a:rPr lang="en-US" dirty="0"/>
              <a:t>them. Every sprint closed </a:t>
            </a:r>
            <a:r>
              <a:rPr lang="en-US" i="1" dirty="0"/>
              <a:t>better than</a:t>
            </a:r>
            <a:r>
              <a:rPr lang="en-US" dirty="0"/>
              <a:t> the one before it.</a:t>
            </a:r>
          </a:p>
          <a:p>
            <a:endParaRPr lang="en-US" dirty="0"/>
          </a:p>
          <a:p>
            <a:r>
              <a:rPr lang="en-US" dirty="0"/>
              <a:t>We built something real. A platform that looks, works, and ships like professional software. </a:t>
            </a:r>
          </a:p>
          <a:p>
            <a:r>
              <a:rPr lang="en-US" dirty="0"/>
              <a:t>And we built it together — as </a:t>
            </a:r>
            <a:r>
              <a:rPr lang="en-US" b="1" dirty="0"/>
              <a:t>academic</a:t>
            </a:r>
            <a:r>
              <a:rPr lang="en-US" dirty="0"/>
              <a:t> </a:t>
            </a:r>
            <a:r>
              <a:rPr lang="en-US" i="1" dirty="0"/>
              <a:t>software developers</a:t>
            </a:r>
            <a:r>
              <a:rPr lang="en-US" dirty="0"/>
              <a:t>. 👏</a:t>
            </a:r>
          </a:p>
          <a:p>
            <a:endParaRPr lang="en-US" dirty="0"/>
          </a:p>
          <a:p>
            <a:r>
              <a:rPr lang="en-US" dirty="0"/>
              <a:t>Thank you. </a:t>
            </a:r>
          </a:p>
          <a:p>
            <a:r>
              <a:rPr lang="en-US" dirty="0"/>
              <a:t>We'll now open the floor for questions — before we bring everything together with a demo, </a:t>
            </a:r>
          </a:p>
          <a:p>
            <a:r>
              <a:rPr lang="en-US" dirty="0"/>
              <a:t>built and delivered by your team of dedicated Project Capstone students.</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xmlns:p14="http://schemas.microsoft.com/office/powerpoint/2010/main">
    <mc:Choice Requires="p14">
      <p:transition spd="slow" p14:dur="1750">
        <p:pull/>
      </p:transition>
    </mc:Choice>
    <mc:Fallback xmlns="">
      <p:transition spd="slow">
        <p:pull/>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par>
                          <p:cTn id="8" fill="hold">
                            <p:stCondLst>
                              <p:cond delay="500"/>
                            </p:stCondLst>
                            <p:childTnLst>
                              <p:par>
                                <p:cTn id="9" presetID="18" presetClass="entr" presetSubtype="12"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strips(downLeft)">
                                      <p:cBhvr>
                                        <p:cTn id="11" dur="1000"/>
                                        <p:tgtEl>
                                          <p:spTgt spid="10"/>
                                        </p:tgtEl>
                                      </p:cBhvr>
                                    </p:animEffect>
                                  </p:childTnLst>
                                </p:cTn>
                              </p:par>
                            </p:childTnLst>
                          </p:cTn>
                        </p:par>
                        <p:par>
                          <p:cTn id="12" fill="hold">
                            <p:stCondLst>
                              <p:cond delay="1500"/>
                            </p:stCondLst>
                            <p:childTnLst>
                              <p:par>
                                <p:cTn id="13" presetID="43" presetClass="entr" presetSubtype="0"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00"/>
                                        <p:tgtEl>
                                          <p:spTgt spid="13"/>
                                        </p:tgtEl>
                                      </p:cBhvr>
                                    </p:animEffect>
                                    <p:anim calcmode="lin" valueType="num">
                                      <p:cBhvr>
                                        <p:cTn id="16" dur="800" fill="hold"/>
                                        <p:tgtEl>
                                          <p:spTgt spid="13"/>
                                        </p:tgtEl>
                                        <p:attrNameLst>
                                          <p:attrName>ppt_x</p:attrName>
                                        </p:attrNameLst>
                                      </p:cBhvr>
                                      <p:tavLst>
                                        <p:tav tm="0">
                                          <p:val>
                                            <p:strVal val="#ppt_x"/>
                                          </p:val>
                                        </p:tav>
                                        <p:tav tm="100000">
                                          <p:val>
                                            <p:strVal val="#ppt_x"/>
                                          </p:val>
                                        </p:tav>
                                      </p:tavLst>
                                    </p:anim>
                                    <p:anim calcmode="lin" valueType="num">
                                      <p:cBhvr>
                                        <p:cTn id="17" dur="800" fill="hold"/>
                                        <p:tgtEl>
                                          <p:spTgt spid="13"/>
                                        </p:tgtEl>
                                        <p:attrNameLst>
                                          <p:attrName>ppt_y</p:attrName>
                                        </p:attrNameLst>
                                      </p:cBhvr>
                                      <p:tavLst>
                                        <p:tav tm="0">
                                          <p:val>
                                            <p:strVal val="#ppt_y+0.31"/>
                                          </p:val>
                                        </p:tav>
                                        <p:tav tm="100000">
                                          <p:val>
                                            <p:strVal val="#ppt_y+0.31"/>
                                          </p:val>
                                        </p:tav>
                                      </p:tavLst>
                                    </p:anim>
                                    <p:anim calcmode="lin" valueType="num">
                                      <p:cBhvr>
                                        <p:cTn id="18" dur="1200" decel="50000" fill="hold">
                                          <p:stCondLst>
                                            <p:cond delay="800"/>
                                          </p:stCondLst>
                                        </p:cTn>
                                        <p:tgtEl>
                                          <p:spTgt spid="13"/>
                                        </p:tgtEl>
                                        <p:attrNameLst>
                                          <p:attrName>ppt_x</p:attrName>
                                        </p:attrNameLst>
                                      </p:cBhvr>
                                      <p:tavLst>
                                        <p:tav tm="0">
                                          <p:val>
                                            <p:strVal val="#ppt_x"/>
                                          </p:val>
                                        </p:tav>
                                        <p:tav tm="5000">
                                          <p:val>
                                            <p:strVal val="#ppt_x+0.0242"/>
                                          </p:val>
                                        </p:tav>
                                        <p:tav tm="10000">
                                          <p:val>
                                            <p:strVal val="#ppt_x+0.0479"/>
                                          </p:val>
                                        </p:tav>
                                        <p:tav tm="15000">
                                          <p:val>
                                            <p:strVal val="#ppt_x+0.0704"/>
                                          </p:val>
                                        </p:tav>
                                        <p:tav tm="20000">
                                          <p:val>
                                            <p:strVal val="#ppt_x+0.0911"/>
                                          </p:val>
                                        </p:tav>
                                        <p:tav tm="25000">
                                          <p:val>
                                            <p:strVal val="#ppt_x+0.1096"/>
                                          </p:val>
                                        </p:tav>
                                        <p:tav tm="30000">
                                          <p:val>
                                            <p:strVal val="#ppt_x+0.1254"/>
                                          </p:val>
                                        </p:tav>
                                        <p:tav tm="35000">
                                          <p:val>
                                            <p:strVal val="#ppt_x+0.1381"/>
                                          </p:val>
                                        </p:tav>
                                        <p:tav tm="40000">
                                          <p:val>
                                            <p:strVal val="#ppt_x+0.1474"/>
                                          </p:val>
                                        </p:tav>
                                        <p:tav tm="45000">
                                          <p:val>
                                            <p:strVal val="#ppt_x+0.1531"/>
                                          </p:val>
                                        </p:tav>
                                        <p:tav tm="50000">
                                          <p:val>
                                            <p:strVal val="#ppt_x+0.1550"/>
                                          </p:val>
                                        </p:tav>
                                        <p:tav tm="55000">
                                          <p:val>
                                            <p:strVal val="#ppt_x+0.1531"/>
                                          </p:val>
                                        </p:tav>
                                        <p:tav tm="60000">
                                          <p:val>
                                            <p:strVal val="#ppt_x+0.1474"/>
                                          </p:val>
                                        </p:tav>
                                        <p:tav tm="65000">
                                          <p:val>
                                            <p:strVal val="#ppt_x+0.1381"/>
                                          </p:val>
                                        </p:tav>
                                        <p:tav tm="70000">
                                          <p:val>
                                            <p:strVal val="#ppt_x+0.1254"/>
                                          </p:val>
                                        </p:tav>
                                        <p:tav tm="75000">
                                          <p:val>
                                            <p:strVal val="#ppt_x+0.1096"/>
                                          </p:val>
                                        </p:tav>
                                        <p:tav tm="80000">
                                          <p:val>
                                            <p:strVal val="#ppt_x+0.0911"/>
                                          </p:val>
                                        </p:tav>
                                        <p:tav tm="85000">
                                          <p:val>
                                            <p:strVal val="#ppt_x+0.0704"/>
                                          </p:val>
                                        </p:tav>
                                        <p:tav tm="90000">
                                          <p:val>
                                            <p:strVal val="#ppt_x+0.0479"/>
                                          </p:val>
                                        </p:tav>
                                        <p:tav tm="95000">
                                          <p:val>
                                            <p:strVal val="#ppt_x+0.0242"/>
                                          </p:val>
                                        </p:tav>
                                        <p:tav tm="100000">
                                          <p:val>
                                            <p:strVal val="#ppt_x"/>
                                          </p:val>
                                        </p:tav>
                                      </p:tavLst>
                                    </p:anim>
                                    <p:anim calcmode="lin" valueType="num">
                                      <p:cBhvr>
                                        <p:cTn id="19" dur="1200" decel="50000" fill="hold">
                                          <p:stCondLst>
                                            <p:cond delay="800"/>
                                          </p:stCondLst>
                                        </p:cTn>
                                        <p:tgtEl>
                                          <p:spTgt spid="13"/>
                                        </p:tgtEl>
                                        <p:attrNameLst>
                                          <p:attrName>ppt_y</p:attrName>
                                        </p:attrNameLst>
                                      </p:cBhvr>
                                      <p:tavLst>
                                        <p:tav tm="0">
                                          <p:val>
                                            <p:strVal val="#ppt_y+0.31"/>
                                          </p:val>
                                        </p:tav>
                                        <p:tav tm="5000">
                                          <p:val>
                                            <p:strVal val="#ppt_y+0.308"/>
                                          </p:val>
                                        </p:tav>
                                        <p:tav tm="10000">
                                          <p:val>
                                            <p:strVal val="#ppt_y+0.3024"/>
                                          </p:val>
                                        </p:tav>
                                        <p:tav tm="15000">
                                          <p:val>
                                            <p:strVal val="#ppt_y+0.2931"/>
                                          </p:val>
                                        </p:tav>
                                        <p:tav tm="20000">
                                          <p:val>
                                            <p:strVal val="#ppt_y+0.2804"/>
                                          </p:val>
                                        </p:tav>
                                        <p:tav tm="25000">
                                          <p:val>
                                            <p:strVal val="#ppt_y+0.2646"/>
                                          </p:val>
                                        </p:tav>
                                        <p:tav tm="30000">
                                          <p:val>
                                            <p:strVal val="#ppt_y+0.2461"/>
                                          </p:val>
                                        </p:tav>
                                        <p:tav tm="35000">
                                          <p:val>
                                            <p:strVal val="#ppt_y+0.2253"/>
                                          </p:val>
                                        </p:tav>
                                        <p:tav tm="40000">
                                          <p:val>
                                            <p:strVal val="#ppt_y+0.2029"/>
                                          </p:val>
                                        </p:tav>
                                        <p:tav tm="45000">
                                          <p:val>
                                            <p:strVal val="#ppt_y+0.1792"/>
                                          </p:val>
                                        </p:tav>
                                        <p:tav tm="50000">
                                          <p:val>
                                            <p:strVal val="#ppt_y+0.155"/>
                                          </p:val>
                                        </p:tav>
                                        <p:tav tm="55000">
                                          <p:val>
                                            <p:strVal val="#ppt_y+0.1307"/>
                                          </p:val>
                                        </p:tav>
                                        <p:tav tm="60000">
                                          <p:val>
                                            <p:strVal val="#ppt_y+0.1071"/>
                                          </p:val>
                                        </p:tav>
                                        <p:tav tm="65000">
                                          <p:val>
                                            <p:strVal val="#ppt_y+0.0846"/>
                                          </p:val>
                                        </p:tav>
                                        <p:tav tm="70000">
                                          <p:val>
                                            <p:strVal val="#ppt_y+0.0639"/>
                                          </p:val>
                                        </p:tav>
                                        <p:tav tm="75000">
                                          <p:val>
                                            <p:strVal val="#ppt_y+0.0454"/>
                                          </p:val>
                                        </p:tav>
                                        <p:tav tm="80000">
                                          <p:val>
                                            <p:strVal val="#ppt_y+0.0296"/>
                                          </p:val>
                                        </p:tav>
                                        <p:tav tm="85000">
                                          <p:val>
                                            <p:strVal val="#ppt_y+0.0169"/>
                                          </p:val>
                                        </p:tav>
                                        <p:tav tm="90000">
                                          <p:val>
                                            <p:strVal val="#ppt_y+0.0076"/>
                                          </p:val>
                                        </p:tav>
                                        <p:tav tm="95000">
                                          <p:val>
                                            <p:strVal val="#ppt_y+0.0019"/>
                                          </p:val>
                                        </p:tav>
                                        <p:tav tm="100000">
                                          <p:val>
                                            <p:strVal val="#ppt_y"/>
                                          </p:val>
                                        </p:tav>
                                      </p:tavLst>
                                    </p:anim>
                                  </p:childTnLst>
                                </p:cTn>
                              </p:par>
                            </p:childTnLst>
                          </p:cTn>
                        </p:par>
                        <p:par>
                          <p:cTn id="20" fill="hold">
                            <p:stCondLst>
                              <p:cond delay="3500"/>
                            </p:stCondLst>
                            <p:childTnLst>
                              <p:par>
                                <p:cTn id="21" presetID="37"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2000"/>
                                        <p:tgtEl>
                                          <p:spTgt spid="16"/>
                                        </p:tgtEl>
                                      </p:cBhvr>
                                    </p:animEffect>
                                    <p:anim calcmode="lin" valueType="num">
                                      <p:cBhvr>
                                        <p:cTn id="24" dur="2000" fill="hold"/>
                                        <p:tgtEl>
                                          <p:spTgt spid="16"/>
                                        </p:tgtEl>
                                        <p:attrNameLst>
                                          <p:attrName>ppt_x</p:attrName>
                                        </p:attrNameLst>
                                      </p:cBhvr>
                                      <p:tavLst>
                                        <p:tav tm="0">
                                          <p:val>
                                            <p:strVal val="#ppt_x"/>
                                          </p:val>
                                        </p:tav>
                                        <p:tav tm="100000">
                                          <p:val>
                                            <p:strVal val="#ppt_x"/>
                                          </p:val>
                                        </p:tav>
                                      </p:tavLst>
                                    </p:anim>
                                    <p:anim calcmode="lin" valueType="num">
                                      <p:cBhvr>
                                        <p:cTn id="25" dur="1800" decel="100000" fill="hold"/>
                                        <p:tgtEl>
                                          <p:spTgt spid="16"/>
                                        </p:tgtEl>
                                        <p:attrNameLst>
                                          <p:attrName>ppt_y</p:attrName>
                                        </p:attrNameLst>
                                      </p:cBhvr>
                                      <p:tavLst>
                                        <p:tav tm="0">
                                          <p:val>
                                            <p:strVal val="#ppt_y+1"/>
                                          </p:val>
                                        </p:tav>
                                        <p:tav tm="100000">
                                          <p:val>
                                            <p:strVal val="#ppt_y-.03"/>
                                          </p:val>
                                        </p:tav>
                                      </p:tavLst>
                                    </p:anim>
                                    <p:anim calcmode="lin" valueType="num">
                                      <p:cBhvr>
                                        <p:cTn id="26" dur="200" accel="100000" fill="hold">
                                          <p:stCondLst>
                                            <p:cond delay="1800"/>
                                          </p:stCondLst>
                                        </p:cTn>
                                        <p:tgtEl>
                                          <p:spTgt spid="1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3"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6959150" y="658368"/>
            <a:ext cx="1727650" cy="128016"/>
          </a:xfrm>
          <a:prstGeom prst="rect">
            <a:avLst/>
          </a:prstGeom>
          <a:noFill/>
          <a:ln/>
        </p:spPr>
        <p:txBody>
          <a:bodyPr wrap="square" lIns="0" tIns="0" rIns="0" bIns="0" rtlCol="0" anchor="ctr"/>
          <a:lstStyle/>
          <a:p>
            <a:pPr marL="0" indent="0" algn="r">
              <a:buNone/>
            </a:pPr>
            <a:r>
              <a:rPr lang="en-US" sz="700" b="1" dirty="0">
                <a:solidFill>
                  <a:srgbClr val="1D9E75"/>
                </a:solidFill>
              </a:rPr>
              <a:t>Product Owner | Full Stack Developer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800600"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9103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8006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800600"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9377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9377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8006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800600"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9377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9377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8006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800600"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9377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9377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8006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800600"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9377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9377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20" name="Text 18">
            <a:extLst>
              <a:ext uri="{FF2B5EF4-FFF2-40B4-BE49-F238E27FC236}">
                <a16:creationId xmlns:a16="http://schemas.microsoft.com/office/drawing/2014/main" id="{63063F1F-B93E-FB4D-A89B-E5C82E0F0364}"/>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admin dashboard screenshot ]</a:t>
            </a:r>
            <a:endParaRPr lang="en-US" sz="900" dirty="0"/>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77740" y="1600200"/>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0" name="Text 18">
            <a:extLst>
              <a:ext uri="{FF2B5EF4-FFF2-40B4-BE49-F238E27FC236}">
                <a16:creationId xmlns:a16="http://schemas.microsoft.com/office/drawing/2014/main" id="{2941B7A8-4096-F865-7C9F-5213710FACFF}"/>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business settings screenshot ]</a:t>
            </a:r>
            <a:endParaRPr lang="en-US" sz="900" dirty="0"/>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27449"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dirty="0">
                <a:solidFill>
                  <a:srgbClr val="374151"/>
                </a:solidFill>
                <a:latin typeface="Calibri" pitchFamily="34" charset="0"/>
                <a:ea typeface="Calibri" pitchFamily="34" charset="-122"/>
                <a:cs typeface="Calibri" pitchFamily="34" charset="-120"/>
              </a:rPr>
              <a:t>Results: 90%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6642</TotalTime>
  <Words>4035</Words>
  <Application>Microsoft Macintosh PowerPoint</Application>
  <PresentationFormat>On-screen Show (16:9)</PresentationFormat>
  <Paragraphs>535</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Serina Rodriguez</cp:lastModifiedBy>
  <cp:revision>18</cp:revision>
  <dcterms:created xsi:type="dcterms:W3CDTF">2026-04-23T04:42:28Z</dcterms:created>
  <dcterms:modified xsi:type="dcterms:W3CDTF">2026-04-27T23:54:24Z</dcterms:modified>
</cp:coreProperties>
</file>